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8" r:id="rId1"/>
  </p:sldMasterIdLst>
  <p:notesMasterIdLst>
    <p:notesMasterId r:id="rId67"/>
  </p:notesMasterIdLst>
  <p:sldIdLst>
    <p:sldId id="508" r:id="rId2"/>
    <p:sldId id="518" r:id="rId3"/>
    <p:sldId id="717" r:id="rId4"/>
    <p:sldId id="747" r:id="rId5"/>
    <p:sldId id="671" r:id="rId6"/>
    <p:sldId id="668" r:id="rId7"/>
    <p:sldId id="727" r:id="rId8"/>
    <p:sldId id="527" r:id="rId9"/>
    <p:sldId id="725" r:id="rId10"/>
    <p:sldId id="687" r:id="rId11"/>
    <p:sldId id="743" r:id="rId12"/>
    <p:sldId id="742" r:id="rId13"/>
    <p:sldId id="748" r:id="rId14"/>
    <p:sldId id="279" r:id="rId15"/>
    <p:sldId id="287" r:id="rId16"/>
    <p:sldId id="285" r:id="rId17"/>
    <p:sldId id="286" r:id="rId18"/>
    <p:sldId id="352" r:id="rId19"/>
    <p:sldId id="280" r:id="rId20"/>
    <p:sldId id="751" r:id="rId21"/>
    <p:sldId id="290" r:id="rId22"/>
    <p:sldId id="291" r:id="rId23"/>
    <p:sldId id="295" r:id="rId24"/>
    <p:sldId id="292" r:id="rId25"/>
    <p:sldId id="305" r:id="rId26"/>
    <p:sldId id="293" r:id="rId27"/>
    <p:sldId id="296" r:id="rId28"/>
    <p:sldId id="294" r:id="rId29"/>
    <p:sldId id="297" r:id="rId30"/>
    <p:sldId id="298" r:id="rId31"/>
    <p:sldId id="300" r:id="rId32"/>
    <p:sldId id="302" r:id="rId33"/>
    <p:sldId id="301" r:id="rId34"/>
    <p:sldId id="304" r:id="rId35"/>
    <p:sldId id="303" r:id="rId36"/>
    <p:sldId id="299" r:id="rId37"/>
    <p:sldId id="306" r:id="rId38"/>
    <p:sldId id="307" r:id="rId39"/>
    <p:sldId id="308" r:id="rId40"/>
    <p:sldId id="309" r:id="rId41"/>
    <p:sldId id="509" r:id="rId42"/>
    <p:sldId id="332" r:id="rId43"/>
    <p:sldId id="341" r:id="rId44"/>
    <p:sldId id="752" r:id="rId45"/>
    <p:sldId id="515" r:id="rId46"/>
    <p:sldId id="511" r:id="rId47"/>
    <p:sldId id="517" r:id="rId48"/>
    <p:sldId id="333" r:id="rId49"/>
    <p:sldId id="340" r:id="rId50"/>
    <p:sldId id="516" r:id="rId51"/>
    <p:sldId id="334" r:id="rId52"/>
    <p:sldId id="339" r:id="rId53"/>
    <p:sldId id="344" r:id="rId54"/>
    <p:sldId id="514" r:id="rId55"/>
    <p:sldId id="512" r:id="rId56"/>
    <p:sldId id="338" r:id="rId57"/>
    <p:sldId id="753" r:id="rId58"/>
    <p:sldId id="519" r:id="rId59"/>
    <p:sldId id="345" r:id="rId60"/>
    <p:sldId id="347" r:id="rId61"/>
    <p:sldId id="348" r:id="rId62"/>
    <p:sldId id="513" r:id="rId63"/>
    <p:sldId id="337" r:id="rId64"/>
    <p:sldId id="349" r:id="rId65"/>
    <p:sldId id="739" r:id="rId66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5AED6"/>
    <a:srgbClr val="FF9400"/>
    <a:srgbClr val="FFCE9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686"/>
    <p:restoredTop sz="94288"/>
  </p:normalViewPr>
  <p:slideViewPr>
    <p:cSldViewPr snapToGrid="0">
      <p:cViewPr varScale="1">
        <p:scale>
          <a:sx n="128" d="100"/>
          <a:sy n="128" d="100"/>
        </p:scale>
        <p:origin x="248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93" d="100"/>
          <a:sy n="93" d="100"/>
        </p:scale>
        <p:origin x="3568" y="21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presProps" Target="presProps.xml"/><Relationship Id="rId7" Type="http://schemas.openxmlformats.org/officeDocument/2006/relationships/slide" Target="slides/slide6.xml"/><Relationship Id="rId71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viewProps" Target="view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notesMaster" Target="notesMasters/notesMaster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1DBE83B-754F-B948-8CD7-D8047F5EE2C4}" type="datetimeFigureOut">
              <a:rPr kumimoji="1" lang="zh-TW" altLang="en-US" smtClean="0"/>
              <a:t>2026/4/9</a:t>
            </a:fld>
            <a:endParaRPr kumimoji="1" lang="zh-TW" altLang="en-US"/>
          </a:p>
        </p:txBody>
      </p:sp>
      <p:sp>
        <p:nvSpPr>
          <p:cNvPr id="4" name="投影片影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1836D1C-D09F-2A41-BBEA-6549EF3DDB65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295141985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836D1C-D09F-2A41-BBEA-6549EF3DDB65}" type="slidenum">
              <a:rPr kumimoji="1" lang="zh-TW" altLang="en-US" smtClean="0"/>
              <a:t>1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83957620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836D1C-D09F-2A41-BBEA-6549EF3DDB65}" type="slidenum">
              <a:rPr kumimoji="1" lang="zh-TW" altLang="en-US" smtClean="0"/>
              <a:t>3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36193383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836D1C-D09F-2A41-BBEA-6549EF3DDB65}" type="slidenum">
              <a:rPr kumimoji="1" lang="zh-TW" altLang="en-US" smtClean="0"/>
              <a:t>4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83909252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836D1C-D09F-2A41-BBEA-6549EF3DDB65}" type="slidenum">
              <a:rPr kumimoji="1" lang="zh-TW" altLang="en-US" smtClean="0"/>
              <a:t>5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276918788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836D1C-D09F-2A41-BBEA-6549EF3DDB65}" type="slidenum">
              <a:rPr kumimoji="1" lang="zh-TW" altLang="en-US" smtClean="0"/>
              <a:t>6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313942765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836D1C-D09F-2A41-BBEA-6549EF3DDB65}" type="slidenum">
              <a:rPr kumimoji="1" lang="zh-TW" altLang="en-US" smtClean="0"/>
              <a:t>7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422768843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836D1C-D09F-2A41-BBEA-6549EF3DDB65}" type="slidenum">
              <a:rPr kumimoji="1" lang="zh-TW" altLang="en-US" smtClean="0"/>
              <a:t>8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232892141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836D1C-D09F-2A41-BBEA-6549EF3DDB65}" type="slidenum">
              <a:rPr kumimoji="1" lang="zh-TW" altLang="en-US" smtClean="0"/>
              <a:t>9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257992337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836D1C-D09F-2A41-BBEA-6549EF3DDB65}" type="slidenum">
              <a:rPr kumimoji="1" lang="zh-TW" altLang="en-US" smtClean="0"/>
              <a:t>10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50698268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836D1C-D09F-2A41-BBEA-6549EF3DDB65}" type="slidenum">
              <a:rPr kumimoji="1" lang="zh-TW" altLang="en-US" smtClean="0"/>
              <a:t>11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147878135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-US" altLang="zh-TW" dirty="0"/>
              <a:t>During training, decoder output y hat at each decoding time step</a:t>
            </a:r>
          </a:p>
          <a:p>
            <a:r>
              <a:rPr kumimoji="1" lang="en-US" altLang="zh-TW" dirty="0"/>
              <a:t>With the ground truth input the produce the output token</a:t>
            </a:r>
            <a:endParaRPr kumimoji="1"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94B6FA3-6A5C-4F42-A62F-1E0AEA80CC2A}" type="slidenum">
              <a:rPr kumimoji="1" lang="zh-TW" altLang="en-US" smtClean="0"/>
              <a:t>16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103947592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-US" altLang="zh-TW" dirty="0"/>
              <a:t>However, during testing, the output y hat at each time step will be directly feed to the next time step as input</a:t>
            </a: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94B6FA3-6A5C-4F42-A62F-1E0AEA80CC2A}" type="slidenum">
              <a:rPr kumimoji="1" lang="zh-TW" altLang="en-US" smtClean="0"/>
              <a:t>17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190948480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7EB505-9F4B-472B-475C-0C7A90C0E9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EECCC8FB-CC68-46E5-1E2B-1D8BC02170C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8A882637-07B6-E2F3-7C62-40735192F9E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F6F4581C-76FA-8789-C002-DF7DB6C2030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836D1C-D09F-2A41-BBEA-6549EF3DDB65}" type="slidenum">
              <a:rPr kumimoji="1" lang="zh-TW" altLang="en-US" smtClean="0"/>
              <a:t>20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309617037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836D1C-D09F-2A41-BBEA-6549EF3DDB65}" type="slidenum">
              <a:rPr kumimoji="1" lang="zh-TW" altLang="en-US" smtClean="0"/>
              <a:t>28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113598707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836D1C-D09F-2A41-BBEA-6549EF3DDB65}" type="slidenum">
              <a:rPr kumimoji="1" lang="zh-TW" altLang="en-US" smtClean="0"/>
              <a:t>37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412535266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836D1C-D09F-2A41-BBEA-6549EF3DDB65}" type="slidenum">
              <a:rPr kumimoji="1" lang="zh-TW" altLang="en-US" smtClean="0"/>
              <a:t>38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4098949079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836D1C-D09F-2A41-BBEA-6549EF3DDB65}" type="slidenum">
              <a:rPr kumimoji="1" lang="zh-TW" altLang="en-US" smtClean="0"/>
              <a:t>40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3964336098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836D1C-D09F-2A41-BBEA-6549EF3DDB65}" type="slidenum">
              <a:rPr kumimoji="1" lang="zh-TW" altLang="en-US" smtClean="0"/>
              <a:t>42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552734202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836D1C-D09F-2A41-BBEA-6549EF3DDB65}" type="slidenum">
              <a:rPr kumimoji="1" lang="zh-TW" altLang="en-US" smtClean="0"/>
              <a:t>43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995540069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836D1C-D09F-2A41-BBEA-6549EF3DDB65}" type="slidenum">
              <a:rPr kumimoji="1" lang="zh-TW" altLang="en-US" smtClean="0"/>
              <a:t>48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314494328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zh-TW" altLang="en-US"/>
              <a:t>按一下以編輯母片子標題樣式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DF68E2-58F2-4D09-BE8B-E3BD06533059}" type="datetimeFigureOut">
              <a:rPr lang="en-US" dirty="0"/>
              <a:t>4/9/26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4FAB73BC-B049-4115-A692-8D63A059BFB8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65534282"/>
      </p:ext>
    </p:extLst>
  </p:cSld>
  <p:clrMapOvr>
    <a:masterClrMapping/>
  </p:clrMapOvr>
  <p:hf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3143" y="356088"/>
            <a:ext cx="10918371" cy="1033416"/>
          </a:xfrm>
        </p:spPr>
        <p:txBody>
          <a:bodyPr/>
          <a:lstStyle>
            <a:lvl1pPr marL="0">
              <a:defRPr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53143" y="1845734"/>
            <a:ext cx="10918371" cy="4023360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1400"/>
            </a:lvl1pPr>
          </a:lstStyle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1400"/>
            </a:lvl1pPr>
          </a:lstStyle>
          <a:p>
            <a:endParaRPr lang="en-US" dirty="0"/>
          </a:p>
        </p:txBody>
      </p:sp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47DAD89E-131D-FDCA-9260-AC41911030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612955" y="6415560"/>
            <a:ext cx="1312025" cy="365125"/>
          </a:xfrm>
        </p:spPr>
        <p:txBody>
          <a:bodyPr/>
          <a:lstStyle>
            <a:lvl1pPr>
              <a:defRPr sz="1400">
                <a:solidFill>
                  <a:schemeClr val="tx1"/>
                </a:solidFill>
              </a:defRPr>
            </a:lvl1pPr>
          </a:lstStyle>
          <a:p>
            <a:fld id="{6113E31D-E2AB-40D1-8B51-AFA5AFEF393A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8B05C12B-E59D-D8B7-A3B4-27931CBD675F}"/>
              </a:ext>
            </a:extLst>
          </p:cNvPr>
          <p:cNvSpPr txBox="1"/>
          <p:nvPr userDrawn="1"/>
        </p:nvSpPr>
        <p:spPr>
          <a:xfrm>
            <a:off x="423038" y="6442992"/>
            <a:ext cx="557608" cy="2689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80000"/>
              </a:lnSpc>
            </a:pPr>
            <a:r>
              <a:rPr kumimoji="1" lang="en-US" altLang="zh-TW" sz="1400" dirty="0">
                <a:ea typeface="Nanum Brush Script" panose="03060600000000000000" pitchFamily="66" charset="-127"/>
                <a:cs typeface="Arial" panose="020B0604020202020204" pitchFamily="34" charset="0"/>
              </a:rPr>
              <a:t>NLP</a:t>
            </a:r>
            <a:endParaRPr kumimoji="1" lang="zh-TW" altLang="en-US" sz="1400" dirty="0">
              <a:cs typeface="Arial" panose="020B0604020202020204" pitchFamily="34" charset="0"/>
            </a:endParaRPr>
          </a:p>
        </p:txBody>
      </p:sp>
      <p:pic>
        <p:nvPicPr>
          <p:cNvPr id="7" name="圖形 6" descr="聊天泡泡 外框">
            <a:extLst>
              <a:ext uri="{FF2B5EF4-FFF2-40B4-BE49-F238E27FC236}">
                <a16:creationId xmlns:a16="http://schemas.microsoft.com/office/drawing/2014/main" id="{0B067696-6EA5-0A4A-14B8-D7C17072FE9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41093" y="6388664"/>
            <a:ext cx="377640" cy="3776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9868380"/>
      </p:ext>
    </p:extLst>
  </p:cSld>
  <p:clrMapOvr>
    <a:masterClrMapping/>
  </p:clrMapOvr>
  <p:hf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章節標題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EBB0C4-6273-4C6E-B9BD-2EDC30F1CD52}" type="datetimeFigureOut">
              <a:rPr lang="en-US" dirty="0"/>
              <a:t>4/9/26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09116564"/>
      </p:ext>
    </p:extLst>
  </p:cSld>
  <p:clrMapOvr>
    <a:masterClrMapping/>
  </p:clrMapOvr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9" y="1845734"/>
            <a:ext cx="4937760" cy="4023360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AB4D41-86C1-4908-B66A-0B50CEB3BF29}" type="datetimeFigureOut">
              <a:rPr lang="en-US" dirty="0"/>
              <a:t>4/9/26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3DAB314-DF41-49F3-8643-5960470A9A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356088"/>
            <a:ext cx="10058400" cy="103341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7649639"/>
      </p:ext>
    </p:extLst>
  </p:cSld>
  <p:clrMapOvr>
    <a:masterClrMapping/>
  </p:clrMapOvr>
  <p:hf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426E2C-56C1-4E0D-A793-0088A7FDD37E}" type="datetimeFigureOut">
              <a:rPr lang="en-US" dirty="0"/>
              <a:t>4/9/26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26FF28B-EE0C-0976-1882-688F90260E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356088"/>
            <a:ext cx="10058400" cy="103341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63792004"/>
      </p:ext>
    </p:extLst>
  </p:cSld>
  <p:clrMapOvr>
    <a:masterClrMapping/>
  </p:clrMapOvr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C39B41-D8B5-4052-B551-9B5525EAA8B6}" type="datetimeFigureOut">
              <a:rPr lang="en-US" dirty="0"/>
              <a:t>4/9/26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/>
          </a:p>
        </p:txBody>
      </p:sp>
      <p:sp>
        <p:nvSpPr>
          <p:cNvPr id="6" name="Title Placeholder 1">
            <a:extLst>
              <a:ext uri="{FF2B5EF4-FFF2-40B4-BE49-F238E27FC236}">
                <a16:creationId xmlns:a16="http://schemas.microsoft.com/office/drawing/2014/main" id="{78DE478E-C0B1-6FFC-0061-DA2334C3F9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356088"/>
            <a:ext cx="10058400" cy="103341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66719898"/>
      </p:ext>
    </p:extLst>
  </p:cSld>
  <p:clrMapOvr>
    <a:masterClrMapping/>
  </p:clrMapOvr>
  <p:hf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94136C-8742-45B2-AF27-D93DF72833A9}" type="datetimeFigureOut">
              <a:rPr lang="en-US" dirty="0"/>
              <a:t>4/9/26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1310670"/>
      </p:ext>
    </p:extLst>
  </p:cSld>
  <p:clrMapOvr>
    <a:masterClrMapping/>
  </p:clrMapOvr>
  <p:hf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32ABBEA6-7C60-4B02-AE87-00D78D8422AF}" type="datetimeFigureOut">
              <a:rPr lang="en-US" dirty="0"/>
              <a:t>4/9/26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4FAB73BC-B049-4115-A692-8D63A059BFB8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9226812"/>
      </p:ext>
    </p:extLst>
  </p:cSld>
  <p:clrMapOvr>
    <a:masterClrMapping/>
  </p:clrMapOvr>
  <p:hf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 userDrawn="1"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264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TW" altLang="en-US"/>
              <a:t>按一下圖示以新增圖片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3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CAD897-D46E-4AD2-BD9B-49DD3E640873}" type="datetimeFigureOut">
              <a:rPr lang="en-US" dirty="0"/>
              <a:t>4/9/26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9161626"/>
      </p:ext>
    </p:extLst>
  </p:cSld>
  <p:clrMapOvr>
    <a:masterClrMapping/>
  </p:clrMapOvr>
  <p:hf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2D6473-DF6D-4702-B328-E0DD40540A4E}" type="datetimeFigureOut">
              <a:rPr lang="en-US" dirty="0"/>
              <a:t>4/9/26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25B6B208-0D45-71D0-C7BE-D6974D30EB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356088"/>
            <a:ext cx="10058400" cy="1033416"/>
          </a:xfrm>
        </p:spPr>
        <p:txBody>
          <a:bodyPr/>
          <a:lstStyle>
            <a:lvl1pPr marL="0">
              <a:defRPr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0106847"/>
      </p:ext>
    </p:extLst>
  </p:cSld>
  <p:clrMapOvr>
    <a:masterClrMapping/>
  </p:clrMapOvr>
  <p:hf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4778"/>
            <a:ext cx="2628900" cy="5757421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4778"/>
            <a:ext cx="7734300" cy="5757422"/>
          </a:xfrm>
        </p:spPr>
        <p:txBody>
          <a:bodyPr vert="eaVert" lIns="45720" tIns="0" rIns="45720" bIns="0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6F7E3A-B166-407D-9866-32884E7D5B37}" type="datetimeFigureOut">
              <a:rPr lang="en-US" dirty="0"/>
              <a:t>4/9/26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4143666"/>
      </p:ext>
    </p:extLst>
  </p:cSld>
  <p:clrMapOvr>
    <a:masterClrMapping/>
  </p:clrMapOvr>
  <p:hf hdr="0" ft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676003" y="1355758"/>
            <a:ext cx="10839994" cy="45719"/>
          </a:xfrm>
          <a:prstGeom prst="rect">
            <a:avLst/>
          </a:prstGeom>
          <a:solidFill>
            <a:srgbClr val="FF94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356088"/>
            <a:ext cx="10058400" cy="103341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CGU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4FAB73BC-B049-4115-A692-8D63A059BFB8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71012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hf hdr="0" ftr="0" dt="0"/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hyperlink" Target="https://app.sli.do/event/25L1NdbGFSHiX64RUTZ1YJ" TargetMode="Externa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hyperlink" Target="https://arxiv.org/abs/1810.04805" TargetMode="Externa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0.png"/><Relationship Id="rId7" Type="http://schemas.openxmlformats.org/officeDocument/2006/relationships/image" Target="../media/image12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0.png"/><Relationship Id="rId5" Type="http://schemas.openxmlformats.org/officeDocument/2006/relationships/image" Target="../media/image100.png"/><Relationship Id="rId4" Type="http://schemas.openxmlformats.org/officeDocument/2006/relationships/image" Target="../media/image9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2.png"/><Relationship Id="rId7" Type="http://schemas.openxmlformats.org/officeDocument/2006/relationships/image" Target="../media/image17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1.png"/><Relationship Id="rId5" Type="http://schemas.openxmlformats.org/officeDocument/2006/relationships/image" Target="../media/image151.png"/><Relationship Id="rId4" Type="http://schemas.openxmlformats.org/officeDocument/2006/relationships/image" Target="../media/image14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0.png"/><Relationship Id="rId3" Type="http://schemas.openxmlformats.org/officeDocument/2006/relationships/image" Target="../media/image131.png"/><Relationship Id="rId7" Type="http://schemas.openxmlformats.org/officeDocument/2006/relationships/image" Target="../media/image17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0.png"/><Relationship Id="rId11" Type="http://schemas.openxmlformats.org/officeDocument/2006/relationships/image" Target="../media/image12.png"/><Relationship Id="rId5" Type="http://schemas.openxmlformats.org/officeDocument/2006/relationships/image" Target="../media/image150.png"/><Relationship Id="rId10" Type="http://schemas.openxmlformats.org/officeDocument/2006/relationships/image" Target="../media/image20.png"/><Relationship Id="rId4" Type="http://schemas.openxmlformats.org/officeDocument/2006/relationships/image" Target="../media/image140.png"/><Relationship Id="rId9" Type="http://schemas.openxmlformats.org/officeDocument/2006/relationships/image" Target="../media/image19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13" Type="http://schemas.openxmlformats.org/officeDocument/2006/relationships/image" Target="../media/image27.png"/><Relationship Id="rId18" Type="http://schemas.openxmlformats.org/officeDocument/2006/relationships/image" Target="../media/image32.png"/><Relationship Id="rId3" Type="http://schemas.openxmlformats.org/officeDocument/2006/relationships/image" Target="../media/image14.png"/><Relationship Id="rId7" Type="http://schemas.openxmlformats.org/officeDocument/2006/relationships/image" Target="../media/image21.png"/><Relationship Id="rId12" Type="http://schemas.openxmlformats.org/officeDocument/2006/relationships/image" Target="../media/image26.png"/><Relationship Id="rId17" Type="http://schemas.openxmlformats.org/officeDocument/2006/relationships/image" Target="../media/image31.png"/><Relationship Id="rId2" Type="http://schemas.openxmlformats.org/officeDocument/2006/relationships/image" Target="../media/image13.png"/><Relationship Id="rId16" Type="http://schemas.openxmlformats.org/officeDocument/2006/relationships/image" Target="../media/image3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png"/><Relationship Id="rId11" Type="http://schemas.openxmlformats.org/officeDocument/2006/relationships/image" Target="../media/image25.png"/><Relationship Id="rId5" Type="http://schemas.openxmlformats.org/officeDocument/2006/relationships/image" Target="../media/image16.png"/><Relationship Id="rId15" Type="http://schemas.openxmlformats.org/officeDocument/2006/relationships/image" Target="../media/image29.png"/><Relationship Id="rId10" Type="http://schemas.openxmlformats.org/officeDocument/2006/relationships/image" Target="../media/image24.png"/><Relationship Id="rId4" Type="http://schemas.openxmlformats.org/officeDocument/2006/relationships/image" Target="../media/image15.png"/><Relationship Id="rId9" Type="http://schemas.openxmlformats.org/officeDocument/2006/relationships/image" Target="../media/image23.png"/><Relationship Id="rId14" Type="http://schemas.openxmlformats.org/officeDocument/2006/relationships/image" Target="../media/image28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0.png"/><Relationship Id="rId13" Type="http://schemas.openxmlformats.org/officeDocument/2006/relationships/image" Target="../media/image35.png"/><Relationship Id="rId3" Type="http://schemas.openxmlformats.org/officeDocument/2006/relationships/image" Target="../media/image250.png"/><Relationship Id="rId7" Type="http://schemas.openxmlformats.org/officeDocument/2006/relationships/image" Target="../media/image290.png"/><Relationship Id="rId12" Type="http://schemas.openxmlformats.org/officeDocument/2006/relationships/image" Target="../media/image3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80.png"/><Relationship Id="rId11" Type="http://schemas.openxmlformats.org/officeDocument/2006/relationships/image" Target="../media/image33.png"/><Relationship Id="rId5" Type="http://schemas.openxmlformats.org/officeDocument/2006/relationships/image" Target="../media/image270.png"/><Relationship Id="rId10" Type="http://schemas.openxmlformats.org/officeDocument/2006/relationships/image" Target="../media/image320.png"/><Relationship Id="rId4" Type="http://schemas.openxmlformats.org/officeDocument/2006/relationships/image" Target="../media/image260.png"/><Relationship Id="rId9" Type="http://schemas.openxmlformats.org/officeDocument/2006/relationships/image" Target="../media/image310.png"/><Relationship Id="rId14" Type="http://schemas.openxmlformats.org/officeDocument/2006/relationships/image" Target="../media/image36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42.png"/><Relationship Id="rId3" Type="http://schemas.openxmlformats.org/officeDocument/2006/relationships/image" Target="../media/image37.png"/><Relationship Id="rId7" Type="http://schemas.openxmlformats.org/officeDocument/2006/relationships/image" Target="../media/image4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0.png"/><Relationship Id="rId5" Type="http://schemas.openxmlformats.org/officeDocument/2006/relationships/image" Target="../media/image39.png"/><Relationship Id="rId4" Type="http://schemas.openxmlformats.org/officeDocument/2006/relationships/image" Target="../media/image38.png"/><Relationship Id="rId9" Type="http://schemas.openxmlformats.org/officeDocument/2006/relationships/image" Target="../media/image43.png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2.png"/><Relationship Id="rId2" Type="http://schemas.openxmlformats.org/officeDocument/2006/relationships/image" Target="../media/image13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2.png"/><Relationship Id="rId5" Type="http://schemas.openxmlformats.org/officeDocument/2006/relationships/image" Target="../media/image162.png"/><Relationship Id="rId4" Type="http://schemas.openxmlformats.org/officeDocument/2006/relationships/image" Target="../media/image152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0.png"/><Relationship Id="rId7" Type="http://schemas.openxmlformats.org/officeDocument/2006/relationships/image" Target="../media/image120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0.png"/><Relationship Id="rId5" Type="http://schemas.openxmlformats.org/officeDocument/2006/relationships/image" Target="../media/image100.png"/><Relationship Id="rId4" Type="http://schemas.openxmlformats.org/officeDocument/2006/relationships/image" Target="../media/image90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4.png"/><Relationship Id="rId4" Type="http://schemas.openxmlformats.org/officeDocument/2006/relationships/image" Target="../media/image53.png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10.png"/><Relationship Id="rId4" Type="http://schemas.openxmlformats.org/officeDocument/2006/relationships/image" Target="../media/image58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4.png"/><Relationship Id="rId4" Type="http://schemas.openxmlformats.org/officeDocument/2006/relationships/image" Target="../media/image60.png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60.png"/><Relationship Id="rId3" Type="http://schemas.openxmlformats.org/officeDocument/2006/relationships/image" Target="../media/image59.png"/><Relationship Id="rId7" Type="http://schemas.openxmlformats.org/officeDocument/2006/relationships/image" Target="../media/image6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4.png"/><Relationship Id="rId5" Type="http://schemas.openxmlformats.org/officeDocument/2006/relationships/image" Target="../media/image63.png"/><Relationship Id="rId10" Type="http://schemas.openxmlformats.org/officeDocument/2006/relationships/image" Target="../media/image45.png"/><Relationship Id="rId4" Type="http://schemas.openxmlformats.org/officeDocument/2006/relationships/image" Target="../media/image62.png"/><Relationship Id="rId9" Type="http://schemas.openxmlformats.org/officeDocument/2006/relationships/image" Target="../media/image66.png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image" Target="../media/image69.png"/><Relationship Id="rId3" Type="http://schemas.openxmlformats.org/officeDocument/2006/relationships/image" Target="../media/image60.png"/><Relationship Id="rId7" Type="http://schemas.openxmlformats.org/officeDocument/2006/relationships/image" Target="../media/image6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7.png"/><Relationship Id="rId5" Type="http://schemas.openxmlformats.org/officeDocument/2006/relationships/image" Target="../media/image660.png"/><Relationship Id="rId4" Type="http://schemas.openxmlformats.org/officeDocument/2006/relationships/image" Target="../media/image59.png"/><Relationship Id="rId9" Type="http://schemas.openxmlformats.org/officeDocument/2006/relationships/image" Target="../media/image45.png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image" Target="../media/image69.png"/><Relationship Id="rId13" Type="http://schemas.openxmlformats.org/officeDocument/2006/relationships/image" Target="../media/image46.png"/><Relationship Id="rId3" Type="http://schemas.openxmlformats.org/officeDocument/2006/relationships/image" Target="../media/image60.png"/><Relationship Id="rId7" Type="http://schemas.openxmlformats.org/officeDocument/2006/relationships/image" Target="../media/image68.png"/><Relationship Id="rId12" Type="http://schemas.openxmlformats.org/officeDocument/2006/relationships/image" Target="../media/image74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7.png"/><Relationship Id="rId11" Type="http://schemas.openxmlformats.org/officeDocument/2006/relationships/image" Target="../media/image73.png"/><Relationship Id="rId5" Type="http://schemas.openxmlformats.org/officeDocument/2006/relationships/image" Target="../media/image660.png"/><Relationship Id="rId10" Type="http://schemas.openxmlformats.org/officeDocument/2006/relationships/image" Target="../media/image72.png"/><Relationship Id="rId4" Type="http://schemas.openxmlformats.org/officeDocument/2006/relationships/image" Target="../media/image59.png"/><Relationship Id="rId9" Type="http://schemas.openxmlformats.org/officeDocument/2006/relationships/image" Target="../media/image71.png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image" Target="../media/image69.png"/><Relationship Id="rId13" Type="http://schemas.openxmlformats.org/officeDocument/2006/relationships/image" Target="../media/image46.png"/><Relationship Id="rId3" Type="http://schemas.openxmlformats.org/officeDocument/2006/relationships/image" Target="../media/image60.png"/><Relationship Id="rId7" Type="http://schemas.openxmlformats.org/officeDocument/2006/relationships/image" Target="../media/image68.png"/><Relationship Id="rId12" Type="http://schemas.openxmlformats.org/officeDocument/2006/relationships/image" Target="../media/image7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7.png"/><Relationship Id="rId11" Type="http://schemas.openxmlformats.org/officeDocument/2006/relationships/image" Target="../media/image73.png"/><Relationship Id="rId5" Type="http://schemas.openxmlformats.org/officeDocument/2006/relationships/image" Target="../media/image660.png"/><Relationship Id="rId10" Type="http://schemas.openxmlformats.org/officeDocument/2006/relationships/image" Target="../media/image72.png"/><Relationship Id="rId4" Type="http://schemas.openxmlformats.org/officeDocument/2006/relationships/image" Target="../media/image59.png"/><Relationship Id="rId9" Type="http://schemas.openxmlformats.org/officeDocument/2006/relationships/image" Target="../media/image71.png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image" Target="../media/image69.png"/><Relationship Id="rId13" Type="http://schemas.openxmlformats.org/officeDocument/2006/relationships/image" Target="../media/image46.png"/><Relationship Id="rId3" Type="http://schemas.openxmlformats.org/officeDocument/2006/relationships/image" Target="../media/image60.png"/><Relationship Id="rId7" Type="http://schemas.openxmlformats.org/officeDocument/2006/relationships/image" Target="../media/image76.png"/><Relationship Id="rId12" Type="http://schemas.openxmlformats.org/officeDocument/2006/relationships/image" Target="../media/image80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7.png"/><Relationship Id="rId11" Type="http://schemas.openxmlformats.org/officeDocument/2006/relationships/image" Target="../media/image79.png"/><Relationship Id="rId5" Type="http://schemas.openxmlformats.org/officeDocument/2006/relationships/image" Target="../media/image75.png"/><Relationship Id="rId10" Type="http://schemas.openxmlformats.org/officeDocument/2006/relationships/image" Target="../media/image78.png"/><Relationship Id="rId4" Type="http://schemas.openxmlformats.org/officeDocument/2006/relationships/image" Target="../media/image59.png"/><Relationship Id="rId9" Type="http://schemas.openxmlformats.org/officeDocument/2006/relationships/image" Target="../media/image77.png"/></Relationships>
</file>

<file path=ppt/slides/_rels/slide3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9.png"/><Relationship Id="rId13" Type="http://schemas.openxmlformats.org/officeDocument/2006/relationships/image" Target="../media/image82.png"/><Relationship Id="rId3" Type="http://schemas.openxmlformats.org/officeDocument/2006/relationships/image" Target="../media/image60.png"/><Relationship Id="rId7" Type="http://schemas.openxmlformats.org/officeDocument/2006/relationships/image" Target="../media/image76.png"/><Relationship Id="rId12" Type="http://schemas.openxmlformats.org/officeDocument/2006/relationships/image" Target="../media/image800.png"/><Relationship Id="rId17" Type="http://schemas.openxmlformats.org/officeDocument/2006/relationships/image" Target="../media/image47.png"/><Relationship Id="rId16" Type="http://schemas.openxmlformats.org/officeDocument/2006/relationships/image" Target="../media/image8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7.png"/><Relationship Id="rId11" Type="http://schemas.openxmlformats.org/officeDocument/2006/relationships/image" Target="../media/image79.png"/><Relationship Id="rId5" Type="http://schemas.openxmlformats.org/officeDocument/2006/relationships/image" Target="../media/image75.png"/><Relationship Id="rId15" Type="http://schemas.openxmlformats.org/officeDocument/2006/relationships/image" Target="../media/image84.png"/><Relationship Id="rId10" Type="http://schemas.openxmlformats.org/officeDocument/2006/relationships/image" Target="../media/image78.png"/><Relationship Id="rId4" Type="http://schemas.openxmlformats.org/officeDocument/2006/relationships/image" Target="../media/image59.png"/><Relationship Id="rId9" Type="http://schemas.openxmlformats.org/officeDocument/2006/relationships/image" Target="../media/image77.png"/><Relationship Id="rId14" Type="http://schemas.openxmlformats.org/officeDocument/2006/relationships/image" Target="../media/image83.png"/></Relationships>
</file>

<file path=ppt/slides/_rels/slide3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9.png"/><Relationship Id="rId13" Type="http://schemas.openxmlformats.org/officeDocument/2006/relationships/image" Target="../media/image82.png"/><Relationship Id="rId3" Type="http://schemas.openxmlformats.org/officeDocument/2006/relationships/image" Target="../media/image60.png"/><Relationship Id="rId7" Type="http://schemas.openxmlformats.org/officeDocument/2006/relationships/image" Target="../media/image76.png"/><Relationship Id="rId12" Type="http://schemas.openxmlformats.org/officeDocument/2006/relationships/image" Target="../media/image800.png"/><Relationship Id="rId17" Type="http://schemas.openxmlformats.org/officeDocument/2006/relationships/image" Target="../media/image47.png"/><Relationship Id="rId16" Type="http://schemas.openxmlformats.org/officeDocument/2006/relationships/image" Target="../media/image8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7.png"/><Relationship Id="rId11" Type="http://schemas.openxmlformats.org/officeDocument/2006/relationships/image" Target="../media/image79.png"/><Relationship Id="rId5" Type="http://schemas.openxmlformats.org/officeDocument/2006/relationships/image" Target="../media/image75.png"/><Relationship Id="rId15" Type="http://schemas.openxmlformats.org/officeDocument/2006/relationships/image" Target="../media/image84.png"/><Relationship Id="rId10" Type="http://schemas.openxmlformats.org/officeDocument/2006/relationships/image" Target="../media/image78.png"/><Relationship Id="rId4" Type="http://schemas.openxmlformats.org/officeDocument/2006/relationships/image" Target="../media/image59.png"/><Relationship Id="rId9" Type="http://schemas.openxmlformats.org/officeDocument/2006/relationships/image" Target="../media/image77.png"/><Relationship Id="rId14" Type="http://schemas.openxmlformats.org/officeDocument/2006/relationships/image" Target="../media/image83.png"/></Relationships>
</file>

<file path=ppt/slides/_rels/slide33.xml.rels><?xml version="1.0" encoding="UTF-8" standalone="yes"?>
<Relationships xmlns="http://schemas.openxmlformats.org/package/2006/relationships"><Relationship Id="rId8" Type="http://schemas.openxmlformats.org/officeDocument/2006/relationships/image" Target="../media/image69.png"/><Relationship Id="rId13" Type="http://schemas.openxmlformats.org/officeDocument/2006/relationships/image" Target="../media/image82.png"/><Relationship Id="rId18" Type="http://schemas.openxmlformats.org/officeDocument/2006/relationships/image" Target="../media/image88.png"/><Relationship Id="rId3" Type="http://schemas.openxmlformats.org/officeDocument/2006/relationships/image" Target="../media/image60.png"/><Relationship Id="rId21" Type="http://schemas.openxmlformats.org/officeDocument/2006/relationships/image" Target="../media/image48.png"/><Relationship Id="rId7" Type="http://schemas.openxmlformats.org/officeDocument/2006/relationships/image" Target="../media/image76.png"/><Relationship Id="rId12" Type="http://schemas.openxmlformats.org/officeDocument/2006/relationships/image" Target="../media/image800.png"/><Relationship Id="rId17" Type="http://schemas.openxmlformats.org/officeDocument/2006/relationships/image" Target="../media/image87.png"/><Relationship Id="rId16" Type="http://schemas.openxmlformats.org/officeDocument/2006/relationships/image" Target="../media/image85.png"/><Relationship Id="rId20" Type="http://schemas.openxmlformats.org/officeDocument/2006/relationships/image" Target="../media/image90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7.png"/><Relationship Id="rId11" Type="http://schemas.openxmlformats.org/officeDocument/2006/relationships/image" Target="../media/image79.png"/><Relationship Id="rId5" Type="http://schemas.openxmlformats.org/officeDocument/2006/relationships/image" Target="../media/image75.png"/><Relationship Id="rId15" Type="http://schemas.openxmlformats.org/officeDocument/2006/relationships/image" Target="../media/image84.png"/><Relationship Id="rId10" Type="http://schemas.openxmlformats.org/officeDocument/2006/relationships/image" Target="../media/image78.png"/><Relationship Id="rId19" Type="http://schemas.openxmlformats.org/officeDocument/2006/relationships/image" Target="../media/image89.png"/><Relationship Id="rId4" Type="http://schemas.openxmlformats.org/officeDocument/2006/relationships/image" Target="../media/image59.png"/><Relationship Id="rId9" Type="http://schemas.openxmlformats.org/officeDocument/2006/relationships/image" Target="../media/image77.png"/><Relationship Id="rId14" Type="http://schemas.openxmlformats.org/officeDocument/2006/relationships/image" Target="../media/image83.png"/></Relationships>
</file>

<file path=ppt/slides/_rels/slide34.xml.rels><?xml version="1.0" encoding="UTF-8" standalone="yes"?>
<Relationships xmlns="http://schemas.openxmlformats.org/package/2006/relationships"><Relationship Id="rId8" Type="http://schemas.openxmlformats.org/officeDocument/2006/relationships/image" Target="../media/image69.png"/><Relationship Id="rId13" Type="http://schemas.openxmlformats.org/officeDocument/2006/relationships/image" Target="../media/image82.png"/><Relationship Id="rId18" Type="http://schemas.openxmlformats.org/officeDocument/2006/relationships/image" Target="../media/image88.png"/><Relationship Id="rId3" Type="http://schemas.openxmlformats.org/officeDocument/2006/relationships/image" Target="../media/image60.png"/><Relationship Id="rId21" Type="http://schemas.openxmlformats.org/officeDocument/2006/relationships/image" Target="../media/image48.png"/><Relationship Id="rId7" Type="http://schemas.openxmlformats.org/officeDocument/2006/relationships/image" Target="../media/image76.png"/><Relationship Id="rId12" Type="http://schemas.openxmlformats.org/officeDocument/2006/relationships/image" Target="../media/image800.png"/><Relationship Id="rId17" Type="http://schemas.openxmlformats.org/officeDocument/2006/relationships/image" Target="../media/image87.png"/><Relationship Id="rId16" Type="http://schemas.openxmlformats.org/officeDocument/2006/relationships/image" Target="../media/image85.png"/><Relationship Id="rId20" Type="http://schemas.openxmlformats.org/officeDocument/2006/relationships/image" Target="../media/image90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7.png"/><Relationship Id="rId11" Type="http://schemas.openxmlformats.org/officeDocument/2006/relationships/image" Target="../media/image79.png"/><Relationship Id="rId5" Type="http://schemas.openxmlformats.org/officeDocument/2006/relationships/image" Target="../media/image75.png"/><Relationship Id="rId15" Type="http://schemas.openxmlformats.org/officeDocument/2006/relationships/image" Target="../media/image84.png"/><Relationship Id="rId10" Type="http://schemas.openxmlformats.org/officeDocument/2006/relationships/image" Target="../media/image78.png"/><Relationship Id="rId19" Type="http://schemas.openxmlformats.org/officeDocument/2006/relationships/image" Target="../media/image89.png"/><Relationship Id="rId4" Type="http://schemas.openxmlformats.org/officeDocument/2006/relationships/image" Target="../media/image59.png"/><Relationship Id="rId9" Type="http://schemas.openxmlformats.org/officeDocument/2006/relationships/image" Target="../media/image77.png"/><Relationship Id="rId14" Type="http://schemas.openxmlformats.org/officeDocument/2006/relationships/image" Target="../media/image83.png"/></Relationships>
</file>

<file path=ppt/slides/_rels/slide35.xml.rels><?xml version="1.0" encoding="UTF-8" standalone="yes"?>
<Relationships xmlns="http://schemas.openxmlformats.org/package/2006/relationships"><Relationship Id="rId8" Type="http://schemas.openxmlformats.org/officeDocument/2006/relationships/image" Target="../media/image69.png"/><Relationship Id="rId13" Type="http://schemas.openxmlformats.org/officeDocument/2006/relationships/image" Target="../media/image82.png"/><Relationship Id="rId18" Type="http://schemas.openxmlformats.org/officeDocument/2006/relationships/image" Target="../media/image88.png"/><Relationship Id="rId3" Type="http://schemas.openxmlformats.org/officeDocument/2006/relationships/image" Target="../media/image60.png"/><Relationship Id="rId21" Type="http://schemas.openxmlformats.org/officeDocument/2006/relationships/image" Target="../media/image92.png"/><Relationship Id="rId7" Type="http://schemas.openxmlformats.org/officeDocument/2006/relationships/image" Target="../media/image76.png"/><Relationship Id="rId12" Type="http://schemas.openxmlformats.org/officeDocument/2006/relationships/image" Target="../media/image800.png"/><Relationship Id="rId17" Type="http://schemas.openxmlformats.org/officeDocument/2006/relationships/image" Target="../media/image87.png"/><Relationship Id="rId25" Type="http://schemas.openxmlformats.org/officeDocument/2006/relationships/image" Target="../media/image49.png"/><Relationship Id="rId16" Type="http://schemas.openxmlformats.org/officeDocument/2006/relationships/image" Target="../media/image85.png"/><Relationship Id="rId20" Type="http://schemas.openxmlformats.org/officeDocument/2006/relationships/image" Target="../media/image90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7.png"/><Relationship Id="rId11" Type="http://schemas.openxmlformats.org/officeDocument/2006/relationships/image" Target="../media/image79.png"/><Relationship Id="rId24" Type="http://schemas.openxmlformats.org/officeDocument/2006/relationships/image" Target="../media/image95.png"/><Relationship Id="rId5" Type="http://schemas.openxmlformats.org/officeDocument/2006/relationships/image" Target="../media/image75.png"/><Relationship Id="rId15" Type="http://schemas.openxmlformats.org/officeDocument/2006/relationships/image" Target="../media/image84.png"/><Relationship Id="rId23" Type="http://schemas.openxmlformats.org/officeDocument/2006/relationships/image" Target="../media/image94.png"/><Relationship Id="rId10" Type="http://schemas.openxmlformats.org/officeDocument/2006/relationships/image" Target="../media/image78.png"/><Relationship Id="rId19" Type="http://schemas.openxmlformats.org/officeDocument/2006/relationships/image" Target="../media/image89.png"/><Relationship Id="rId4" Type="http://schemas.openxmlformats.org/officeDocument/2006/relationships/image" Target="../media/image59.png"/><Relationship Id="rId9" Type="http://schemas.openxmlformats.org/officeDocument/2006/relationships/image" Target="../media/image77.png"/><Relationship Id="rId14" Type="http://schemas.openxmlformats.org/officeDocument/2006/relationships/image" Target="../media/image83.png"/><Relationship Id="rId22" Type="http://schemas.openxmlformats.org/officeDocument/2006/relationships/image" Target="../media/image93.png"/></Relationships>
</file>

<file path=ppt/slides/_rels/slide36.xml.rels><?xml version="1.0" encoding="UTF-8" standalone="yes"?>
<Relationships xmlns="http://schemas.openxmlformats.org/package/2006/relationships"><Relationship Id="rId8" Type="http://schemas.openxmlformats.org/officeDocument/2006/relationships/image" Target="../media/image69.png"/><Relationship Id="rId13" Type="http://schemas.openxmlformats.org/officeDocument/2006/relationships/image" Target="../media/image82.png"/><Relationship Id="rId18" Type="http://schemas.openxmlformats.org/officeDocument/2006/relationships/image" Target="../media/image88.png"/><Relationship Id="rId3" Type="http://schemas.openxmlformats.org/officeDocument/2006/relationships/image" Target="../media/image60.png"/><Relationship Id="rId21" Type="http://schemas.openxmlformats.org/officeDocument/2006/relationships/image" Target="../media/image92.png"/><Relationship Id="rId7" Type="http://schemas.openxmlformats.org/officeDocument/2006/relationships/image" Target="../media/image76.png"/><Relationship Id="rId12" Type="http://schemas.openxmlformats.org/officeDocument/2006/relationships/image" Target="../media/image800.png"/><Relationship Id="rId17" Type="http://schemas.openxmlformats.org/officeDocument/2006/relationships/image" Target="../media/image87.png"/><Relationship Id="rId25" Type="http://schemas.openxmlformats.org/officeDocument/2006/relationships/image" Target="../media/image49.png"/><Relationship Id="rId16" Type="http://schemas.openxmlformats.org/officeDocument/2006/relationships/image" Target="../media/image85.png"/><Relationship Id="rId20" Type="http://schemas.openxmlformats.org/officeDocument/2006/relationships/image" Target="../media/image90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7.png"/><Relationship Id="rId11" Type="http://schemas.openxmlformats.org/officeDocument/2006/relationships/image" Target="../media/image79.png"/><Relationship Id="rId24" Type="http://schemas.openxmlformats.org/officeDocument/2006/relationships/image" Target="../media/image94.png"/><Relationship Id="rId5" Type="http://schemas.openxmlformats.org/officeDocument/2006/relationships/image" Target="../media/image75.png"/><Relationship Id="rId15" Type="http://schemas.openxmlformats.org/officeDocument/2006/relationships/image" Target="../media/image84.png"/><Relationship Id="rId23" Type="http://schemas.openxmlformats.org/officeDocument/2006/relationships/image" Target="../media/image95.png"/><Relationship Id="rId10" Type="http://schemas.openxmlformats.org/officeDocument/2006/relationships/image" Target="../media/image78.png"/><Relationship Id="rId19" Type="http://schemas.openxmlformats.org/officeDocument/2006/relationships/image" Target="../media/image89.png"/><Relationship Id="rId4" Type="http://schemas.openxmlformats.org/officeDocument/2006/relationships/image" Target="../media/image59.png"/><Relationship Id="rId9" Type="http://schemas.openxmlformats.org/officeDocument/2006/relationships/image" Target="../media/image77.png"/><Relationship Id="rId14" Type="http://schemas.openxmlformats.org/officeDocument/2006/relationships/image" Target="../media/image83.png"/><Relationship Id="rId22" Type="http://schemas.openxmlformats.org/officeDocument/2006/relationships/image" Target="../media/image93.png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8" Type="http://schemas.openxmlformats.org/officeDocument/2006/relationships/image" Target="../media/image69.png"/><Relationship Id="rId13" Type="http://schemas.openxmlformats.org/officeDocument/2006/relationships/image" Target="../media/image82.png"/><Relationship Id="rId18" Type="http://schemas.openxmlformats.org/officeDocument/2006/relationships/image" Target="../media/image88.png"/><Relationship Id="rId3" Type="http://schemas.openxmlformats.org/officeDocument/2006/relationships/image" Target="../media/image60.png"/><Relationship Id="rId21" Type="http://schemas.openxmlformats.org/officeDocument/2006/relationships/image" Target="../media/image92.png"/><Relationship Id="rId7" Type="http://schemas.openxmlformats.org/officeDocument/2006/relationships/image" Target="../media/image76.png"/><Relationship Id="rId12" Type="http://schemas.openxmlformats.org/officeDocument/2006/relationships/image" Target="../media/image800.png"/><Relationship Id="rId17" Type="http://schemas.openxmlformats.org/officeDocument/2006/relationships/image" Target="../media/image87.png"/><Relationship Id="rId25" Type="http://schemas.openxmlformats.org/officeDocument/2006/relationships/image" Target="../media/image49.png"/><Relationship Id="rId16" Type="http://schemas.openxmlformats.org/officeDocument/2006/relationships/image" Target="../media/image85.png"/><Relationship Id="rId20" Type="http://schemas.openxmlformats.org/officeDocument/2006/relationships/image" Target="../media/image90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7.png"/><Relationship Id="rId11" Type="http://schemas.openxmlformats.org/officeDocument/2006/relationships/image" Target="../media/image96.png"/><Relationship Id="rId24" Type="http://schemas.openxmlformats.org/officeDocument/2006/relationships/image" Target="../media/image97.png"/><Relationship Id="rId5" Type="http://schemas.openxmlformats.org/officeDocument/2006/relationships/image" Target="../media/image75.png"/><Relationship Id="rId15" Type="http://schemas.openxmlformats.org/officeDocument/2006/relationships/image" Target="../media/image84.png"/><Relationship Id="rId23" Type="http://schemas.openxmlformats.org/officeDocument/2006/relationships/image" Target="../media/image95.png"/><Relationship Id="rId10" Type="http://schemas.openxmlformats.org/officeDocument/2006/relationships/image" Target="../media/image78.png"/><Relationship Id="rId19" Type="http://schemas.openxmlformats.org/officeDocument/2006/relationships/image" Target="../media/image89.png"/><Relationship Id="rId4" Type="http://schemas.openxmlformats.org/officeDocument/2006/relationships/image" Target="../media/image59.png"/><Relationship Id="rId9" Type="http://schemas.openxmlformats.org/officeDocument/2006/relationships/image" Target="../media/image77.png"/><Relationship Id="rId14" Type="http://schemas.openxmlformats.org/officeDocument/2006/relationships/image" Target="../media/image83.png"/><Relationship Id="rId22" Type="http://schemas.openxmlformats.org/officeDocument/2006/relationships/image" Target="../media/image93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8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9.png"/><Relationship Id="rId13" Type="http://schemas.openxmlformats.org/officeDocument/2006/relationships/image" Target="../media/image82.png"/><Relationship Id="rId18" Type="http://schemas.openxmlformats.org/officeDocument/2006/relationships/image" Target="../media/image88.png"/><Relationship Id="rId3" Type="http://schemas.openxmlformats.org/officeDocument/2006/relationships/image" Target="../media/image60.png"/><Relationship Id="rId21" Type="http://schemas.openxmlformats.org/officeDocument/2006/relationships/image" Target="../media/image92.png"/><Relationship Id="rId7" Type="http://schemas.openxmlformats.org/officeDocument/2006/relationships/image" Target="../media/image76.png"/><Relationship Id="rId12" Type="http://schemas.openxmlformats.org/officeDocument/2006/relationships/image" Target="../media/image800.png"/><Relationship Id="rId17" Type="http://schemas.openxmlformats.org/officeDocument/2006/relationships/image" Target="../media/image87.png"/><Relationship Id="rId25" Type="http://schemas.openxmlformats.org/officeDocument/2006/relationships/image" Target="../media/image49.png"/><Relationship Id="rId16" Type="http://schemas.openxmlformats.org/officeDocument/2006/relationships/image" Target="../media/image85.png"/><Relationship Id="rId20" Type="http://schemas.openxmlformats.org/officeDocument/2006/relationships/image" Target="../media/image90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7.png"/><Relationship Id="rId11" Type="http://schemas.openxmlformats.org/officeDocument/2006/relationships/image" Target="../media/image99.png"/><Relationship Id="rId24" Type="http://schemas.openxmlformats.org/officeDocument/2006/relationships/image" Target="../media/image1000.png"/><Relationship Id="rId5" Type="http://schemas.openxmlformats.org/officeDocument/2006/relationships/image" Target="../media/image75.png"/><Relationship Id="rId15" Type="http://schemas.openxmlformats.org/officeDocument/2006/relationships/image" Target="../media/image84.png"/><Relationship Id="rId23" Type="http://schemas.openxmlformats.org/officeDocument/2006/relationships/image" Target="../media/image95.png"/><Relationship Id="rId10" Type="http://schemas.openxmlformats.org/officeDocument/2006/relationships/image" Target="../media/image78.png"/><Relationship Id="rId19" Type="http://schemas.openxmlformats.org/officeDocument/2006/relationships/image" Target="../media/image89.png"/><Relationship Id="rId4" Type="http://schemas.openxmlformats.org/officeDocument/2006/relationships/image" Target="../media/image59.png"/><Relationship Id="rId9" Type="http://schemas.openxmlformats.org/officeDocument/2006/relationships/image" Target="../media/image77.png"/><Relationship Id="rId14" Type="http://schemas.openxmlformats.org/officeDocument/2006/relationships/image" Target="../media/image83.png"/><Relationship Id="rId22" Type="http://schemas.openxmlformats.org/officeDocument/2006/relationships/image" Target="../media/image93.png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6.png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1.png"/><Relationship Id="rId2" Type="http://schemas.openxmlformats.org/officeDocument/2006/relationships/image" Target="../media/image24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61.png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1.png"/><Relationship Id="rId2" Type="http://schemas.openxmlformats.org/officeDocument/2006/relationships/image" Target="../media/image27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01.png"/><Relationship Id="rId4" Type="http://schemas.openxmlformats.org/officeDocument/2006/relationships/image" Target="../media/image291.png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svg"/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5.png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50.png"/><Relationship Id="rId2" Type="http://schemas.openxmlformats.org/officeDocument/2006/relationships/image" Target="../media/image33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7.png"/><Relationship Id="rId4" Type="http://schemas.openxmlformats.org/officeDocument/2006/relationships/image" Target="../media/image1060.png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30.png"/><Relationship Id="rId2" Type="http://schemas.openxmlformats.org/officeDocument/2006/relationships/image" Target="../media/image1120.png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0.png"/><Relationship Id="rId2" Type="http://schemas.openxmlformats.org/officeDocument/2006/relationships/image" Target="../media/image114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6.png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1.png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6.png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圓角矩形 7">
            <a:extLst>
              <a:ext uri="{FF2B5EF4-FFF2-40B4-BE49-F238E27FC236}">
                <a16:creationId xmlns:a16="http://schemas.microsoft.com/office/drawing/2014/main" id="{AA8F8551-2C61-48D1-9E5C-345C10BAAC8B}"/>
              </a:ext>
            </a:extLst>
          </p:cNvPr>
          <p:cNvSpPr/>
          <p:nvPr/>
        </p:nvSpPr>
        <p:spPr>
          <a:xfrm>
            <a:off x="667422" y="1891904"/>
            <a:ext cx="10857156" cy="2857500"/>
          </a:xfrm>
          <a:prstGeom prst="roundRect">
            <a:avLst/>
          </a:prstGeom>
          <a:solidFill>
            <a:srgbClr val="FFCE9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2" name="標題 1">
            <a:extLst>
              <a:ext uri="{FF2B5EF4-FFF2-40B4-BE49-F238E27FC236}">
                <a16:creationId xmlns:a16="http://schemas.microsoft.com/office/drawing/2014/main" id="{8C058193-D513-E805-2BD5-118E50D976F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59623" y="2056517"/>
            <a:ext cx="10857156" cy="2758710"/>
          </a:xfrm>
        </p:spPr>
        <p:txBody>
          <a:bodyPr anchor="ctr">
            <a:noAutofit/>
          </a:bodyPr>
          <a:lstStyle/>
          <a:p>
            <a:r>
              <a:rPr kumimoji="1" lang="zh-TW" altLang="en-US" sz="4800" b="1" dirty="0">
                <a:ea typeface="Microsoft JhengHei" panose="020B0604030504040204" pitchFamily="34" charset="-120"/>
              </a:rPr>
              <a:t>自然語言處理與應用</a:t>
            </a:r>
            <a:br>
              <a:rPr kumimoji="1" lang="en-US" altLang="zh-TW" sz="4800" b="1" dirty="0">
                <a:ea typeface="Microsoft JhengHei" panose="020B0604030504040204" pitchFamily="34" charset="-120"/>
              </a:rPr>
            </a:br>
            <a:r>
              <a:rPr kumimoji="1" lang="en-US" altLang="zh-TW" sz="4800" b="1" dirty="0">
                <a:ea typeface="Microsoft JhengHei" panose="020B0604030504040204" pitchFamily="34" charset="-120"/>
              </a:rPr>
              <a:t>Natural Language Processing and Applications</a:t>
            </a:r>
            <a:endParaRPr kumimoji="1" lang="zh-TW" altLang="en-US" sz="4800" b="1" dirty="0">
              <a:ea typeface="Microsoft JhengHei" panose="020B0604030504040204" pitchFamily="34" charset="-120"/>
            </a:endParaRPr>
          </a:p>
        </p:txBody>
      </p:sp>
      <p:sp>
        <p:nvSpPr>
          <p:cNvPr id="10" name="文字方塊 9">
            <a:extLst>
              <a:ext uri="{FF2B5EF4-FFF2-40B4-BE49-F238E27FC236}">
                <a16:creationId xmlns:a16="http://schemas.microsoft.com/office/drawing/2014/main" id="{6598A032-0E8B-F9E1-A926-2F2E78D575C6}"/>
              </a:ext>
            </a:extLst>
          </p:cNvPr>
          <p:cNvSpPr txBox="1"/>
          <p:nvPr/>
        </p:nvSpPr>
        <p:spPr>
          <a:xfrm>
            <a:off x="759623" y="4881049"/>
            <a:ext cx="4560522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sz="2800" b="1" dirty="0">
                <a:solidFill>
                  <a:srgbClr val="0070C0"/>
                </a:solidFill>
                <a:latin typeface="+mj-lt"/>
                <a:cs typeface="Calibri" panose="020F0502020204030204" pitchFamily="34" charset="0"/>
              </a:rPr>
              <a:t>Decoder-based Models</a:t>
            </a:r>
          </a:p>
          <a:p>
            <a:endParaRPr kumimoji="1" lang="en-US" altLang="zh-TW" sz="2800" b="1" dirty="0">
              <a:solidFill>
                <a:srgbClr val="0070C0"/>
              </a:solidFill>
              <a:latin typeface="+mj-lt"/>
              <a:cs typeface="Calibri" panose="020F0502020204030204" pitchFamily="34" charset="0"/>
            </a:endParaRPr>
          </a:p>
          <a:p>
            <a:endParaRPr kumimoji="1" lang="zh-TW" altLang="en-US" sz="2800" b="1" dirty="0">
              <a:solidFill>
                <a:srgbClr val="0070C0"/>
              </a:solidFill>
              <a:latin typeface="+mj-lt"/>
              <a:cs typeface="Calibri" panose="020F0502020204030204" pitchFamily="34" charset="0"/>
            </a:endParaRPr>
          </a:p>
        </p:txBody>
      </p:sp>
      <p:sp>
        <p:nvSpPr>
          <p:cNvPr id="12" name="文字方塊 11">
            <a:extLst>
              <a:ext uri="{FF2B5EF4-FFF2-40B4-BE49-F238E27FC236}">
                <a16:creationId xmlns:a16="http://schemas.microsoft.com/office/drawing/2014/main" id="{2F843A79-3FEF-CDAD-6B9A-C5A7AD279D2D}"/>
              </a:ext>
            </a:extLst>
          </p:cNvPr>
          <p:cNvSpPr txBox="1"/>
          <p:nvPr/>
        </p:nvSpPr>
        <p:spPr>
          <a:xfrm>
            <a:off x="759623" y="5914787"/>
            <a:ext cx="418267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sz="2000" b="1" dirty="0">
                <a:latin typeface="+mj-lt"/>
                <a:ea typeface="Microsoft JhengHei" panose="020B0604030504040204" pitchFamily="34" charset="-120"/>
                <a:cs typeface="Calibri" panose="020F0502020204030204" pitchFamily="34" charset="0"/>
              </a:rPr>
              <a:t>Instructor: </a:t>
            </a:r>
            <a:r>
              <a:rPr kumimoji="1" lang="zh-TW" altLang="en-US" sz="2000" b="1" dirty="0">
                <a:latin typeface="+mj-lt"/>
                <a:ea typeface="Microsoft JhengHei" panose="020B0604030504040204" pitchFamily="34" charset="-120"/>
                <a:cs typeface="Calibri" panose="020F0502020204030204" pitchFamily="34" charset="0"/>
              </a:rPr>
              <a:t>林英嘉 </a:t>
            </a:r>
            <a:r>
              <a:rPr kumimoji="1" lang="en-US" altLang="zh-TW" sz="2000" b="1" dirty="0">
                <a:latin typeface="+mj-lt"/>
                <a:ea typeface="Microsoft JhengHei" panose="020B0604030504040204" pitchFamily="34" charset="-120"/>
                <a:cs typeface="Calibri" panose="020F0502020204030204" pitchFamily="34" charset="0"/>
              </a:rPr>
              <a:t>(Ying-Jia Lin)</a:t>
            </a:r>
          </a:p>
          <a:p>
            <a:r>
              <a:rPr kumimoji="1" lang="en-US" altLang="zh-TW" sz="2000" b="1" dirty="0">
                <a:latin typeface="+mj-lt"/>
                <a:ea typeface="Microsoft JhengHei" panose="020B0604030504040204" pitchFamily="34" charset="-120"/>
                <a:cs typeface="Calibri" panose="020F0502020204030204" pitchFamily="34" charset="0"/>
              </a:rPr>
              <a:t>2026/04/13</a:t>
            </a:r>
            <a:endParaRPr kumimoji="1" lang="zh-TW" altLang="en-US" sz="2000" b="1" dirty="0">
              <a:latin typeface="+mj-lt"/>
              <a:ea typeface="Microsoft JhengHei" panose="020B0604030504040204" pitchFamily="34" charset="-120"/>
              <a:cs typeface="Calibri" panose="020F0502020204030204" pitchFamily="34" charset="0"/>
            </a:endParaRPr>
          </a:p>
        </p:txBody>
      </p:sp>
      <p:pic>
        <p:nvPicPr>
          <p:cNvPr id="3" name="圖片 2">
            <a:extLst>
              <a:ext uri="{FF2B5EF4-FFF2-40B4-BE49-F238E27FC236}">
                <a16:creationId xmlns:a16="http://schemas.microsoft.com/office/drawing/2014/main" id="{2C0C8410-1877-4FB2-39F9-E0CFE0480EE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30118" y="130472"/>
            <a:ext cx="1394460" cy="1394460"/>
          </a:xfrm>
          <a:prstGeom prst="rect">
            <a:avLst/>
          </a:prstGeom>
        </p:spPr>
      </p:pic>
      <p:sp>
        <p:nvSpPr>
          <p:cNvPr id="4" name="文字方塊 3">
            <a:extLst>
              <a:ext uri="{FF2B5EF4-FFF2-40B4-BE49-F238E27FC236}">
                <a16:creationId xmlns:a16="http://schemas.microsoft.com/office/drawing/2014/main" id="{A6DEED3F-C826-615A-5EF9-02C833E509E8}"/>
              </a:ext>
            </a:extLst>
          </p:cNvPr>
          <p:cNvSpPr txBox="1"/>
          <p:nvPr/>
        </p:nvSpPr>
        <p:spPr>
          <a:xfrm>
            <a:off x="10169046" y="5391531"/>
            <a:ext cx="155837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" altLang="zh-TW" dirty="0" err="1"/>
              <a:t>Slido</a:t>
            </a:r>
            <a:endParaRPr kumimoji="1" lang="en" altLang="zh-TW" dirty="0"/>
          </a:p>
          <a:p>
            <a:r>
              <a:rPr kumimoji="1" lang="en" altLang="zh-TW" dirty="0"/>
              <a:t># NLP0413 (</a:t>
            </a:r>
            <a:r>
              <a:rPr kumimoji="1" lang="en" altLang="zh-TW" dirty="0">
                <a:hlinkClick r:id="rId4"/>
              </a:rPr>
              <a:t>Link</a:t>
            </a:r>
            <a:r>
              <a:rPr kumimoji="1" lang="en" altLang="zh-TW" dirty="0"/>
              <a:t>)</a:t>
            </a:r>
            <a:endParaRPr kumimoji="1" lang="zh-TW" altLang="en-US" dirty="0"/>
          </a:p>
        </p:txBody>
      </p:sp>
      <p:pic>
        <p:nvPicPr>
          <p:cNvPr id="7" name="圖片 6">
            <a:extLst>
              <a:ext uri="{FF2B5EF4-FFF2-40B4-BE49-F238E27FC236}">
                <a16:creationId xmlns:a16="http://schemas.microsoft.com/office/drawing/2014/main" id="{25D8B8BA-01EA-719E-DB6F-35B59009F056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7139"/>
          <a:stretch/>
        </p:blipFill>
        <p:spPr>
          <a:xfrm>
            <a:off x="5498071" y="4881049"/>
            <a:ext cx="2108982" cy="1958434"/>
          </a:xfrm>
          <a:prstGeom prst="rect">
            <a:avLst/>
          </a:prstGeom>
        </p:spPr>
      </p:pic>
      <p:sp>
        <p:nvSpPr>
          <p:cNvPr id="9" name="文字方塊 8">
            <a:extLst>
              <a:ext uri="{FF2B5EF4-FFF2-40B4-BE49-F238E27FC236}">
                <a16:creationId xmlns:a16="http://schemas.microsoft.com/office/drawing/2014/main" id="{5E320E30-561F-DF85-CC02-2709CD58A10B}"/>
              </a:ext>
            </a:extLst>
          </p:cNvPr>
          <p:cNvSpPr txBox="1"/>
          <p:nvPr/>
        </p:nvSpPr>
        <p:spPr>
          <a:xfrm>
            <a:off x="7389634" y="5642689"/>
            <a:ext cx="101129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" altLang="zh-TW" dirty="0"/>
              <a:t>GitHub</a:t>
            </a:r>
            <a:endParaRPr kumimoji="1" lang="zh-TW" altLang="en-US" dirty="0"/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706E821F-164F-1463-304D-AB66914966F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00925" y="4903419"/>
            <a:ext cx="1759010" cy="17590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599253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C5B9393-1699-985A-E66F-F2B3884381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Outline</a:t>
            </a:r>
            <a:endParaRPr kumimoji="1"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38A6DC57-0B7A-1B21-F9F0-721D122BD9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2</a:t>
            </a:fld>
            <a:endParaRPr lang="en-US" dirty="0"/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FFAFA69A-F103-08DD-98C8-542BFACBF3C4}"/>
              </a:ext>
            </a:extLst>
          </p:cNvPr>
          <p:cNvSpPr txBox="1"/>
          <p:nvPr/>
        </p:nvSpPr>
        <p:spPr>
          <a:xfrm>
            <a:off x="653143" y="1636542"/>
            <a:ext cx="10918370" cy="33478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en-US" altLang="zh-TW" sz="2400" dirty="0"/>
              <a:t>GPT and </a:t>
            </a:r>
            <a:r>
              <a:rPr kumimoji="1" lang="en-US" altLang="zh-TW" sz="2400"/>
              <a:t>language modeling (30 min)</a:t>
            </a:r>
            <a:endParaRPr kumimoji="1" lang="en-US" altLang="zh-TW" sz="2400" dirty="0"/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en-US" altLang="zh-TW" sz="2400" dirty="0"/>
              <a:t>Decoding strategies (50 min)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en-US" altLang="zh-TW" sz="2400" dirty="0"/>
              <a:t>Greedy Decoding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en-US" altLang="zh-TW" sz="2400" dirty="0"/>
              <a:t>Beam Search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en-US" altLang="zh-TW" sz="2400" dirty="0"/>
              <a:t>Top-k Sampling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en-US" altLang="zh-TW" sz="2400" dirty="0"/>
              <a:t>Top-p Sampling</a:t>
            </a:r>
          </a:p>
        </p:txBody>
      </p:sp>
    </p:spTree>
    <p:extLst>
      <p:ext uri="{BB962C8B-B14F-4D97-AF65-F5344CB8AC3E}">
        <p14:creationId xmlns:p14="http://schemas.microsoft.com/office/powerpoint/2010/main" val="264700259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42EEEA3-0BCC-9E2B-66DF-C3F22B1935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en-US" altLang="zh-TW" dirty="0"/>
              <a:t>Transformer </a:t>
            </a:r>
            <a:r>
              <a:rPr kumimoji="1" lang="zh-TW" altLang="en-US" dirty="0"/>
              <a:t>架構的後續應用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038ECEB-E461-F405-08AF-BBD30D6FF4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3</a:t>
            </a:fld>
            <a:endParaRPr lang="en-US" dirty="0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DE5F2EB2-6F05-E173-ADF7-F273D8A8C9F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24041" y="3595254"/>
            <a:ext cx="1213026" cy="20185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文字方塊 4">
            <a:extLst>
              <a:ext uri="{FF2B5EF4-FFF2-40B4-BE49-F238E27FC236}">
                <a16:creationId xmlns:a16="http://schemas.microsoft.com/office/drawing/2014/main" id="{9DCC39C4-31D1-7D67-F204-9A314EF294B9}"/>
              </a:ext>
            </a:extLst>
          </p:cNvPr>
          <p:cNvSpPr txBox="1"/>
          <p:nvPr/>
        </p:nvSpPr>
        <p:spPr>
          <a:xfrm>
            <a:off x="653143" y="2257205"/>
            <a:ext cx="4472474" cy="28052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en-US" altLang="zh-TW" sz="2000" dirty="0"/>
              <a:t>Generative Pre-training (GPT) series </a:t>
            </a:r>
            <a:r>
              <a:rPr kumimoji="1" lang="zh-TW" altLang="en-US" sz="2000" dirty="0"/>
              <a:t>是</a:t>
            </a:r>
            <a:r>
              <a:rPr kumimoji="1" lang="en-US" altLang="zh-TW" sz="2000" dirty="0"/>
              <a:t> </a:t>
            </a:r>
            <a:r>
              <a:rPr kumimoji="1" lang="en-US" altLang="zh-TW" sz="2000" b="1" dirty="0"/>
              <a:t>Transformer Decoder</a:t>
            </a:r>
            <a:endParaRPr kumimoji="1" lang="en" altLang="zh-TW" sz="2000" b="1" dirty="0"/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en" altLang="zh-TW" sz="2000" dirty="0"/>
              <a:t>BERT (Bidirectional encoder representations from transformers)</a:t>
            </a:r>
            <a:r>
              <a:rPr kumimoji="1" lang="zh-TW" altLang="en-US" sz="2000" dirty="0"/>
              <a:t> 是</a:t>
            </a:r>
            <a:r>
              <a:rPr kumimoji="1" lang="en-US" altLang="zh-TW" sz="2000" dirty="0"/>
              <a:t> </a:t>
            </a:r>
            <a:r>
              <a:rPr kumimoji="1" lang="en-US" altLang="zh-TW" sz="2000" b="1" dirty="0"/>
              <a:t>Transformer Encoder</a:t>
            </a:r>
            <a:endParaRPr kumimoji="1" lang="en" altLang="zh-TW" sz="2000" b="1" dirty="0"/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en-US" altLang="zh-TW" sz="2000" dirty="0">
                <a:hlinkClick r:id="rId4"/>
              </a:rPr>
              <a:t>Devlin et al., 2018</a:t>
            </a:r>
            <a:endParaRPr kumimoji="1" lang="en-US" altLang="zh-TW" sz="2000" dirty="0"/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40A49A49-DDFB-27EB-4B47-7324B570C07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33249" y="1517710"/>
            <a:ext cx="3619047" cy="5159829"/>
          </a:xfrm>
          <a:prstGeom prst="rect">
            <a:avLst/>
          </a:prstGeom>
        </p:spPr>
      </p:pic>
      <p:sp>
        <p:nvSpPr>
          <p:cNvPr id="7" name="矩形 6">
            <a:extLst>
              <a:ext uri="{FF2B5EF4-FFF2-40B4-BE49-F238E27FC236}">
                <a16:creationId xmlns:a16="http://schemas.microsoft.com/office/drawing/2014/main" id="{52D3EF54-78A3-9F8F-16DB-7E94E0724720}"/>
              </a:ext>
            </a:extLst>
          </p:cNvPr>
          <p:cNvSpPr/>
          <p:nvPr/>
        </p:nvSpPr>
        <p:spPr>
          <a:xfrm>
            <a:off x="7133249" y="3206554"/>
            <a:ext cx="1793196" cy="3331024"/>
          </a:xfrm>
          <a:prstGeom prst="rect">
            <a:avLst/>
          </a:prstGeom>
          <a:noFill/>
          <a:ln w="28575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 dirty="0"/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508EEEA7-230D-3111-16CC-0F5AE58AFFE6}"/>
              </a:ext>
            </a:extLst>
          </p:cNvPr>
          <p:cNvSpPr txBox="1"/>
          <p:nvPr/>
        </p:nvSpPr>
        <p:spPr>
          <a:xfrm>
            <a:off x="5963410" y="4631416"/>
            <a:ext cx="9537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TW" b="1" dirty="0">
                <a:solidFill>
                  <a:srgbClr val="FF9300"/>
                </a:solidFill>
              </a:rPr>
              <a:t>Encoder</a:t>
            </a:r>
            <a:endParaRPr kumimoji="1" lang="zh-TW" altLang="en-US" b="1" dirty="0">
              <a:solidFill>
                <a:srgbClr val="FF9300"/>
              </a:solidFill>
            </a:endParaRPr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CD20F2A0-3E29-A390-9125-9D6796EB4891}"/>
              </a:ext>
            </a:extLst>
          </p:cNvPr>
          <p:cNvSpPr txBox="1"/>
          <p:nvPr/>
        </p:nvSpPr>
        <p:spPr>
          <a:xfrm>
            <a:off x="6183268" y="4220820"/>
            <a:ext cx="10263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dirty="0"/>
              <a:t>N=12</a:t>
            </a:r>
            <a:endParaRPr kumimoji="1" lang="zh-TW" altLang="en-US" dirty="0"/>
          </a:p>
        </p:txBody>
      </p:sp>
      <p:sp>
        <p:nvSpPr>
          <p:cNvPr id="11" name="文字方塊 10">
            <a:extLst>
              <a:ext uri="{FF2B5EF4-FFF2-40B4-BE49-F238E27FC236}">
                <a16:creationId xmlns:a16="http://schemas.microsoft.com/office/drawing/2014/main" id="{F6BD3EBD-5F95-B31A-8A6B-4624EC80C199}"/>
              </a:ext>
            </a:extLst>
          </p:cNvPr>
          <p:cNvSpPr txBox="1"/>
          <p:nvPr/>
        </p:nvSpPr>
        <p:spPr>
          <a:xfrm>
            <a:off x="5125617" y="5636957"/>
            <a:ext cx="97038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sz="1600" dirty="0"/>
              <a:t>(</a:t>
            </a:r>
            <a:r>
              <a:rPr kumimoji="1" lang="en" altLang="zh-TW" sz="1600" dirty="0"/>
              <a:t>BERT</a:t>
            </a:r>
            <a:r>
              <a:rPr kumimoji="1" lang="en-US" altLang="zh-TW" sz="1600" dirty="0"/>
              <a:t>)</a:t>
            </a:r>
            <a:endParaRPr kumimoji="1" lang="zh-TW" altLang="en-US" sz="16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CAFD07D-B889-E41D-7ACB-7E25CEC09FD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15061" y="3385823"/>
            <a:ext cx="1033417" cy="10334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文字方塊 9">
            <a:extLst>
              <a:ext uri="{FF2B5EF4-FFF2-40B4-BE49-F238E27FC236}">
                <a16:creationId xmlns:a16="http://schemas.microsoft.com/office/drawing/2014/main" id="{C1849A13-09D9-27F1-4679-34F927EA4E08}"/>
              </a:ext>
            </a:extLst>
          </p:cNvPr>
          <p:cNvSpPr txBox="1"/>
          <p:nvPr/>
        </p:nvSpPr>
        <p:spPr>
          <a:xfrm>
            <a:off x="10746577" y="4431518"/>
            <a:ext cx="97038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sz="1600" dirty="0"/>
              <a:t>(</a:t>
            </a:r>
            <a:r>
              <a:rPr kumimoji="1" lang="en" altLang="zh-TW" sz="1600" dirty="0"/>
              <a:t>GPT</a:t>
            </a:r>
            <a:r>
              <a:rPr kumimoji="1" lang="en-US" altLang="zh-TW" sz="1600" dirty="0"/>
              <a:t>)</a:t>
            </a:r>
            <a:endParaRPr kumimoji="1" lang="zh-TW" altLang="en-US" sz="1600" dirty="0"/>
          </a:p>
        </p:txBody>
      </p:sp>
      <p:sp>
        <p:nvSpPr>
          <p:cNvPr id="12" name="橢圓 11">
            <a:extLst>
              <a:ext uri="{FF2B5EF4-FFF2-40B4-BE49-F238E27FC236}">
                <a16:creationId xmlns:a16="http://schemas.microsoft.com/office/drawing/2014/main" id="{2C5BC747-9024-1C96-9925-BCD93FE85666}"/>
              </a:ext>
            </a:extLst>
          </p:cNvPr>
          <p:cNvSpPr/>
          <p:nvPr/>
        </p:nvSpPr>
        <p:spPr>
          <a:xfrm>
            <a:off x="10290720" y="3190931"/>
            <a:ext cx="1791580" cy="1618789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37369921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81E9F1B-CA8A-3325-F733-D5F51E040E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GPT</a:t>
            </a:r>
            <a:r>
              <a:rPr kumimoji="1" lang="zh-TW" altLang="en-US" dirty="0"/>
              <a:t> 是一個語言模型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82127992-C13A-AA35-F0A0-3C853C81B8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4</a:t>
            </a:fld>
            <a:endParaRPr lang="en-US" dirty="0"/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1D899FC5-2344-0EEC-EB81-18EB6A96C7B1}"/>
              </a:ext>
            </a:extLst>
          </p:cNvPr>
          <p:cNvSpPr txBox="1"/>
          <p:nvPr/>
        </p:nvSpPr>
        <p:spPr>
          <a:xfrm>
            <a:off x="653142" y="1837243"/>
            <a:ext cx="8540076" cy="9589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zh-TW" altLang="en-US" sz="2000" dirty="0"/>
              <a:t>語言模型定義：語言模型</a:t>
            </a:r>
            <a:r>
              <a:rPr kumimoji="1" lang="en-US" altLang="zh-TW" sz="2000" dirty="0"/>
              <a:t> (Language Model) </a:t>
            </a:r>
            <a:r>
              <a:rPr kumimoji="1" lang="zh-TW" altLang="en-US" sz="2000" dirty="0"/>
              <a:t>是一個能預測並生成語言的機器學習模型</a:t>
            </a:r>
            <a:endParaRPr kumimoji="1" lang="en-US" altLang="zh-TW" sz="2000" dirty="0"/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E28B9FC9-496A-517A-9BCA-2E029F233C1F}"/>
              </a:ext>
            </a:extLst>
          </p:cNvPr>
          <p:cNvSpPr txBox="1"/>
          <p:nvPr/>
        </p:nvSpPr>
        <p:spPr>
          <a:xfrm>
            <a:off x="8632371" y="872796"/>
            <a:ext cx="293914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" altLang="zh-TW" sz="1200" dirty="0"/>
              <a:t>https://</a:t>
            </a:r>
            <a:r>
              <a:rPr kumimoji="1" lang="en" altLang="zh-TW" sz="1200" dirty="0" err="1"/>
              <a:t>developers.google.com</a:t>
            </a:r>
            <a:r>
              <a:rPr kumimoji="1" lang="en" altLang="zh-TW" sz="1200" dirty="0"/>
              <a:t>/machine-learning/resources/intro-</a:t>
            </a:r>
            <a:r>
              <a:rPr kumimoji="1" lang="en" altLang="zh-TW" sz="1200" dirty="0" err="1"/>
              <a:t>llms</a:t>
            </a:r>
            <a:endParaRPr kumimoji="1" lang="zh-TW" altLang="en-US" sz="1200" dirty="0"/>
          </a:p>
        </p:txBody>
      </p:sp>
      <p:pic>
        <p:nvPicPr>
          <p:cNvPr id="7" name="圖片 6">
            <a:extLst>
              <a:ext uri="{FF2B5EF4-FFF2-40B4-BE49-F238E27FC236}">
                <a16:creationId xmlns:a16="http://schemas.microsoft.com/office/drawing/2014/main" id="{27A07981-C617-6E8E-8740-C40A7BC715F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32227" y="2899684"/>
            <a:ext cx="5700404" cy="3247387"/>
          </a:xfrm>
          <a:prstGeom prst="rect">
            <a:avLst/>
          </a:prstGeom>
        </p:spPr>
      </p:pic>
      <p:sp>
        <p:nvSpPr>
          <p:cNvPr id="8" name="文字方塊 7">
            <a:extLst>
              <a:ext uri="{FF2B5EF4-FFF2-40B4-BE49-F238E27FC236}">
                <a16:creationId xmlns:a16="http://schemas.microsoft.com/office/drawing/2014/main" id="{CC44073A-E46E-35A7-202E-403179D18DF2}"/>
              </a:ext>
            </a:extLst>
          </p:cNvPr>
          <p:cNvSpPr txBox="1"/>
          <p:nvPr/>
        </p:nvSpPr>
        <p:spPr>
          <a:xfrm>
            <a:off x="747335" y="3993712"/>
            <a:ext cx="173043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sz="2000" dirty="0"/>
              <a:t>(</a:t>
            </a:r>
            <a:r>
              <a:rPr kumimoji="1" lang="zh-TW" altLang="en-US" sz="2000" dirty="0"/>
              <a:t>例子</a:t>
            </a:r>
            <a:r>
              <a:rPr kumimoji="1" lang="en-US" altLang="zh-TW" sz="2000" dirty="0"/>
              <a:t>) </a:t>
            </a:r>
            <a:r>
              <a:rPr kumimoji="1" lang="zh-TW" altLang="en-US" sz="2000" dirty="0"/>
              <a:t>下一個字預測</a:t>
            </a:r>
            <a:r>
              <a:rPr kumimoji="1" lang="en-US" altLang="zh-TW" sz="2000" dirty="0"/>
              <a:t> ➡️</a:t>
            </a:r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5799F758-6868-02D9-003D-C48B9BACFA23}"/>
              </a:ext>
            </a:extLst>
          </p:cNvPr>
          <p:cNvSpPr txBox="1"/>
          <p:nvPr/>
        </p:nvSpPr>
        <p:spPr>
          <a:xfrm>
            <a:off x="4911012" y="6363412"/>
            <a:ext cx="403052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" altLang="zh-TW" sz="1200" dirty="0"/>
              <a:t>Figure source: https://</a:t>
            </a:r>
            <a:r>
              <a:rPr kumimoji="1" lang="en" altLang="zh-TW" sz="1200" dirty="0" err="1"/>
              <a:t>support.apple.com</a:t>
            </a:r>
            <a:r>
              <a:rPr kumimoji="1" lang="en" altLang="zh-TW" sz="1200" dirty="0"/>
              <a:t>/</a:t>
            </a:r>
            <a:r>
              <a:rPr kumimoji="1" lang="en" altLang="zh-TW" sz="1200" dirty="0" err="1"/>
              <a:t>zh-tw</a:t>
            </a:r>
            <a:r>
              <a:rPr kumimoji="1" lang="en" altLang="zh-TW" sz="1200" dirty="0"/>
              <a:t>/104995</a:t>
            </a:r>
            <a:endParaRPr kumimoji="1" lang="zh-TW" altLang="en-US" sz="1200" dirty="0"/>
          </a:p>
        </p:txBody>
      </p:sp>
      <p:pic>
        <p:nvPicPr>
          <p:cNvPr id="1028" name="Picture 4" descr="在 iPhone 上輸入訊息時，鍵盤上方會出現預測字詞選項。">
            <a:extLst>
              <a:ext uri="{FF2B5EF4-FFF2-40B4-BE49-F238E27FC236}">
                <a16:creationId xmlns:a16="http://schemas.microsoft.com/office/drawing/2014/main" id="{E8ABAE89-DAEB-5460-A669-986502EF917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93218" y="2628869"/>
            <a:ext cx="1956864" cy="40486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矩形 9">
            <a:extLst>
              <a:ext uri="{FF2B5EF4-FFF2-40B4-BE49-F238E27FC236}">
                <a16:creationId xmlns:a16="http://schemas.microsoft.com/office/drawing/2014/main" id="{436AA3ED-1D0C-6A73-AB51-43A8BE9161E2}"/>
              </a:ext>
            </a:extLst>
          </p:cNvPr>
          <p:cNvSpPr/>
          <p:nvPr/>
        </p:nvSpPr>
        <p:spPr>
          <a:xfrm>
            <a:off x="9068853" y="5085184"/>
            <a:ext cx="2183363" cy="261257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42062366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9" grpId="0"/>
      <p:bldP spid="10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C85A419-B761-9BA4-581D-37DFCD0B3E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[RNN Recap] </a:t>
            </a:r>
            <a:r>
              <a:rPr kumimoji="1" lang="zh-TW" altLang="en-US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條件機率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B1C51E99-2D91-19D1-B39D-AB454E0D18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5</a:t>
            </a:fld>
            <a:endParaRPr lang="en-US" dirty="0"/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32018C91-37CB-A2B2-79CA-EC5FFAB55E0F}"/>
              </a:ext>
            </a:extLst>
          </p:cNvPr>
          <p:cNvSpPr txBox="1"/>
          <p:nvPr/>
        </p:nvSpPr>
        <p:spPr>
          <a:xfrm>
            <a:off x="653143" y="1840468"/>
            <a:ext cx="656794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zh-TW" altLang="en-US" sz="24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假設要讓模型生成一個句子：「天氣真好」</a:t>
            </a:r>
            <a:endParaRPr lang="zh-TW" altLang="en-US" sz="2400" dirty="0"/>
          </a:p>
        </p:txBody>
      </p:sp>
      <p:sp>
        <p:nvSpPr>
          <p:cNvPr id="7" name="圓角矩形 6">
            <a:extLst>
              <a:ext uri="{FF2B5EF4-FFF2-40B4-BE49-F238E27FC236}">
                <a16:creationId xmlns:a16="http://schemas.microsoft.com/office/drawing/2014/main" id="{12C7A621-54CF-982A-208F-EE81E01E7288}"/>
              </a:ext>
            </a:extLst>
          </p:cNvPr>
          <p:cNvSpPr/>
          <p:nvPr/>
        </p:nvSpPr>
        <p:spPr>
          <a:xfrm>
            <a:off x="1604122" y="3768538"/>
            <a:ext cx="1286564" cy="717215"/>
          </a:xfrm>
          <a:prstGeom prst="round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en-US" altLang="zh-TW" sz="2400" dirty="0">
                <a:solidFill>
                  <a:schemeClr val="tx1"/>
                </a:solidFill>
              </a:rPr>
              <a:t>RNN</a:t>
            </a:r>
            <a:endParaRPr kumimoji="1" lang="zh-TW" altLang="en-US" sz="2400" dirty="0">
              <a:solidFill>
                <a:schemeClr val="tx1"/>
              </a:solidFill>
            </a:endParaRPr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AF5C1DE3-DC42-33D4-CE31-8D11570F4A81}"/>
              </a:ext>
            </a:extLst>
          </p:cNvPr>
          <p:cNvSpPr txBox="1"/>
          <p:nvPr/>
        </p:nvSpPr>
        <p:spPr>
          <a:xfrm>
            <a:off x="1682049" y="5126057"/>
            <a:ext cx="113071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zh-TW" altLang="en-US" b="1" dirty="0">
                <a:solidFill>
                  <a:schemeClr val="accent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開始字詞</a:t>
            </a:r>
            <a:r>
              <a:rPr kumimoji="1" lang="en-US" altLang="zh-TW" b="1" dirty="0">
                <a:solidFill>
                  <a:schemeClr val="accent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(BOS)</a:t>
            </a:r>
            <a:endParaRPr kumimoji="1" lang="zh-TW" altLang="en-US" b="1" dirty="0">
              <a:solidFill>
                <a:schemeClr val="accent1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cxnSp>
        <p:nvCxnSpPr>
          <p:cNvPr id="9" name="直線箭頭接點 8">
            <a:extLst>
              <a:ext uri="{FF2B5EF4-FFF2-40B4-BE49-F238E27FC236}">
                <a16:creationId xmlns:a16="http://schemas.microsoft.com/office/drawing/2014/main" id="{AD1BDD19-1075-76A8-6E65-68F8118BE849}"/>
              </a:ext>
            </a:extLst>
          </p:cNvPr>
          <p:cNvCxnSpPr>
            <a:cxnSpLocks/>
            <a:stCxn id="8" idx="0"/>
            <a:endCxn id="7" idx="2"/>
          </p:cNvCxnSpPr>
          <p:nvPr/>
        </p:nvCxnSpPr>
        <p:spPr>
          <a:xfrm flipV="1">
            <a:off x="2247404" y="4485753"/>
            <a:ext cx="0" cy="640304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文字方塊 14">
            <a:extLst>
              <a:ext uri="{FF2B5EF4-FFF2-40B4-BE49-F238E27FC236}">
                <a16:creationId xmlns:a16="http://schemas.microsoft.com/office/drawing/2014/main" id="{F155EFC6-2B86-11EF-39D3-35EDE7E47E2D}"/>
              </a:ext>
            </a:extLst>
          </p:cNvPr>
          <p:cNvSpPr txBox="1"/>
          <p:nvPr/>
        </p:nvSpPr>
        <p:spPr>
          <a:xfrm>
            <a:off x="1682049" y="2761484"/>
            <a:ext cx="11307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zh-TW" altLang="en-US" b="1" dirty="0">
                <a:solidFill>
                  <a:srgbClr val="00B050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天</a:t>
            </a:r>
          </a:p>
        </p:txBody>
      </p:sp>
      <p:cxnSp>
        <p:nvCxnSpPr>
          <p:cNvPr id="16" name="直線箭頭接點 15">
            <a:extLst>
              <a:ext uri="{FF2B5EF4-FFF2-40B4-BE49-F238E27FC236}">
                <a16:creationId xmlns:a16="http://schemas.microsoft.com/office/drawing/2014/main" id="{5CB132C1-055E-7095-06CA-38B86405887D}"/>
              </a:ext>
            </a:extLst>
          </p:cNvPr>
          <p:cNvCxnSpPr>
            <a:cxnSpLocks/>
            <a:stCxn id="7" idx="0"/>
            <a:endCxn id="15" idx="2"/>
          </p:cNvCxnSpPr>
          <p:nvPr/>
        </p:nvCxnSpPr>
        <p:spPr>
          <a:xfrm flipV="1">
            <a:off x="2247404" y="3130816"/>
            <a:ext cx="0" cy="637722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文字方塊 18">
            <a:extLst>
              <a:ext uri="{FF2B5EF4-FFF2-40B4-BE49-F238E27FC236}">
                <a16:creationId xmlns:a16="http://schemas.microsoft.com/office/drawing/2014/main" id="{59EE703D-F67E-A0AB-871A-2F6F6E4AF9B6}"/>
              </a:ext>
            </a:extLst>
          </p:cNvPr>
          <p:cNvSpPr txBox="1"/>
          <p:nvPr/>
        </p:nvSpPr>
        <p:spPr>
          <a:xfrm>
            <a:off x="1221914" y="5920302"/>
            <a:ext cx="213286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kumimoji="1" lang="en-US" altLang="zh-TW" sz="2000" dirty="0"/>
              <a:t>(</a:t>
            </a:r>
            <a:r>
              <a:rPr kumimoji="1" lang="zh-TW" altLang="en-US" sz="20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天</a:t>
            </a:r>
            <a:r>
              <a:rPr kumimoji="1" lang="en-US" altLang="zh-TW" sz="20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|BOS</a:t>
            </a:r>
            <a:r>
              <a:rPr kumimoji="1" lang="en-US" altLang="zh-TW" sz="2000" dirty="0"/>
              <a:t>)</a:t>
            </a:r>
            <a:endParaRPr kumimoji="1" lang="zh-TW" altLang="en-US" sz="2000" dirty="0"/>
          </a:p>
        </p:txBody>
      </p:sp>
      <p:cxnSp>
        <p:nvCxnSpPr>
          <p:cNvPr id="20" name="直線箭頭接點 19">
            <a:extLst>
              <a:ext uri="{FF2B5EF4-FFF2-40B4-BE49-F238E27FC236}">
                <a16:creationId xmlns:a16="http://schemas.microsoft.com/office/drawing/2014/main" id="{922FE676-B0FA-15A7-0031-BEBD41D62E19}"/>
              </a:ext>
            </a:extLst>
          </p:cNvPr>
          <p:cNvCxnSpPr>
            <a:cxnSpLocks/>
            <a:stCxn id="7" idx="3"/>
            <a:endCxn id="22" idx="1"/>
          </p:cNvCxnSpPr>
          <p:nvPr/>
        </p:nvCxnSpPr>
        <p:spPr>
          <a:xfrm>
            <a:off x="2890686" y="4127146"/>
            <a:ext cx="909481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圓角矩形 21">
            <a:extLst>
              <a:ext uri="{FF2B5EF4-FFF2-40B4-BE49-F238E27FC236}">
                <a16:creationId xmlns:a16="http://schemas.microsoft.com/office/drawing/2014/main" id="{E7EA5C7D-9C49-A98D-5274-1571DEEC40CB}"/>
              </a:ext>
            </a:extLst>
          </p:cNvPr>
          <p:cNvSpPr/>
          <p:nvPr/>
        </p:nvSpPr>
        <p:spPr>
          <a:xfrm>
            <a:off x="3800167" y="3768538"/>
            <a:ext cx="1286564" cy="717215"/>
          </a:xfrm>
          <a:prstGeom prst="round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en-US" altLang="zh-TW" sz="2400" dirty="0">
                <a:solidFill>
                  <a:schemeClr val="tx1"/>
                </a:solidFill>
              </a:rPr>
              <a:t>RNN</a:t>
            </a:r>
            <a:endParaRPr kumimoji="1" lang="zh-TW" altLang="en-US" sz="2400" dirty="0">
              <a:solidFill>
                <a:schemeClr val="tx1"/>
              </a:solidFill>
            </a:endParaRPr>
          </a:p>
        </p:txBody>
      </p:sp>
      <p:sp>
        <p:nvSpPr>
          <p:cNvPr id="23" name="文字方塊 22">
            <a:extLst>
              <a:ext uri="{FF2B5EF4-FFF2-40B4-BE49-F238E27FC236}">
                <a16:creationId xmlns:a16="http://schemas.microsoft.com/office/drawing/2014/main" id="{9DB6AF11-82C4-1E97-98EE-6AC7126E682C}"/>
              </a:ext>
            </a:extLst>
          </p:cNvPr>
          <p:cNvSpPr txBox="1"/>
          <p:nvPr/>
        </p:nvSpPr>
        <p:spPr>
          <a:xfrm>
            <a:off x="3878094" y="5126057"/>
            <a:ext cx="11307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zh-TW" altLang="en-US" b="1" dirty="0">
                <a:solidFill>
                  <a:schemeClr val="accent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天</a:t>
            </a:r>
          </a:p>
        </p:txBody>
      </p:sp>
      <p:sp>
        <p:nvSpPr>
          <p:cNvPr id="24" name="文字方塊 23">
            <a:extLst>
              <a:ext uri="{FF2B5EF4-FFF2-40B4-BE49-F238E27FC236}">
                <a16:creationId xmlns:a16="http://schemas.microsoft.com/office/drawing/2014/main" id="{FA19049F-0FF1-AB3A-FDC8-F3F293724580}"/>
              </a:ext>
            </a:extLst>
          </p:cNvPr>
          <p:cNvSpPr txBox="1"/>
          <p:nvPr/>
        </p:nvSpPr>
        <p:spPr>
          <a:xfrm>
            <a:off x="3878094" y="2758905"/>
            <a:ext cx="11307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zh-TW" altLang="en-US" b="1" dirty="0">
                <a:solidFill>
                  <a:srgbClr val="00B050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氣</a:t>
            </a:r>
          </a:p>
        </p:txBody>
      </p:sp>
      <p:cxnSp>
        <p:nvCxnSpPr>
          <p:cNvPr id="28" name="直線箭頭接點 27">
            <a:extLst>
              <a:ext uri="{FF2B5EF4-FFF2-40B4-BE49-F238E27FC236}">
                <a16:creationId xmlns:a16="http://schemas.microsoft.com/office/drawing/2014/main" id="{A13E147C-1DA0-AD82-96AC-B031AE550A5A}"/>
              </a:ext>
            </a:extLst>
          </p:cNvPr>
          <p:cNvCxnSpPr>
            <a:cxnSpLocks/>
            <a:stCxn id="22" idx="0"/>
            <a:endCxn id="24" idx="2"/>
          </p:cNvCxnSpPr>
          <p:nvPr/>
        </p:nvCxnSpPr>
        <p:spPr>
          <a:xfrm flipV="1">
            <a:off x="4443449" y="3128237"/>
            <a:ext cx="0" cy="640301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直線箭頭接點 30">
            <a:extLst>
              <a:ext uri="{FF2B5EF4-FFF2-40B4-BE49-F238E27FC236}">
                <a16:creationId xmlns:a16="http://schemas.microsoft.com/office/drawing/2014/main" id="{DC69554F-D75A-750C-7A18-A7EBE85F7EC8}"/>
              </a:ext>
            </a:extLst>
          </p:cNvPr>
          <p:cNvCxnSpPr>
            <a:cxnSpLocks/>
            <a:stCxn id="23" idx="0"/>
            <a:endCxn id="22" idx="2"/>
          </p:cNvCxnSpPr>
          <p:nvPr/>
        </p:nvCxnSpPr>
        <p:spPr>
          <a:xfrm flipV="1">
            <a:off x="4443449" y="4485753"/>
            <a:ext cx="0" cy="640304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文字方塊 33">
            <a:extLst>
              <a:ext uri="{FF2B5EF4-FFF2-40B4-BE49-F238E27FC236}">
                <a16:creationId xmlns:a16="http://schemas.microsoft.com/office/drawing/2014/main" id="{87E8106A-BFA7-53F1-F296-0E15721F3F02}"/>
              </a:ext>
            </a:extLst>
          </p:cNvPr>
          <p:cNvSpPr txBox="1"/>
          <p:nvPr/>
        </p:nvSpPr>
        <p:spPr>
          <a:xfrm>
            <a:off x="3386370" y="5920301"/>
            <a:ext cx="213286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kumimoji="1" lang="en-US" altLang="zh-TW" sz="2000" dirty="0"/>
              <a:t>(</a:t>
            </a:r>
            <a:r>
              <a:rPr kumimoji="1" lang="zh-TW" altLang="en-US" sz="20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氣</a:t>
            </a:r>
            <a:r>
              <a:rPr kumimoji="1" lang="en-US" altLang="zh-TW" sz="20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|</a:t>
            </a:r>
            <a:r>
              <a:rPr kumimoji="1" lang="en" altLang="zh-TW" sz="20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BOS</a:t>
            </a:r>
            <a:r>
              <a:rPr kumimoji="1" lang="zh-TW" altLang="en-US" sz="20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、天</a:t>
            </a:r>
            <a:r>
              <a:rPr kumimoji="1" lang="en-US" altLang="zh-TW" sz="2000" dirty="0"/>
              <a:t>)</a:t>
            </a:r>
            <a:endParaRPr kumimoji="1" lang="zh-TW" altLang="en-US" sz="2000" dirty="0"/>
          </a:p>
        </p:txBody>
      </p:sp>
      <p:sp>
        <p:nvSpPr>
          <p:cNvPr id="35" name="圓角矩形 34">
            <a:extLst>
              <a:ext uri="{FF2B5EF4-FFF2-40B4-BE49-F238E27FC236}">
                <a16:creationId xmlns:a16="http://schemas.microsoft.com/office/drawing/2014/main" id="{F29898A4-E724-801A-4ED3-705BA56AEF46}"/>
              </a:ext>
            </a:extLst>
          </p:cNvPr>
          <p:cNvSpPr/>
          <p:nvPr/>
        </p:nvSpPr>
        <p:spPr>
          <a:xfrm>
            <a:off x="6002385" y="3768538"/>
            <a:ext cx="1286564" cy="717215"/>
          </a:xfrm>
          <a:prstGeom prst="round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en-US" altLang="zh-TW" sz="2400" dirty="0">
                <a:solidFill>
                  <a:schemeClr val="tx1"/>
                </a:solidFill>
              </a:rPr>
              <a:t>RNN</a:t>
            </a:r>
            <a:endParaRPr kumimoji="1" lang="zh-TW" altLang="en-US" sz="2400" dirty="0">
              <a:solidFill>
                <a:schemeClr val="tx1"/>
              </a:solidFill>
            </a:endParaRPr>
          </a:p>
        </p:txBody>
      </p:sp>
      <p:sp>
        <p:nvSpPr>
          <p:cNvPr id="36" name="文字方塊 35">
            <a:extLst>
              <a:ext uri="{FF2B5EF4-FFF2-40B4-BE49-F238E27FC236}">
                <a16:creationId xmlns:a16="http://schemas.microsoft.com/office/drawing/2014/main" id="{E8B29917-9A66-3D14-6F3C-007D4CF26B34}"/>
              </a:ext>
            </a:extLst>
          </p:cNvPr>
          <p:cNvSpPr txBox="1"/>
          <p:nvPr/>
        </p:nvSpPr>
        <p:spPr>
          <a:xfrm>
            <a:off x="6080312" y="5126056"/>
            <a:ext cx="11307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zh-TW" altLang="en-US" b="1" dirty="0">
                <a:solidFill>
                  <a:schemeClr val="accent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氣</a:t>
            </a:r>
          </a:p>
        </p:txBody>
      </p:sp>
      <p:sp>
        <p:nvSpPr>
          <p:cNvPr id="37" name="文字方塊 36">
            <a:extLst>
              <a:ext uri="{FF2B5EF4-FFF2-40B4-BE49-F238E27FC236}">
                <a16:creationId xmlns:a16="http://schemas.microsoft.com/office/drawing/2014/main" id="{6ADF297B-286A-8A22-3C9B-48FC4F21EE7B}"/>
              </a:ext>
            </a:extLst>
          </p:cNvPr>
          <p:cNvSpPr txBox="1"/>
          <p:nvPr/>
        </p:nvSpPr>
        <p:spPr>
          <a:xfrm>
            <a:off x="6074138" y="2758905"/>
            <a:ext cx="11307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zh-TW" altLang="en-US" b="1" dirty="0">
                <a:solidFill>
                  <a:srgbClr val="00B050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真</a:t>
            </a:r>
          </a:p>
        </p:txBody>
      </p:sp>
      <p:cxnSp>
        <p:nvCxnSpPr>
          <p:cNvPr id="38" name="直線箭頭接點 37">
            <a:extLst>
              <a:ext uri="{FF2B5EF4-FFF2-40B4-BE49-F238E27FC236}">
                <a16:creationId xmlns:a16="http://schemas.microsoft.com/office/drawing/2014/main" id="{61A6D5EA-E957-EAF2-AC03-E4572F974BC0}"/>
              </a:ext>
            </a:extLst>
          </p:cNvPr>
          <p:cNvCxnSpPr>
            <a:cxnSpLocks/>
            <a:stCxn id="35" idx="0"/>
            <a:endCxn id="37" idx="2"/>
          </p:cNvCxnSpPr>
          <p:nvPr/>
        </p:nvCxnSpPr>
        <p:spPr>
          <a:xfrm flipH="1" flipV="1">
            <a:off x="6639493" y="3128237"/>
            <a:ext cx="6174" cy="640301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直線箭頭接點 38">
            <a:extLst>
              <a:ext uri="{FF2B5EF4-FFF2-40B4-BE49-F238E27FC236}">
                <a16:creationId xmlns:a16="http://schemas.microsoft.com/office/drawing/2014/main" id="{8A81AF69-85EE-C2DF-4C21-B07FA59315BC}"/>
              </a:ext>
            </a:extLst>
          </p:cNvPr>
          <p:cNvCxnSpPr>
            <a:cxnSpLocks/>
            <a:stCxn id="36" idx="0"/>
            <a:endCxn id="35" idx="2"/>
          </p:cNvCxnSpPr>
          <p:nvPr/>
        </p:nvCxnSpPr>
        <p:spPr>
          <a:xfrm flipV="1">
            <a:off x="6645667" y="4485753"/>
            <a:ext cx="0" cy="640303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直線箭頭接點 39">
            <a:extLst>
              <a:ext uri="{FF2B5EF4-FFF2-40B4-BE49-F238E27FC236}">
                <a16:creationId xmlns:a16="http://schemas.microsoft.com/office/drawing/2014/main" id="{3377379D-D458-0D44-9C13-56B9B1B34C37}"/>
              </a:ext>
            </a:extLst>
          </p:cNvPr>
          <p:cNvCxnSpPr>
            <a:cxnSpLocks/>
            <a:stCxn id="22" idx="3"/>
            <a:endCxn id="35" idx="1"/>
          </p:cNvCxnSpPr>
          <p:nvPr/>
        </p:nvCxnSpPr>
        <p:spPr>
          <a:xfrm>
            <a:off x="5086731" y="4127146"/>
            <a:ext cx="915654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圓角矩形 47">
            <a:extLst>
              <a:ext uri="{FF2B5EF4-FFF2-40B4-BE49-F238E27FC236}">
                <a16:creationId xmlns:a16="http://schemas.microsoft.com/office/drawing/2014/main" id="{85FDD9DB-56C8-07A9-76EF-53DB5285B974}"/>
              </a:ext>
            </a:extLst>
          </p:cNvPr>
          <p:cNvSpPr/>
          <p:nvPr/>
        </p:nvSpPr>
        <p:spPr>
          <a:xfrm>
            <a:off x="8198428" y="3768538"/>
            <a:ext cx="1286564" cy="717215"/>
          </a:xfrm>
          <a:prstGeom prst="round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en-US" altLang="zh-TW" sz="2400" dirty="0">
                <a:solidFill>
                  <a:schemeClr val="tx1"/>
                </a:solidFill>
              </a:rPr>
              <a:t>RNN</a:t>
            </a:r>
            <a:endParaRPr kumimoji="1" lang="zh-TW" altLang="en-US" sz="2400" dirty="0">
              <a:solidFill>
                <a:schemeClr val="tx1"/>
              </a:solidFill>
            </a:endParaRPr>
          </a:p>
        </p:txBody>
      </p:sp>
      <p:cxnSp>
        <p:nvCxnSpPr>
          <p:cNvPr id="49" name="直線箭頭接點 48">
            <a:extLst>
              <a:ext uri="{FF2B5EF4-FFF2-40B4-BE49-F238E27FC236}">
                <a16:creationId xmlns:a16="http://schemas.microsoft.com/office/drawing/2014/main" id="{43BD6734-4B6C-26FD-7B7A-1EAD0C8185D3}"/>
              </a:ext>
            </a:extLst>
          </p:cNvPr>
          <p:cNvCxnSpPr>
            <a:cxnSpLocks/>
          </p:cNvCxnSpPr>
          <p:nvPr/>
        </p:nvCxnSpPr>
        <p:spPr>
          <a:xfrm flipH="1" flipV="1">
            <a:off x="8847884" y="3128237"/>
            <a:ext cx="6174" cy="640302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直線箭頭接點 49">
            <a:extLst>
              <a:ext uri="{FF2B5EF4-FFF2-40B4-BE49-F238E27FC236}">
                <a16:creationId xmlns:a16="http://schemas.microsoft.com/office/drawing/2014/main" id="{1101420D-6B2E-5618-5999-7A3A7CD75C65}"/>
              </a:ext>
            </a:extLst>
          </p:cNvPr>
          <p:cNvCxnSpPr>
            <a:cxnSpLocks/>
          </p:cNvCxnSpPr>
          <p:nvPr/>
        </p:nvCxnSpPr>
        <p:spPr>
          <a:xfrm flipV="1">
            <a:off x="8850971" y="4485754"/>
            <a:ext cx="0" cy="640302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直線箭頭接點 50">
            <a:extLst>
              <a:ext uri="{FF2B5EF4-FFF2-40B4-BE49-F238E27FC236}">
                <a16:creationId xmlns:a16="http://schemas.microsoft.com/office/drawing/2014/main" id="{E4BACEFE-0207-D316-3A2F-E1C863F85555}"/>
              </a:ext>
            </a:extLst>
          </p:cNvPr>
          <p:cNvCxnSpPr>
            <a:cxnSpLocks/>
            <a:stCxn id="35" idx="3"/>
            <a:endCxn id="48" idx="1"/>
          </p:cNvCxnSpPr>
          <p:nvPr/>
        </p:nvCxnSpPr>
        <p:spPr>
          <a:xfrm>
            <a:off x="7288949" y="4127146"/>
            <a:ext cx="909479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文字方塊 53">
            <a:extLst>
              <a:ext uri="{FF2B5EF4-FFF2-40B4-BE49-F238E27FC236}">
                <a16:creationId xmlns:a16="http://schemas.microsoft.com/office/drawing/2014/main" id="{236AD2FB-21CA-664B-71AB-AE9D26823743}"/>
              </a:ext>
            </a:extLst>
          </p:cNvPr>
          <p:cNvSpPr txBox="1"/>
          <p:nvPr/>
        </p:nvSpPr>
        <p:spPr>
          <a:xfrm>
            <a:off x="8270181" y="2758905"/>
            <a:ext cx="11307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zh-TW" altLang="en-US" b="1" dirty="0">
                <a:solidFill>
                  <a:srgbClr val="00B050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好</a:t>
            </a:r>
          </a:p>
        </p:txBody>
      </p:sp>
      <p:cxnSp>
        <p:nvCxnSpPr>
          <p:cNvPr id="55" name="直線箭頭接點 54">
            <a:extLst>
              <a:ext uri="{FF2B5EF4-FFF2-40B4-BE49-F238E27FC236}">
                <a16:creationId xmlns:a16="http://schemas.microsoft.com/office/drawing/2014/main" id="{20709223-573E-2E2D-0B1F-65BB2C71AF1D}"/>
              </a:ext>
            </a:extLst>
          </p:cNvPr>
          <p:cNvCxnSpPr>
            <a:cxnSpLocks/>
          </p:cNvCxnSpPr>
          <p:nvPr/>
        </p:nvCxnSpPr>
        <p:spPr>
          <a:xfrm>
            <a:off x="9484992" y="4127145"/>
            <a:ext cx="909479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文字方塊 55">
            <a:extLst>
              <a:ext uri="{FF2B5EF4-FFF2-40B4-BE49-F238E27FC236}">
                <a16:creationId xmlns:a16="http://schemas.microsoft.com/office/drawing/2014/main" id="{9ED38F24-8837-CBEE-C182-41D690AAB9BF}"/>
              </a:ext>
            </a:extLst>
          </p:cNvPr>
          <p:cNvSpPr txBox="1"/>
          <p:nvPr/>
        </p:nvSpPr>
        <p:spPr>
          <a:xfrm>
            <a:off x="8282530" y="5126054"/>
            <a:ext cx="11307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zh-TW" altLang="en-US" b="1" dirty="0">
                <a:solidFill>
                  <a:schemeClr val="accent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真</a:t>
            </a:r>
          </a:p>
        </p:txBody>
      </p:sp>
      <p:sp>
        <p:nvSpPr>
          <p:cNvPr id="57" name="文字方塊 56">
            <a:extLst>
              <a:ext uri="{FF2B5EF4-FFF2-40B4-BE49-F238E27FC236}">
                <a16:creationId xmlns:a16="http://schemas.microsoft.com/office/drawing/2014/main" id="{58B91F5C-7965-097C-E52A-539DE10DADCA}"/>
              </a:ext>
            </a:extLst>
          </p:cNvPr>
          <p:cNvSpPr txBox="1"/>
          <p:nvPr/>
        </p:nvSpPr>
        <p:spPr>
          <a:xfrm>
            <a:off x="5688219" y="5920300"/>
            <a:ext cx="213286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kumimoji="1" lang="en-US" altLang="zh-TW" sz="2000" dirty="0"/>
              <a:t>(</a:t>
            </a:r>
            <a:r>
              <a:rPr kumimoji="1" lang="zh-TW" altLang="en-US" sz="20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真</a:t>
            </a:r>
            <a:r>
              <a:rPr kumimoji="1" lang="en-US" altLang="zh-TW" sz="20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|</a:t>
            </a:r>
            <a:r>
              <a:rPr kumimoji="1" lang="en" altLang="zh-TW" sz="20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BOS</a:t>
            </a:r>
            <a:r>
              <a:rPr kumimoji="1" lang="zh-TW" altLang="en-US" sz="20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、天、氣</a:t>
            </a:r>
            <a:r>
              <a:rPr kumimoji="1" lang="en-US" altLang="zh-TW" sz="2000" dirty="0"/>
              <a:t>)</a:t>
            </a:r>
            <a:endParaRPr kumimoji="1" lang="zh-TW" altLang="en-US" sz="2000" dirty="0"/>
          </a:p>
        </p:txBody>
      </p:sp>
      <p:sp>
        <p:nvSpPr>
          <p:cNvPr id="59" name="文字方塊 58">
            <a:extLst>
              <a:ext uri="{FF2B5EF4-FFF2-40B4-BE49-F238E27FC236}">
                <a16:creationId xmlns:a16="http://schemas.microsoft.com/office/drawing/2014/main" id="{DFB95BBE-2291-A897-E588-501B79736D88}"/>
              </a:ext>
            </a:extLst>
          </p:cNvPr>
          <p:cNvSpPr txBox="1"/>
          <p:nvPr/>
        </p:nvSpPr>
        <p:spPr>
          <a:xfrm>
            <a:off x="7944152" y="5897611"/>
            <a:ext cx="213286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kumimoji="1" lang="en-US" altLang="zh-TW" sz="2000" dirty="0"/>
              <a:t>(</a:t>
            </a:r>
            <a:r>
              <a:rPr kumimoji="1" lang="zh-TW" altLang="en-US" sz="20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好</a:t>
            </a:r>
            <a:r>
              <a:rPr kumimoji="1" lang="en-US" altLang="zh-TW" sz="20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|</a:t>
            </a:r>
            <a:r>
              <a:rPr kumimoji="1" lang="en" altLang="zh-TW" sz="20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BOS</a:t>
            </a:r>
            <a:r>
              <a:rPr kumimoji="1" lang="zh-TW" altLang="en-US" sz="20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、天、氣、真</a:t>
            </a:r>
            <a:r>
              <a:rPr kumimoji="1" lang="en-US" altLang="zh-TW" sz="2000" dirty="0"/>
              <a:t>)</a:t>
            </a:r>
            <a:endParaRPr kumimoji="1" lang="zh-TW" altLang="en-US" sz="2000" dirty="0"/>
          </a:p>
        </p:txBody>
      </p:sp>
    </p:spTree>
    <p:extLst>
      <p:ext uri="{BB962C8B-B14F-4D97-AF65-F5344CB8AC3E}">
        <p14:creationId xmlns:p14="http://schemas.microsoft.com/office/powerpoint/2010/main" val="29877983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/>
      <p:bldP spid="15" grpId="0"/>
      <p:bldP spid="19" grpId="0"/>
      <p:bldP spid="22" grpId="0" animBg="1"/>
      <p:bldP spid="23" grpId="0"/>
      <p:bldP spid="24" grpId="0"/>
      <p:bldP spid="34" grpId="0"/>
      <p:bldP spid="35" grpId="0" animBg="1"/>
      <p:bldP spid="36" grpId="0"/>
      <p:bldP spid="37" grpId="0"/>
      <p:bldP spid="48" grpId="0" animBg="1"/>
      <p:bldP spid="54" grpId="0"/>
      <p:bldP spid="56" grpId="0"/>
      <p:bldP spid="57" grpId="0"/>
      <p:bldP spid="59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3ECFD3-9F9E-D486-2DC7-84073400AD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0C0D99D-1E40-8E98-9837-A229A457C3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en-US" altLang="zh-TW" dirty="0"/>
              <a:t>[Recap] </a:t>
            </a:r>
            <a:r>
              <a:rPr kumimoji="1" lang="zh-TW" altLang="en-US" dirty="0"/>
              <a:t>文字生成過程</a:t>
            </a:r>
            <a:endParaRPr lang="zh-TW" altLang="en-US" dirty="0">
              <a:ea typeface="新細明體"/>
              <a:cs typeface="Calibri Light"/>
            </a:endParaRPr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A44121A3-4B88-E98F-8D6C-0396D7754A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dirty="0"/>
              <a:t>6</a:t>
            </a:fld>
            <a:endParaRPr lang="zh-TW" altLang="en-US"/>
          </a:p>
        </p:txBody>
      </p:sp>
      <p:sp>
        <p:nvSpPr>
          <p:cNvPr id="14" name="圓角矩形 13">
            <a:extLst>
              <a:ext uri="{FF2B5EF4-FFF2-40B4-BE49-F238E27FC236}">
                <a16:creationId xmlns:a16="http://schemas.microsoft.com/office/drawing/2014/main" id="{C8F4C0A3-FA3F-2E2B-F8BE-653E57712662}"/>
              </a:ext>
            </a:extLst>
          </p:cNvPr>
          <p:cNvSpPr/>
          <p:nvPr/>
        </p:nvSpPr>
        <p:spPr>
          <a:xfrm>
            <a:off x="2208394" y="5528709"/>
            <a:ext cx="673768" cy="571500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dirty="0">
                <a:solidFill>
                  <a:schemeClr val="tx1"/>
                </a:solidFill>
              </a:rPr>
              <a:t>love</a:t>
            </a:r>
            <a:endParaRPr kumimoji="1" lang="zh-TW" altLang="en-US" dirty="0">
              <a:solidFill>
                <a:schemeClr val="tx1"/>
              </a:solidFill>
            </a:endParaRPr>
          </a:p>
        </p:txBody>
      </p:sp>
      <p:sp>
        <p:nvSpPr>
          <p:cNvPr id="15" name="圓角矩形 14">
            <a:extLst>
              <a:ext uri="{FF2B5EF4-FFF2-40B4-BE49-F238E27FC236}">
                <a16:creationId xmlns:a16="http://schemas.microsoft.com/office/drawing/2014/main" id="{74BF1484-9D99-02A5-AAAF-EE9BBEFB506F}"/>
              </a:ext>
            </a:extLst>
          </p:cNvPr>
          <p:cNvSpPr/>
          <p:nvPr/>
        </p:nvSpPr>
        <p:spPr>
          <a:xfrm>
            <a:off x="844026" y="5528708"/>
            <a:ext cx="673768" cy="571500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dirty="0">
                <a:solidFill>
                  <a:schemeClr val="tx1"/>
                </a:solidFill>
              </a:rPr>
              <a:t>I</a:t>
            </a:r>
            <a:endParaRPr kumimoji="1" lang="zh-TW" altLang="en-US" dirty="0">
              <a:solidFill>
                <a:schemeClr val="tx1"/>
              </a:solidFill>
            </a:endParaRPr>
          </a:p>
        </p:txBody>
      </p:sp>
      <p:sp>
        <p:nvSpPr>
          <p:cNvPr id="16" name="圓角矩形 15">
            <a:extLst>
              <a:ext uri="{FF2B5EF4-FFF2-40B4-BE49-F238E27FC236}">
                <a16:creationId xmlns:a16="http://schemas.microsoft.com/office/drawing/2014/main" id="{22B29D0B-5991-2E5E-3F83-667A16EA833A}"/>
              </a:ext>
            </a:extLst>
          </p:cNvPr>
          <p:cNvSpPr/>
          <p:nvPr/>
        </p:nvSpPr>
        <p:spPr>
          <a:xfrm>
            <a:off x="3555699" y="5528708"/>
            <a:ext cx="673768" cy="571500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dirty="0">
                <a:solidFill>
                  <a:schemeClr val="tx1"/>
                </a:solidFill>
              </a:rPr>
              <a:t>an</a:t>
            </a:r>
            <a:endParaRPr kumimoji="1" lang="zh-TW" altLang="en-US" dirty="0">
              <a:solidFill>
                <a:schemeClr val="tx1"/>
              </a:solidFill>
            </a:endParaRPr>
          </a:p>
        </p:txBody>
      </p:sp>
      <p:cxnSp>
        <p:nvCxnSpPr>
          <p:cNvPr id="3" name="直線箭頭接點 2">
            <a:extLst>
              <a:ext uri="{FF2B5EF4-FFF2-40B4-BE49-F238E27FC236}">
                <a16:creationId xmlns:a16="http://schemas.microsoft.com/office/drawing/2014/main" id="{B6F1BF5D-E0DF-596A-0806-DB62092410DE}"/>
              </a:ext>
            </a:extLst>
          </p:cNvPr>
          <p:cNvCxnSpPr>
            <a:cxnSpLocks/>
          </p:cNvCxnSpPr>
          <p:nvPr/>
        </p:nvCxnSpPr>
        <p:spPr>
          <a:xfrm flipV="1">
            <a:off x="1170180" y="4941500"/>
            <a:ext cx="0" cy="509716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矩形 5">
            <a:extLst>
              <a:ext uri="{FF2B5EF4-FFF2-40B4-BE49-F238E27FC236}">
                <a16:creationId xmlns:a16="http://schemas.microsoft.com/office/drawing/2014/main" id="{A74271B2-06A7-502A-FC23-4C6E28205970}"/>
              </a:ext>
            </a:extLst>
          </p:cNvPr>
          <p:cNvSpPr/>
          <p:nvPr/>
        </p:nvSpPr>
        <p:spPr>
          <a:xfrm>
            <a:off x="748877" y="4119834"/>
            <a:ext cx="842606" cy="72841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sz="2000" b="1" dirty="0">
                <a:solidFill>
                  <a:schemeClr val="tx1"/>
                </a:solidFill>
              </a:rPr>
              <a:t>RNN</a:t>
            </a:r>
            <a:endParaRPr kumimoji="1" lang="zh-TW" altLang="en-US" sz="2000" b="1" dirty="0">
              <a:solidFill>
                <a:schemeClr val="tx1"/>
              </a:solidFill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B5B9775F-52E9-275E-3013-33A5AE9299C9}"/>
              </a:ext>
            </a:extLst>
          </p:cNvPr>
          <p:cNvSpPr/>
          <p:nvPr/>
        </p:nvSpPr>
        <p:spPr>
          <a:xfrm>
            <a:off x="2118610" y="4119834"/>
            <a:ext cx="842606" cy="72841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sz="2000" b="1" dirty="0">
                <a:solidFill>
                  <a:schemeClr val="tx1"/>
                </a:solidFill>
              </a:rPr>
              <a:t>RNN</a:t>
            </a:r>
            <a:endParaRPr kumimoji="1" lang="zh-TW" altLang="en-US" sz="2000" b="1" dirty="0">
              <a:solidFill>
                <a:schemeClr val="tx1"/>
              </a:solidFill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B4A8E273-92C8-B725-9D20-B5D11A1BACFB}"/>
              </a:ext>
            </a:extLst>
          </p:cNvPr>
          <p:cNvSpPr/>
          <p:nvPr/>
        </p:nvSpPr>
        <p:spPr>
          <a:xfrm>
            <a:off x="3471280" y="4119833"/>
            <a:ext cx="842606" cy="72841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sz="2000" b="1" dirty="0">
                <a:solidFill>
                  <a:schemeClr val="tx1"/>
                </a:solidFill>
              </a:rPr>
              <a:t>RNN</a:t>
            </a:r>
            <a:endParaRPr kumimoji="1" lang="zh-TW" altLang="en-US" sz="2000" b="1" dirty="0">
              <a:solidFill>
                <a:schemeClr val="tx1"/>
              </a:solidFill>
            </a:endParaRPr>
          </a:p>
        </p:txBody>
      </p:sp>
      <p:cxnSp>
        <p:nvCxnSpPr>
          <p:cNvPr id="10" name="直線箭頭接點 9">
            <a:extLst>
              <a:ext uri="{FF2B5EF4-FFF2-40B4-BE49-F238E27FC236}">
                <a16:creationId xmlns:a16="http://schemas.microsoft.com/office/drawing/2014/main" id="{71962B3F-9FA6-0220-1AF1-6586D948FF0E}"/>
              </a:ext>
            </a:extLst>
          </p:cNvPr>
          <p:cNvCxnSpPr>
            <a:cxnSpLocks/>
          </p:cNvCxnSpPr>
          <p:nvPr/>
        </p:nvCxnSpPr>
        <p:spPr>
          <a:xfrm flipV="1">
            <a:off x="2539913" y="4941501"/>
            <a:ext cx="0" cy="509716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線箭頭接點 10">
            <a:extLst>
              <a:ext uri="{FF2B5EF4-FFF2-40B4-BE49-F238E27FC236}">
                <a16:creationId xmlns:a16="http://schemas.microsoft.com/office/drawing/2014/main" id="{CB4E6377-CCC8-2632-4A20-88A949727A04}"/>
              </a:ext>
            </a:extLst>
          </p:cNvPr>
          <p:cNvCxnSpPr>
            <a:cxnSpLocks/>
          </p:cNvCxnSpPr>
          <p:nvPr/>
        </p:nvCxnSpPr>
        <p:spPr>
          <a:xfrm flipV="1">
            <a:off x="3893752" y="4941500"/>
            <a:ext cx="0" cy="509716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線箭頭接點 11">
            <a:extLst>
              <a:ext uri="{FF2B5EF4-FFF2-40B4-BE49-F238E27FC236}">
                <a16:creationId xmlns:a16="http://schemas.microsoft.com/office/drawing/2014/main" id="{F1FF3DF9-C6C8-FDCE-E3CE-61925F28344B}"/>
              </a:ext>
            </a:extLst>
          </p:cNvPr>
          <p:cNvCxnSpPr>
            <a:cxnSpLocks/>
          </p:cNvCxnSpPr>
          <p:nvPr/>
        </p:nvCxnSpPr>
        <p:spPr>
          <a:xfrm>
            <a:off x="1633449" y="4503236"/>
            <a:ext cx="454165" cy="0"/>
          </a:xfrm>
          <a:prstGeom prst="straightConnector1">
            <a:avLst/>
          </a:prstGeom>
          <a:ln w="28575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直線箭頭接點 25">
            <a:extLst>
              <a:ext uri="{FF2B5EF4-FFF2-40B4-BE49-F238E27FC236}">
                <a16:creationId xmlns:a16="http://schemas.microsoft.com/office/drawing/2014/main" id="{1D44DBB5-ED82-02A3-9302-A42011057600}"/>
              </a:ext>
            </a:extLst>
          </p:cNvPr>
          <p:cNvCxnSpPr>
            <a:cxnSpLocks/>
          </p:cNvCxnSpPr>
          <p:nvPr/>
        </p:nvCxnSpPr>
        <p:spPr>
          <a:xfrm>
            <a:off x="3017115" y="4503236"/>
            <a:ext cx="454165" cy="0"/>
          </a:xfrm>
          <a:prstGeom prst="straightConnector1">
            <a:avLst/>
          </a:prstGeom>
          <a:ln w="28575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直線箭頭接點 32">
            <a:extLst>
              <a:ext uri="{FF2B5EF4-FFF2-40B4-BE49-F238E27FC236}">
                <a16:creationId xmlns:a16="http://schemas.microsoft.com/office/drawing/2014/main" id="{257328A5-5F55-A752-538F-ABF645111174}"/>
              </a:ext>
            </a:extLst>
          </p:cNvPr>
          <p:cNvCxnSpPr>
            <a:cxnSpLocks/>
          </p:cNvCxnSpPr>
          <p:nvPr/>
        </p:nvCxnSpPr>
        <p:spPr>
          <a:xfrm flipV="1">
            <a:off x="3884908" y="3532499"/>
            <a:ext cx="0" cy="509716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4" name="圓角矩形 33">
                <a:extLst>
                  <a:ext uri="{FF2B5EF4-FFF2-40B4-BE49-F238E27FC236}">
                    <a16:creationId xmlns:a16="http://schemas.microsoft.com/office/drawing/2014/main" id="{42772646-7307-A288-7C9B-A7DFA1BD87C6}"/>
                  </a:ext>
                </a:extLst>
              </p:cNvPr>
              <p:cNvSpPr/>
              <p:nvPr/>
            </p:nvSpPr>
            <p:spPr>
              <a:xfrm>
                <a:off x="3548024" y="2844165"/>
                <a:ext cx="673768" cy="571500"/>
              </a:xfrm>
              <a:prstGeom prst="roundRect">
                <a:avLst/>
              </a:prstGeom>
              <a:noFill/>
              <a:ln w="28575">
                <a:solidFill>
                  <a:srgbClr val="00B05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 xmlns:m="http://schemas.openxmlformats.org/officeDocument/2006/math">
                    <m:r>
                      <a:rPr kumimoji="1" lang="en-US" altLang="zh-TW" sz="20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𝒉</m:t>
                    </m:r>
                  </m:oMath>
                </a14:m>
                <a:r>
                  <a:rPr kumimoji="1" lang="en-US" altLang="zh-TW" sz="2000" b="1" baseline="-25000" dirty="0">
                    <a:solidFill>
                      <a:schemeClr val="tx1"/>
                    </a:solidFill>
                  </a:rPr>
                  <a:t>3</a:t>
                </a:r>
                <a:endParaRPr kumimoji="1" lang="zh-TW" altLang="en-US" sz="2000" b="1" baseline="-25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4" name="圓角矩形 33">
                <a:extLst>
                  <a:ext uri="{FF2B5EF4-FFF2-40B4-BE49-F238E27FC236}">
                    <a16:creationId xmlns:a16="http://schemas.microsoft.com/office/drawing/2014/main" id="{42772646-7307-A288-7C9B-A7DFA1BD87C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48024" y="2844165"/>
                <a:ext cx="673768" cy="571500"/>
              </a:xfrm>
              <a:prstGeom prst="roundRect">
                <a:avLst/>
              </a:prstGeom>
              <a:blipFill>
                <a:blip r:embed="rId3"/>
                <a:stretch>
                  <a:fillRect/>
                </a:stretch>
              </a:blipFill>
              <a:ln w="28575">
                <a:solidFill>
                  <a:srgbClr val="00B050"/>
                </a:solidFill>
              </a:ln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6" name="矩形 35">
                <a:extLst>
                  <a:ext uri="{FF2B5EF4-FFF2-40B4-BE49-F238E27FC236}">
                    <a16:creationId xmlns:a16="http://schemas.microsoft.com/office/drawing/2014/main" id="{6C09E09E-1B5A-6B4B-0B4C-ABDBCCADEF4B}"/>
                  </a:ext>
                </a:extLst>
              </p:cNvPr>
              <p:cNvSpPr/>
              <p:nvPr/>
            </p:nvSpPr>
            <p:spPr>
              <a:xfrm>
                <a:off x="5086637" y="2579690"/>
                <a:ext cx="2727045" cy="1103752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kumimoji="1" lang="en-US" altLang="zh-TW" dirty="0">
                    <a:solidFill>
                      <a:schemeClr val="tx1"/>
                    </a:solidFill>
                  </a:rPr>
                  <a:t>Classification Layer</a:t>
                </a:r>
              </a:p>
              <a:p>
                <a:pPr algn="ctr"/>
                <a:r>
                  <a:rPr kumimoji="1" lang="en-US" altLang="zh-TW" dirty="0">
                    <a:solidFill>
                      <a:schemeClr val="tx1"/>
                    </a:solidFill>
                  </a:rPr>
                  <a:t>(</a:t>
                </a:r>
                <a:r>
                  <a:rPr kumimoji="1" lang="zh-TW" altLang="en-US" dirty="0">
                    <a:solidFill>
                      <a:schemeClr val="tx1"/>
                    </a:solidFill>
                  </a:rPr>
                  <a:t>大矩陣</a:t>
                </a:r>
                <a:r>
                  <a:rPr kumimoji="1" lang="en-US" altLang="zh-TW" dirty="0">
                    <a:solidFill>
                      <a:schemeClr val="tx1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TW" sz="1800" i="1" kern="100" smtClean="0"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rPr>
                      <m:t>𝑊</m:t>
                    </m:r>
                    <m:r>
                      <a:rPr lang="en-US" altLang="zh-TW" sz="1800" i="1" kern="100" smtClean="0"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rPr>
                      <m:t>∈</m:t>
                    </m:r>
                    <m:sSup>
                      <m:sSupPr>
                        <m:ctrlPr>
                          <a:rPr lang="zh-TW" altLang="zh-TW" sz="1800" i="1" kern="10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altLang="zh-TW" sz="1800" i="1" kern="10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rPr>
                          <m:t>ℝ</m:t>
                        </m:r>
                      </m:e>
                      <m:sup>
                        <m:r>
                          <a:rPr lang="en-US" altLang="zh-TW" sz="1800" i="1" kern="100" smtClean="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rPr>
                          <m:t>10</m:t>
                        </m:r>
                        <m:r>
                          <a:rPr lang="en-US" altLang="zh-TW" sz="1800" i="1" kern="10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rPr>
                          <m:t>0×40000</m:t>
                        </m:r>
                      </m:sup>
                    </m:sSup>
                  </m:oMath>
                </a14:m>
                <a:r>
                  <a:rPr kumimoji="1" lang="en-US" altLang="zh-TW" dirty="0">
                    <a:solidFill>
                      <a:schemeClr val="tx1"/>
                    </a:solidFill>
                  </a:rPr>
                  <a:t>)</a:t>
                </a:r>
              </a:p>
              <a:p>
                <a:pPr algn="ctr"/>
                <a:r>
                  <a:rPr kumimoji="1" lang="en-US" altLang="zh-TW" dirty="0">
                    <a:solidFill>
                      <a:schemeClr val="tx1"/>
                    </a:solidFill>
                  </a:rPr>
                  <a:t>+ </a:t>
                </a:r>
                <a:r>
                  <a:rPr kumimoji="1" lang="en-US" altLang="zh-TW" dirty="0" err="1">
                    <a:solidFill>
                      <a:schemeClr val="tx1"/>
                    </a:solidFill>
                  </a:rPr>
                  <a:t>Softmax</a:t>
                </a:r>
                <a:endParaRPr kumimoji="1" lang="zh-TW" alt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6" name="矩形 35">
                <a:extLst>
                  <a:ext uri="{FF2B5EF4-FFF2-40B4-BE49-F238E27FC236}">
                    <a16:creationId xmlns:a16="http://schemas.microsoft.com/office/drawing/2014/main" id="{6C09E09E-1B5A-6B4B-0B4C-ABDBCCADEF4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86637" y="2579690"/>
                <a:ext cx="2727045" cy="110375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7" name="直線箭頭接點 36">
            <a:extLst>
              <a:ext uri="{FF2B5EF4-FFF2-40B4-BE49-F238E27FC236}">
                <a16:creationId xmlns:a16="http://schemas.microsoft.com/office/drawing/2014/main" id="{F504C4C2-7B73-596C-F469-CE40F29F2DF4}"/>
              </a:ext>
            </a:extLst>
          </p:cNvPr>
          <p:cNvCxnSpPr>
            <a:cxnSpLocks/>
          </p:cNvCxnSpPr>
          <p:nvPr/>
        </p:nvCxnSpPr>
        <p:spPr>
          <a:xfrm>
            <a:off x="4344882" y="3129915"/>
            <a:ext cx="637619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文字方塊 38">
            <a:extLst>
              <a:ext uri="{FF2B5EF4-FFF2-40B4-BE49-F238E27FC236}">
                <a16:creationId xmlns:a16="http://schemas.microsoft.com/office/drawing/2014/main" id="{D522AE8D-1F2D-4249-2548-0DF2ADBD9008}"/>
              </a:ext>
            </a:extLst>
          </p:cNvPr>
          <p:cNvSpPr txBox="1"/>
          <p:nvPr/>
        </p:nvSpPr>
        <p:spPr>
          <a:xfrm>
            <a:off x="616717" y="1478736"/>
            <a:ext cx="65808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TW" altLang="en-US" dirty="0"/>
              <a:t>假設 </a:t>
            </a:r>
            <a:r>
              <a:rPr kumimoji="1" lang="en-US" altLang="zh-TW" dirty="0"/>
              <a:t>Hidden size </a:t>
            </a:r>
            <a:r>
              <a:rPr kumimoji="1" lang="zh-TW" altLang="en-US" dirty="0"/>
              <a:t>為</a:t>
            </a:r>
            <a:r>
              <a:rPr kumimoji="1" lang="en-US" altLang="zh-TW" dirty="0"/>
              <a:t> 100</a:t>
            </a:r>
            <a:r>
              <a:rPr kumimoji="1" lang="zh-TW" altLang="en-US" dirty="0"/>
              <a:t>；字典大小（</a:t>
            </a:r>
            <a:r>
              <a:rPr kumimoji="1" lang="en-US" altLang="zh-TW" dirty="0" err="1"/>
              <a:t>vocab_size</a:t>
            </a:r>
            <a:r>
              <a:rPr kumimoji="1" lang="zh-TW" altLang="en-US" dirty="0"/>
              <a:t>）為</a:t>
            </a:r>
            <a:r>
              <a:rPr kumimoji="1" lang="en-US" altLang="zh-TW" dirty="0"/>
              <a:t> 40000</a:t>
            </a:r>
            <a:endParaRPr kumimoji="1" lang="zh-TW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0" name="圓角矩形 39">
                <a:extLst>
                  <a:ext uri="{FF2B5EF4-FFF2-40B4-BE49-F238E27FC236}">
                    <a16:creationId xmlns:a16="http://schemas.microsoft.com/office/drawing/2014/main" id="{37B4C94E-E666-2B84-016F-D31C7068B918}"/>
                  </a:ext>
                </a:extLst>
              </p:cNvPr>
              <p:cNvSpPr/>
              <p:nvPr/>
            </p:nvSpPr>
            <p:spPr>
              <a:xfrm>
                <a:off x="6113275" y="4196899"/>
                <a:ext cx="673768" cy="571500"/>
              </a:xfrm>
              <a:prstGeom prst="roundRect">
                <a:avLst/>
              </a:prstGeom>
              <a:noFill/>
              <a:ln w="28575">
                <a:solidFill>
                  <a:srgbClr val="0070C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TW" sz="20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𝒉</m:t>
                      </m:r>
                      <m:r>
                        <a:rPr kumimoji="1" lang="en-US" altLang="zh-TW" sz="20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′</m:t>
                      </m:r>
                    </m:oMath>
                  </m:oMathPara>
                </a14:m>
                <a:endParaRPr kumimoji="1" lang="zh-TW" altLang="en-US" sz="2000" b="1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0" name="圓角矩形 39">
                <a:extLst>
                  <a:ext uri="{FF2B5EF4-FFF2-40B4-BE49-F238E27FC236}">
                    <a16:creationId xmlns:a16="http://schemas.microsoft.com/office/drawing/2014/main" id="{37B4C94E-E666-2B84-016F-D31C7068B91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13275" y="4196899"/>
                <a:ext cx="673768" cy="571500"/>
              </a:xfrm>
              <a:prstGeom prst="roundRect">
                <a:avLst/>
              </a:prstGeom>
              <a:blipFill>
                <a:blip r:embed="rId5"/>
                <a:stretch>
                  <a:fillRect/>
                </a:stretch>
              </a:blipFill>
              <a:ln w="28575">
                <a:solidFill>
                  <a:srgbClr val="0070C0"/>
                </a:solidFill>
              </a:ln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1" name="文字方塊 40">
            <a:extLst>
              <a:ext uri="{FF2B5EF4-FFF2-40B4-BE49-F238E27FC236}">
                <a16:creationId xmlns:a16="http://schemas.microsoft.com/office/drawing/2014/main" id="{82598EF1-AAEA-BC2D-6367-51A87950FCBF}"/>
              </a:ext>
            </a:extLst>
          </p:cNvPr>
          <p:cNvSpPr txBox="1"/>
          <p:nvPr/>
        </p:nvSpPr>
        <p:spPr>
          <a:xfrm>
            <a:off x="4982501" y="4848187"/>
            <a:ext cx="272704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sz="1600" dirty="0"/>
              <a:t>(</a:t>
            </a:r>
            <a:r>
              <a:rPr kumimoji="1" lang="zh-TW" altLang="en-US" sz="1600" dirty="0"/>
              <a:t>長度為</a:t>
            </a:r>
            <a:r>
              <a:rPr kumimoji="1" lang="en-US" altLang="zh-TW" sz="1600" dirty="0"/>
              <a:t>40000</a:t>
            </a:r>
            <a:r>
              <a:rPr kumimoji="1" lang="zh-TW" altLang="en-US" sz="1600" dirty="0"/>
              <a:t>的向量</a:t>
            </a:r>
            <a:r>
              <a:rPr kumimoji="1" lang="en-US" altLang="zh-TW" sz="1600" dirty="0"/>
              <a:t>)</a:t>
            </a:r>
            <a:endParaRPr kumimoji="1" lang="zh-TW" altLang="en-US" sz="1600" dirty="0"/>
          </a:p>
        </p:txBody>
      </p:sp>
      <p:cxnSp>
        <p:nvCxnSpPr>
          <p:cNvPr id="42" name="直線箭頭接點 41">
            <a:extLst>
              <a:ext uri="{FF2B5EF4-FFF2-40B4-BE49-F238E27FC236}">
                <a16:creationId xmlns:a16="http://schemas.microsoft.com/office/drawing/2014/main" id="{AD626588-EC2D-EEE2-4116-B55D7C483E57}"/>
              </a:ext>
            </a:extLst>
          </p:cNvPr>
          <p:cNvCxnSpPr>
            <a:cxnSpLocks/>
          </p:cNvCxnSpPr>
          <p:nvPr/>
        </p:nvCxnSpPr>
        <p:spPr>
          <a:xfrm>
            <a:off x="6450159" y="3741517"/>
            <a:ext cx="0" cy="378186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文字方塊 44">
            <a:extLst>
              <a:ext uri="{FF2B5EF4-FFF2-40B4-BE49-F238E27FC236}">
                <a16:creationId xmlns:a16="http://schemas.microsoft.com/office/drawing/2014/main" id="{F2099F3C-F78E-6A2B-2947-F9C8737CFA85}"/>
              </a:ext>
            </a:extLst>
          </p:cNvPr>
          <p:cNvSpPr txBox="1"/>
          <p:nvPr/>
        </p:nvSpPr>
        <p:spPr>
          <a:xfrm>
            <a:off x="8588709" y="2448627"/>
            <a:ext cx="1246720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dirty="0"/>
              <a:t>a</a:t>
            </a:r>
          </a:p>
          <a:p>
            <a:r>
              <a:rPr kumimoji="1" lang="en-US" altLang="zh-TW" dirty="0"/>
              <a:t>...</a:t>
            </a:r>
          </a:p>
          <a:p>
            <a:r>
              <a:rPr kumimoji="1" lang="en-US" altLang="zh-TW" dirty="0"/>
              <a:t>apple</a:t>
            </a:r>
          </a:p>
          <a:p>
            <a:r>
              <a:rPr kumimoji="1" lang="en-US" altLang="zh-TW" dirty="0"/>
              <a:t>...</a:t>
            </a:r>
          </a:p>
          <a:p>
            <a:r>
              <a:rPr kumimoji="1" lang="en-US" altLang="zh-TW" dirty="0"/>
              <a:t>b</a:t>
            </a:r>
          </a:p>
          <a:p>
            <a:r>
              <a:rPr kumimoji="1" lang="en-US" altLang="zh-TW" dirty="0"/>
              <a:t>...</a:t>
            </a:r>
          </a:p>
          <a:p>
            <a:r>
              <a:rPr kumimoji="1" lang="en-US" altLang="zh-TW" dirty="0"/>
              <a:t>banana</a:t>
            </a:r>
          </a:p>
          <a:p>
            <a:r>
              <a:rPr kumimoji="1" lang="en-US" altLang="zh-TW" dirty="0"/>
              <a:t>...</a:t>
            </a:r>
          </a:p>
          <a:p>
            <a:r>
              <a:rPr kumimoji="1" lang="en-US" altLang="zh-TW" dirty="0"/>
              <a:t>elephant</a:t>
            </a:r>
          </a:p>
          <a:p>
            <a:r>
              <a:rPr kumimoji="1" lang="en-US" altLang="zh-TW" dirty="0"/>
              <a:t>...</a:t>
            </a:r>
          </a:p>
          <a:p>
            <a:r>
              <a:rPr kumimoji="1" lang="en-US" altLang="zh-TW" dirty="0"/>
              <a:t>eraser</a:t>
            </a:r>
          </a:p>
          <a:p>
            <a:r>
              <a:rPr kumimoji="1" lang="en-US" altLang="zh-TW" dirty="0"/>
              <a:t>...</a:t>
            </a:r>
          </a:p>
          <a:p>
            <a:r>
              <a:rPr kumimoji="1" lang="en-US" altLang="zh-TW" dirty="0"/>
              <a:t>...</a:t>
            </a:r>
          </a:p>
          <a:p>
            <a:r>
              <a:rPr kumimoji="1" lang="en-US" altLang="zh-TW" dirty="0"/>
              <a:t>zoo</a:t>
            </a:r>
            <a:endParaRPr kumimoji="1" lang="zh-TW" altLang="en-US" dirty="0"/>
          </a:p>
        </p:txBody>
      </p:sp>
      <p:sp>
        <p:nvSpPr>
          <p:cNvPr id="46" name="文字方塊 45">
            <a:extLst>
              <a:ext uri="{FF2B5EF4-FFF2-40B4-BE49-F238E27FC236}">
                <a16:creationId xmlns:a16="http://schemas.microsoft.com/office/drawing/2014/main" id="{EB660368-A093-E449-96B6-37BABFD81213}"/>
              </a:ext>
            </a:extLst>
          </p:cNvPr>
          <p:cNvSpPr txBox="1"/>
          <p:nvPr/>
        </p:nvSpPr>
        <p:spPr>
          <a:xfrm>
            <a:off x="9686812" y="2448627"/>
            <a:ext cx="1246720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dirty="0"/>
              <a:t>0.0001</a:t>
            </a:r>
          </a:p>
          <a:p>
            <a:r>
              <a:rPr kumimoji="1" lang="en-US" altLang="zh-TW" dirty="0"/>
              <a:t>...</a:t>
            </a:r>
          </a:p>
          <a:p>
            <a:r>
              <a:rPr kumimoji="1" lang="en-US" altLang="zh-TW" dirty="0">
                <a:solidFill>
                  <a:srgbClr val="FF0000"/>
                </a:solidFill>
              </a:rPr>
              <a:t>0.600</a:t>
            </a:r>
          </a:p>
          <a:p>
            <a:r>
              <a:rPr kumimoji="1" lang="en-US" altLang="zh-TW" dirty="0"/>
              <a:t>...</a:t>
            </a:r>
          </a:p>
          <a:p>
            <a:r>
              <a:rPr kumimoji="1" lang="en-US" altLang="zh-TW" dirty="0"/>
              <a:t>0.0001</a:t>
            </a:r>
          </a:p>
          <a:p>
            <a:r>
              <a:rPr kumimoji="1" lang="en-US" altLang="zh-TW" dirty="0"/>
              <a:t>...</a:t>
            </a:r>
          </a:p>
          <a:p>
            <a:r>
              <a:rPr kumimoji="1" lang="en-US" altLang="zh-TW" dirty="0"/>
              <a:t>0.0003</a:t>
            </a:r>
          </a:p>
          <a:p>
            <a:r>
              <a:rPr kumimoji="1" lang="en-US" altLang="zh-TW" dirty="0"/>
              <a:t>...</a:t>
            </a:r>
          </a:p>
          <a:p>
            <a:r>
              <a:rPr kumimoji="1" lang="en-US" altLang="zh-TW" dirty="0">
                <a:solidFill>
                  <a:srgbClr val="FF0000"/>
                </a:solidFill>
              </a:rPr>
              <a:t>0.300</a:t>
            </a:r>
          </a:p>
          <a:p>
            <a:r>
              <a:rPr kumimoji="1" lang="en-US" altLang="zh-TW" dirty="0"/>
              <a:t>...</a:t>
            </a:r>
          </a:p>
          <a:p>
            <a:r>
              <a:rPr kumimoji="1" lang="en-US" altLang="zh-TW" dirty="0">
                <a:solidFill>
                  <a:srgbClr val="FF0000"/>
                </a:solidFill>
              </a:rPr>
              <a:t>0.05</a:t>
            </a:r>
          </a:p>
          <a:p>
            <a:r>
              <a:rPr kumimoji="1" lang="en-US" altLang="zh-TW" dirty="0"/>
              <a:t>...</a:t>
            </a:r>
          </a:p>
          <a:p>
            <a:r>
              <a:rPr kumimoji="1" lang="en-US" altLang="zh-TW" dirty="0"/>
              <a:t>...</a:t>
            </a:r>
          </a:p>
          <a:p>
            <a:r>
              <a:rPr kumimoji="1" lang="en-US" altLang="zh-TW" dirty="0"/>
              <a:t>0.0001</a:t>
            </a:r>
            <a:endParaRPr kumimoji="1" lang="zh-TW" altLang="en-US" dirty="0"/>
          </a:p>
        </p:txBody>
      </p:sp>
      <p:cxnSp>
        <p:nvCxnSpPr>
          <p:cNvPr id="49" name="直線接點 48">
            <a:extLst>
              <a:ext uri="{FF2B5EF4-FFF2-40B4-BE49-F238E27FC236}">
                <a16:creationId xmlns:a16="http://schemas.microsoft.com/office/drawing/2014/main" id="{66956FDE-BE9A-324F-F66F-A8C197B137C2}"/>
              </a:ext>
            </a:extLst>
          </p:cNvPr>
          <p:cNvCxnSpPr/>
          <p:nvPr/>
        </p:nvCxnSpPr>
        <p:spPr>
          <a:xfrm flipV="1">
            <a:off x="7730608" y="2604411"/>
            <a:ext cx="728432" cy="182621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直線接點 49">
            <a:extLst>
              <a:ext uri="{FF2B5EF4-FFF2-40B4-BE49-F238E27FC236}">
                <a16:creationId xmlns:a16="http://schemas.microsoft.com/office/drawing/2014/main" id="{E9E6F8AF-77C6-BAD2-7887-E81A757F7645}"/>
              </a:ext>
            </a:extLst>
          </p:cNvPr>
          <p:cNvCxnSpPr>
            <a:cxnSpLocks/>
          </p:cNvCxnSpPr>
          <p:nvPr/>
        </p:nvCxnSpPr>
        <p:spPr>
          <a:xfrm flipH="1" flipV="1">
            <a:off x="7730608" y="4527923"/>
            <a:ext cx="728432" cy="182621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直線接點 51">
            <a:extLst>
              <a:ext uri="{FF2B5EF4-FFF2-40B4-BE49-F238E27FC236}">
                <a16:creationId xmlns:a16="http://schemas.microsoft.com/office/drawing/2014/main" id="{EEE00C0D-5F7E-C3ED-CA9C-8112CF99132E}"/>
              </a:ext>
            </a:extLst>
          </p:cNvPr>
          <p:cNvCxnSpPr/>
          <p:nvPr/>
        </p:nvCxnSpPr>
        <p:spPr>
          <a:xfrm>
            <a:off x="7002199" y="4474474"/>
            <a:ext cx="630978" cy="0"/>
          </a:xfrm>
          <a:prstGeom prst="line">
            <a:avLst/>
          </a:prstGeom>
          <a:ln w="28575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右大括弧 52">
            <a:extLst>
              <a:ext uri="{FF2B5EF4-FFF2-40B4-BE49-F238E27FC236}">
                <a16:creationId xmlns:a16="http://schemas.microsoft.com/office/drawing/2014/main" id="{E09434B5-6FEC-D973-FCC9-0E540FD23417}"/>
              </a:ext>
            </a:extLst>
          </p:cNvPr>
          <p:cNvSpPr/>
          <p:nvPr/>
        </p:nvSpPr>
        <p:spPr>
          <a:xfrm>
            <a:off x="10659611" y="2542442"/>
            <a:ext cx="373278" cy="3782688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54" name="文字方塊 53">
            <a:extLst>
              <a:ext uri="{FF2B5EF4-FFF2-40B4-BE49-F238E27FC236}">
                <a16:creationId xmlns:a16="http://schemas.microsoft.com/office/drawing/2014/main" id="{2D8C42DF-7E9A-C921-36DB-8E5134655A89}"/>
              </a:ext>
            </a:extLst>
          </p:cNvPr>
          <p:cNvSpPr txBox="1"/>
          <p:nvPr/>
        </p:nvSpPr>
        <p:spPr>
          <a:xfrm>
            <a:off x="11017377" y="4107463"/>
            <a:ext cx="83969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dirty="0">
                <a:solidFill>
                  <a:srgbClr val="FF0000"/>
                </a:solidFill>
              </a:rPr>
              <a:t>Vocab</a:t>
            </a:r>
          </a:p>
          <a:p>
            <a:pPr algn="ctr"/>
            <a:r>
              <a:rPr kumimoji="1" lang="en-US" altLang="zh-TW" dirty="0">
                <a:solidFill>
                  <a:srgbClr val="FF0000"/>
                </a:solidFill>
              </a:rPr>
              <a:t>size</a:t>
            </a:r>
            <a:endParaRPr kumimoji="1" lang="zh-TW" altLang="en-US" dirty="0">
              <a:solidFill>
                <a:srgbClr val="FF0000"/>
              </a:solidFill>
            </a:endParaRPr>
          </a:p>
        </p:txBody>
      </p:sp>
      <p:sp>
        <p:nvSpPr>
          <p:cNvPr id="55" name="文字方塊 54">
            <a:extLst>
              <a:ext uri="{FF2B5EF4-FFF2-40B4-BE49-F238E27FC236}">
                <a16:creationId xmlns:a16="http://schemas.microsoft.com/office/drawing/2014/main" id="{A151BD34-8F4C-0447-E9B3-FEF499EC3283}"/>
              </a:ext>
            </a:extLst>
          </p:cNvPr>
          <p:cNvSpPr txBox="1"/>
          <p:nvPr/>
        </p:nvSpPr>
        <p:spPr>
          <a:xfrm>
            <a:off x="8459040" y="1711021"/>
            <a:ext cx="102808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zh-TW" altLang="en-US" dirty="0">
                <a:solidFill>
                  <a:srgbClr val="0070C0"/>
                </a:solidFill>
              </a:rPr>
              <a:t>字典裡面的字</a:t>
            </a:r>
            <a:endParaRPr kumimoji="1" lang="en-US" altLang="zh-TW" dirty="0">
              <a:solidFill>
                <a:srgbClr val="0070C0"/>
              </a:solidFill>
            </a:endParaRPr>
          </a:p>
        </p:txBody>
      </p:sp>
      <p:sp>
        <p:nvSpPr>
          <p:cNvPr id="56" name="文字方塊 55">
            <a:extLst>
              <a:ext uri="{FF2B5EF4-FFF2-40B4-BE49-F238E27FC236}">
                <a16:creationId xmlns:a16="http://schemas.microsoft.com/office/drawing/2014/main" id="{5EEBE339-6BDB-4693-61B8-51C7547502C9}"/>
              </a:ext>
            </a:extLst>
          </p:cNvPr>
          <p:cNvSpPr txBox="1"/>
          <p:nvPr/>
        </p:nvSpPr>
        <p:spPr>
          <a:xfrm>
            <a:off x="9625292" y="1849520"/>
            <a:ext cx="9876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zh-TW" altLang="en-US" dirty="0">
                <a:solidFill>
                  <a:srgbClr val="0070C0"/>
                </a:solidFill>
              </a:rPr>
              <a:t>機率值</a:t>
            </a:r>
            <a:endParaRPr kumimoji="1" lang="en-US" altLang="zh-TW" dirty="0">
              <a:solidFill>
                <a:srgbClr val="0070C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圓角矩形 3">
                <a:extLst>
                  <a:ext uri="{FF2B5EF4-FFF2-40B4-BE49-F238E27FC236}">
                    <a16:creationId xmlns:a16="http://schemas.microsoft.com/office/drawing/2014/main" id="{B444ACFB-5E0E-D0DF-A2DF-7963CB809357}"/>
                  </a:ext>
                </a:extLst>
              </p:cNvPr>
              <p:cNvSpPr/>
              <p:nvPr/>
            </p:nvSpPr>
            <p:spPr>
              <a:xfrm>
                <a:off x="2203029" y="2844165"/>
                <a:ext cx="673768" cy="571500"/>
              </a:xfrm>
              <a:prstGeom prst="roundRect">
                <a:avLst/>
              </a:prstGeom>
              <a:noFill/>
              <a:ln w="28575">
                <a:solidFill>
                  <a:srgbClr val="00B05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 xmlns:m="http://schemas.openxmlformats.org/officeDocument/2006/math">
                    <m:r>
                      <a:rPr kumimoji="1" lang="en-US" altLang="zh-TW" sz="20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𝒉</m:t>
                    </m:r>
                  </m:oMath>
                </a14:m>
                <a:r>
                  <a:rPr kumimoji="1" lang="en-US" altLang="zh-TW" sz="2000" b="1" baseline="-25000" dirty="0">
                    <a:solidFill>
                      <a:schemeClr val="tx1"/>
                    </a:solidFill>
                  </a:rPr>
                  <a:t>2</a:t>
                </a:r>
                <a:endParaRPr kumimoji="1" lang="zh-TW" altLang="en-US" sz="2000" b="1" baseline="-25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" name="圓角矩形 3">
                <a:extLst>
                  <a:ext uri="{FF2B5EF4-FFF2-40B4-BE49-F238E27FC236}">
                    <a16:creationId xmlns:a16="http://schemas.microsoft.com/office/drawing/2014/main" id="{B444ACFB-5E0E-D0DF-A2DF-7963CB80935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03029" y="2844165"/>
                <a:ext cx="673768" cy="571500"/>
              </a:xfrm>
              <a:prstGeom prst="roundRect">
                <a:avLst/>
              </a:prstGeom>
              <a:blipFill>
                <a:blip r:embed="rId6"/>
                <a:stretch>
                  <a:fillRect/>
                </a:stretch>
              </a:blipFill>
              <a:ln w="28575">
                <a:solidFill>
                  <a:srgbClr val="00B050"/>
                </a:solidFill>
              </a:ln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圓角矩形 8">
                <a:extLst>
                  <a:ext uri="{FF2B5EF4-FFF2-40B4-BE49-F238E27FC236}">
                    <a16:creationId xmlns:a16="http://schemas.microsoft.com/office/drawing/2014/main" id="{F52A8786-CA0F-AEFF-D7D1-1F5B59EB9F43}"/>
                  </a:ext>
                </a:extLst>
              </p:cNvPr>
              <p:cNvSpPr/>
              <p:nvPr/>
            </p:nvSpPr>
            <p:spPr>
              <a:xfrm>
                <a:off x="844026" y="2844165"/>
                <a:ext cx="673768" cy="571500"/>
              </a:xfrm>
              <a:prstGeom prst="roundRect">
                <a:avLst/>
              </a:prstGeom>
              <a:noFill/>
              <a:ln w="28575">
                <a:solidFill>
                  <a:srgbClr val="00B05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 xmlns:m="http://schemas.openxmlformats.org/officeDocument/2006/math">
                    <m:r>
                      <a:rPr kumimoji="1" lang="en-US" altLang="zh-TW" sz="20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𝒉</m:t>
                    </m:r>
                  </m:oMath>
                </a14:m>
                <a:r>
                  <a:rPr kumimoji="1" lang="en-US" altLang="zh-TW" sz="2000" b="1" baseline="-25000" dirty="0">
                    <a:solidFill>
                      <a:schemeClr val="tx1"/>
                    </a:solidFill>
                  </a:rPr>
                  <a:t>1</a:t>
                </a:r>
                <a:endParaRPr kumimoji="1" lang="zh-TW" altLang="en-US" sz="2000" b="1" baseline="-25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9" name="圓角矩形 8">
                <a:extLst>
                  <a:ext uri="{FF2B5EF4-FFF2-40B4-BE49-F238E27FC236}">
                    <a16:creationId xmlns:a16="http://schemas.microsoft.com/office/drawing/2014/main" id="{F52A8786-CA0F-AEFF-D7D1-1F5B59EB9F4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4026" y="2844165"/>
                <a:ext cx="673768" cy="571500"/>
              </a:xfrm>
              <a:prstGeom prst="roundRect">
                <a:avLst/>
              </a:prstGeom>
              <a:blipFill>
                <a:blip r:embed="rId7"/>
                <a:stretch>
                  <a:fillRect/>
                </a:stretch>
              </a:blipFill>
              <a:ln w="28575">
                <a:solidFill>
                  <a:srgbClr val="00B050"/>
                </a:solidFill>
              </a:ln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3" name="直線箭頭接點 12">
            <a:extLst>
              <a:ext uri="{FF2B5EF4-FFF2-40B4-BE49-F238E27FC236}">
                <a16:creationId xmlns:a16="http://schemas.microsoft.com/office/drawing/2014/main" id="{EF5DE241-5F75-D89A-1A51-9A86BD380920}"/>
              </a:ext>
            </a:extLst>
          </p:cNvPr>
          <p:cNvCxnSpPr>
            <a:cxnSpLocks/>
          </p:cNvCxnSpPr>
          <p:nvPr/>
        </p:nvCxnSpPr>
        <p:spPr>
          <a:xfrm flipV="1">
            <a:off x="2539913" y="3532499"/>
            <a:ext cx="0" cy="509716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線箭頭接點 16">
            <a:extLst>
              <a:ext uri="{FF2B5EF4-FFF2-40B4-BE49-F238E27FC236}">
                <a16:creationId xmlns:a16="http://schemas.microsoft.com/office/drawing/2014/main" id="{489BBD3B-7C02-9C0A-0302-816EC06B6910}"/>
              </a:ext>
            </a:extLst>
          </p:cNvPr>
          <p:cNvCxnSpPr>
            <a:cxnSpLocks/>
          </p:cNvCxnSpPr>
          <p:nvPr/>
        </p:nvCxnSpPr>
        <p:spPr>
          <a:xfrm flipV="1">
            <a:off x="1170180" y="3532499"/>
            <a:ext cx="0" cy="509716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文字方塊 17">
            <a:extLst>
              <a:ext uri="{FF2B5EF4-FFF2-40B4-BE49-F238E27FC236}">
                <a16:creationId xmlns:a16="http://schemas.microsoft.com/office/drawing/2014/main" id="{BC307330-43A7-5C4F-303D-45CEB56FFED0}"/>
              </a:ext>
            </a:extLst>
          </p:cNvPr>
          <p:cNvSpPr txBox="1"/>
          <p:nvPr/>
        </p:nvSpPr>
        <p:spPr>
          <a:xfrm>
            <a:off x="3292204" y="2229704"/>
            <a:ext cx="124538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sz="1600" dirty="0"/>
              <a:t>(</a:t>
            </a:r>
            <a:r>
              <a:rPr kumimoji="1" lang="zh-TW" altLang="en-US" sz="1600" dirty="0"/>
              <a:t>長度為</a:t>
            </a:r>
            <a:r>
              <a:rPr kumimoji="1" lang="en-US" altLang="zh-TW" sz="1600" dirty="0"/>
              <a:t>100</a:t>
            </a:r>
            <a:r>
              <a:rPr kumimoji="1" lang="zh-TW" altLang="en-US" sz="1600" dirty="0"/>
              <a:t>的向量</a:t>
            </a:r>
            <a:r>
              <a:rPr kumimoji="1" lang="en-US" altLang="zh-TW" sz="1600" dirty="0"/>
              <a:t>)</a:t>
            </a:r>
            <a:endParaRPr kumimoji="1" lang="zh-TW" altLang="en-US" sz="1600" dirty="0"/>
          </a:p>
        </p:txBody>
      </p:sp>
      <p:sp>
        <p:nvSpPr>
          <p:cNvPr id="19" name="文字方塊 18">
            <a:extLst>
              <a:ext uri="{FF2B5EF4-FFF2-40B4-BE49-F238E27FC236}">
                <a16:creationId xmlns:a16="http://schemas.microsoft.com/office/drawing/2014/main" id="{8BBC4C2C-0914-85D0-C983-7F9511B41F06}"/>
              </a:ext>
            </a:extLst>
          </p:cNvPr>
          <p:cNvSpPr txBox="1"/>
          <p:nvPr/>
        </p:nvSpPr>
        <p:spPr>
          <a:xfrm>
            <a:off x="1938003" y="2229704"/>
            <a:ext cx="124538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sz="1600" dirty="0"/>
              <a:t>(</a:t>
            </a:r>
            <a:r>
              <a:rPr kumimoji="1" lang="zh-TW" altLang="en-US" sz="1600" dirty="0"/>
              <a:t>長度為</a:t>
            </a:r>
            <a:r>
              <a:rPr kumimoji="1" lang="en-US" altLang="zh-TW" sz="1600" dirty="0"/>
              <a:t>100</a:t>
            </a:r>
            <a:r>
              <a:rPr kumimoji="1" lang="zh-TW" altLang="en-US" sz="1600" dirty="0"/>
              <a:t>的向量</a:t>
            </a:r>
            <a:r>
              <a:rPr kumimoji="1" lang="en-US" altLang="zh-TW" sz="1600" dirty="0"/>
              <a:t>)</a:t>
            </a:r>
            <a:endParaRPr kumimoji="1" lang="zh-TW" altLang="en-US" sz="1600" dirty="0"/>
          </a:p>
        </p:txBody>
      </p:sp>
      <p:sp>
        <p:nvSpPr>
          <p:cNvPr id="20" name="文字方塊 19">
            <a:extLst>
              <a:ext uri="{FF2B5EF4-FFF2-40B4-BE49-F238E27FC236}">
                <a16:creationId xmlns:a16="http://schemas.microsoft.com/office/drawing/2014/main" id="{7DB50ACD-E254-9C27-09A9-5BCBE94AFF66}"/>
              </a:ext>
            </a:extLst>
          </p:cNvPr>
          <p:cNvSpPr txBox="1"/>
          <p:nvPr/>
        </p:nvSpPr>
        <p:spPr>
          <a:xfrm>
            <a:off x="583802" y="2229704"/>
            <a:ext cx="124538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sz="1600" dirty="0"/>
              <a:t>(</a:t>
            </a:r>
            <a:r>
              <a:rPr kumimoji="1" lang="zh-TW" altLang="en-US" sz="1600" dirty="0"/>
              <a:t>長度為</a:t>
            </a:r>
            <a:r>
              <a:rPr kumimoji="1" lang="en-US" altLang="zh-TW" sz="1600" dirty="0"/>
              <a:t>100</a:t>
            </a:r>
            <a:r>
              <a:rPr kumimoji="1" lang="zh-TW" altLang="en-US" sz="1600" dirty="0"/>
              <a:t>的向量</a:t>
            </a:r>
            <a:r>
              <a:rPr kumimoji="1" lang="en-US" altLang="zh-TW" sz="1600" dirty="0"/>
              <a:t>)</a:t>
            </a:r>
            <a:endParaRPr kumimoji="1" lang="zh-TW" altLang="en-US" sz="1600" dirty="0"/>
          </a:p>
        </p:txBody>
      </p:sp>
    </p:spTree>
    <p:extLst>
      <p:ext uri="{BB962C8B-B14F-4D97-AF65-F5344CB8AC3E}">
        <p14:creationId xmlns:p14="http://schemas.microsoft.com/office/powerpoint/2010/main" val="155716511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CC202FB-6BC0-34FB-D56F-AEAF4FC1F5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 dirty="0"/>
              <a:t>常見</a:t>
            </a:r>
            <a:r>
              <a:rPr kumimoji="1" lang="en-US" altLang="zh-TW" dirty="0"/>
              <a:t> Language Models</a:t>
            </a:r>
            <a:endParaRPr kumimoji="1"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6F69D133-9077-1833-8D05-851020542F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7</a:t>
            </a:fld>
            <a:endParaRPr lang="en-US" dirty="0"/>
          </a:p>
        </p:txBody>
      </p:sp>
      <p:sp>
        <p:nvSpPr>
          <p:cNvPr id="5" name="文字方塊 2">
            <a:extLst>
              <a:ext uri="{FF2B5EF4-FFF2-40B4-BE49-F238E27FC236}">
                <a16:creationId xmlns:a16="http://schemas.microsoft.com/office/drawing/2014/main" id="{35194AD4-600B-AFA3-C393-D0C1290A3E51}"/>
              </a:ext>
            </a:extLst>
          </p:cNvPr>
          <p:cNvSpPr txBox="1"/>
          <p:nvPr/>
        </p:nvSpPr>
        <p:spPr>
          <a:xfrm>
            <a:off x="746660" y="1850666"/>
            <a:ext cx="4905993" cy="9590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kumimoji="1" lang="zh-TW" altLang="en-US" sz="2000" b="1" dirty="0">
                <a:solidFill>
                  <a:srgbClr val="00B050"/>
                </a:solidFill>
                <a:ea typeface="Microsoft JhengHei" panose="020B0604030504040204" pitchFamily="34" charset="-120"/>
              </a:rPr>
              <a:t>💡</a:t>
            </a:r>
            <a:r>
              <a:rPr kumimoji="1" lang="en-US" altLang="zh-TW" sz="2000" b="1" dirty="0">
                <a:solidFill>
                  <a:srgbClr val="00B050"/>
                </a:solidFill>
                <a:ea typeface="Microsoft JhengHei" panose="020B0604030504040204" pitchFamily="34" charset="-120"/>
              </a:rPr>
              <a:t>Language Models: </a:t>
            </a:r>
            <a:r>
              <a:rPr kumimoji="1" lang="zh-TW" altLang="en-US" sz="2000" b="1" dirty="0">
                <a:solidFill>
                  <a:srgbClr val="00B050"/>
                </a:solidFill>
                <a:ea typeface="Microsoft JhengHei" panose="020B0604030504040204" pitchFamily="34" charset="-120"/>
              </a:rPr>
              <a:t>透過 </a:t>
            </a:r>
            <a:r>
              <a:rPr kumimoji="1" lang="en-US" altLang="zh-TW" sz="2000" b="1" dirty="0">
                <a:solidFill>
                  <a:srgbClr val="00B050"/>
                </a:solidFill>
                <a:ea typeface="Microsoft JhengHei" panose="020B0604030504040204" pitchFamily="34" charset="-120"/>
              </a:rPr>
              <a:t>Language Modeling</a:t>
            </a:r>
            <a:r>
              <a:rPr kumimoji="1" lang="zh-TW" altLang="en-US" sz="2000" b="1" dirty="0">
                <a:solidFill>
                  <a:srgbClr val="00B050"/>
                </a:solidFill>
                <a:ea typeface="Microsoft JhengHei" panose="020B0604030504040204" pitchFamily="34" charset="-120"/>
              </a:rPr>
              <a:t> 去預測詞彙機率分佈的模型</a:t>
            </a:r>
          </a:p>
        </p:txBody>
      </p:sp>
      <p:sp>
        <p:nvSpPr>
          <p:cNvPr id="6" name="圓角矩形 5">
            <a:extLst>
              <a:ext uri="{FF2B5EF4-FFF2-40B4-BE49-F238E27FC236}">
                <a16:creationId xmlns:a16="http://schemas.microsoft.com/office/drawing/2014/main" id="{23FF1C39-892D-65FF-7409-259C8CBEE11C}"/>
              </a:ext>
            </a:extLst>
          </p:cNvPr>
          <p:cNvSpPr/>
          <p:nvPr/>
        </p:nvSpPr>
        <p:spPr>
          <a:xfrm>
            <a:off x="1042767" y="3429000"/>
            <a:ext cx="1327077" cy="567357"/>
          </a:xfrm>
          <a:prstGeom prst="round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en-US" altLang="zh-TW" sz="2000" dirty="0">
                <a:solidFill>
                  <a:schemeClr val="tx1"/>
                </a:solidFill>
              </a:rPr>
              <a:t>RNN</a:t>
            </a:r>
            <a:endParaRPr kumimoji="1" lang="zh-TW" altLang="en-US" sz="2000" dirty="0">
              <a:solidFill>
                <a:schemeClr val="tx1"/>
              </a:solidFill>
            </a:endParaRPr>
          </a:p>
        </p:txBody>
      </p:sp>
      <p:sp>
        <p:nvSpPr>
          <p:cNvPr id="7" name="圓角矩形 6">
            <a:extLst>
              <a:ext uri="{FF2B5EF4-FFF2-40B4-BE49-F238E27FC236}">
                <a16:creationId xmlns:a16="http://schemas.microsoft.com/office/drawing/2014/main" id="{7DE7F2E3-2F2A-E30C-D7D5-E9CE0A235633}"/>
              </a:ext>
            </a:extLst>
          </p:cNvPr>
          <p:cNvSpPr/>
          <p:nvPr/>
        </p:nvSpPr>
        <p:spPr>
          <a:xfrm>
            <a:off x="1042766" y="4323348"/>
            <a:ext cx="1805299" cy="567357"/>
          </a:xfrm>
          <a:prstGeom prst="round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en-US" altLang="zh-TW" sz="2000" dirty="0">
                <a:solidFill>
                  <a:schemeClr val="tx1"/>
                </a:solidFill>
              </a:rPr>
              <a:t>Transformer</a:t>
            </a:r>
            <a:endParaRPr kumimoji="1" lang="zh-TW" altLang="en-US" sz="2000" dirty="0">
              <a:solidFill>
                <a:schemeClr val="tx1"/>
              </a:solidFill>
            </a:endParaRPr>
          </a:p>
        </p:txBody>
      </p:sp>
      <p:sp>
        <p:nvSpPr>
          <p:cNvPr id="8" name="圓角矩形 7">
            <a:extLst>
              <a:ext uri="{FF2B5EF4-FFF2-40B4-BE49-F238E27FC236}">
                <a16:creationId xmlns:a16="http://schemas.microsoft.com/office/drawing/2014/main" id="{17E955D4-BD45-F2E0-8C6B-ED07B98C0708}"/>
              </a:ext>
            </a:extLst>
          </p:cNvPr>
          <p:cNvSpPr/>
          <p:nvPr/>
        </p:nvSpPr>
        <p:spPr>
          <a:xfrm>
            <a:off x="1042766" y="5217696"/>
            <a:ext cx="1805299" cy="567357"/>
          </a:xfrm>
          <a:prstGeom prst="round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en-US" altLang="zh-TW" sz="2000" dirty="0">
                <a:solidFill>
                  <a:schemeClr val="tx1"/>
                </a:solidFill>
              </a:rPr>
              <a:t>GPT-series</a:t>
            </a:r>
            <a:endParaRPr kumimoji="1" lang="zh-TW" altLang="en-US" sz="2000" dirty="0">
              <a:solidFill>
                <a:schemeClr val="tx1"/>
              </a:solidFill>
            </a:endParaRPr>
          </a:p>
        </p:txBody>
      </p:sp>
      <p:pic>
        <p:nvPicPr>
          <p:cNvPr id="3" name="圖片 2">
            <a:extLst>
              <a:ext uri="{FF2B5EF4-FFF2-40B4-BE49-F238E27FC236}">
                <a16:creationId xmlns:a16="http://schemas.microsoft.com/office/drawing/2014/main" id="{6BF0DF79-9FBA-437F-509B-A59B32A88BD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7694" y="1548119"/>
            <a:ext cx="3619047" cy="5159829"/>
          </a:xfrm>
          <a:prstGeom prst="rect">
            <a:avLst/>
          </a:prstGeom>
        </p:spPr>
      </p:pic>
      <p:sp>
        <p:nvSpPr>
          <p:cNvPr id="9" name="橢圓 8">
            <a:extLst>
              <a:ext uri="{FF2B5EF4-FFF2-40B4-BE49-F238E27FC236}">
                <a16:creationId xmlns:a16="http://schemas.microsoft.com/office/drawing/2014/main" id="{849A8796-0AC9-501B-8101-86BDF8FEE9C0}"/>
              </a:ext>
            </a:extLst>
          </p:cNvPr>
          <p:cNvSpPr/>
          <p:nvPr/>
        </p:nvSpPr>
        <p:spPr>
          <a:xfrm>
            <a:off x="7678882" y="1465119"/>
            <a:ext cx="1381991" cy="519546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82C907AF-3FE2-6FED-C77A-9397C3810897}"/>
              </a:ext>
            </a:extLst>
          </p:cNvPr>
          <p:cNvSpPr/>
          <p:nvPr/>
        </p:nvSpPr>
        <p:spPr>
          <a:xfrm>
            <a:off x="5947694" y="3075709"/>
            <a:ext cx="1784516" cy="3704976"/>
          </a:xfrm>
          <a:prstGeom prst="rect">
            <a:avLst/>
          </a:prstGeom>
          <a:solidFill>
            <a:schemeClr val="bg1">
              <a:lumMod val="75000"/>
              <a:alpha val="83438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2119924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8" grpId="0" animBg="1"/>
      <p:bldP spid="9" grpId="0" animBg="1"/>
      <p:bldP spid="10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F820EFC-5444-6AB2-4FC5-873C06110E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訓練</a:t>
            </a:r>
            <a:r>
              <a:rPr kumimoji="1" lang="en-US" altLang="zh-TW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GPT </a:t>
            </a:r>
            <a:r>
              <a:rPr kumimoji="1" lang="zh-TW" altLang="en-US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最大化每個時間點的機率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96DAF791-CFF8-2020-C906-318AAF7F83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8</a:t>
            </a:fld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文字方塊 10">
                <a:extLst>
                  <a:ext uri="{FF2B5EF4-FFF2-40B4-BE49-F238E27FC236}">
                    <a16:creationId xmlns:a16="http://schemas.microsoft.com/office/drawing/2014/main" id="{A4E96B12-CEDD-905F-7E73-187B8CC22592}"/>
                  </a:ext>
                </a:extLst>
              </p:cNvPr>
              <p:cNvSpPr txBox="1"/>
              <p:nvPr/>
            </p:nvSpPr>
            <p:spPr>
              <a:xfrm>
                <a:off x="5383132" y="3742891"/>
                <a:ext cx="4295405" cy="126855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∏"/>
                          <m:ctrlPr>
                            <a:rPr lang="zh-TW" altLang="zh-TW" sz="2800" i="1" kern="100" smtClean="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naryPr>
                        <m:sub>
                          <m:r>
                            <a:rPr lang="en-US" altLang="zh-TW" sz="2800" i="1" kern="100">
                              <a:effectLst/>
                              <a:latin typeface="Cambria Math" panose="020405030504060302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m:t>𝑡</m:t>
                          </m:r>
                          <m:r>
                            <a:rPr lang="en-US" altLang="zh-TW" sz="2800" i="1" kern="100">
                              <a:effectLst/>
                              <a:latin typeface="Cambria Math" panose="020405030504060302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altLang="zh-TW" sz="2800" i="1" kern="100">
                              <a:effectLst/>
                              <a:latin typeface="Cambria Math" panose="020405030504060302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m:t>𝑛</m:t>
                          </m:r>
                        </m:sup>
                        <m:e>
                          <m:r>
                            <a:rPr lang="en-US" altLang="zh-TW" sz="2800" i="1" kern="100">
                              <a:effectLst/>
                              <a:latin typeface="Cambria Math" panose="020405030504060302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m:t>𝑃</m:t>
                          </m:r>
                          <m:r>
                            <a:rPr lang="en-US" altLang="zh-TW" sz="2800" i="1" kern="100">
                              <a:effectLst/>
                              <a:latin typeface="Cambria Math" panose="020405030504060302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zh-TW" altLang="zh-TW" sz="2800" i="1" kern="10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2800" i="1" kern="100">
                                  <a:effectLst/>
                                  <a:latin typeface="Cambria Math" panose="02040503050406030204" pitchFamily="18" charset="0"/>
                                  <a:ea typeface="新細明體" panose="02020500000000000000" pitchFamily="18" charset="-120"/>
                                  <a:cs typeface="Times New Roman" panose="020206030504050203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altLang="zh-TW" sz="2800" i="1" kern="100">
                                  <a:effectLst/>
                                  <a:latin typeface="Cambria Math" panose="02040503050406030204" pitchFamily="18" charset="0"/>
                                  <a:ea typeface="新細明體" panose="02020500000000000000" pitchFamily="18" charset="-120"/>
                                  <a:cs typeface="Times New Roman" panose="02020603050405020304" pitchFamily="18" charset="0"/>
                                </a:rPr>
                                <m:t>𝑡</m:t>
                              </m:r>
                            </m:sub>
                          </m:sSub>
                          <m:r>
                            <a:rPr lang="en-US" altLang="zh-TW" sz="2800" i="1" kern="100">
                              <a:effectLst/>
                              <a:latin typeface="Cambria Math" panose="020405030504060302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m:t>|</m:t>
                          </m:r>
                          <m:sSub>
                            <m:sSubPr>
                              <m:ctrlPr>
                                <a:rPr lang="zh-TW" altLang="zh-TW" sz="2800" i="1" kern="10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2800" i="1" kern="100">
                                  <a:effectLst/>
                                  <a:latin typeface="Cambria Math" panose="02040503050406030204" pitchFamily="18" charset="0"/>
                                  <a:ea typeface="新細明體" panose="02020500000000000000" pitchFamily="18" charset="-120"/>
                                  <a:cs typeface="Times New Roman" panose="020206030504050203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altLang="zh-TW" sz="2800" i="1" kern="100">
                                  <a:effectLst/>
                                  <a:latin typeface="Cambria Math" panose="02040503050406030204" pitchFamily="18" charset="0"/>
                                  <a:ea typeface="新細明體" panose="02020500000000000000" pitchFamily="18" charset="-120"/>
                                  <a:cs typeface="Times New Roman" panose="020206030504050203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altLang="zh-TW" sz="2800" i="1" kern="100">
                              <a:effectLst/>
                              <a:latin typeface="Cambria Math" panose="020405030504060302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zh-TW" altLang="zh-TW" sz="2800" i="1" kern="10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2800" i="1" kern="100">
                                  <a:effectLst/>
                                  <a:latin typeface="Cambria Math" panose="02040503050406030204" pitchFamily="18" charset="0"/>
                                  <a:ea typeface="新細明體" panose="02020500000000000000" pitchFamily="18" charset="-120"/>
                                  <a:cs typeface="Times New Roman" panose="020206030504050203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altLang="zh-TW" sz="2800" i="1" kern="100">
                                  <a:effectLst/>
                                  <a:latin typeface="Cambria Math" panose="02040503050406030204" pitchFamily="18" charset="0"/>
                                  <a:ea typeface="新細明體" panose="02020500000000000000" pitchFamily="18" charset="-120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altLang="zh-TW" sz="2800" i="1" kern="100">
                              <a:effectLst/>
                              <a:latin typeface="Cambria Math" panose="020405030504060302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m:t>,…,</m:t>
                          </m:r>
                          <m:sSub>
                            <m:sSubPr>
                              <m:ctrlPr>
                                <a:rPr lang="zh-TW" altLang="zh-TW" sz="2800" i="1" kern="10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2800" i="1" kern="100">
                                  <a:effectLst/>
                                  <a:latin typeface="Cambria Math" panose="02040503050406030204" pitchFamily="18" charset="0"/>
                                  <a:ea typeface="新細明體" panose="02020500000000000000" pitchFamily="18" charset="-120"/>
                                  <a:cs typeface="Times New Roman" panose="020206030504050203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altLang="zh-TW" sz="2800" i="1" kern="100">
                                  <a:effectLst/>
                                  <a:latin typeface="Cambria Math" panose="02040503050406030204" pitchFamily="18" charset="0"/>
                                  <a:ea typeface="新細明體" panose="02020500000000000000" pitchFamily="18" charset="-120"/>
                                  <a:cs typeface="Times New Roman" panose="02020603050405020304" pitchFamily="18" charset="0"/>
                                </a:rPr>
                                <m:t>𝑡</m:t>
                              </m:r>
                              <m:r>
                                <a:rPr lang="en-US" altLang="zh-TW" sz="2800" i="1" kern="100">
                                  <a:effectLst/>
                                  <a:latin typeface="Cambria Math" panose="02040503050406030204" pitchFamily="18" charset="0"/>
                                  <a:ea typeface="新細明體" panose="02020500000000000000" pitchFamily="18" charset="-120"/>
                                  <a:cs typeface="Times New Roman" panose="02020603050405020304" pitchFamily="18" charset="0"/>
                                </a:rPr>
                                <m:t>−1</m:t>
                              </m:r>
                            </m:sub>
                          </m:sSub>
                          <m:r>
                            <a:rPr lang="en-US" altLang="zh-TW" sz="2800" i="1" kern="100">
                              <a:effectLst/>
                              <a:latin typeface="Cambria Math" panose="020405030504060302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m:t>)</m:t>
                          </m:r>
                        </m:e>
                      </m:nary>
                    </m:oMath>
                  </m:oMathPara>
                </a14:m>
                <a:endParaRPr lang="zh-TW" altLang="zh-TW" sz="2800" kern="100" dirty="0">
                  <a:effectLst/>
                  <a:latin typeface="Calibri" panose="020F0502020204030204" pitchFamily="34" charset="0"/>
                  <a:ea typeface="新細明體" panose="02020500000000000000" pitchFamily="18" charset="-12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1" name="文字方塊 10">
                <a:extLst>
                  <a:ext uri="{FF2B5EF4-FFF2-40B4-BE49-F238E27FC236}">
                    <a16:creationId xmlns:a16="http://schemas.microsoft.com/office/drawing/2014/main" id="{A4E96B12-CEDD-905F-7E73-187B8CC2259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83132" y="3742891"/>
                <a:ext cx="4295405" cy="1268552"/>
              </a:xfrm>
              <a:prstGeom prst="rect">
                <a:avLst/>
              </a:prstGeom>
              <a:blipFill>
                <a:blip r:embed="rId3"/>
                <a:stretch>
                  <a:fillRect l="-23529" t="-105941" b="-162376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3" name="圓角矩形 52">
            <a:extLst>
              <a:ext uri="{FF2B5EF4-FFF2-40B4-BE49-F238E27FC236}">
                <a16:creationId xmlns:a16="http://schemas.microsoft.com/office/drawing/2014/main" id="{E56B081F-94D2-3D44-AEF7-145771883E0A}"/>
              </a:ext>
            </a:extLst>
          </p:cNvPr>
          <p:cNvSpPr/>
          <p:nvPr/>
        </p:nvSpPr>
        <p:spPr>
          <a:xfrm>
            <a:off x="978574" y="3293067"/>
            <a:ext cx="4055873" cy="941558"/>
          </a:xfrm>
          <a:prstGeom prst="round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en-US" altLang="zh-TW" sz="2400" dirty="0">
                <a:solidFill>
                  <a:schemeClr val="tx1"/>
                </a:solidFill>
              </a:rPr>
              <a:t>Language Model</a:t>
            </a:r>
            <a:endParaRPr kumimoji="1" lang="zh-TW" altLang="en-US" sz="2400" dirty="0">
              <a:solidFill>
                <a:schemeClr val="tx1"/>
              </a:solidFill>
            </a:endParaRPr>
          </a:p>
        </p:txBody>
      </p:sp>
      <p:sp>
        <p:nvSpPr>
          <p:cNvPr id="54" name="圓角矩形 53">
            <a:extLst>
              <a:ext uri="{FF2B5EF4-FFF2-40B4-BE49-F238E27FC236}">
                <a16:creationId xmlns:a16="http://schemas.microsoft.com/office/drawing/2014/main" id="{2AD5746E-79B9-5EC8-5A1A-42B5950F4FB0}"/>
              </a:ext>
            </a:extLst>
          </p:cNvPr>
          <p:cNvSpPr/>
          <p:nvPr/>
        </p:nvSpPr>
        <p:spPr>
          <a:xfrm>
            <a:off x="1060305" y="4607685"/>
            <a:ext cx="448780" cy="375953"/>
          </a:xfrm>
          <a:prstGeom prst="roundRect">
            <a:avLst/>
          </a:prstGeom>
          <a:solidFill>
            <a:srgbClr val="C5E0B4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en-US" altLang="zh-TW" dirty="0">
                <a:solidFill>
                  <a:schemeClr val="tx1"/>
                </a:solidFill>
              </a:rPr>
              <a:t>y</a:t>
            </a:r>
            <a:r>
              <a:rPr kumimoji="1" lang="en-US" altLang="zh-TW" baseline="-25000" dirty="0">
                <a:solidFill>
                  <a:schemeClr val="tx1"/>
                </a:solidFill>
              </a:rPr>
              <a:t>1</a:t>
            </a:r>
            <a:endParaRPr kumimoji="1" lang="zh-TW" altLang="en-US" dirty="0">
              <a:solidFill>
                <a:schemeClr val="tx1"/>
              </a:solidFill>
            </a:endParaRPr>
          </a:p>
        </p:txBody>
      </p:sp>
      <p:sp>
        <p:nvSpPr>
          <p:cNvPr id="55" name="圓角矩形 54">
            <a:extLst>
              <a:ext uri="{FF2B5EF4-FFF2-40B4-BE49-F238E27FC236}">
                <a16:creationId xmlns:a16="http://schemas.microsoft.com/office/drawing/2014/main" id="{849165CB-B39B-4A35-B189-73AD09AFA6F4}"/>
              </a:ext>
            </a:extLst>
          </p:cNvPr>
          <p:cNvSpPr/>
          <p:nvPr/>
        </p:nvSpPr>
        <p:spPr>
          <a:xfrm>
            <a:off x="3974880" y="4607685"/>
            <a:ext cx="448780" cy="375953"/>
          </a:xfrm>
          <a:prstGeom prst="roundRect">
            <a:avLst/>
          </a:prstGeom>
          <a:solidFill>
            <a:schemeClr val="bg1">
              <a:lumMod val="8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kumimoji="1" lang="zh-TW" altLang="en-US" dirty="0">
              <a:solidFill>
                <a:schemeClr val="tx1"/>
              </a:solidFill>
            </a:endParaRPr>
          </a:p>
        </p:txBody>
      </p:sp>
      <p:sp>
        <p:nvSpPr>
          <p:cNvPr id="56" name="圓角矩形 55">
            <a:extLst>
              <a:ext uri="{FF2B5EF4-FFF2-40B4-BE49-F238E27FC236}">
                <a16:creationId xmlns:a16="http://schemas.microsoft.com/office/drawing/2014/main" id="{04D28F7A-BB87-E420-B4A6-87EFAE58B573}"/>
              </a:ext>
            </a:extLst>
          </p:cNvPr>
          <p:cNvSpPr/>
          <p:nvPr/>
        </p:nvSpPr>
        <p:spPr>
          <a:xfrm>
            <a:off x="4557797" y="4607685"/>
            <a:ext cx="448780" cy="375953"/>
          </a:xfrm>
          <a:prstGeom prst="roundRect">
            <a:avLst/>
          </a:prstGeom>
          <a:solidFill>
            <a:schemeClr val="bg1">
              <a:lumMod val="8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kumimoji="1" lang="zh-TW" altLang="en-US" dirty="0">
              <a:solidFill>
                <a:schemeClr val="tx1"/>
              </a:solidFill>
            </a:endParaRPr>
          </a:p>
        </p:txBody>
      </p:sp>
      <p:sp>
        <p:nvSpPr>
          <p:cNvPr id="57" name="圓角矩形 56">
            <a:extLst>
              <a:ext uri="{FF2B5EF4-FFF2-40B4-BE49-F238E27FC236}">
                <a16:creationId xmlns:a16="http://schemas.microsoft.com/office/drawing/2014/main" id="{E0A05F72-2010-0A18-AFF5-AC3392353FC2}"/>
              </a:ext>
            </a:extLst>
          </p:cNvPr>
          <p:cNvSpPr/>
          <p:nvPr/>
        </p:nvSpPr>
        <p:spPr>
          <a:xfrm>
            <a:off x="1643220" y="4607685"/>
            <a:ext cx="448780" cy="375953"/>
          </a:xfrm>
          <a:prstGeom prst="roundRect">
            <a:avLst/>
          </a:prstGeom>
          <a:solidFill>
            <a:schemeClr val="bg1">
              <a:lumMod val="8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kumimoji="1" lang="zh-TW" altLang="en-US" dirty="0">
              <a:solidFill>
                <a:schemeClr val="tx1"/>
              </a:solidFill>
            </a:endParaRPr>
          </a:p>
        </p:txBody>
      </p:sp>
      <p:sp>
        <p:nvSpPr>
          <p:cNvPr id="58" name="圓角矩形 57">
            <a:extLst>
              <a:ext uri="{FF2B5EF4-FFF2-40B4-BE49-F238E27FC236}">
                <a16:creationId xmlns:a16="http://schemas.microsoft.com/office/drawing/2014/main" id="{E82AF96C-EBF2-D5AB-042A-BE3BEAB30F97}"/>
              </a:ext>
            </a:extLst>
          </p:cNvPr>
          <p:cNvSpPr/>
          <p:nvPr/>
        </p:nvSpPr>
        <p:spPr>
          <a:xfrm>
            <a:off x="2226135" y="4607685"/>
            <a:ext cx="448780" cy="375953"/>
          </a:xfrm>
          <a:prstGeom prst="roundRect">
            <a:avLst/>
          </a:prstGeom>
          <a:solidFill>
            <a:schemeClr val="bg1">
              <a:lumMod val="8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kumimoji="1" lang="zh-TW" altLang="en-US" dirty="0">
              <a:solidFill>
                <a:schemeClr val="tx1"/>
              </a:solidFill>
            </a:endParaRPr>
          </a:p>
        </p:txBody>
      </p:sp>
      <p:sp>
        <p:nvSpPr>
          <p:cNvPr id="59" name="圓角矩形 58">
            <a:extLst>
              <a:ext uri="{FF2B5EF4-FFF2-40B4-BE49-F238E27FC236}">
                <a16:creationId xmlns:a16="http://schemas.microsoft.com/office/drawing/2014/main" id="{E8D812A7-35BC-59E9-6233-BFBBF2ED6EF1}"/>
              </a:ext>
            </a:extLst>
          </p:cNvPr>
          <p:cNvSpPr/>
          <p:nvPr/>
        </p:nvSpPr>
        <p:spPr>
          <a:xfrm>
            <a:off x="2809050" y="4607685"/>
            <a:ext cx="448780" cy="375953"/>
          </a:xfrm>
          <a:prstGeom prst="roundRect">
            <a:avLst/>
          </a:prstGeom>
          <a:solidFill>
            <a:schemeClr val="bg1">
              <a:lumMod val="8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kumimoji="1" lang="zh-TW" altLang="en-US" dirty="0">
              <a:solidFill>
                <a:schemeClr val="tx1"/>
              </a:solidFill>
            </a:endParaRPr>
          </a:p>
        </p:txBody>
      </p:sp>
      <p:sp>
        <p:nvSpPr>
          <p:cNvPr id="60" name="圓角矩形 59">
            <a:extLst>
              <a:ext uri="{FF2B5EF4-FFF2-40B4-BE49-F238E27FC236}">
                <a16:creationId xmlns:a16="http://schemas.microsoft.com/office/drawing/2014/main" id="{E71E0BBC-F3F9-9B35-A02F-D6904A072013}"/>
              </a:ext>
            </a:extLst>
          </p:cNvPr>
          <p:cNvSpPr/>
          <p:nvPr/>
        </p:nvSpPr>
        <p:spPr>
          <a:xfrm>
            <a:off x="3391965" y="4607685"/>
            <a:ext cx="448780" cy="375953"/>
          </a:xfrm>
          <a:prstGeom prst="roundRect">
            <a:avLst/>
          </a:prstGeom>
          <a:solidFill>
            <a:schemeClr val="bg1">
              <a:lumMod val="8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kumimoji="1" lang="zh-TW" altLang="en-US" dirty="0">
              <a:solidFill>
                <a:schemeClr val="tx1"/>
              </a:solidFill>
            </a:endParaRPr>
          </a:p>
        </p:txBody>
      </p:sp>
      <p:cxnSp>
        <p:nvCxnSpPr>
          <p:cNvPr id="61" name="直線箭頭接點 60">
            <a:extLst>
              <a:ext uri="{FF2B5EF4-FFF2-40B4-BE49-F238E27FC236}">
                <a16:creationId xmlns:a16="http://schemas.microsoft.com/office/drawing/2014/main" id="{556BF7F5-E500-D813-7FF7-4EFCAB97C5E3}"/>
              </a:ext>
            </a:extLst>
          </p:cNvPr>
          <p:cNvCxnSpPr>
            <a:cxnSpLocks/>
          </p:cNvCxnSpPr>
          <p:nvPr/>
        </p:nvCxnSpPr>
        <p:spPr>
          <a:xfrm flipV="1">
            <a:off x="1292233" y="4296224"/>
            <a:ext cx="0" cy="263988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直線箭頭接點 61">
            <a:extLst>
              <a:ext uri="{FF2B5EF4-FFF2-40B4-BE49-F238E27FC236}">
                <a16:creationId xmlns:a16="http://schemas.microsoft.com/office/drawing/2014/main" id="{FD6FD892-97D8-8EE6-71A3-A157EBD96579}"/>
              </a:ext>
            </a:extLst>
          </p:cNvPr>
          <p:cNvCxnSpPr>
            <a:cxnSpLocks/>
          </p:cNvCxnSpPr>
          <p:nvPr/>
        </p:nvCxnSpPr>
        <p:spPr>
          <a:xfrm flipV="1">
            <a:off x="1872427" y="4296224"/>
            <a:ext cx="0" cy="263988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直線箭頭接點 62">
            <a:extLst>
              <a:ext uri="{FF2B5EF4-FFF2-40B4-BE49-F238E27FC236}">
                <a16:creationId xmlns:a16="http://schemas.microsoft.com/office/drawing/2014/main" id="{2CD4A9B7-D7FE-006C-23CC-CFF1E26DFB64}"/>
              </a:ext>
            </a:extLst>
          </p:cNvPr>
          <p:cNvCxnSpPr>
            <a:cxnSpLocks/>
          </p:cNvCxnSpPr>
          <p:nvPr/>
        </p:nvCxnSpPr>
        <p:spPr>
          <a:xfrm flipV="1">
            <a:off x="2452621" y="4296224"/>
            <a:ext cx="0" cy="263988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直線箭頭接點 63">
            <a:extLst>
              <a:ext uri="{FF2B5EF4-FFF2-40B4-BE49-F238E27FC236}">
                <a16:creationId xmlns:a16="http://schemas.microsoft.com/office/drawing/2014/main" id="{38F6DEDC-905F-25F0-F182-8E0D496CA00A}"/>
              </a:ext>
            </a:extLst>
          </p:cNvPr>
          <p:cNvCxnSpPr>
            <a:cxnSpLocks/>
          </p:cNvCxnSpPr>
          <p:nvPr/>
        </p:nvCxnSpPr>
        <p:spPr>
          <a:xfrm flipV="1">
            <a:off x="3032815" y="4296224"/>
            <a:ext cx="0" cy="263988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直線箭頭接點 64">
            <a:extLst>
              <a:ext uri="{FF2B5EF4-FFF2-40B4-BE49-F238E27FC236}">
                <a16:creationId xmlns:a16="http://schemas.microsoft.com/office/drawing/2014/main" id="{3D815DC0-BB63-272B-AA96-09D34C71DE3D}"/>
              </a:ext>
            </a:extLst>
          </p:cNvPr>
          <p:cNvCxnSpPr>
            <a:cxnSpLocks/>
          </p:cNvCxnSpPr>
          <p:nvPr/>
        </p:nvCxnSpPr>
        <p:spPr>
          <a:xfrm flipV="1">
            <a:off x="3613009" y="4296224"/>
            <a:ext cx="0" cy="263988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直線箭頭接點 65">
            <a:extLst>
              <a:ext uri="{FF2B5EF4-FFF2-40B4-BE49-F238E27FC236}">
                <a16:creationId xmlns:a16="http://schemas.microsoft.com/office/drawing/2014/main" id="{70225065-1F78-FF9F-4C28-6FCED4B9E399}"/>
              </a:ext>
            </a:extLst>
          </p:cNvPr>
          <p:cNvCxnSpPr>
            <a:cxnSpLocks/>
          </p:cNvCxnSpPr>
          <p:nvPr/>
        </p:nvCxnSpPr>
        <p:spPr>
          <a:xfrm flipV="1">
            <a:off x="4193203" y="4296224"/>
            <a:ext cx="0" cy="263988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直線箭頭接點 66">
            <a:extLst>
              <a:ext uri="{FF2B5EF4-FFF2-40B4-BE49-F238E27FC236}">
                <a16:creationId xmlns:a16="http://schemas.microsoft.com/office/drawing/2014/main" id="{955ACEB5-1C85-0E86-2524-AB0F52D9EA43}"/>
              </a:ext>
            </a:extLst>
          </p:cNvPr>
          <p:cNvCxnSpPr>
            <a:cxnSpLocks/>
          </p:cNvCxnSpPr>
          <p:nvPr/>
        </p:nvCxnSpPr>
        <p:spPr>
          <a:xfrm flipV="1">
            <a:off x="4773396" y="4296224"/>
            <a:ext cx="0" cy="263988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直線箭頭接點 67">
            <a:extLst>
              <a:ext uri="{FF2B5EF4-FFF2-40B4-BE49-F238E27FC236}">
                <a16:creationId xmlns:a16="http://schemas.microsoft.com/office/drawing/2014/main" id="{B31AE56F-4DF3-4AD7-786F-E2213B06A924}"/>
              </a:ext>
            </a:extLst>
          </p:cNvPr>
          <p:cNvCxnSpPr>
            <a:cxnSpLocks/>
          </p:cNvCxnSpPr>
          <p:nvPr/>
        </p:nvCxnSpPr>
        <p:spPr>
          <a:xfrm flipV="1">
            <a:off x="1292233" y="2988597"/>
            <a:ext cx="0" cy="263988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9" name="圓角矩形 68">
            <a:extLst>
              <a:ext uri="{FF2B5EF4-FFF2-40B4-BE49-F238E27FC236}">
                <a16:creationId xmlns:a16="http://schemas.microsoft.com/office/drawing/2014/main" id="{0E92661B-C188-9EC9-B913-1F48F8DA8429}"/>
              </a:ext>
            </a:extLst>
          </p:cNvPr>
          <p:cNvSpPr/>
          <p:nvPr/>
        </p:nvSpPr>
        <p:spPr>
          <a:xfrm>
            <a:off x="1060305" y="2561974"/>
            <a:ext cx="448780" cy="375953"/>
          </a:xfrm>
          <a:prstGeom prst="roundRect">
            <a:avLst/>
          </a:prstGeom>
          <a:solidFill>
            <a:srgbClr val="C5E0B4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en-US" altLang="zh-TW" dirty="0">
                <a:solidFill>
                  <a:schemeClr val="tx1"/>
                </a:solidFill>
              </a:rPr>
              <a:t>y</a:t>
            </a:r>
            <a:r>
              <a:rPr kumimoji="1" lang="en-US" altLang="zh-TW" baseline="-25000" dirty="0">
                <a:solidFill>
                  <a:schemeClr val="tx1"/>
                </a:solidFill>
              </a:rPr>
              <a:t>2</a:t>
            </a:r>
            <a:endParaRPr kumimoji="1" lang="zh-TW" altLang="en-US" dirty="0">
              <a:solidFill>
                <a:schemeClr val="tx1"/>
              </a:solidFill>
            </a:endParaRPr>
          </a:p>
        </p:txBody>
      </p:sp>
      <p:sp>
        <p:nvSpPr>
          <p:cNvPr id="70" name="圓角矩形 69">
            <a:extLst>
              <a:ext uri="{FF2B5EF4-FFF2-40B4-BE49-F238E27FC236}">
                <a16:creationId xmlns:a16="http://schemas.microsoft.com/office/drawing/2014/main" id="{29AF26AF-3DC4-E24D-233C-C7A4FB5621EC}"/>
              </a:ext>
            </a:extLst>
          </p:cNvPr>
          <p:cNvSpPr/>
          <p:nvPr/>
        </p:nvSpPr>
        <p:spPr>
          <a:xfrm>
            <a:off x="1060305" y="5411584"/>
            <a:ext cx="448780" cy="375953"/>
          </a:xfrm>
          <a:prstGeom prst="roundRect">
            <a:avLst/>
          </a:prstGeom>
          <a:solidFill>
            <a:schemeClr val="bg1">
              <a:lumMod val="8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kumimoji="1" lang="zh-TW" altLang="en-US" dirty="0">
              <a:solidFill>
                <a:schemeClr val="tx1"/>
              </a:solidFill>
            </a:endParaRPr>
          </a:p>
        </p:txBody>
      </p:sp>
      <p:sp>
        <p:nvSpPr>
          <p:cNvPr id="71" name="內容版面配置區 2">
            <a:extLst>
              <a:ext uri="{FF2B5EF4-FFF2-40B4-BE49-F238E27FC236}">
                <a16:creationId xmlns:a16="http://schemas.microsoft.com/office/drawing/2014/main" id="{0040D001-58C5-5A13-A865-799BECABAD6F}"/>
              </a:ext>
            </a:extLst>
          </p:cNvPr>
          <p:cNvSpPr txBox="1">
            <a:spLocks/>
          </p:cNvSpPr>
          <p:nvPr/>
        </p:nvSpPr>
        <p:spPr>
          <a:xfrm>
            <a:off x="1635682" y="5457165"/>
            <a:ext cx="3734811" cy="331176"/>
          </a:xfrm>
          <a:prstGeom prst="rect">
            <a:avLst/>
          </a:prstGeom>
        </p:spPr>
        <p:txBody>
          <a:bodyPr vert="horz" lIns="0" tIns="45720" rIns="0" bIns="45720" rtlCol="0" anchor="t">
            <a:normAutofit lnSpcReduction="10000"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Aft>
                <a:spcPts val="600"/>
              </a:spcAft>
              <a:buClr>
                <a:schemeClr val="tx1"/>
              </a:buClr>
              <a:buNone/>
            </a:pPr>
            <a:r>
              <a:rPr lang="en-US" altLang="zh-TW" sz="1800" dirty="0">
                <a:ea typeface="新細明體" panose="02020500000000000000" pitchFamily="18" charset="-120"/>
                <a:cs typeface="+mn-lt"/>
              </a:rPr>
              <a:t>Self-attention </a:t>
            </a:r>
            <a:r>
              <a:rPr lang="zh-TW" altLang="en-US" sz="1800" dirty="0">
                <a:latin typeface="Microsoft JhengHei" panose="020B0604030504040204" pitchFamily="34" charset="-120"/>
                <a:ea typeface="Microsoft JhengHei" panose="020B0604030504040204" pitchFamily="34" charset="-120"/>
                <a:cs typeface="+mn-lt"/>
              </a:rPr>
              <a:t>不可及的範圍</a:t>
            </a:r>
            <a:endParaRPr lang="en-US" altLang="zh-TW" sz="1800" dirty="0">
              <a:latin typeface="Microsoft JhengHei" panose="020B0604030504040204" pitchFamily="34" charset="-120"/>
              <a:ea typeface="Microsoft JhengHei" panose="020B0604030504040204" pitchFamily="34" charset="-120"/>
              <a:cs typeface="+mn-lt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2" name="文字方塊 71">
                <a:extLst>
                  <a:ext uri="{FF2B5EF4-FFF2-40B4-BE49-F238E27FC236}">
                    <a16:creationId xmlns:a16="http://schemas.microsoft.com/office/drawing/2014/main" id="{71E75FE5-D583-EC56-31A3-971EFDFD13C4}"/>
                  </a:ext>
                </a:extLst>
              </p:cNvPr>
              <p:cNvSpPr txBox="1"/>
              <p:nvPr/>
            </p:nvSpPr>
            <p:spPr>
              <a:xfrm>
                <a:off x="653143" y="2103135"/>
                <a:ext cx="127818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TW" sz="1800" b="0" i="1" smtClean="0"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kumimoji="1" lang="en-US" altLang="zh-TW" sz="1800" b="0" i="1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kumimoji="1" lang="en-US" altLang="zh-TW" sz="1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TW" sz="18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kumimoji="1" lang="en-US" altLang="zh-TW" sz="18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kumimoji="1" lang="en-US" altLang="zh-TW" sz="1800" b="0" i="1" smtClean="0">
                          <a:latin typeface="Cambria Math" panose="02040503050406030204" pitchFamily="18" charset="0"/>
                        </a:rPr>
                        <m:t>| </m:t>
                      </m:r>
                      <m:sSub>
                        <m:sSubPr>
                          <m:ctrlPr>
                            <a:rPr kumimoji="1" lang="en-US" altLang="zh-TW" sz="1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TW" sz="18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kumimoji="1" lang="en-US" altLang="zh-TW" sz="18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kumimoji="1" lang="en-US" altLang="zh-TW" sz="18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zh-TW" altLang="en-US" dirty="0"/>
              </a:p>
            </p:txBody>
          </p:sp>
        </mc:Choice>
        <mc:Fallback xmlns="">
          <p:sp>
            <p:nvSpPr>
              <p:cNvPr id="72" name="文字方塊 71">
                <a:extLst>
                  <a:ext uri="{FF2B5EF4-FFF2-40B4-BE49-F238E27FC236}">
                    <a16:creationId xmlns:a16="http://schemas.microsoft.com/office/drawing/2014/main" id="{71E75FE5-D583-EC56-31A3-971EFDFD13C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3143" y="2103135"/>
                <a:ext cx="1278180" cy="369332"/>
              </a:xfrm>
              <a:prstGeom prst="rect">
                <a:avLst/>
              </a:prstGeom>
              <a:blipFill>
                <a:blip r:embed="rId4"/>
                <a:stretch>
                  <a:fillRect b="-20000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3" name="圓角矩形 72">
            <a:extLst>
              <a:ext uri="{FF2B5EF4-FFF2-40B4-BE49-F238E27FC236}">
                <a16:creationId xmlns:a16="http://schemas.microsoft.com/office/drawing/2014/main" id="{9CED9391-FE04-72A7-D6D4-53AB83C3BEEB}"/>
              </a:ext>
            </a:extLst>
          </p:cNvPr>
          <p:cNvSpPr/>
          <p:nvPr/>
        </p:nvSpPr>
        <p:spPr>
          <a:xfrm>
            <a:off x="1643218" y="4607684"/>
            <a:ext cx="448780" cy="375953"/>
          </a:xfrm>
          <a:prstGeom prst="roundRect">
            <a:avLst/>
          </a:prstGeom>
          <a:solidFill>
            <a:srgbClr val="C5E0B4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en-US" altLang="zh-TW" dirty="0">
                <a:solidFill>
                  <a:schemeClr val="tx1"/>
                </a:solidFill>
              </a:rPr>
              <a:t>y</a:t>
            </a:r>
            <a:r>
              <a:rPr kumimoji="1" lang="en-US" altLang="zh-TW" baseline="-25000" dirty="0">
                <a:solidFill>
                  <a:schemeClr val="tx1"/>
                </a:solidFill>
              </a:rPr>
              <a:t>2</a:t>
            </a:r>
            <a:endParaRPr kumimoji="1" lang="zh-TW" altLang="en-US" dirty="0">
              <a:solidFill>
                <a:schemeClr val="tx1"/>
              </a:solidFill>
            </a:endParaRPr>
          </a:p>
        </p:txBody>
      </p:sp>
      <p:cxnSp>
        <p:nvCxnSpPr>
          <p:cNvPr id="74" name="直線箭頭接點 73">
            <a:extLst>
              <a:ext uri="{FF2B5EF4-FFF2-40B4-BE49-F238E27FC236}">
                <a16:creationId xmlns:a16="http://schemas.microsoft.com/office/drawing/2014/main" id="{6F143B5D-ACE6-12E7-A6D9-787589415032}"/>
              </a:ext>
            </a:extLst>
          </p:cNvPr>
          <p:cNvCxnSpPr>
            <a:cxnSpLocks/>
          </p:cNvCxnSpPr>
          <p:nvPr/>
        </p:nvCxnSpPr>
        <p:spPr>
          <a:xfrm flipV="1">
            <a:off x="1863050" y="2988597"/>
            <a:ext cx="0" cy="263988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5" name="圓角矩形 74">
            <a:extLst>
              <a:ext uri="{FF2B5EF4-FFF2-40B4-BE49-F238E27FC236}">
                <a16:creationId xmlns:a16="http://schemas.microsoft.com/office/drawing/2014/main" id="{14DE862D-D50D-A681-2164-B5ED8C85E464}"/>
              </a:ext>
            </a:extLst>
          </p:cNvPr>
          <p:cNvSpPr/>
          <p:nvPr/>
        </p:nvSpPr>
        <p:spPr>
          <a:xfrm>
            <a:off x="1644150" y="2561974"/>
            <a:ext cx="448780" cy="375953"/>
          </a:xfrm>
          <a:prstGeom prst="roundRect">
            <a:avLst/>
          </a:prstGeom>
          <a:solidFill>
            <a:srgbClr val="C5E0B4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en-US" altLang="zh-TW" dirty="0">
                <a:solidFill>
                  <a:schemeClr val="tx1"/>
                </a:solidFill>
              </a:rPr>
              <a:t>y</a:t>
            </a:r>
            <a:r>
              <a:rPr kumimoji="1" lang="en-US" altLang="zh-TW" baseline="-25000" dirty="0">
                <a:solidFill>
                  <a:schemeClr val="tx1"/>
                </a:solidFill>
              </a:rPr>
              <a:t>3</a:t>
            </a:r>
            <a:endParaRPr kumimoji="1" lang="zh-TW" altLang="en-US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6" name="文字方塊 75">
                <a:extLst>
                  <a:ext uri="{FF2B5EF4-FFF2-40B4-BE49-F238E27FC236}">
                    <a16:creationId xmlns:a16="http://schemas.microsoft.com/office/drawing/2014/main" id="{DBD29828-76DF-C37D-2E67-B1AF885CF2EF}"/>
                  </a:ext>
                </a:extLst>
              </p:cNvPr>
              <p:cNvSpPr txBox="1"/>
              <p:nvPr/>
            </p:nvSpPr>
            <p:spPr>
              <a:xfrm>
                <a:off x="1654951" y="2103134"/>
                <a:ext cx="1472889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TW" sz="1800" b="0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endChr m:val="|"/>
                          <m:ctrlPr>
                            <a:rPr kumimoji="1" lang="en-US" altLang="zh-TW" sz="1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kumimoji="1" lang="en-US" altLang="zh-TW" sz="18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kumimoji="1" lang="en-US" altLang="zh-TW" sz="1800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kumimoji="1" lang="en-US" altLang="zh-TW" sz="1800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e>
                      </m:d>
                      <m:sSub>
                        <m:sSubPr>
                          <m:ctrlPr>
                            <a:rPr kumimoji="1" lang="en-US" altLang="zh-TW" sz="1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TW" sz="18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kumimoji="1" lang="en-US" altLang="zh-TW" sz="18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kumimoji="1" lang="en-US" altLang="zh-TW" sz="1800" b="0" i="1" smtClean="0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kumimoji="1" lang="en-US" altLang="zh-TW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TW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kumimoji="1" lang="en-US" altLang="zh-TW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kumimoji="1" lang="en-US" altLang="zh-TW" sz="18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zh-TW" altLang="en-US" dirty="0"/>
              </a:p>
            </p:txBody>
          </p:sp>
        </mc:Choice>
        <mc:Fallback xmlns="">
          <p:sp>
            <p:nvSpPr>
              <p:cNvPr id="76" name="文字方塊 75">
                <a:extLst>
                  <a:ext uri="{FF2B5EF4-FFF2-40B4-BE49-F238E27FC236}">
                    <a16:creationId xmlns:a16="http://schemas.microsoft.com/office/drawing/2014/main" id="{DBD29828-76DF-C37D-2E67-B1AF885CF2E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54951" y="2103134"/>
                <a:ext cx="1472889" cy="369332"/>
              </a:xfrm>
              <a:prstGeom prst="rect">
                <a:avLst/>
              </a:prstGeom>
              <a:blipFill>
                <a:blip r:embed="rId5"/>
                <a:stretch>
                  <a:fillRect b="-20000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7" name="圓角矩形 76">
            <a:extLst>
              <a:ext uri="{FF2B5EF4-FFF2-40B4-BE49-F238E27FC236}">
                <a16:creationId xmlns:a16="http://schemas.microsoft.com/office/drawing/2014/main" id="{FF9E136E-A7C5-ADE1-0C73-456E9CDFE916}"/>
              </a:ext>
            </a:extLst>
          </p:cNvPr>
          <p:cNvSpPr/>
          <p:nvPr/>
        </p:nvSpPr>
        <p:spPr>
          <a:xfrm>
            <a:off x="2226135" y="4607684"/>
            <a:ext cx="448780" cy="375953"/>
          </a:xfrm>
          <a:prstGeom prst="roundRect">
            <a:avLst/>
          </a:prstGeom>
          <a:solidFill>
            <a:srgbClr val="C5E0B4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en-US" altLang="zh-TW" dirty="0">
                <a:solidFill>
                  <a:schemeClr val="tx1"/>
                </a:solidFill>
              </a:rPr>
              <a:t>y</a:t>
            </a:r>
            <a:r>
              <a:rPr kumimoji="1" lang="en-US" altLang="zh-TW" baseline="-25000" dirty="0">
                <a:solidFill>
                  <a:schemeClr val="tx1"/>
                </a:solidFill>
              </a:rPr>
              <a:t>3</a:t>
            </a:r>
            <a:endParaRPr kumimoji="1" lang="zh-TW" altLang="en-US" dirty="0">
              <a:solidFill>
                <a:schemeClr val="tx1"/>
              </a:solidFill>
            </a:endParaRPr>
          </a:p>
        </p:txBody>
      </p:sp>
      <p:sp>
        <p:nvSpPr>
          <p:cNvPr id="78" name="圓角矩形 77">
            <a:extLst>
              <a:ext uri="{FF2B5EF4-FFF2-40B4-BE49-F238E27FC236}">
                <a16:creationId xmlns:a16="http://schemas.microsoft.com/office/drawing/2014/main" id="{952DD999-E7EC-AD11-474F-B8C47BC90016}"/>
              </a:ext>
            </a:extLst>
          </p:cNvPr>
          <p:cNvSpPr/>
          <p:nvPr/>
        </p:nvSpPr>
        <p:spPr>
          <a:xfrm>
            <a:off x="2808425" y="4607683"/>
            <a:ext cx="448780" cy="375953"/>
          </a:xfrm>
          <a:prstGeom prst="roundRect">
            <a:avLst/>
          </a:prstGeom>
          <a:solidFill>
            <a:srgbClr val="C5E0B4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en-US" altLang="zh-TW" dirty="0">
                <a:solidFill>
                  <a:schemeClr val="tx1"/>
                </a:solidFill>
              </a:rPr>
              <a:t>y</a:t>
            </a:r>
            <a:r>
              <a:rPr kumimoji="1" lang="en-US" altLang="zh-TW" baseline="-25000" dirty="0">
                <a:solidFill>
                  <a:schemeClr val="tx1"/>
                </a:solidFill>
              </a:rPr>
              <a:t>4</a:t>
            </a:r>
            <a:endParaRPr kumimoji="1" lang="zh-TW" altLang="en-US" dirty="0">
              <a:solidFill>
                <a:schemeClr val="tx1"/>
              </a:solidFill>
            </a:endParaRPr>
          </a:p>
        </p:txBody>
      </p:sp>
      <p:sp>
        <p:nvSpPr>
          <p:cNvPr id="79" name="圓角矩形 78">
            <a:extLst>
              <a:ext uri="{FF2B5EF4-FFF2-40B4-BE49-F238E27FC236}">
                <a16:creationId xmlns:a16="http://schemas.microsoft.com/office/drawing/2014/main" id="{B605CB7C-E6AE-0CAF-13C5-00670FDB2978}"/>
              </a:ext>
            </a:extLst>
          </p:cNvPr>
          <p:cNvSpPr/>
          <p:nvPr/>
        </p:nvSpPr>
        <p:spPr>
          <a:xfrm>
            <a:off x="3391963" y="4607682"/>
            <a:ext cx="448780" cy="375953"/>
          </a:xfrm>
          <a:prstGeom prst="roundRect">
            <a:avLst/>
          </a:prstGeom>
          <a:solidFill>
            <a:srgbClr val="C5E0B4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en-US" altLang="zh-TW" dirty="0">
                <a:solidFill>
                  <a:schemeClr val="tx1"/>
                </a:solidFill>
              </a:rPr>
              <a:t>y</a:t>
            </a:r>
            <a:r>
              <a:rPr kumimoji="1" lang="en-US" altLang="zh-TW" baseline="-25000" dirty="0">
                <a:solidFill>
                  <a:schemeClr val="tx1"/>
                </a:solidFill>
              </a:rPr>
              <a:t>5</a:t>
            </a:r>
            <a:endParaRPr kumimoji="1" lang="zh-TW" altLang="en-US" dirty="0">
              <a:solidFill>
                <a:schemeClr val="tx1"/>
              </a:solidFill>
            </a:endParaRPr>
          </a:p>
        </p:txBody>
      </p:sp>
      <p:sp>
        <p:nvSpPr>
          <p:cNvPr id="80" name="圓角矩形 79">
            <a:extLst>
              <a:ext uri="{FF2B5EF4-FFF2-40B4-BE49-F238E27FC236}">
                <a16:creationId xmlns:a16="http://schemas.microsoft.com/office/drawing/2014/main" id="{25DDC4EA-9043-2978-C576-33ADFFE2D3E8}"/>
              </a:ext>
            </a:extLst>
          </p:cNvPr>
          <p:cNvSpPr/>
          <p:nvPr/>
        </p:nvSpPr>
        <p:spPr>
          <a:xfrm>
            <a:off x="3974880" y="4607681"/>
            <a:ext cx="448780" cy="375953"/>
          </a:xfrm>
          <a:prstGeom prst="roundRect">
            <a:avLst/>
          </a:prstGeom>
          <a:solidFill>
            <a:srgbClr val="C5E0B4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en-US" altLang="zh-TW" dirty="0">
                <a:solidFill>
                  <a:schemeClr val="tx1"/>
                </a:solidFill>
              </a:rPr>
              <a:t>y</a:t>
            </a:r>
            <a:r>
              <a:rPr kumimoji="1" lang="en-US" altLang="zh-TW" baseline="-25000" dirty="0">
                <a:solidFill>
                  <a:schemeClr val="tx1"/>
                </a:solidFill>
              </a:rPr>
              <a:t>6</a:t>
            </a:r>
            <a:endParaRPr kumimoji="1" lang="zh-TW" altLang="en-US" dirty="0">
              <a:solidFill>
                <a:schemeClr val="tx1"/>
              </a:solidFill>
            </a:endParaRPr>
          </a:p>
        </p:txBody>
      </p:sp>
      <p:sp>
        <p:nvSpPr>
          <p:cNvPr id="81" name="圓角矩形 80">
            <a:extLst>
              <a:ext uri="{FF2B5EF4-FFF2-40B4-BE49-F238E27FC236}">
                <a16:creationId xmlns:a16="http://schemas.microsoft.com/office/drawing/2014/main" id="{98069929-4DEE-2C40-3A84-7E509EC69AE2}"/>
              </a:ext>
            </a:extLst>
          </p:cNvPr>
          <p:cNvSpPr/>
          <p:nvPr/>
        </p:nvSpPr>
        <p:spPr>
          <a:xfrm>
            <a:off x="4557797" y="4607680"/>
            <a:ext cx="448780" cy="375953"/>
          </a:xfrm>
          <a:prstGeom prst="roundRect">
            <a:avLst/>
          </a:prstGeom>
          <a:solidFill>
            <a:srgbClr val="C5E0B4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en-US" altLang="zh-TW" dirty="0">
                <a:solidFill>
                  <a:schemeClr val="tx1"/>
                </a:solidFill>
              </a:rPr>
              <a:t>y</a:t>
            </a:r>
            <a:r>
              <a:rPr kumimoji="1" lang="en-US" altLang="zh-TW" baseline="-25000" dirty="0">
                <a:solidFill>
                  <a:schemeClr val="tx1"/>
                </a:solidFill>
              </a:rPr>
              <a:t>7</a:t>
            </a:r>
            <a:endParaRPr kumimoji="1" lang="zh-TW" altLang="en-US" dirty="0">
              <a:solidFill>
                <a:schemeClr val="tx1"/>
              </a:solidFill>
            </a:endParaRPr>
          </a:p>
        </p:txBody>
      </p:sp>
      <p:sp>
        <p:nvSpPr>
          <p:cNvPr id="82" name="圓角矩形 81">
            <a:extLst>
              <a:ext uri="{FF2B5EF4-FFF2-40B4-BE49-F238E27FC236}">
                <a16:creationId xmlns:a16="http://schemas.microsoft.com/office/drawing/2014/main" id="{A4246D34-2A8F-D0B3-6834-6545334F2639}"/>
              </a:ext>
            </a:extLst>
          </p:cNvPr>
          <p:cNvSpPr/>
          <p:nvPr/>
        </p:nvSpPr>
        <p:spPr>
          <a:xfrm>
            <a:off x="2224887" y="2561974"/>
            <a:ext cx="448780" cy="375953"/>
          </a:xfrm>
          <a:prstGeom prst="roundRect">
            <a:avLst/>
          </a:prstGeom>
          <a:solidFill>
            <a:srgbClr val="C5E0B4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en-US" altLang="zh-TW" dirty="0">
                <a:solidFill>
                  <a:schemeClr val="tx1"/>
                </a:solidFill>
              </a:rPr>
              <a:t>y</a:t>
            </a:r>
            <a:r>
              <a:rPr kumimoji="1" lang="en-US" altLang="zh-TW" baseline="-25000" dirty="0">
                <a:solidFill>
                  <a:schemeClr val="tx1"/>
                </a:solidFill>
              </a:rPr>
              <a:t>4</a:t>
            </a:r>
            <a:endParaRPr kumimoji="1" lang="zh-TW" altLang="en-US" dirty="0">
              <a:solidFill>
                <a:schemeClr val="tx1"/>
              </a:solidFill>
            </a:endParaRPr>
          </a:p>
        </p:txBody>
      </p:sp>
      <p:sp>
        <p:nvSpPr>
          <p:cNvPr id="83" name="圓角矩形 82">
            <a:extLst>
              <a:ext uri="{FF2B5EF4-FFF2-40B4-BE49-F238E27FC236}">
                <a16:creationId xmlns:a16="http://schemas.microsoft.com/office/drawing/2014/main" id="{22454C6F-BDE4-5EA8-63BA-32323A48E083}"/>
              </a:ext>
            </a:extLst>
          </p:cNvPr>
          <p:cNvSpPr/>
          <p:nvPr/>
        </p:nvSpPr>
        <p:spPr>
          <a:xfrm>
            <a:off x="2808425" y="2561974"/>
            <a:ext cx="448780" cy="375953"/>
          </a:xfrm>
          <a:prstGeom prst="roundRect">
            <a:avLst/>
          </a:prstGeom>
          <a:solidFill>
            <a:srgbClr val="C5E0B4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en-US" altLang="zh-TW" dirty="0">
                <a:solidFill>
                  <a:schemeClr val="tx1"/>
                </a:solidFill>
              </a:rPr>
              <a:t>y</a:t>
            </a:r>
            <a:r>
              <a:rPr kumimoji="1" lang="en-US" altLang="zh-TW" baseline="-25000" dirty="0">
                <a:solidFill>
                  <a:schemeClr val="tx1"/>
                </a:solidFill>
              </a:rPr>
              <a:t>5</a:t>
            </a:r>
            <a:endParaRPr kumimoji="1" lang="zh-TW" altLang="en-US" dirty="0">
              <a:solidFill>
                <a:schemeClr val="tx1"/>
              </a:solidFill>
            </a:endParaRPr>
          </a:p>
        </p:txBody>
      </p:sp>
      <p:sp>
        <p:nvSpPr>
          <p:cNvPr id="84" name="圓角矩形 83">
            <a:extLst>
              <a:ext uri="{FF2B5EF4-FFF2-40B4-BE49-F238E27FC236}">
                <a16:creationId xmlns:a16="http://schemas.microsoft.com/office/drawing/2014/main" id="{C454FCB8-917B-4EE3-9D38-FE0379C871F1}"/>
              </a:ext>
            </a:extLst>
          </p:cNvPr>
          <p:cNvSpPr/>
          <p:nvPr/>
        </p:nvSpPr>
        <p:spPr>
          <a:xfrm>
            <a:off x="3391342" y="2561974"/>
            <a:ext cx="448780" cy="375953"/>
          </a:xfrm>
          <a:prstGeom prst="roundRect">
            <a:avLst/>
          </a:prstGeom>
          <a:solidFill>
            <a:srgbClr val="C5E0B4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en-US" altLang="zh-TW" dirty="0">
                <a:solidFill>
                  <a:schemeClr val="tx1"/>
                </a:solidFill>
              </a:rPr>
              <a:t>y</a:t>
            </a:r>
            <a:r>
              <a:rPr kumimoji="1" lang="en-US" altLang="zh-TW" baseline="-25000" dirty="0">
                <a:solidFill>
                  <a:schemeClr val="tx1"/>
                </a:solidFill>
              </a:rPr>
              <a:t>6</a:t>
            </a:r>
            <a:endParaRPr kumimoji="1" lang="zh-TW" altLang="en-US" dirty="0">
              <a:solidFill>
                <a:schemeClr val="tx1"/>
              </a:solidFill>
            </a:endParaRPr>
          </a:p>
        </p:txBody>
      </p:sp>
      <p:sp>
        <p:nvSpPr>
          <p:cNvPr id="85" name="圓角矩形 84">
            <a:extLst>
              <a:ext uri="{FF2B5EF4-FFF2-40B4-BE49-F238E27FC236}">
                <a16:creationId xmlns:a16="http://schemas.microsoft.com/office/drawing/2014/main" id="{5CBF80E2-B535-E860-7610-68FE567E8B14}"/>
              </a:ext>
            </a:extLst>
          </p:cNvPr>
          <p:cNvSpPr/>
          <p:nvPr/>
        </p:nvSpPr>
        <p:spPr>
          <a:xfrm>
            <a:off x="3974259" y="2561974"/>
            <a:ext cx="448780" cy="375953"/>
          </a:xfrm>
          <a:prstGeom prst="roundRect">
            <a:avLst/>
          </a:prstGeom>
          <a:solidFill>
            <a:srgbClr val="C5E0B4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en-US" altLang="zh-TW" dirty="0">
                <a:solidFill>
                  <a:schemeClr val="tx1"/>
                </a:solidFill>
              </a:rPr>
              <a:t>y</a:t>
            </a:r>
            <a:r>
              <a:rPr kumimoji="1" lang="en-US" altLang="zh-TW" baseline="-25000" dirty="0">
                <a:solidFill>
                  <a:schemeClr val="tx1"/>
                </a:solidFill>
              </a:rPr>
              <a:t>7</a:t>
            </a:r>
            <a:endParaRPr kumimoji="1" lang="zh-TW" altLang="en-US" dirty="0">
              <a:solidFill>
                <a:schemeClr val="tx1"/>
              </a:solidFill>
            </a:endParaRPr>
          </a:p>
        </p:txBody>
      </p:sp>
      <p:sp>
        <p:nvSpPr>
          <p:cNvPr id="86" name="圓角矩形 85">
            <a:extLst>
              <a:ext uri="{FF2B5EF4-FFF2-40B4-BE49-F238E27FC236}">
                <a16:creationId xmlns:a16="http://schemas.microsoft.com/office/drawing/2014/main" id="{09F4531D-C74B-8FD2-1A18-05B0B52CEC4C}"/>
              </a:ext>
            </a:extLst>
          </p:cNvPr>
          <p:cNvSpPr/>
          <p:nvPr/>
        </p:nvSpPr>
        <p:spPr>
          <a:xfrm>
            <a:off x="4549006" y="2561974"/>
            <a:ext cx="448780" cy="375953"/>
          </a:xfrm>
          <a:prstGeom prst="roundRect">
            <a:avLst/>
          </a:prstGeom>
          <a:solidFill>
            <a:srgbClr val="C5E0B4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en-US" altLang="zh-TW" dirty="0">
                <a:solidFill>
                  <a:schemeClr val="tx1"/>
                </a:solidFill>
              </a:rPr>
              <a:t>y</a:t>
            </a:r>
            <a:r>
              <a:rPr kumimoji="1" lang="en-US" altLang="zh-TW" baseline="-25000" dirty="0">
                <a:solidFill>
                  <a:schemeClr val="tx1"/>
                </a:solidFill>
              </a:rPr>
              <a:t>8</a:t>
            </a:r>
            <a:endParaRPr kumimoji="1" lang="zh-TW" altLang="en-US" dirty="0">
              <a:solidFill>
                <a:schemeClr val="tx1"/>
              </a:solidFill>
            </a:endParaRPr>
          </a:p>
        </p:txBody>
      </p:sp>
      <p:cxnSp>
        <p:nvCxnSpPr>
          <p:cNvPr id="87" name="直線箭頭接點 86">
            <a:extLst>
              <a:ext uri="{FF2B5EF4-FFF2-40B4-BE49-F238E27FC236}">
                <a16:creationId xmlns:a16="http://schemas.microsoft.com/office/drawing/2014/main" id="{16DDA635-18C5-E473-8AB5-387CA224E482}"/>
              </a:ext>
            </a:extLst>
          </p:cNvPr>
          <p:cNvCxnSpPr>
            <a:cxnSpLocks/>
          </p:cNvCxnSpPr>
          <p:nvPr/>
        </p:nvCxnSpPr>
        <p:spPr>
          <a:xfrm flipV="1">
            <a:off x="2452621" y="2988597"/>
            <a:ext cx="0" cy="263988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" name="直線箭頭接點 87">
            <a:extLst>
              <a:ext uri="{FF2B5EF4-FFF2-40B4-BE49-F238E27FC236}">
                <a16:creationId xmlns:a16="http://schemas.microsoft.com/office/drawing/2014/main" id="{82799154-4C2E-FC22-3319-D26D3CDF2D68}"/>
              </a:ext>
            </a:extLst>
          </p:cNvPr>
          <p:cNvCxnSpPr>
            <a:cxnSpLocks/>
          </p:cNvCxnSpPr>
          <p:nvPr/>
        </p:nvCxnSpPr>
        <p:spPr>
          <a:xfrm flipV="1">
            <a:off x="3032815" y="2988597"/>
            <a:ext cx="0" cy="263988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" name="直線箭頭接點 88">
            <a:extLst>
              <a:ext uri="{FF2B5EF4-FFF2-40B4-BE49-F238E27FC236}">
                <a16:creationId xmlns:a16="http://schemas.microsoft.com/office/drawing/2014/main" id="{2FA96EF0-C3F2-247C-225E-81049202E10D}"/>
              </a:ext>
            </a:extLst>
          </p:cNvPr>
          <p:cNvCxnSpPr>
            <a:cxnSpLocks/>
          </p:cNvCxnSpPr>
          <p:nvPr/>
        </p:nvCxnSpPr>
        <p:spPr>
          <a:xfrm flipV="1">
            <a:off x="3613009" y="2988597"/>
            <a:ext cx="0" cy="263988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" name="直線箭頭接點 89">
            <a:extLst>
              <a:ext uri="{FF2B5EF4-FFF2-40B4-BE49-F238E27FC236}">
                <a16:creationId xmlns:a16="http://schemas.microsoft.com/office/drawing/2014/main" id="{8EE1F8A5-8E8F-28C6-68B7-BFFF8A8AF15F}"/>
              </a:ext>
            </a:extLst>
          </p:cNvPr>
          <p:cNvCxnSpPr>
            <a:cxnSpLocks/>
          </p:cNvCxnSpPr>
          <p:nvPr/>
        </p:nvCxnSpPr>
        <p:spPr>
          <a:xfrm flipV="1">
            <a:off x="4193203" y="2988597"/>
            <a:ext cx="0" cy="263988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直線箭頭接點 90">
            <a:extLst>
              <a:ext uri="{FF2B5EF4-FFF2-40B4-BE49-F238E27FC236}">
                <a16:creationId xmlns:a16="http://schemas.microsoft.com/office/drawing/2014/main" id="{1E11C61A-444F-4842-1CEB-2B1EE08075B4}"/>
              </a:ext>
            </a:extLst>
          </p:cNvPr>
          <p:cNvCxnSpPr>
            <a:cxnSpLocks/>
          </p:cNvCxnSpPr>
          <p:nvPr/>
        </p:nvCxnSpPr>
        <p:spPr>
          <a:xfrm flipV="1">
            <a:off x="4773396" y="2988597"/>
            <a:ext cx="0" cy="263988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92" name="文字方塊 91">
                <a:extLst>
                  <a:ext uri="{FF2B5EF4-FFF2-40B4-BE49-F238E27FC236}">
                    <a16:creationId xmlns:a16="http://schemas.microsoft.com/office/drawing/2014/main" id="{25954B22-0429-C987-DAD1-A834876404E3}"/>
                  </a:ext>
                </a:extLst>
              </p:cNvPr>
              <p:cNvSpPr txBox="1"/>
              <p:nvPr/>
            </p:nvSpPr>
            <p:spPr>
              <a:xfrm>
                <a:off x="4112205" y="2103134"/>
                <a:ext cx="1472889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TW" sz="1800" b="0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endChr m:val="|"/>
                          <m:ctrlPr>
                            <a:rPr kumimoji="1" lang="en-US" altLang="zh-TW" sz="1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kumimoji="1" lang="en-US" altLang="zh-TW" sz="18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kumimoji="1" lang="en-US" altLang="zh-TW" sz="1800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kumimoji="1" lang="en-US" altLang="zh-TW" sz="1800" b="0" i="1" smtClean="0">
                                  <a:latin typeface="Cambria Math" panose="02040503050406030204" pitchFamily="18" charset="0"/>
                                </a:rPr>
                                <m:t>8</m:t>
                              </m:r>
                            </m:sub>
                          </m:sSub>
                        </m:e>
                      </m:d>
                      <m:sSub>
                        <m:sSubPr>
                          <m:ctrlPr>
                            <a:rPr kumimoji="1" lang="en-US" altLang="zh-TW" sz="1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TW" sz="18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kumimoji="1" lang="en-US" altLang="zh-TW" sz="18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kumimoji="1" lang="en-US" altLang="zh-TW" sz="1800" b="0" i="1" smtClean="0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kumimoji="1" lang="en-US" altLang="zh-TW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TW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kumimoji="1" lang="en-US" altLang="zh-TW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kumimoji="1" lang="en-US" altLang="zh-TW" b="0" i="1" smtClean="0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kumimoji="1" lang="en-US" altLang="zh-TW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TW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kumimoji="1" lang="en-US" altLang="zh-TW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kumimoji="1" lang="en-US" altLang="zh-TW" b="0" i="1" smtClean="0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kumimoji="1" lang="en-US" altLang="zh-TW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TW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kumimoji="1" lang="en-US" altLang="zh-TW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  <m:r>
                        <a:rPr kumimoji="1" lang="en-US" altLang="zh-TW" b="0" i="1" smtClean="0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kumimoji="1" lang="en-US" altLang="zh-TW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TW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kumimoji="1" lang="en-US" altLang="zh-TW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</m:sub>
                      </m:sSub>
                      <m:r>
                        <a:rPr kumimoji="1" lang="en-US" altLang="zh-TW" b="0" i="1" smtClean="0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kumimoji="1" lang="en-US" altLang="zh-TW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TW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kumimoji="1" lang="en-US" altLang="zh-TW" b="0" i="1" smtClean="0">
                              <a:latin typeface="Cambria Math" panose="02040503050406030204" pitchFamily="18" charset="0"/>
                            </a:rPr>
                            <m:t>6</m:t>
                          </m:r>
                        </m:sub>
                      </m:sSub>
                      <m:r>
                        <a:rPr kumimoji="1" lang="en-US" altLang="zh-TW" b="0" i="1" smtClean="0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kumimoji="1" lang="en-US" altLang="zh-TW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TW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kumimoji="1" lang="en-US" altLang="zh-TW" b="0" i="1" smtClean="0">
                              <a:latin typeface="Cambria Math" panose="02040503050406030204" pitchFamily="18" charset="0"/>
                            </a:rPr>
                            <m:t>7</m:t>
                          </m:r>
                        </m:sub>
                      </m:sSub>
                      <m:r>
                        <a:rPr kumimoji="1" lang="en-US" altLang="zh-TW" sz="18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zh-TW" altLang="en-US" dirty="0"/>
              </a:p>
            </p:txBody>
          </p:sp>
        </mc:Choice>
        <mc:Fallback xmlns="">
          <p:sp>
            <p:nvSpPr>
              <p:cNvPr id="92" name="文字方塊 91">
                <a:extLst>
                  <a:ext uri="{FF2B5EF4-FFF2-40B4-BE49-F238E27FC236}">
                    <a16:creationId xmlns:a16="http://schemas.microsoft.com/office/drawing/2014/main" id="{25954B22-0429-C987-DAD1-A834876404E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12205" y="2103134"/>
                <a:ext cx="1472889" cy="369332"/>
              </a:xfrm>
              <a:prstGeom prst="rect">
                <a:avLst/>
              </a:prstGeom>
              <a:blipFill>
                <a:blip r:embed="rId6"/>
                <a:stretch>
                  <a:fillRect r="-99138" b="-20000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3" name="文字方塊 92">
                <a:extLst>
                  <a:ext uri="{FF2B5EF4-FFF2-40B4-BE49-F238E27FC236}">
                    <a16:creationId xmlns:a16="http://schemas.microsoft.com/office/drawing/2014/main" id="{08102A85-73E7-79C7-0BC6-92C2064B442C}"/>
                  </a:ext>
                </a:extLst>
              </p:cNvPr>
              <p:cNvSpPr txBox="1"/>
              <p:nvPr/>
            </p:nvSpPr>
            <p:spPr>
              <a:xfrm>
                <a:off x="3173768" y="2114132"/>
                <a:ext cx="801854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i="1">
                          <a:latin typeface="Cambria Math" panose="02040503050406030204" pitchFamily="18" charset="0"/>
                        </a:rPr>
                        <m:t>⋅⋅⋅</m:t>
                      </m:r>
                    </m:oMath>
                  </m:oMathPara>
                </a14:m>
                <a:endParaRPr lang="zh-TW" altLang="zh-TW" dirty="0"/>
              </a:p>
            </p:txBody>
          </p:sp>
        </mc:Choice>
        <mc:Fallback xmlns="">
          <p:sp>
            <p:nvSpPr>
              <p:cNvPr id="93" name="文字方塊 92">
                <a:extLst>
                  <a:ext uri="{FF2B5EF4-FFF2-40B4-BE49-F238E27FC236}">
                    <a16:creationId xmlns:a16="http://schemas.microsoft.com/office/drawing/2014/main" id="{08102A85-73E7-79C7-0BC6-92C2064B442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73768" y="2114132"/>
                <a:ext cx="801854" cy="369332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4" name="內容版面配置區 2">
            <a:extLst>
              <a:ext uri="{FF2B5EF4-FFF2-40B4-BE49-F238E27FC236}">
                <a16:creationId xmlns:a16="http://schemas.microsoft.com/office/drawing/2014/main" id="{40440265-CFFB-E8B4-A5D9-3D7A3B779179}"/>
              </a:ext>
            </a:extLst>
          </p:cNvPr>
          <p:cNvSpPr txBox="1">
            <a:spLocks/>
          </p:cNvSpPr>
          <p:nvPr/>
        </p:nvSpPr>
        <p:spPr>
          <a:xfrm>
            <a:off x="9974323" y="3974650"/>
            <a:ext cx="1600558" cy="849479"/>
          </a:xfrm>
          <a:prstGeom prst="rect">
            <a:avLst/>
          </a:prstGeom>
        </p:spPr>
        <p:txBody>
          <a:bodyPr vert="horz" lIns="0" tIns="45720" rIns="0" bIns="45720" rtlCol="0" anchor="ctr">
            <a:norm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spcAft>
                <a:spcPts val="600"/>
              </a:spcAft>
              <a:buClr>
                <a:schemeClr val="tx1"/>
              </a:buClr>
              <a:buNone/>
            </a:pPr>
            <a:r>
              <a:rPr kumimoji="1" lang="en-US" altLang="zh-TW" sz="2400" dirty="0">
                <a:ea typeface="Microsoft JhengHei" panose="020B0604030504040204" pitchFamily="34" charset="-120"/>
                <a:cs typeface="+mn-lt"/>
              </a:rPr>
              <a:t>Language Modeling</a:t>
            </a:r>
            <a:endParaRPr kumimoji="1" lang="zh-TW" altLang="en-US" sz="2400" dirty="0"/>
          </a:p>
        </p:txBody>
      </p:sp>
      <p:cxnSp>
        <p:nvCxnSpPr>
          <p:cNvPr id="95" name="直線箭頭接點 94">
            <a:extLst>
              <a:ext uri="{FF2B5EF4-FFF2-40B4-BE49-F238E27FC236}">
                <a16:creationId xmlns:a16="http://schemas.microsoft.com/office/drawing/2014/main" id="{5720D097-1B5B-639C-CB67-AE896FBF1E44}"/>
              </a:ext>
            </a:extLst>
          </p:cNvPr>
          <p:cNvCxnSpPr>
            <a:cxnSpLocks/>
          </p:cNvCxnSpPr>
          <p:nvPr/>
        </p:nvCxnSpPr>
        <p:spPr>
          <a:xfrm flipH="1">
            <a:off x="9449937" y="4399390"/>
            <a:ext cx="524386" cy="0"/>
          </a:xfrm>
          <a:prstGeom prst="straightConnector1">
            <a:avLst/>
          </a:prstGeom>
          <a:ln w="28575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8" name="內容版面配置區 2">
            <a:extLst>
              <a:ext uri="{FF2B5EF4-FFF2-40B4-BE49-F238E27FC236}">
                <a16:creationId xmlns:a16="http://schemas.microsoft.com/office/drawing/2014/main" id="{3997A10C-8705-FBE2-829C-2D256E3636C8}"/>
              </a:ext>
            </a:extLst>
          </p:cNvPr>
          <p:cNvSpPr txBox="1">
            <a:spLocks/>
          </p:cNvSpPr>
          <p:nvPr/>
        </p:nvSpPr>
        <p:spPr>
          <a:xfrm>
            <a:off x="5577978" y="2970387"/>
            <a:ext cx="1600558" cy="849479"/>
          </a:xfrm>
          <a:prstGeom prst="rect">
            <a:avLst/>
          </a:prstGeom>
        </p:spPr>
        <p:txBody>
          <a:bodyPr vert="horz" lIns="0" tIns="45720" rIns="0" bIns="45720" rtlCol="0" anchor="ctr">
            <a:norm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spcAft>
                <a:spcPts val="600"/>
              </a:spcAft>
              <a:buClr>
                <a:schemeClr val="tx1"/>
              </a:buClr>
              <a:buNone/>
            </a:pPr>
            <a:r>
              <a:rPr kumimoji="1" lang="zh-TW" altLang="en-US" sz="2400" b="1" dirty="0">
                <a:ea typeface="Microsoft JhengHei" panose="020B0604030504040204" pitchFamily="34" charset="-120"/>
                <a:cs typeface="+mn-lt"/>
              </a:rPr>
              <a:t>目標函數：</a:t>
            </a:r>
            <a:endParaRPr kumimoji="1" lang="zh-TW" altLang="en-US" sz="2400" b="1" dirty="0"/>
          </a:p>
        </p:txBody>
      </p:sp>
    </p:spTree>
    <p:extLst>
      <p:ext uri="{BB962C8B-B14F-4D97-AF65-F5344CB8AC3E}">
        <p14:creationId xmlns:p14="http://schemas.microsoft.com/office/powerpoint/2010/main" val="13660156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55" grpId="0" animBg="1"/>
      <p:bldP spid="56" grpId="0" animBg="1"/>
      <p:bldP spid="57" grpId="0" animBg="1"/>
      <p:bldP spid="58" grpId="0" animBg="1"/>
      <p:bldP spid="59" grpId="0" animBg="1"/>
      <p:bldP spid="60" grpId="0" animBg="1"/>
      <p:bldP spid="73" grpId="0" animBg="1"/>
      <p:bldP spid="75" grpId="0" animBg="1"/>
      <p:bldP spid="76" grpId="0"/>
      <p:bldP spid="77" grpId="0" animBg="1"/>
      <p:bldP spid="78" grpId="0" animBg="1"/>
      <p:bldP spid="79" grpId="0" animBg="1"/>
      <p:bldP spid="80" grpId="0" animBg="1"/>
      <p:bldP spid="81" grpId="0" animBg="1"/>
      <p:bldP spid="82" grpId="0" animBg="1"/>
      <p:bldP spid="83" grpId="0" animBg="1"/>
      <p:bldP spid="84" grpId="0" animBg="1"/>
      <p:bldP spid="85" grpId="0" animBg="1"/>
      <p:bldP spid="86" grpId="0" animBg="1"/>
      <p:bldP spid="92" grpId="0"/>
      <p:bldP spid="93" grpId="0"/>
      <p:bldP spid="94" grpId="0"/>
      <p:bldP spid="98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F820EFC-5444-6AB2-4FC5-873C06110E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kumimoji="1" lang="en-US" altLang="zh-TW" dirty="0">
                <a:ea typeface="Microsoft JhengHei" panose="020B0604030504040204" pitchFamily="34" charset="-120"/>
              </a:rPr>
              <a:t>Language Modeling</a:t>
            </a:r>
            <a:r>
              <a:rPr kumimoji="1" lang="zh-TW" altLang="en-US" dirty="0">
                <a:ea typeface="Microsoft JhengHei" panose="020B0604030504040204" pitchFamily="34" charset="-120"/>
              </a:rPr>
              <a:t> </a:t>
            </a:r>
            <a:r>
              <a:rPr kumimoji="1" lang="en-US" altLang="zh-TW" dirty="0">
                <a:ea typeface="Microsoft JhengHei" panose="020B0604030504040204" pitchFamily="34" charset="-120"/>
              </a:rPr>
              <a:t>and Cross-entropy (1)</a:t>
            </a:r>
            <a:endParaRPr kumimoji="1" lang="zh-TW" altLang="en-US" dirty="0">
              <a:ea typeface="Microsoft JhengHei" panose="020B0604030504040204" pitchFamily="34" charset="-120"/>
            </a:endParaRP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96DAF791-CFF8-2020-C906-318AAF7F83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9</a:t>
            </a:fld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文字方塊 10">
                <a:extLst>
                  <a:ext uri="{FF2B5EF4-FFF2-40B4-BE49-F238E27FC236}">
                    <a16:creationId xmlns:a16="http://schemas.microsoft.com/office/drawing/2014/main" id="{A4E96B12-CEDD-905F-7E73-187B8CC22592}"/>
                  </a:ext>
                </a:extLst>
              </p:cNvPr>
              <p:cNvSpPr txBox="1"/>
              <p:nvPr/>
            </p:nvSpPr>
            <p:spPr>
              <a:xfrm>
                <a:off x="739219" y="2496318"/>
                <a:ext cx="4713427" cy="126855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TW" sz="2800" b="0" i="0" kern="100" smtClean="0"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log</m:t>
                      </m:r>
                      <m:r>
                        <a:rPr lang="en-US" altLang="zh-TW" sz="2800" b="0" i="1" kern="100" smtClean="0"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⁡(</m:t>
                      </m:r>
                      <m:nary>
                        <m:naryPr>
                          <m:chr m:val="∏"/>
                          <m:ctrlPr>
                            <a:rPr lang="zh-TW" altLang="zh-TW" sz="2800" i="1" kern="100" smtClean="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naryPr>
                        <m:sub>
                          <m:r>
                            <a:rPr lang="en-US" altLang="zh-TW" sz="2800" i="1" kern="100">
                              <a:effectLst/>
                              <a:latin typeface="Cambria Math" panose="020405030504060302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m:t>𝑡</m:t>
                          </m:r>
                          <m:r>
                            <a:rPr lang="en-US" altLang="zh-TW" sz="2800" i="1" kern="100">
                              <a:effectLst/>
                              <a:latin typeface="Cambria Math" panose="020405030504060302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altLang="zh-TW" sz="2800" i="1" kern="100">
                              <a:effectLst/>
                              <a:latin typeface="Cambria Math" panose="020405030504060302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m:t>𝑛</m:t>
                          </m:r>
                        </m:sup>
                        <m:e>
                          <m:r>
                            <a:rPr lang="en-US" altLang="zh-TW" sz="2800" i="1" kern="100">
                              <a:effectLst/>
                              <a:latin typeface="Cambria Math" panose="020405030504060302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m:t>𝑃</m:t>
                          </m:r>
                          <m:d>
                            <m:dPr>
                              <m:ctrlPr>
                                <a:rPr lang="en-US" altLang="zh-TW" sz="2800" i="1" kern="100">
                                  <a:effectLst/>
                                  <a:latin typeface="Cambria Math" panose="02040503050406030204" pitchFamily="18" charset="0"/>
                                  <a:ea typeface="新細明體" panose="02020500000000000000" pitchFamily="18" charset="-12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zh-TW" altLang="zh-TW" sz="2800" i="1" kern="100">
                                      <a:effectLst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sz="2800" i="1" kern="100">
                                      <a:effectLst/>
                                      <a:latin typeface="Cambria Math" panose="02040503050406030204" pitchFamily="18" charset="0"/>
                                      <a:ea typeface="新細明體" panose="02020500000000000000" pitchFamily="18" charset="-120"/>
                                      <a:cs typeface="Times New Roman" panose="020206030504050203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US" altLang="zh-TW" sz="2800" i="1" kern="100">
                                      <a:effectLst/>
                                      <a:latin typeface="Cambria Math" panose="02040503050406030204" pitchFamily="18" charset="0"/>
                                      <a:ea typeface="新細明體" panose="02020500000000000000" pitchFamily="18" charset="-120"/>
                                      <a:cs typeface="Times New Roman" panose="02020603050405020304" pitchFamily="18" charset="0"/>
                                    </a:rPr>
                                    <m:t>𝑡</m:t>
                                  </m:r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lang="zh-TW" altLang="zh-TW" sz="2800" i="1" kern="100">
                                      <a:effectLst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sz="2800" i="1" kern="100">
                                      <a:effectLst/>
                                      <a:latin typeface="Cambria Math" panose="02040503050406030204" pitchFamily="18" charset="0"/>
                                      <a:ea typeface="新細明體" panose="02020500000000000000" pitchFamily="18" charset="-120"/>
                                      <a:cs typeface="Times New Roman" panose="020206030504050203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US" altLang="zh-TW" sz="2800" i="1" kern="100">
                                      <a:effectLst/>
                                      <a:latin typeface="Cambria Math" panose="02040503050406030204" pitchFamily="18" charset="0"/>
                                      <a:ea typeface="新細明體" panose="02020500000000000000" pitchFamily="18" charset="-120"/>
                                      <a:cs typeface="Times New Roman" panose="020206030504050203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altLang="zh-TW" sz="2800" i="1" kern="100">
                                  <a:effectLst/>
                                  <a:latin typeface="Cambria Math" panose="02040503050406030204" pitchFamily="18" charset="0"/>
                                  <a:ea typeface="新細明體" panose="02020500000000000000" pitchFamily="18" charset="-120"/>
                                  <a:cs typeface="Times New Roman" panose="02020603050405020304" pitchFamily="18" charset="0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lang="zh-TW" altLang="zh-TW" sz="2800" i="1" kern="100">
                                      <a:effectLst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sz="2800" i="1" kern="100">
                                      <a:effectLst/>
                                      <a:latin typeface="Cambria Math" panose="02040503050406030204" pitchFamily="18" charset="0"/>
                                      <a:ea typeface="新細明體" panose="02020500000000000000" pitchFamily="18" charset="-120"/>
                                      <a:cs typeface="Times New Roman" panose="020206030504050203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US" altLang="zh-TW" sz="2800" i="1" kern="100">
                                      <a:effectLst/>
                                      <a:latin typeface="Cambria Math" panose="02040503050406030204" pitchFamily="18" charset="0"/>
                                      <a:ea typeface="新細明體" panose="02020500000000000000" pitchFamily="18" charset="-120"/>
                                      <a:cs typeface="Times New Roman" panose="020206030504050203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en-US" altLang="zh-TW" sz="2800" i="1" kern="100">
                                  <a:effectLst/>
                                  <a:latin typeface="Cambria Math" panose="02040503050406030204" pitchFamily="18" charset="0"/>
                                  <a:ea typeface="新細明體" panose="02020500000000000000" pitchFamily="18" charset="-120"/>
                                  <a:cs typeface="Times New Roman" panose="02020603050405020304" pitchFamily="18" charset="0"/>
                                </a:rPr>
                                <m:t>,…,</m:t>
                              </m:r>
                              <m:sSub>
                                <m:sSubPr>
                                  <m:ctrlPr>
                                    <a:rPr lang="zh-TW" altLang="zh-TW" sz="2800" i="1" kern="100">
                                      <a:effectLst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sz="2800" i="1" kern="100">
                                      <a:effectLst/>
                                      <a:latin typeface="Cambria Math" panose="02040503050406030204" pitchFamily="18" charset="0"/>
                                      <a:ea typeface="新細明體" panose="02020500000000000000" pitchFamily="18" charset="-120"/>
                                      <a:cs typeface="Times New Roman" panose="020206030504050203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US" altLang="zh-TW" sz="2800" i="1" kern="100">
                                      <a:effectLst/>
                                      <a:latin typeface="Cambria Math" panose="02040503050406030204" pitchFamily="18" charset="0"/>
                                      <a:ea typeface="新細明體" panose="02020500000000000000" pitchFamily="18" charset="-120"/>
                                      <a:cs typeface="Times New Roman" panose="02020603050405020304" pitchFamily="18" charset="0"/>
                                    </a:rPr>
                                    <m:t>𝑡</m:t>
                                  </m:r>
                                  <m:r>
                                    <a:rPr lang="en-US" altLang="zh-TW" sz="2800" i="1" kern="100">
                                      <a:effectLst/>
                                      <a:latin typeface="Cambria Math" panose="02040503050406030204" pitchFamily="18" charset="0"/>
                                      <a:ea typeface="新細明體" panose="02020500000000000000" pitchFamily="18" charset="-120"/>
                                      <a:cs typeface="Times New Roman" panose="02020603050405020304" pitchFamily="18" charset="0"/>
                                    </a:rPr>
                                    <m:t>−1</m:t>
                                  </m:r>
                                </m:sub>
                              </m:sSub>
                            </m:e>
                          </m:d>
                        </m:e>
                      </m:nary>
                      <m:r>
                        <a:rPr lang="en-US" altLang="zh-TW" sz="2800" b="0" i="1" kern="100" smtClean="0">
                          <a:effectLst/>
                          <a:latin typeface="Cambria Math" panose="020405030504060302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m:t>)</m:t>
                      </m:r>
                    </m:oMath>
                  </m:oMathPara>
                </a14:m>
                <a:endParaRPr lang="zh-TW" altLang="zh-TW" sz="2800" kern="100" dirty="0">
                  <a:effectLst/>
                  <a:latin typeface="Calibri" panose="020F0502020204030204" pitchFamily="34" charset="0"/>
                  <a:ea typeface="新細明體" panose="02020500000000000000" pitchFamily="18" charset="-12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1" name="文字方塊 10">
                <a:extLst>
                  <a:ext uri="{FF2B5EF4-FFF2-40B4-BE49-F238E27FC236}">
                    <a16:creationId xmlns:a16="http://schemas.microsoft.com/office/drawing/2014/main" id="{A4E96B12-CEDD-905F-7E73-187B8CC2259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9219" y="2496318"/>
                <a:ext cx="4713427" cy="1268552"/>
              </a:xfrm>
              <a:prstGeom prst="rect">
                <a:avLst/>
              </a:prstGeom>
              <a:blipFill>
                <a:blip r:embed="rId3"/>
                <a:stretch>
                  <a:fillRect l="-12366" t="-106931" r="-269" b="-162376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95" name="直線箭頭接點 94">
            <a:extLst>
              <a:ext uri="{FF2B5EF4-FFF2-40B4-BE49-F238E27FC236}">
                <a16:creationId xmlns:a16="http://schemas.microsoft.com/office/drawing/2014/main" id="{5720D097-1B5B-639C-CB67-AE896FBF1E44}"/>
              </a:ext>
            </a:extLst>
          </p:cNvPr>
          <p:cNvCxnSpPr>
            <a:cxnSpLocks/>
          </p:cNvCxnSpPr>
          <p:nvPr/>
        </p:nvCxnSpPr>
        <p:spPr>
          <a:xfrm flipH="1">
            <a:off x="5445026" y="4616328"/>
            <a:ext cx="524386" cy="0"/>
          </a:xfrm>
          <a:prstGeom prst="straightConnector1">
            <a:avLst/>
          </a:prstGeom>
          <a:ln w="28575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8" name="內容版面配置區 2">
            <a:extLst>
              <a:ext uri="{FF2B5EF4-FFF2-40B4-BE49-F238E27FC236}">
                <a16:creationId xmlns:a16="http://schemas.microsoft.com/office/drawing/2014/main" id="{3997A10C-8705-FBE2-829C-2D256E3636C8}"/>
              </a:ext>
            </a:extLst>
          </p:cNvPr>
          <p:cNvSpPr txBox="1">
            <a:spLocks/>
          </p:cNvSpPr>
          <p:nvPr/>
        </p:nvSpPr>
        <p:spPr>
          <a:xfrm>
            <a:off x="739218" y="1646839"/>
            <a:ext cx="7498002" cy="849479"/>
          </a:xfrm>
          <a:prstGeom prst="rect">
            <a:avLst/>
          </a:prstGeom>
        </p:spPr>
        <p:txBody>
          <a:bodyPr vert="horz" lIns="0" tIns="45720" rIns="0" bIns="45720" rtlCol="0" anchor="ctr">
            <a:norm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spcAft>
                <a:spcPts val="600"/>
              </a:spcAft>
              <a:buClr>
                <a:schemeClr val="tx1"/>
              </a:buClr>
              <a:buNone/>
            </a:pPr>
            <a:r>
              <a:rPr kumimoji="1" lang="zh-TW" altLang="en-US" sz="2400" dirty="0">
                <a:ea typeface="Microsoft JhengHei" panose="020B0604030504040204" pitchFamily="34" charset="-120"/>
                <a:cs typeface="+mn-lt"/>
              </a:rPr>
              <a:t>為了使語言模型能夠以分類的形式被訓練，</a:t>
            </a:r>
            <a:r>
              <a:rPr kumimoji="1" lang="zh-TW" altLang="en-US" sz="2400" b="1" dirty="0">
                <a:ea typeface="Microsoft JhengHei" panose="020B0604030504040204" pitchFamily="34" charset="-120"/>
                <a:cs typeface="+mn-lt"/>
              </a:rPr>
              <a:t>通常會取</a:t>
            </a:r>
            <a:r>
              <a:rPr kumimoji="1" lang="en-US" altLang="zh-TW" sz="2400" b="1" dirty="0">
                <a:ea typeface="Microsoft JhengHei" panose="020B0604030504040204" pitchFamily="34" charset="-120"/>
                <a:cs typeface="+mn-lt"/>
              </a:rPr>
              <a:t>log</a:t>
            </a:r>
            <a:endParaRPr kumimoji="1" lang="zh-TW" altLang="en-US" sz="24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文字方塊 6">
                <a:extLst>
                  <a:ext uri="{FF2B5EF4-FFF2-40B4-BE49-F238E27FC236}">
                    <a16:creationId xmlns:a16="http://schemas.microsoft.com/office/drawing/2014/main" id="{D1F93492-D1CE-6B84-6ECE-31C4695CF094}"/>
                  </a:ext>
                </a:extLst>
              </p:cNvPr>
              <p:cNvSpPr txBox="1"/>
              <p:nvPr/>
            </p:nvSpPr>
            <p:spPr>
              <a:xfrm>
                <a:off x="739219" y="3949021"/>
                <a:ext cx="4713427" cy="126214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800" b="0" i="1" kern="100" smtClean="0"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nary>
                        <m:naryPr>
                          <m:chr m:val="∑"/>
                          <m:limLoc m:val="undOvr"/>
                          <m:ctrlPr>
                            <a:rPr lang="zh-TW" altLang="zh-TW" sz="28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altLang="zh-TW" sz="2800" i="1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altLang="zh-TW" sz="2800" i="1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altLang="zh-TW" sz="2800" i="1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r>
                            <m:rPr>
                              <m:sty m:val="p"/>
                            </m:rPr>
                            <a:rPr lang="en-US" altLang="zh-TW" sz="2800">
                              <a:latin typeface="Cambria Math" panose="02040503050406030204" pitchFamily="18" charset="0"/>
                            </a:rPr>
                            <m:t>log</m:t>
                          </m:r>
                          <m:r>
                            <a:rPr lang="en-US" altLang="zh-TW" sz="2800" i="1">
                              <a:latin typeface="Cambria Math" panose="02040503050406030204" pitchFamily="18" charset="0"/>
                            </a:rPr>
                            <m:t>𝑃</m:t>
                          </m:r>
                          <m:r>
                            <a:rPr lang="en-US" altLang="zh-TW" sz="2800" i="1">
                              <a:latin typeface="Cambria Math" panose="020405030504060302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zh-TW" altLang="zh-TW" sz="28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2800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altLang="zh-TW" sz="280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  <m:r>
                            <a:rPr lang="en-US" altLang="zh-TW" sz="2800" i="1">
                              <a:latin typeface="Cambria Math" panose="02040503050406030204" pitchFamily="18" charset="0"/>
                            </a:rPr>
                            <m:t>|</m:t>
                          </m:r>
                          <m:sSub>
                            <m:sSubPr>
                              <m:ctrlPr>
                                <a:rPr lang="zh-TW" altLang="zh-TW" sz="28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2800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altLang="zh-TW" sz="28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altLang="zh-TW" sz="2800" i="1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zh-TW" altLang="zh-TW" sz="28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2800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altLang="zh-TW" sz="28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altLang="zh-TW" sz="2800" i="1">
                              <a:latin typeface="Cambria Math" panose="02040503050406030204" pitchFamily="18" charset="0"/>
                            </a:rPr>
                            <m:t>,…,</m:t>
                          </m:r>
                          <m:sSub>
                            <m:sSubPr>
                              <m:ctrlPr>
                                <a:rPr lang="zh-TW" altLang="zh-TW" sz="28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2800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altLang="zh-TW" sz="280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en-US" altLang="zh-TW" sz="2800" i="1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b>
                          </m:sSub>
                          <m:r>
                            <a:rPr lang="en-US" altLang="zh-TW" sz="2800" i="1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nary>
                    </m:oMath>
                  </m:oMathPara>
                </a14:m>
                <a:endParaRPr lang="zh-TW" altLang="zh-TW" sz="2800" dirty="0"/>
              </a:p>
            </p:txBody>
          </p:sp>
        </mc:Choice>
        <mc:Fallback xmlns="">
          <p:sp>
            <p:nvSpPr>
              <p:cNvPr id="7" name="文字方塊 6">
                <a:extLst>
                  <a:ext uri="{FF2B5EF4-FFF2-40B4-BE49-F238E27FC236}">
                    <a16:creationId xmlns:a16="http://schemas.microsoft.com/office/drawing/2014/main" id="{D1F93492-D1CE-6B84-6ECE-31C4695CF09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9219" y="3949021"/>
                <a:ext cx="4713427" cy="1262140"/>
              </a:xfrm>
              <a:prstGeom prst="rect">
                <a:avLst/>
              </a:prstGeom>
              <a:blipFill>
                <a:blip r:embed="rId4"/>
                <a:stretch>
                  <a:fillRect l="-17742" t="-108000" r="-269" b="-164000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內容版面配置區 2">
            <a:extLst>
              <a:ext uri="{FF2B5EF4-FFF2-40B4-BE49-F238E27FC236}">
                <a16:creationId xmlns:a16="http://schemas.microsoft.com/office/drawing/2014/main" id="{E1423BFA-DAA7-5DF8-183E-651D744A69A9}"/>
              </a:ext>
            </a:extLst>
          </p:cNvPr>
          <p:cNvSpPr txBox="1">
            <a:spLocks/>
          </p:cNvSpPr>
          <p:nvPr/>
        </p:nvSpPr>
        <p:spPr>
          <a:xfrm>
            <a:off x="6096000" y="5037253"/>
            <a:ext cx="4894580" cy="962331"/>
          </a:xfrm>
          <a:prstGeom prst="rect">
            <a:avLst/>
          </a:prstGeom>
        </p:spPr>
        <p:txBody>
          <a:bodyPr vert="horz" lIns="0" tIns="45720" rIns="0" bIns="45720" rtlCol="0" anchor="ctr">
            <a:normAutofit lnSpcReduction="10000"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Aft>
                <a:spcPts val="600"/>
              </a:spcAft>
              <a:buClr>
                <a:schemeClr val="tx1"/>
              </a:buClr>
              <a:buNone/>
            </a:pPr>
            <a:r>
              <a:rPr kumimoji="1" lang="zh-TW" altLang="en-US" sz="2400" b="1" dirty="0">
                <a:ea typeface="Microsoft JhengHei" panose="020B0604030504040204" pitchFamily="34" charset="-120"/>
                <a:cs typeface="+mn-lt"/>
              </a:rPr>
              <a:t>加上</a:t>
            </a:r>
            <a:r>
              <a:rPr kumimoji="1" lang="zh-TW" altLang="en-US" sz="2400" b="1" u="sng" dirty="0">
                <a:ea typeface="Microsoft JhengHei" panose="020B0604030504040204" pitchFamily="34" charset="-120"/>
                <a:cs typeface="+mn-lt"/>
              </a:rPr>
              <a:t>負號</a:t>
            </a:r>
            <a:r>
              <a:rPr kumimoji="1" lang="zh-TW" altLang="en-US" sz="2400" b="1" dirty="0">
                <a:ea typeface="Microsoft JhengHei" panose="020B0604030504040204" pitchFamily="34" charset="-120"/>
                <a:cs typeface="+mn-lt"/>
              </a:rPr>
              <a:t>之後就是</a:t>
            </a:r>
            <a:r>
              <a:rPr kumimoji="1" lang="en-US" altLang="zh-TW" sz="2400" b="1" dirty="0">
                <a:ea typeface="Microsoft JhengHei" panose="020B0604030504040204" pitchFamily="34" charset="-120"/>
                <a:cs typeface="+mn-lt"/>
              </a:rPr>
              <a:t> Cross-entropy</a:t>
            </a:r>
          </a:p>
          <a:p>
            <a:pPr marL="0" indent="0">
              <a:spcAft>
                <a:spcPts val="600"/>
              </a:spcAft>
              <a:buClr>
                <a:schemeClr val="tx1"/>
              </a:buClr>
              <a:buNone/>
            </a:pPr>
            <a:r>
              <a:rPr kumimoji="1" lang="en-US" altLang="zh-TW" sz="2400" b="1" dirty="0"/>
              <a:t>(loss </a:t>
            </a:r>
            <a:r>
              <a:rPr kumimoji="1" lang="zh-TW" altLang="en-US" sz="2400" b="1" dirty="0"/>
              <a:t>越小越好</a:t>
            </a:r>
            <a:r>
              <a:rPr kumimoji="1" lang="en-US" altLang="zh-TW" sz="2400" b="1" dirty="0"/>
              <a:t>)</a:t>
            </a:r>
            <a:endParaRPr kumimoji="1" lang="zh-TW" altLang="en-US" sz="2400" b="1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0906F56E-FEB4-6F49-7B21-31D039014B3D}"/>
              </a:ext>
            </a:extLst>
          </p:cNvPr>
          <p:cNvSpPr txBox="1">
            <a:spLocks/>
          </p:cNvSpPr>
          <p:nvPr/>
        </p:nvSpPr>
        <p:spPr>
          <a:xfrm>
            <a:off x="6112328" y="4228912"/>
            <a:ext cx="4894580" cy="849479"/>
          </a:xfrm>
          <a:prstGeom prst="rect">
            <a:avLst/>
          </a:prstGeom>
        </p:spPr>
        <p:txBody>
          <a:bodyPr vert="horz" lIns="0" tIns="45720" rIns="0" bIns="45720" rtlCol="0" anchor="ctr">
            <a:norm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Aft>
                <a:spcPts val="600"/>
              </a:spcAft>
              <a:buClr>
                <a:schemeClr val="tx1"/>
              </a:buClr>
              <a:buNone/>
            </a:pPr>
            <a:r>
              <a:rPr kumimoji="1" lang="zh-TW" altLang="en-US" sz="2400" dirty="0">
                <a:solidFill>
                  <a:srgbClr val="FF0000"/>
                </a:solidFill>
                <a:ea typeface="Microsoft JhengHei" panose="020B0604030504040204" pitchFamily="34" charset="-120"/>
                <a:cs typeface="+mn-lt"/>
              </a:rPr>
              <a:t>越大越好</a:t>
            </a:r>
            <a:endParaRPr kumimoji="1" lang="zh-TW" altLang="en-US" sz="24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866349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98" grpId="0"/>
      <p:bldP spid="7" grpId="0"/>
      <p:bldP spid="9" grpId="0"/>
      <p:bldP spid="3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6E761485-2411-8B51-3EAF-FB260B391C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10</a:t>
            </a:fld>
            <a:endParaRPr lang="en-US" dirty="0"/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5BDFD992-EE9B-CF47-1F33-3C8A5E803DCF}"/>
              </a:ext>
            </a:extLst>
          </p:cNvPr>
          <p:cNvSpPr txBox="1"/>
          <p:nvPr/>
        </p:nvSpPr>
        <p:spPr>
          <a:xfrm>
            <a:off x="5387735" y="2705453"/>
            <a:ext cx="1726651" cy="28050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kumimoji="1" lang="en-US" altLang="zh-TW" sz="2400" dirty="0">
                <a:ea typeface="Microsoft JhengHei" panose="020B0604030504040204" pitchFamily="34" charset="-120"/>
              </a:rPr>
              <a:t>CGU</a:t>
            </a:r>
          </a:p>
          <a:p>
            <a:pPr>
              <a:lnSpc>
                <a:spcPct val="150000"/>
              </a:lnSpc>
            </a:pPr>
            <a:r>
              <a:rPr kumimoji="1" lang="en-US" altLang="zh-TW" sz="2400" dirty="0"/>
              <a:t>I</a:t>
            </a:r>
          </a:p>
          <a:p>
            <a:pPr>
              <a:lnSpc>
                <a:spcPct val="150000"/>
              </a:lnSpc>
            </a:pPr>
            <a:r>
              <a:rPr kumimoji="1" lang="en-US" altLang="zh-TW" sz="2400" dirty="0">
                <a:ea typeface="Microsoft JhengHei" panose="020B0604030504040204" pitchFamily="34" charset="-120"/>
              </a:rPr>
              <a:t>love</a:t>
            </a:r>
          </a:p>
          <a:p>
            <a:pPr>
              <a:lnSpc>
                <a:spcPct val="150000"/>
              </a:lnSpc>
            </a:pPr>
            <a:r>
              <a:rPr kumimoji="1" lang="en-US" altLang="zh-TW" sz="2400" dirty="0">
                <a:ea typeface="Microsoft JhengHei" panose="020B0604030504040204" pitchFamily="34" charset="-120"/>
              </a:rPr>
              <a:t>hate</a:t>
            </a:r>
          </a:p>
          <a:p>
            <a:pPr>
              <a:lnSpc>
                <a:spcPct val="150000"/>
              </a:lnSpc>
            </a:pPr>
            <a:r>
              <a:rPr kumimoji="1" lang="en-US" altLang="zh-TW" sz="2400" dirty="0">
                <a:ea typeface="Microsoft JhengHei" panose="020B0604030504040204" pitchFamily="34" charset="-120"/>
              </a:rPr>
              <a:t>like</a:t>
            </a:r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05E4B2C0-E952-28BB-43AD-4AF71E36A6A7}"/>
              </a:ext>
            </a:extLst>
          </p:cNvPr>
          <p:cNvSpPr txBox="1"/>
          <p:nvPr/>
        </p:nvSpPr>
        <p:spPr>
          <a:xfrm>
            <a:off x="5225184" y="2274496"/>
            <a:ext cx="101865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sz="2400" dirty="0">
                <a:solidFill>
                  <a:srgbClr val="0070C0"/>
                </a:solidFill>
              </a:rPr>
              <a:t>Token</a:t>
            </a:r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EC92E2BA-E5A3-6D18-67DE-7FED3D7A6188}"/>
              </a:ext>
            </a:extLst>
          </p:cNvPr>
          <p:cNvSpPr txBox="1"/>
          <p:nvPr/>
        </p:nvSpPr>
        <p:spPr>
          <a:xfrm>
            <a:off x="6415493" y="2275339"/>
            <a:ext cx="101865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sz="2400" dirty="0">
                <a:solidFill>
                  <a:srgbClr val="0070C0"/>
                </a:solidFill>
              </a:rPr>
              <a:t>Logits</a:t>
            </a:r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B4743197-8878-762F-10B4-CFFF9CD39611}"/>
              </a:ext>
            </a:extLst>
          </p:cNvPr>
          <p:cNvSpPr txBox="1"/>
          <p:nvPr/>
        </p:nvSpPr>
        <p:spPr>
          <a:xfrm>
            <a:off x="3777816" y="3254186"/>
            <a:ext cx="1296322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sz="2000" dirty="0">
                <a:ea typeface="Microsoft JhengHei" panose="020B0604030504040204" pitchFamily="34" charset="-120"/>
              </a:rPr>
              <a:t>Example</a:t>
            </a:r>
          </a:p>
          <a:p>
            <a:pPr algn="ctr"/>
            <a:r>
              <a:rPr kumimoji="1" lang="en-US" altLang="zh-TW" sz="2000" dirty="0">
                <a:ea typeface="Microsoft JhengHei" panose="020B0604030504040204" pitchFamily="34" charset="-120"/>
              </a:rPr>
              <a:t>Vocab</a:t>
            </a:r>
          </a:p>
          <a:p>
            <a:pPr algn="ctr"/>
            <a:r>
              <a:rPr kumimoji="1" lang="en-US" altLang="zh-TW" sz="2000" dirty="0">
                <a:ea typeface="Microsoft JhengHei" panose="020B0604030504040204" pitchFamily="34" charset="-120"/>
              </a:rPr>
              <a:t>(</a:t>
            </a:r>
            <a:r>
              <a:rPr kumimoji="1" lang="zh-TW" altLang="en-US" sz="2000" dirty="0">
                <a:ea typeface="Microsoft JhengHei" panose="020B0604030504040204" pitchFamily="34" charset="-120"/>
              </a:rPr>
              <a:t>假設只有</a:t>
            </a:r>
            <a:r>
              <a:rPr kumimoji="1" lang="en-US" altLang="zh-TW" sz="2000" dirty="0">
                <a:ea typeface="Microsoft JhengHei" panose="020B0604030504040204" pitchFamily="34" charset="-120"/>
              </a:rPr>
              <a:t>5</a:t>
            </a:r>
            <a:r>
              <a:rPr kumimoji="1" lang="zh-TW" altLang="en-US" sz="2000" dirty="0">
                <a:ea typeface="Microsoft JhengHei" panose="020B0604030504040204" pitchFamily="34" charset="-120"/>
              </a:rPr>
              <a:t>個字</a:t>
            </a:r>
            <a:r>
              <a:rPr kumimoji="1" lang="en-US" altLang="zh-TW" sz="2000" dirty="0">
                <a:ea typeface="Microsoft JhengHei" panose="020B0604030504040204" pitchFamily="34" charset="-120"/>
              </a:rPr>
              <a:t>)</a:t>
            </a:r>
          </a:p>
        </p:txBody>
      </p:sp>
      <p:sp>
        <p:nvSpPr>
          <p:cNvPr id="16" name="文字方塊 15">
            <a:extLst>
              <a:ext uri="{FF2B5EF4-FFF2-40B4-BE49-F238E27FC236}">
                <a16:creationId xmlns:a16="http://schemas.microsoft.com/office/drawing/2014/main" id="{4A9B04ED-8AED-AF03-3644-47CD75ABA4D8}"/>
              </a:ext>
            </a:extLst>
          </p:cNvPr>
          <p:cNvSpPr txBox="1"/>
          <p:nvPr/>
        </p:nvSpPr>
        <p:spPr>
          <a:xfrm>
            <a:off x="7563400" y="2736161"/>
            <a:ext cx="1246720" cy="28050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kumimoji="1" lang="en-US" altLang="zh-TW" sz="2400" dirty="0">
                <a:solidFill>
                  <a:srgbClr val="FF0000"/>
                </a:solidFill>
              </a:rPr>
              <a:t>0.78</a:t>
            </a:r>
          </a:p>
          <a:p>
            <a:pPr algn="ctr">
              <a:lnSpc>
                <a:spcPct val="150000"/>
              </a:lnSpc>
            </a:pPr>
            <a:r>
              <a:rPr kumimoji="1" lang="en-US" altLang="zh-TW" sz="2400" dirty="0">
                <a:solidFill>
                  <a:srgbClr val="FF0000"/>
                </a:solidFill>
              </a:rPr>
              <a:t>0.11</a:t>
            </a:r>
          </a:p>
          <a:p>
            <a:pPr algn="ctr">
              <a:lnSpc>
                <a:spcPct val="150000"/>
              </a:lnSpc>
            </a:pPr>
            <a:r>
              <a:rPr kumimoji="1" lang="en-US" altLang="zh-TW" sz="2400" dirty="0">
                <a:solidFill>
                  <a:srgbClr val="FF0000"/>
                </a:solidFill>
              </a:rPr>
              <a:t>0.03</a:t>
            </a:r>
          </a:p>
          <a:p>
            <a:pPr algn="ctr">
              <a:lnSpc>
                <a:spcPct val="150000"/>
              </a:lnSpc>
            </a:pPr>
            <a:r>
              <a:rPr kumimoji="1" lang="en-US" altLang="zh-TW" sz="2400" dirty="0">
                <a:solidFill>
                  <a:srgbClr val="FF0000"/>
                </a:solidFill>
              </a:rPr>
              <a:t>0.02</a:t>
            </a:r>
          </a:p>
          <a:p>
            <a:pPr algn="ctr">
              <a:lnSpc>
                <a:spcPct val="150000"/>
              </a:lnSpc>
            </a:pPr>
            <a:r>
              <a:rPr kumimoji="1" lang="en-US" altLang="zh-TW" sz="2400" dirty="0">
                <a:solidFill>
                  <a:srgbClr val="FF0000"/>
                </a:solidFill>
              </a:rPr>
              <a:t>0.06</a:t>
            </a:r>
          </a:p>
        </p:txBody>
      </p:sp>
      <p:sp>
        <p:nvSpPr>
          <p:cNvPr id="18" name="標題 1">
            <a:extLst>
              <a:ext uri="{FF2B5EF4-FFF2-40B4-BE49-F238E27FC236}">
                <a16:creationId xmlns:a16="http://schemas.microsoft.com/office/drawing/2014/main" id="{86B0476A-0ABE-50C3-447B-72A2519D22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3143" y="356088"/>
            <a:ext cx="10918371" cy="1033416"/>
          </a:xfrm>
        </p:spPr>
        <p:txBody>
          <a:bodyPr>
            <a:normAutofit fontScale="90000"/>
          </a:bodyPr>
          <a:lstStyle/>
          <a:p>
            <a:r>
              <a:rPr kumimoji="1" lang="en-US" altLang="zh-TW" dirty="0">
                <a:ea typeface="Microsoft JhengHei" panose="020B0604030504040204" pitchFamily="34" charset="-120"/>
              </a:rPr>
              <a:t>Language Modeling</a:t>
            </a:r>
            <a:r>
              <a:rPr kumimoji="1" lang="zh-TW" altLang="en-US" dirty="0">
                <a:ea typeface="Microsoft JhengHei" panose="020B0604030504040204" pitchFamily="34" charset="-120"/>
              </a:rPr>
              <a:t> </a:t>
            </a:r>
            <a:r>
              <a:rPr kumimoji="1" lang="en-US" altLang="zh-TW" dirty="0">
                <a:ea typeface="Microsoft JhengHei" panose="020B0604030504040204" pitchFamily="34" charset="-120"/>
              </a:rPr>
              <a:t>and Cross-entropy (2)</a:t>
            </a:r>
            <a:endParaRPr kumimoji="1" lang="zh-TW" altLang="en-US" dirty="0">
              <a:ea typeface="Microsoft JhengHei" panose="020B0604030504040204" pitchFamily="34" charset="-120"/>
            </a:endParaRPr>
          </a:p>
        </p:txBody>
      </p:sp>
      <p:sp>
        <p:nvSpPr>
          <p:cNvPr id="19" name="文字方塊 18">
            <a:extLst>
              <a:ext uri="{FF2B5EF4-FFF2-40B4-BE49-F238E27FC236}">
                <a16:creationId xmlns:a16="http://schemas.microsoft.com/office/drawing/2014/main" id="{7AFCADAD-B29A-3DDF-772F-9FCC70A7124A}"/>
              </a:ext>
            </a:extLst>
          </p:cNvPr>
          <p:cNvSpPr txBox="1"/>
          <p:nvPr/>
        </p:nvSpPr>
        <p:spPr>
          <a:xfrm>
            <a:off x="7460792" y="2263839"/>
            <a:ext cx="140617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zh-TW" altLang="en-US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取 </a:t>
            </a:r>
            <a:r>
              <a:rPr kumimoji="1" lang="en-US" altLang="zh-TW" dirty="0" err="1"/>
              <a:t>Softmax</a:t>
            </a:r>
            <a:r>
              <a:rPr kumimoji="1" lang="zh-TW" altLang="en-US" dirty="0"/>
              <a:t> </a:t>
            </a:r>
            <a:r>
              <a:rPr kumimoji="1" lang="zh-TW" altLang="en-US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後之機率</a:t>
            </a:r>
          </a:p>
        </p:txBody>
      </p:sp>
      <p:sp>
        <p:nvSpPr>
          <p:cNvPr id="20" name="文字方塊 19">
            <a:extLst>
              <a:ext uri="{FF2B5EF4-FFF2-40B4-BE49-F238E27FC236}">
                <a16:creationId xmlns:a16="http://schemas.microsoft.com/office/drawing/2014/main" id="{70CA918D-83CC-97FE-148A-5B38D4CE4A86}"/>
              </a:ext>
            </a:extLst>
          </p:cNvPr>
          <p:cNvSpPr txBox="1"/>
          <p:nvPr/>
        </p:nvSpPr>
        <p:spPr>
          <a:xfrm>
            <a:off x="8665229" y="2336121"/>
            <a:ext cx="140617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zh-TW" altLang="en-US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正確答案</a:t>
            </a:r>
            <a:endParaRPr kumimoji="1" lang="zh-TW" altLang="en-US" dirty="0"/>
          </a:p>
        </p:txBody>
      </p:sp>
      <p:sp>
        <p:nvSpPr>
          <p:cNvPr id="21" name="文字方塊 20">
            <a:extLst>
              <a:ext uri="{FF2B5EF4-FFF2-40B4-BE49-F238E27FC236}">
                <a16:creationId xmlns:a16="http://schemas.microsoft.com/office/drawing/2014/main" id="{F796932E-DA86-A834-22A2-F18A1200C0B1}"/>
              </a:ext>
            </a:extLst>
          </p:cNvPr>
          <p:cNvSpPr txBox="1"/>
          <p:nvPr/>
        </p:nvSpPr>
        <p:spPr>
          <a:xfrm>
            <a:off x="713500" y="1994652"/>
            <a:ext cx="313319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dirty="0">
                <a:ea typeface="Microsoft JhengHei" panose="020B0604030504040204" pitchFamily="34" charset="-120"/>
              </a:rPr>
              <a:t>Language modeling</a:t>
            </a:r>
            <a:r>
              <a:rPr kumimoji="1" lang="zh-TW" altLang="en-US" dirty="0">
                <a:ea typeface="Microsoft JhengHei" panose="020B0604030504040204" pitchFamily="34" charset="-120"/>
              </a:rPr>
              <a:t> 在</a:t>
            </a:r>
            <a:r>
              <a:rPr kumimoji="1" lang="en-US" altLang="zh-TW" dirty="0">
                <a:ea typeface="Microsoft JhengHei" panose="020B0604030504040204" pitchFamily="34" charset="-120"/>
              </a:rPr>
              <a:t> t </a:t>
            </a:r>
            <a:r>
              <a:rPr kumimoji="1" lang="zh-TW" altLang="en-US" dirty="0">
                <a:ea typeface="Microsoft JhengHei" panose="020B0604030504040204" pitchFamily="34" charset="-120"/>
              </a:rPr>
              <a:t>時間點的正確答案是 </a:t>
            </a:r>
            <a:r>
              <a:rPr kumimoji="1" lang="en-US" altLang="zh-TW" dirty="0">
                <a:ea typeface="Microsoft JhengHei" panose="020B0604030504040204" pitchFamily="34" charset="-120"/>
              </a:rPr>
              <a:t>t+1</a:t>
            </a:r>
            <a:r>
              <a:rPr kumimoji="1" lang="zh-TW" altLang="en-US" dirty="0">
                <a:ea typeface="Microsoft JhengHei" panose="020B0604030504040204" pitchFamily="34" charset="-120"/>
              </a:rPr>
              <a:t> 的字詞</a:t>
            </a:r>
          </a:p>
        </p:txBody>
      </p:sp>
      <p:sp>
        <p:nvSpPr>
          <p:cNvPr id="22" name="文字方塊 21">
            <a:extLst>
              <a:ext uri="{FF2B5EF4-FFF2-40B4-BE49-F238E27FC236}">
                <a16:creationId xmlns:a16="http://schemas.microsoft.com/office/drawing/2014/main" id="{5D7E8F12-4FAA-5840-CBE1-E7818E26BEE0}"/>
              </a:ext>
            </a:extLst>
          </p:cNvPr>
          <p:cNvSpPr txBox="1"/>
          <p:nvPr/>
        </p:nvSpPr>
        <p:spPr>
          <a:xfrm>
            <a:off x="1318875" y="3144752"/>
            <a:ext cx="1726651" cy="5890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kumimoji="1" lang="en-US" altLang="zh-TW" sz="2400" dirty="0"/>
              <a:t>I</a:t>
            </a:r>
            <a:r>
              <a:rPr kumimoji="1" lang="zh-TW" altLang="en-US" sz="2400" dirty="0"/>
              <a:t> </a:t>
            </a:r>
            <a:r>
              <a:rPr kumimoji="1" lang="en-US" altLang="zh-TW" sz="2400" dirty="0"/>
              <a:t>love </a:t>
            </a:r>
            <a:r>
              <a:rPr kumimoji="1" lang="en-US" altLang="zh-TW" sz="2400" dirty="0">
                <a:solidFill>
                  <a:schemeClr val="bg1">
                    <a:lumMod val="75000"/>
                  </a:schemeClr>
                </a:solidFill>
                <a:ea typeface="Microsoft JhengHei" panose="020B0604030504040204" pitchFamily="34" charset="-120"/>
              </a:rPr>
              <a:t>CGU</a:t>
            </a:r>
          </a:p>
        </p:txBody>
      </p:sp>
      <p:sp>
        <p:nvSpPr>
          <p:cNvPr id="23" name="文字方塊 22">
            <a:extLst>
              <a:ext uri="{FF2B5EF4-FFF2-40B4-BE49-F238E27FC236}">
                <a16:creationId xmlns:a16="http://schemas.microsoft.com/office/drawing/2014/main" id="{909D7DF4-B675-533A-657A-001DDECC3B07}"/>
              </a:ext>
            </a:extLst>
          </p:cNvPr>
          <p:cNvSpPr txBox="1"/>
          <p:nvPr/>
        </p:nvSpPr>
        <p:spPr>
          <a:xfrm>
            <a:off x="1667528" y="3689641"/>
            <a:ext cx="3363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dirty="0">
                <a:ea typeface="Microsoft JhengHei" panose="020B0604030504040204" pitchFamily="34" charset="-120"/>
              </a:rPr>
              <a:t>t</a:t>
            </a:r>
            <a:endParaRPr kumimoji="1" lang="zh-TW" altLang="en-US" dirty="0">
              <a:ea typeface="Microsoft JhengHei" panose="020B0604030504040204" pitchFamily="34" charset="-120"/>
            </a:endParaRPr>
          </a:p>
        </p:txBody>
      </p:sp>
      <p:sp>
        <p:nvSpPr>
          <p:cNvPr id="24" name="文字方塊 23">
            <a:extLst>
              <a:ext uri="{FF2B5EF4-FFF2-40B4-BE49-F238E27FC236}">
                <a16:creationId xmlns:a16="http://schemas.microsoft.com/office/drawing/2014/main" id="{4270F0F5-B102-51A9-70CB-7EE46B4E2C88}"/>
              </a:ext>
            </a:extLst>
          </p:cNvPr>
          <p:cNvSpPr txBox="1"/>
          <p:nvPr/>
        </p:nvSpPr>
        <p:spPr>
          <a:xfrm>
            <a:off x="2182200" y="3689641"/>
            <a:ext cx="5939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dirty="0">
                <a:ea typeface="Microsoft JhengHei" panose="020B0604030504040204" pitchFamily="34" charset="-120"/>
              </a:rPr>
              <a:t>t+1</a:t>
            </a:r>
            <a:endParaRPr kumimoji="1" lang="zh-TW" altLang="en-US" dirty="0">
              <a:ea typeface="Microsoft JhengHei" panose="020B0604030504040204" pitchFamily="34" charset="-120"/>
            </a:endParaRPr>
          </a:p>
        </p:txBody>
      </p:sp>
      <p:sp>
        <p:nvSpPr>
          <p:cNvPr id="25" name="文字方塊 24">
            <a:extLst>
              <a:ext uri="{FF2B5EF4-FFF2-40B4-BE49-F238E27FC236}">
                <a16:creationId xmlns:a16="http://schemas.microsoft.com/office/drawing/2014/main" id="{CED41630-608F-C98E-E884-FCDFBA35889F}"/>
              </a:ext>
            </a:extLst>
          </p:cNvPr>
          <p:cNvSpPr txBox="1"/>
          <p:nvPr/>
        </p:nvSpPr>
        <p:spPr>
          <a:xfrm>
            <a:off x="6360759" y="2718047"/>
            <a:ext cx="1246720" cy="28050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kumimoji="1" lang="en-US" altLang="zh-TW" sz="2400" dirty="0"/>
              <a:t>0.0011</a:t>
            </a:r>
          </a:p>
          <a:p>
            <a:pPr>
              <a:lnSpc>
                <a:spcPct val="150000"/>
              </a:lnSpc>
            </a:pPr>
            <a:r>
              <a:rPr kumimoji="1" lang="en-US" altLang="zh-TW" sz="2400" dirty="0"/>
              <a:t>0.0012</a:t>
            </a:r>
          </a:p>
          <a:p>
            <a:pPr>
              <a:lnSpc>
                <a:spcPct val="150000"/>
              </a:lnSpc>
            </a:pPr>
            <a:r>
              <a:rPr kumimoji="1" lang="en-US" altLang="zh-TW" sz="2400" dirty="0"/>
              <a:t>0.0013</a:t>
            </a:r>
          </a:p>
          <a:p>
            <a:pPr>
              <a:lnSpc>
                <a:spcPct val="150000"/>
              </a:lnSpc>
            </a:pPr>
            <a:r>
              <a:rPr kumimoji="1" lang="en-US" altLang="zh-TW" sz="2400" dirty="0"/>
              <a:t>0.0014</a:t>
            </a:r>
          </a:p>
          <a:p>
            <a:pPr>
              <a:lnSpc>
                <a:spcPct val="150000"/>
              </a:lnSpc>
            </a:pPr>
            <a:r>
              <a:rPr kumimoji="1" lang="en-US" altLang="zh-TW" sz="2400" dirty="0"/>
              <a:t>0.0015</a:t>
            </a:r>
          </a:p>
        </p:txBody>
      </p:sp>
      <p:sp>
        <p:nvSpPr>
          <p:cNvPr id="26" name="文字方塊 25">
            <a:extLst>
              <a:ext uri="{FF2B5EF4-FFF2-40B4-BE49-F238E27FC236}">
                <a16:creationId xmlns:a16="http://schemas.microsoft.com/office/drawing/2014/main" id="{A368F85E-C0C3-1861-8E3A-112234521778}"/>
              </a:ext>
            </a:extLst>
          </p:cNvPr>
          <p:cNvSpPr txBox="1"/>
          <p:nvPr/>
        </p:nvSpPr>
        <p:spPr>
          <a:xfrm>
            <a:off x="8704649" y="2736160"/>
            <a:ext cx="1246720" cy="28050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kumimoji="1" lang="en-US" altLang="zh-TW" sz="2400" dirty="0">
                <a:solidFill>
                  <a:srgbClr val="FF0000"/>
                </a:solidFill>
              </a:rPr>
              <a:t>1</a:t>
            </a:r>
          </a:p>
          <a:p>
            <a:pPr algn="ctr">
              <a:lnSpc>
                <a:spcPct val="150000"/>
              </a:lnSpc>
            </a:pPr>
            <a:r>
              <a:rPr kumimoji="1" lang="en-US" altLang="zh-TW" sz="2400" dirty="0">
                <a:solidFill>
                  <a:srgbClr val="FF0000"/>
                </a:solidFill>
              </a:rPr>
              <a:t>0</a:t>
            </a:r>
          </a:p>
          <a:p>
            <a:pPr algn="ctr">
              <a:lnSpc>
                <a:spcPct val="150000"/>
              </a:lnSpc>
            </a:pPr>
            <a:r>
              <a:rPr kumimoji="1" lang="en-US" altLang="zh-TW" sz="2400" dirty="0">
                <a:solidFill>
                  <a:srgbClr val="FF0000"/>
                </a:solidFill>
              </a:rPr>
              <a:t>0</a:t>
            </a:r>
          </a:p>
          <a:p>
            <a:pPr algn="ctr">
              <a:lnSpc>
                <a:spcPct val="150000"/>
              </a:lnSpc>
            </a:pPr>
            <a:r>
              <a:rPr kumimoji="1" lang="en-US" altLang="zh-TW" sz="2400" dirty="0">
                <a:solidFill>
                  <a:srgbClr val="FF0000"/>
                </a:solidFill>
              </a:rPr>
              <a:t>0</a:t>
            </a:r>
          </a:p>
          <a:p>
            <a:pPr algn="ctr">
              <a:lnSpc>
                <a:spcPct val="150000"/>
              </a:lnSpc>
            </a:pPr>
            <a:r>
              <a:rPr kumimoji="1" lang="en-US" altLang="zh-TW" sz="2400" dirty="0">
                <a:solidFill>
                  <a:srgbClr val="FF0000"/>
                </a:solidFill>
              </a:rPr>
              <a:t>0</a:t>
            </a:r>
          </a:p>
        </p:txBody>
      </p:sp>
      <p:sp>
        <p:nvSpPr>
          <p:cNvPr id="27" name="文字方塊 26">
            <a:extLst>
              <a:ext uri="{FF2B5EF4-FFF2-40B4-BE49-F238E27FC236}">
                <a16:creationId xmlns:a16="http://schemas.microsoft.com/office/drawing/2014/main" id="{3B916830-494D-4054-555A-596CE8689BB5}"/>
              </a:ext>
            </a:extLst>
          </p:cNvPr>
          <p:cNvSpPr txBox="1"/>
          <p:nvPr/>
        </p:nvSpPr>
        <p:spPr>
          <a:xfrm>
            <a:off x="10349263" y="3866896"/>
            <a:ext cx="106377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dirty="0">
                <a:latin typeface="Times New Roman" panose="02020603050405020304" pitchFamily="18" charset="0"/>
                <a:ea typeface="Microsoft JhengHei" panose="020B0604030504040204" pitchFamily="34" charset="-120"/>
                <a:cs typeface="Times New Roman" panose="02020603050405020304" pitchFamily="18" charset="0"/>
              </a:rPr>
              <a:t>Cross-entropy</a:t>
            </a:r>
            <a:endParaRPr kumimoji="1" lang="zh-TW" altLang="en-US" dirty="0">
              <a:latin typeface="Times New Roman" panose="02020603050405020304" pitchFamily="18" charset="0"/>
              <a:ea typeface="Microsoft JhengHei" panose="020B0604030504040204" pitchFamily="34" charset="-120"/>
              <a:cs typeface="Times New Roman" panose="02020603050405020304" pitchFamily="18" charset="0"/>
            </a:endParaRPr>
          </a:p>
        </p:txBody>
      </p:sp>
      <p:sp>
        <p:nvSpPr>
          <p:cNvPr id="28" name="向右箭號 27">
            <a:extLst>
              <a:ext uri="{FF2B5EF4-FFF2-40B4-BE49-F238E27FC236}">
                <a16:creationId xmlns:a16="http://schemas.microsoft.com/office/drawing/2014/main" id="{1030D4C7-9CEA-7CCB-3917-A565B274C52E}"/>
              </a:ext>
            </a:extLst>
          </p:cNvPr>
          <p:cNvSpPr/>
          <p:nvPr/>
        </p:nvSpPr>
        <p:spPr>
          <a:xfrm>
            <a:off x="9894518" y="4031233"/>
            <a:ext cx="322729" cy="317658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33888212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7" grpId="0"/>
      <p:bldP spid="8" grpId="0"/>
      <p:bldP spid="9" grpId="0"/>
      <p:bldP spid="16" grpId="0"/>
      <p:bldP spid="19" grpId="0"/>
      <p:bldP spid="20" grpId="0"/>
      <p:bldP spid="22" grpId="0"/>
      <p:bldP spid="23" grpId="0"/>
      <p:bldP spid="24" grpId="0"/>
      <p:bldP spid="25" grpId="0"/>
      <p:bldP spid="26" grpId="0"/>
      <p:bldP spid="27" grpId="0"/>
      <p:bldP spid="28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234D9DE-E048-4FF3-1B33-51FA3D442D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Language Models </a:t>
            </a:r>
            <a:r>
              <a:rPr kumimoji="1" lang="zh-TW" altLang="en-US" dirty="0"/>
              <a:t>終究是 </a:t>
            </a:r>
            <a:r>
              <a:rPr kumimoji="1" lang="en-US" altLang="zh-TW" dirty="0"/>
              <a:t>left-to-right</a:t>
            </a:r>
            <a:endParaRPr kumimoji="1"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8AED01C8-2872-5C1F-76D2-FE9BFAA780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11</a:t>
            </a:fld>
            <a:endParaRPr lang="en-US" dirty="0"/>
          </a:p>
        </p:txBody>
      </p:sp>
      <p:sp>
        <p:nvSpPr>
          <p:cNvPr id="5" name="圓角矩形 4">
            <a:extLst>
              <a:ext uri="{FF2B5EF4-FFF2-40B4-BE49-F238E27FC236}">
                <a16:creationId xmlns:a16="http://schemas.microsoft.com/office/drawing/2014/main" id="{C7E11F5A-D18F-EF3C-CEBF-6A742C2F4538}"/>
              </a:ext>
            </a:extLst>
          </p:cNvPr>
          <p:cNvSpPr/>
          <p:nvPr/>
        </p:nvSpPr>
        <p:spPr>
          <a:xfrm>
            <a:off x="1705598" y="4233397"/>
            <a:ext cx="4055873" cy="941558"/>
          </a:xfrm>
          <a:prstGeom prst="round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en-US" altLang="zh-TW" sz="2400" dirty="0">
                <a:solidFill>
                  <a:schemeClr val="tx1"/>
                </a:solidFill>
              </a:rPr>
              <a:t>Decoder</a:t>
            </a:r>
            <a:endParaRPr kumimoji="1" lang="zh-TW" altLang="en-US" sz="2400" dirty="0">
              <a:solidFill>
                <a:schemeClr val="tx1"/>
              </a:solidFill>
            </a:endParaRPr>
          </a:p>
        </p:txBody>
      </p:sp>
      <p:sp>
        <p:nvSpPr>
          <p:cNvPr id="6" name="圓角矩形 5">
            <a:extLst>
              <a:ext uri="{FF2B5EF4-FFF2-40B4-BE49-F238E27FC236}">
                <a16:creationId xmlns:a16="http://schemas.microsoft.com/office/drawing/2014/main" id="{CA821E23-F199-3CA1-E0F8-86A351755970}"/>
              </a:ext>
            </a:extLst>
          </p:cNvPr>
          <p:cNvSpPr/>
          <p:nvPr/>
        </p:nvSpPr>
        <p:spPr>
          <a:xfrm>
            <a:off x="1742992" y="5548015"/>
            <a:ext cx="448780" cy="375953"/>
          </a:xfrm>
          <a:prstGeom prst="roundRect">
            <a:avLst/>
          </a:prstGeom>
          <a:solidFill>
            <a:srgbClr val="C5E0B4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en-US" altLang="zh-TW" dirty="0">
                <a:solidFill>
                  <a:schemeClr val="tx1"/>
                </a:solidFill>
              </a:rPr>
              <a:t>_</a:t>
            </a:r>
            <a:endParaRPr kumimoji="1" lang="zh-TW" altLang="en-US" dirty="0">
              <a:solidFill>
                <a:schemeClr val="tx1"/>
              </a:solidFill>
            </a:endParaRPr>
          </a:p>
        </p:txBody>
      </p:sp>
      <p:sp>
        <p:nvSpPr>
          <p:cNvPr id="7" name="圓角矩形 6">
            <a:extLst>
              <a:ext uri="{FF2B5EF4-FFF2-40B4-BE49-F238E27FC236}">
                <a16:creationId xmlns:a16="http://schemas.microsoft.com/office/drawing/2014/main" id="{83893E3B-E7BC-CD5A-0E94-F5C831576A3A}"/>
              </a:ext>
            </a:extLst>
          </p:cNvPr>
          <p:cNvSpPr/>
          <p:nvPr/>
        </p:nvSpPr>
        <p:spPr>
          <a:xfrm>
            <a:off x="2248968" y="5548015"/>
            <a:ext cx="448780" cy="375953"/>
          </a:xfrm>
          <a:prstGeom prst="roundRect">
            <a:avLst/>
          </a:prstGeom>
          <a:solidFill>
            <a:srgbClr val="C5E0B4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en-US" altLang="zh-TW" dirty="0">
                <a:solidFill>
                  <a:schemeClr val="tx1"/>
                </a:solidFill>
              </a:rPr>
              <a:t>y</a:t>
            </a:r>
            <a:r>
              <a:rPr kumimoji="1" lang="en-US" altLang="zh-TW" baseline="-25000" dirty="0">
                <a:solidFill>
                  <a:schemeClr val="tx1"/>
                </a:solidFill>
              </a:rPr>
              <a:t>1</a:t>
            </a:r>
            <a:endParaRPr kumimoji="1" lang="zh-TW" altLang="en-US" dirty="0">
              <a:solidFill>
                <a:schemeClr val="tx1"/>
              </a:solidFill>
            </a:endParaRPr>
          </a:p>
        </p:txBody>
      </p:sp>
      <p:sp>
        <p:nvSpPr>
          <p:cNvPr id="8" name="圓角矩形 7">
            <a:extLst>
              <a:ext uri="{FF2B5EF4-FFF2-40B4-BE49-F238E27FC236}">
                <a16:creationId xmlns:a16="http://schemas.microsoft.com/office/drawing/2014/main" id="{F4898CCC-85B4-6CCC-3907-E27D5C85B1E0}"/>
              </a:ext>
            </a:extLst>
          </p:cNvPr>
          <p:cNvSpPr/>
          <p:nvPr/>
        </p:nvSpPr>
        <p:spPr>
          <a:xfrm>
            <a:off x="4778846" y="5548015"/>
            <a:ext cx="448780" cy="375953"/>
          </a:xfrm>
          <a:prstGeom prst="roundRect">
            <a:avLst/>
          </a:prstGeom>
          <a:solidFill>
            <a:srgbClr val="C5E0B4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en-US" altLang="zh-TW" dirty="0">
                <a:solidFill>
                  <a:schemeClr val="tx1"/>
                </a:solidFill>
              </a:rPr>
              <a:t>y</a:t>
            </a:r>
            <a:r>
              <a:rPr kumimoji="1" lang="en-US" altLang="zh-TW" baseline="-25000" dirty="0">
                <a:solidFill>
                  <a:schemeClr val="tx1"/>
                </a:solidFill>
              </a:rPr>
              <a:t>6</a:t>
            </a:r>
            <a:endParaRPr kumimoji="1" lang="zh-TW" altLang="en-US" dirty="0">
              <a:solidFill>
                <a:schemeClr val="tx1"/>
              </a:solidFill>
            </a:endParaRPr>
          </a:p>
        </p:txBody>
      </p:sp>
      <p:sp>
        <p:nvSpPr>
          <p:cNvPr id="9" name="圓角矩形 8">
            <a:extLst>
              <a:ext uri="{FF2B5EF4-FFF2-40B4-BE49-F238E27FC236}">
                <a16:creationId xmlns:a16="http://schemas.microsoft.com/office/drawing/2014/main" id="{75546552-1B10-A003-8AAD-C28E8C50B044}"/>
              </a:ext>
            </a:extLst>
          </p:cNvPr>
          <p:cNvSpPr/>
          <p:nvPr/>
        </p:nvSpPr>
        <p:spPr>
          <a:xfrm>
            <a:off x="5284821" y="5548015"/>
            <a:ext cx="448780" cy="375953"/>
          </a:xfrm>
          <a:prstGeom prst="roundRect">
            <a:avLst/>
          </a:prstGeom>
          <a:solidFill>
            <a:srgbClr val="C5E0B4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en-US" altLang="zh-TW" dirty="0">
                <a:solidFill>
                  <a:schemeClr val="tx1"/>
                </a:solidFill>
              </a:rPr>
              <a:t>y</a:t>
            </a:r>
            <a:r>
              <a:rPr kumimoji="1" lang="en-US" altLang="zh-TW" baseline="-25000" dirty="0">
                <a:solidFill>
                  <a:schemeClr val="tx1"/>
                </a:solidFill>
              </a:rPr>
              <a:t>7</a:t>
            </a:r>
            <a:endParaRPr kumimoji="1" lang="zh-TW" altLang="en-US" dirty="0">
              <a:solidFill>
                <a:schemeClr val="tx1"/>
              </a:solidFill>
            </a:endParaRPr>
          </a:p>
        </p:txBody>
      </p:sp>
      <p:sp>
        <p:nvSpPr>
          <p:cNvPr id="10" name="圓角矩形 9">
            <a:extLst>
              <a:ext uri="{FF2B5EF4-FFF2-40B4-BE49-F238E27FC236}">
                <a16:creationId xmlns:a16="http://schemas.microsoft.com/office/drawing/2014/main" id="{FA71AC1A-6681-83ED-C227-712BEBB50F8A}"/>
              </a:ext>
            </a:extLst>
          </p:cNvPr>
          <p:cNvSpPr/>
          <p:nvPr/>
        </p:nvSpPr>
        <p:spPr>
          <a:xfrm>
            <a:off x="2754944" y="5548015"/>
            <a:ext cx="448780" cy="375953"/>
          </a:xfrm>
          <a:prstGeom prst="roundRect">
            <a:avLst/>
          </a:prstGeom>
          <a:solidFill>
            <a:srgbClr val="C5E0B4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en-US" altLang="zh-TW" dirty="0">
                <a:solidFill>
                  <a:schemeClr val="tx1"/>
                </a:solidFill>
              </a:rPr>
              <a:t>y</a:t>
            </a:r>
            <a:r>
              <a:rPr kumimoji="1" lang="en-US" altLang="zh-TW" baseline="-25000" dirty="0">
                <a:solidFill>
                  <a:schemeClr val="tx1"/>
                </a:solidFill>
              </a:rPr>
              <a:t>2</a:t>
            </a:r>
            <a:endParaRPr kumimoji="1" lang="zh-TW" altLang="en-US" dirty="0">
              <a:solidFill>
                <a:schemeClr val="tx1"/>
              </a:solidFill>
            </a:endParaRPr>
          </a:p>
        </p:txBody>
      </p:sp>
      <p:sp>
        <p:nvSpPr>
          <p:cNvPr id="11" name="圓角矩形 10">
            <a:extLst>
              <a:ext uri="{FF2B5EF4-FFF2-40B4-BE49-F238E27FC236}">
                <a16:creationId xmlns:a16="http://schemas.microsoft.com/office/drawing/2014/main" id="{23EFEED1-6ACC-898C-1952-9B513E31D683}"/>
              </a:ext>
            </a:extLst>
          </p:cNvPr>
          <p:cNvSpPr/>
          <p:nvPr/>
        </p:nvSpPr>
        <p:spPr>
          <a:xfrm>
            <a:off x="3260919" y="5548015"/>
            <a:ext cx="448780" cy="375953"/>
          </a:xfrm>
          <a:prstGeom prst="roundRect">
            <a:avLst/>
          </a:prstGeom>
          <a:solidFill>
            <a:srgbClr val="C5E0B4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en-US" altLang="zh-TW" dirty="0">
                <a:solidFill>
                  <a:schemeClr val="tx1"/>
                </a:solidFill>
              </a:rPr>
              <a:t>y</a:t>
            </a:r>
            <a:r>
              <a:rPr kumimoji="1" lang="en-US" altLang="zh-TW" baseline="-25000" dirty="0">
                <a:solidFill>
                  <a:schemeClr val="tx1"/>
                </a:solidFill>
              </a:rPr>
              <a:t>3</a:t>
            </a:r>
            <a:endParaRPr kumimoji="1" lang="zh-TW" altLang="en-US" dirty="0">
              <a:solidFill>
                <a:schemeClr val="tx1"/>
              </a:solidFill>
            </a:endParaRPr>
          </a:p>
        </p:txBody>
      </p:sp>
      <p:sp>
        <p:nvSpPr>
          <p:cNvPr id="12" name="圓角矩形 11">
            <a:extLst>
              <a:ext uri="{FF2B5EF4-FFF2-40B4-BE49-F238E27FC236}">
                <a16:creationId xmlns:a16="http://schemas.microsoft.com/office/drawing/2014/main" id="{AB07FE92-7393-670D-7BED-1B62676FC264}"/>
              </a:ext>
            </a:extLst>
          </p:cNvPr>
          <p:cNvSpPr/>
          <p:nvPr/>
        </p:nvSpPr>
        <p:spPr>
          <a:xfrm>
            <a:off x="3766895" y="5548015"/>
            <a:ext cx="448780" cy="375953"/>
          </a:xfrm>
          <a:prstGeom prst="roundRect">
            <a:avLst/>
          </a:prstGeom>
          <a:solidFill>
            <a:srgbClr val="C5E0B4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en-US" altLang="zh-TW" dirty="0">
                <a:solidFill>
                  <a:schemeClr val="tx1"/>
                </a:solidFill>
              </a:rPr>
              <a:t>y</a:t>
            </a:r>
            <a:r>
              <a:rPr kumimoji="1" lang="en-US" altLang="zh-TW" baseline="-25000" dirty="0">
                <a:solidFill>
                  <a:schemeClr val="tx1"/>
                </a:solidFill>
              </a:rPr>
              <a:t>4</a:t>
            </a:r>
            <a:endParaRPr kumimoji="1" lang="zh-TW" altLang="en-US" dirty="0">
              <a:solidFill>
                <a:schemeClr val="tx1"/>
              </a:solidFill>
            </a:endParaRPr>
          </a:p>
        </p:txBody>
      </p:sp>
      <p:sp>
        <p:nvSpPr>
          <p:cNvPr id="13" name="圓角矩形 12">
            <a:extLst>
              <a:ext uri="{FF2B5EF4-FFF2-40B4-BE49-F238E27FC236}">
                <a16:creationId xmlns:a16="http://schemas.microsoft.com/office/drawing/2014/main" id="{5F04C0BC-02B9-76C3-464B-07E0B4B2B068}"/>
              </a:ext>
            </a:extLst>
          </p:cNvPr>
          <p:cNvSpPr/>
          <p:nvPr/>
        </p:nvSpPr>
        <p:spPr>
          <a:xfrm>
            <a:off x="4272871" y="5548015"/>
            <a:ext cx="448780" cy="375953"/>
          </a:xfrm>
          <a:prstGeom prst="roundRect">
            <a:avLst/>
          </a:prstGeom>
          <a:solidFill>
            <a:srgbClr val="C5E0B4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en-US" altLang="zh-TW" dirty="0">
                <a:solidFill>
                  <a:schemeClr val="tx1"/>
                </a:solidFill>
              </a:rPr>
              <a:t>y</a:t>
            </a:r>
            <a:r>
              <a:rPr kumimoji="1" lang="en-US" altLang="zh-TW" baseline="-25000" dirty="0">
                <a:solidFill>
                  <a:schemeClr val="tx1"/>
                </a:solidFill>
              </a:rPr>
              <a:t>5</a:t>
            </a:r>
            <a:endParaRPr kumimoji="1" lang="zh-TW" altLang="en-US" dirty="0">
              <a:solidFill>
                <a:schemeClr val="tx1"/>
              </a:solidFill>
            </a:endParaRPr>
          </a:p>
        </p:txBody>
      </p:sp>
      <p:cxnSp>
        <p:nvCxnSpPr>
          <p:cNvPr id="14" name="直線箭頭接點 13">
            <a:extLst>
              <a:ext uri="{FF2B5EF4-FFF2-40B4-BE49-F238E27FC236}">
                <a16:creationId xmlns:a16="http://schemas.microsoft.com/office/drawing/2014/main" id="{52CC6764-6478-507E-4DD5-EF20B4EB6E5D}"/>
              </a:ext>
            </a:extLst>
          </p:cNvPr>
          <p:cNvCxnSpPr>
            <a:cxnSpLocks/>
          </p:cNvCxnSpPr>
          <p:nvPr/>
        </p:nvCxnSpPr>
        <p:spPr>
          <a:xfrm flipV="1">
            <a:off x="1977642" y="5236554"/>
            <a:ext cx="0" cy="263988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線箭頭接點 14">
            <a:extLst>
              <a:ext uri="{FF2B5EF4-FFF2-40B4-BE49-F238E27FC236}">
                <a16:creationId xmlns:a16="http://schemas.microsoft.com/office/drawing/2014/main" id="{D9CC5F07-EDC0-6CFB-09D9-9C4CD1B5DCD8}"/>
              </a:ext>
            </a:extLst>
          </p:cNvPr>
          <p:cNvCxnSpPr>
            <a:cxnSpLocks/>
          </p:cNvCxnSpPr>
          <p:nvPr/>
        </p:nvCxnSpPr>
        <p:spPr>
          <a:xfrm flipV="1">
            <a:off x="2480896" y="5236554"/>
            <a:ext cx="0" cy="263988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線箭頭接點 15">
            <a:extLst>
              <a:ext uri="{FF2B5EF4-FFF2-40B4-BE49-F238E27FC236}">
                <a16:creationId xmlns:a16="http://schemas.microsoft.com/office/drawing/2014/main" id="{1EA07DE7-02AD-D084-A4B2-F8C3D393C18E}"/>
              </a:ext>
            </a:extLst>
          </p:cNvPr>
          <p:cNvCxnSpPr>
            <a:cxnSpLocks/>
          </p:cNvCxnSpPr>
          <p:nvPr/>
        </p:nvCxnSpPr>
        <p:spPr>
          <a:xfrm flipV="1">
            <a:off x="2984149" y="5236554"/>
            <a:ext cx="0" cy="263988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線箭頭接點 16">
            <a:extLst>
              <a:ext uri="{FF2B5EF4-FFF2-40B4-BE49-F238E27FC236}">
                <a16:creationId xmlns:a16="http://schemas.microsoft.com/office/drawing/2014/main" id="{6507B20F-EEA8-D1EF-CFE8-C3E1CC011158}"/>
              </a:ext>
            </a:extLst>
          </p:cNvPr>
          <p:cNvCxnSpPr>
            <a:cxnSpLocks/>
          </p:cNvCxnSpPr>
          <p:nvPr/>
        </p:nvCxnSpPr>
        <p:spPr>
          <a:xfrm flipV="1">
            <a:off x="3487404" y="5236554"/>
            <a:ext cx="0" cy="263988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線箭頭接點 17">
            <a:extLst>
              <a:ext uri="{FF2B5EF4-FFF2-40B4-BE49-F238E27FC236}">
                <a16:creationId xmlns:a16="http://schemas.microsoft.com/office/drawing/2014/main" id="{9294E3E5-B978-E1A1-6268-87DCFA562D1D}"/>
              </a:ext>
            </a:extLst>
          </p:cNvPr>
          <p:cNvCxnSpPr>
            <a:cxnSpLocks/>
          </p:cNvCxnSpPr>
          <p:nvPr/>
        </p:nvCxnSpPr>
        <p:spPr>
          <a:xfrm flipV="1">
            <a:off x="3990657" y="5236554"/>
            <a:ext cx="0" cy="263988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線箭頭接點 18">
            <a:extLst>
              <a:ext uri="{FF2B5EF4-FFF2-40B4-BE49-F238E27FC236}">
                <a16:creationId xmlns:a16="http://schemas.microsoft.com/office/drawing/2014/main" id="{DB0F2A45-A557-F436-2293-8DAEA62ECD90}"/>
              </a:ext>
            </a:extLst>
          </p:cNvPr>
          <p:cNvCxnSpPr>
            <a:cxnSpLocks/>
          </p:cNvCxnSpPr>
          <p:nvPr/>
        </p:nvCxnSpPr>
        <p:spPr>
          <a:xfrm flipV="1">
            <a:off x="4493911" y="5236554"/>
            <a:ext cx="0" cy="263988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線箭頭接點 19">
            <a:extLst>
              <a:ext uri="{FF2B5EF4-FFF2-40B4-BE49-F238E27FC236}">
                <a16:creationId xmlns:a16="http://schemas.microsoft.com/office/drawing/2014/main" id="{B2B5644B-9940-3A68-2B91-CE77B606946C}"/>
              </a:ext>
            </a:extLst>
          </p:cNvPr>
          <p:cNvCxnSpPr>
            <a:cxnSpLocks/>
          </p:cNvCxnSpPr>
          <p:nvPr/>
        </p:nvCxnSpPr>
        <p:spPr>
          <a:xfrm flipV="1">
            <a:off x="4997164" y="5236554"/>
            <a:ext cx="0" cy="263988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線箭頭接點 20">
            <a:extLst>
              <a:ext uri="{FF2B5EF4-FFF2-40B4-BE49-F238E27FC236}">
                <a16:creationId xmlns:a16="http://schemas.microsoft.com/office/drawing/2014/main" id="{31EC7936-E7BF-B0F7-F548-D61F1B550C24}"/>
              </a:ext>
            </a:extLst>
          </p:cNvPr>
          <p:cNvCxnSpPr>
            <a:cxnSpLocks/>
          </p:cNvCxnSpPr>
          <p:nvPr/>
        </p:nvCxnSpPr>
        <p:spPr>
          <a:xfrm flipV="1">
            <a:off x="5500420" y="5236554"/>
            <a:ext cx="0" cy="263988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圓角矩形 21">
                <a:extLst>
                  <a:ext uri="{FF2B5EF4-FFF2-40B4-BE49-F238E27FC236}">
                    <a16:creationId xmlns:a16="http://schemas.microsoft.com/office/drawing/2014/main" id="{73D71CFE-17DC-8B5E-031F-6B96E9B803AF}"/>
                  </a:ext>
                </a:extLst>
              </p:cNvPr>
              <p:cNvSpPr/>
              <p:nvPr/>
            </p:nvSpPr>
            <p:spPr>
              <a:xfrm>
                <a:off x="2754944" y="3507588"/>
                <a:ext cx="448780" cy="375953"/>
              </a:xfrm>
              <a:prstGeom prst="roundRect">
                <a:avLst/>
              </a:prstGeom>
              <a:solidFill>
                <a:srgbClr val="C5E0B4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US"/>
                </a:defPPr>
                <a:lvl1pPr marL="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zh-TW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kumimoji="1" lang="en-US" altLang="zh-TW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kumimoji="1" lang="en-US" altLang="zh-TW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acc>
                        </m:e>
                        <m:sub>
                          <m:r>
                            <a:rPr kumimoji="1" lang="en-US" altLang="zh-TW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kumimoji="1" lang="zh-TW" alt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2" name="圓角矩形 21">
                <a:extLst>
                  <a:ext uri="{FF2B5EF4-FFF2-40B4-BE49-F238E27FC236}">
                    <a16:creationId xmlns:a16="http://schemas.microsoft.com/office/drawing/2014/main" id="{73D71CFE-17DC-8B5E-031F-6B96E9B803A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54944" y="3507588"/>
                <a:ext cx="448780" cy="375953"/>
              </a:xfrm>
              <a:prstGeom prst="roundRect">
                <a:avLst/>
              </a:prstGeom>
              <a:blipFill>
                <a:blip r:embed="rId3"/>
                <a:stretch>
                  <a:fillRect b="-9375"/>
                </a:stretch>
              </a:blipFill>
              <a:ln w="19050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圓角矩形 22">
                <a:extLst>
                  <a:ext uri="{FF2B5EF4-FFF2-40B4-BE49-F238E27FC236}">
                    <a16:creationId xmlns:a16="http://schemas.microsoft.com/office/drawing/2014/main" id="{6A3E5A9E-1B42-737D-2A6D-2DAAB995C17F}"/>
                  </a:ext>
                </a:extLst>
              </p:cNvPr>
              <p:cNvSpPr/>
              <p:nvPr/>
            </p:nvSpPr>
            <p:spPr>
              <a:xfrm>
                <a:off x="3260919" y="3507588"/>
                <a:ext cx="448780" cy="375953"/>
              </a:xfrm>
              <a:prstGeom prst="roundRect">
                <a:avLst/>
              </a:prstGeom>
              <a:solidFill>
                <a:srgbClr val="C5E0B4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US"/>
                </a:defPPr>
                <a:lvl1pPr marL="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zh-TW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kumimoji="1" lang="en-US" altLang="zh-TW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kumimoji="1" lang="en-US" altLang="zh-TW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acc>
                        </m:e>
                        <m:sub>
                          <m:r>
                            <a:rPr kumimoji="1" lang="en-US" altLang="zh-TW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kumimoji="1" lang="zh-TW" alt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3" name="圓角矩形 22">
                <a:extLst>
                  <a:ext uri="{FF2B5EF4-FFF2-40B4-BE49-F238E27FC236}">
                    <a16:creationId xmlns:a16="http://schemas.microsoft.com/office/drawing/2014/main" id="{6A3E5A9E-1B42-737D-2A6D-2DAAB995C17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60919" y="3507588"/>
                <a:ext cx="448780" cy="375953"/>
              </a:xfrm>
              <a:prstGeom prst="roundRect">
                <a:avLst/>
              </a:prstGeom>
              <a:blipFill>
                <a:blip r:embed="rId4"/>
                <a:stretch>
                  <a:fillRect b="-9375"/>
                </a:stretch>
              </a:blipFill>
              <a:ln w="19050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圓角矩形 23">
                <a:extLst>
                  <a:ext uri="{FF2B5EF4-FFF2-40B4-BE49-F238E27FC236}">
                    <a16:creationId xmlns:a16="http://schemas.microsoft.com/office/drawing/2014/main" id="{8D27990B-54FF-2CE1-E6FC-41B62D8FE20E}"/>
                  </a:ext>
                </a:extLst>
              </p:cNvPr>
              <p:cNvSpPr/>
              <p:nvPr/>
            </p:nvSpPr>
            <p:spPr>
              <a:xfrm>
                <a:off x="3766895" y="3507588"/>
                <a:ext cx="448780" cy="375953"/>
              </a:xfrm>
              <a:prstGeom prst="roundRect">
                <a:avLst/>
              </a:prstGeom>
              <a:solidFill>
                <a:srgbClr val="C5E0B4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US"/>
                </a:defPPr>
                <a:lvl1pPr marL="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zh-TW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kumimoji="1" lang="en-US" altLang="zh-TW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kumimoji="1" lang="en-US" altLang="zh-TW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acc>
                        </m:e>
                        <m:sub>
                          <m:r>
                            <a:rPr kumimoji="1" lang="en-US" altLang="zh-TW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5</m:t>
                          </m:r>
                        </m:sub>
                      </m:sSub>
                    </m:oMath>
                  </m:oMathPara>
                </a14:m>
                <a:endParaRPr kumimoji="1" lang="zh-TW" alt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4" name="圓角矩形 23">
                <a:extLst>
                  <a:ext uri="{FF2B5EF4-FFF2-40B4-BE49-F238E27FC236}">
                    <a16:creationId xmlns:a16="http://schemas.microsoft.com/office/drawing/2014/main" id="{8D27990B-54FF-2CE1-E6FC-41B62D8FE20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66895" y="3507588"/>
                <a:ext cx="448780" cy="375953"/>
              </a:xfrm>
              <a:prstGeom prst="roundRect">
                <a:avLst/>
              </a:prstGeom>
              <a:blipFill>
                <a:blip r:embed="rId5"/>
                <a:stretch>
                  <a:fillRect b="-9375"/>
                </a:stretch>
              </a:blipFill>
              <a:ln w="19050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圓角矩形 24">
                <a:extLst>
                  <a:ext uri="{FF2B5EF4-FFF2-40B4-BE49-F238E27FC236}">
                    <a16:creationId xmlns:a16="http://schemas.microsoft.com/office/drawing/2014/main" id="{DCADA5FD-A1C3-0F9C-E586-24F6C71768E6}"/>
                  </a:ext>
                </a:extLst>
              </p:cNvPr>
              <p:cNvSpPr/>
              <p:nvPr/>
            </p:nvSpPr>
            <p:spPr>
              <a:xfrm>
                <a:off x="4272871" y="3507588"/>
                <a:ext cx="448780" cy="375953"/>
              </a:xfrm>
              <a:prstGeom prst="roundRect">
                <a:avLst/>
              </a:prstGeom>
              <a:solidFill>
                <a:srgbClr val="C5E0B4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US"/>
                </a:defPPr>
                <a:lvl1pPr marL="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zh-TW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kumimoji="1" lang="en-US" altLang="zh-TW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kumimoji="1" lang="en-US" altLang="zh-TW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acc>
                        </m:e>
                        <m:sub>
                          <m:r>
                            <a:rPr kumimoji="1" lang="en-US" altLang="zh-TW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6</m:t>
                          </m:r>
                        </m:sub>
                      </m:sSub>
                    </m:oMath>
                  </m:oMathPara>
                </a14:m>
                <a:endParaRPr kumimoji="1" lang="zh-TW" alt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5" name="圓角矩形 24">
                <a:extLst>
                  <a:ext uri="{FF2B5EF4-FFF2-40B4-BE49-F238E27FC236}">
                    <a16:creationId xmlns:a16="http://schemas.microsoft.com/office/drawing/2014/main" id="{DCADA5FD-A1C3-0F9C-E586-24F6C71768E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72871" y="3507588"/>
                <a:ext cx="448780" cy="375953"/>
              </a:xfrm>
              <a:prstGeom prst="roundRect">
                <a:avLst/>
              </a:prstGeom>
              <a:blipFill>
                <a:blip r:embed="rId6"/>
                <a:stretch>
                  <a:fillRect b="-9375"/>
                </a:stretch>
              </a:blipFill>
              <a:ln w="19050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6" name="直線箭頭接點 25">
            <a:extLst>
              <a:ext uri="{FF2B5EF4-FFF2-40B4-BE49-F238E27FC236}">
                <a16:creationId xmlns:a16="http://schemas.microsoft.com/office/drawing/2014/main" id="{97297D41-E37A-CE9C-33FE-0B818B43B7B8}"/>
              </a:ext>
            </a:extLst>
          </p:cNvPr>
          <p:cNvCxnSpPr>
            <a:cxnSpLocks/>
          </p:cNvCxnSpPr>
          <p:nvPr/>
        </p:nvCxnSpPr>
        <p:spPr>
          <a:xfrm flipV="1">
            <a:off x="2984149" y="3934211"/>
            <a:ext cx="0" cy="263988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直線箭頭接點 26">
            <a:extLst>
              <a:ext uri="{FF2B5EF4-FFF2-40B4-BE49-F238E27FC236}">
                <a16:creationId xmlns:a16="http://schemas.microsoft.com/office/drawing/2014/main" id="{5A8D68EE-435F-EF1A-57FE-334927C0A395}"/>
              </a:ext>
            </a:extLst>
          </p:cNvPr>
          <p:cNvCxnSpPr>
            <a:cxnSpLocks/>
          </p:cNvCxnSpPr>
          <p:nvPr/>
        </p:nvCxnSpPr>
        <p:spPr>
          <a:xfrm flipV="1">
            <a:off x="3487404" y="3934211"/>
            <a:ext cx="0" cy="263988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直線箭頭接點 27">
            <a:extLst>
              <a:ext uri="{FF2B5EF4-FFF2-40B4-BE49-F238E27FC236}">
                <a16:creationId xmlns:a16="http://schemas.microsoft.com/office/drawing/2014/main" id="{A0C2F715-74D1-1EDE-5DBC-ADA1AC423D6D}"/>
              </a:ext>
            </a:extLst>
          </p:cNvPr>
          <p:cNvCxnSpPr>
            <a:cxnSpLocks/>
          </p:cNvCxnSpPr>
          <p:nvPr/>
        </p:nvCxnSpPr>
        <p:spPr>
          <a:xfrm flipV="1">
            <a:off x="3990657" y="3934211"/>
            <a:ext cx="0" cy="263988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直線箭頭接點 28">
            <a:extLst>
              <a:ext uri="{FF2B5EF4-FFF2-40B4-BE49-F238E27FC236}">
                <a16:creationId xmlns:a16="http://schemas.microsoft.com/office/drawing/2014/main" id="{6292DF07-172E-D5A3-485E-7CFD38F50669}"/>
              </a:ext>
            </a:extLst>
          </p:cNvPr>
          <p:cNvCxnSpPr>
            <a:cxnSpLocks/>
          </p:cNvCxnSpPr>
          <p:nvPr/>
        </p:nvCxnSpPr>
        <p:spPr>
          <a:xfrm flipV="1">
            <a:off x="4493911" y="3934211"/>
            <a:ext cx="0" cy="263988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文字方塊 67">
            <a:extLst>
              <a:ext uri="{FF2B5EF4-FFF2-40B4-BE49-F238E27FC236}">
                <a16:creationId xmlns:a16="http://schemas.microsoft.com/office/drawing/2014/main" id="{585DA97F-99CC-A251-DB9B-74DFE4452E0C}"/>
              </a:ext>
            </a:extLst>
          </p:cNvPr>
          <p:cNvSpPr txBox="1"/>
          <p:nvPr/>
        </p:nvSpPr>
        <p:spPr>
          <a:xfrm>
            <a:off x="1588331" y="5920636"/>
            <a:ext cx="77862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en-US" altLang="zh-TW" sz="1200" dirty="0"/>
              <a:t>(Start)</a:t>
            </a:r>
            <a:endParaRPr kumimoji="1" lang="zh-TW" altLang="en-US" sz="12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1" name="圓角矩形 30">
                <a:extLst>
                  <a:ext uri="{FF2B5EF4-FFF2-40B4-BE49-F238E27FC236}">
                    <a16:creationId xmlns:a16="http://schemas.microsoft.com/office/drawing/2014/main" id="{7C133861-1F11-B8FC-504E-5DF37832BD88}"/>
                  </a:ext>
                </a:extLst>
              </p:cNvPr>
              <p:cNvSpPr/>
              <p:nvPr/>
            </p:nvSpPr>
            <p:spPr>
              <a:xfrm>
                <a:off x="2245232" y="3507588"/>
                <a:ext cx="448780" cy="375953"/>
              </a:xfrm>
              <a:prstGeom prst="roundRect">
                <a:avLst/>
              </a:prstGeom>
              <a:solidFill>
                <a:srgbClr val="C5E0B4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US"/>
                </a:defPPr>
                <a:lvl1pPr marL="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zh-TW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kumimoji="1" lang="en-US" altLang="zh-TW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kumimoji="1" lang="en-US" altLang="zh-TW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acc>
                        </m:e>
                        <m:sub>
                          <m:r>
                            <a:rPr kumimoji="1" lang="en-US" altLang="zh-TW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kumimoji="1" lang="zh-TW" alt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1" name="圓角矩形 30">
                <a:extLst>
                  <a:ext uri="{FF2B5EF4-FFF2-40B4-BE49-F238E27FC236}">
                    <a16:creationId xmlns:a16="http://schemas.microsoft.com/office/drawing/2014/main" id="{7C133861-1F11-B8FC-504E-5DF37832BD8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45232" y="3507588"/>
                <a:ext cx="448780" cy="375953"/>
              </a:xfrm>
              <a:prstGeom prst="roundRect">
                <a:avLst/>
              </a:prstGeom>
              <a:blipFill>
                <a:blip r:embed="rId7"/>
                <a:stretch>
                  <a:fillRect b="-9375"/>
                </a:stretch>
              </a:blipFill>
              <a:ln w="19050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2" name="直線箭頭接點 31">
            <a:extLst>
              <a:ext uri="{FF2B5EF4-FFF2-40B4-BE49-F238E27FC236}">
                <a16:creationId xmlns:a16="http://schemas.microsoft.com/office/drawing/2014/main" id="{C3BE99A1-F85D-50CF-E74F-496136B0EE20}"/>
              </a:ext>
            </a:extLst>
          </p:cNvPr>
          <p:cNvCxnSpPr>
            <a:cxnSpLocks/>
          </p:cNvCxnSpPr>
          <p:nvPr/>
        </p:nvCxnSpPr>
        <p:spPr>
          <a:xfrm flipV="1">
            <a:off x="2474439" y="3934211"/>
            <a:ext cx="0" cy="263988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3" name="圓角矩形 32">
                <a:extLst>
                  <a:ext uri="{FF2B5EF4-FFF2-40B4-BE49-F238E27FC236}">
                    <a16:creationId xmlns:a16="http://schemas.microsoft.com/office/drawing/2014/main" id="{5A05ADE9-2D97-A05E-8A81-DB2F7E136E1F}"/>
                  </a:ext>
                </a:extLst>
              </p:cNvPr>
              <p:cNvSpPr/>
              <p:nvPr/>
            </p:nvSpPr>
            <p:spPr>
              <a:xfrm>
                <a:off x="4778846" y="3502304"/>
                <a:ext cx="448780" cy="375953"/>
              </a:xfrm>
              <a:prstGeom prst="roundRect">
                <a:avLst/>
              </a:prstGeom>
              <a:solidFill>
                <a:srgbClr val="C5E0B4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US"/>
                </a:defPPr>
                <a:lvl1pPr marL="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zh-TW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kumimoji="1" lang="en-US" altLang="zh-TW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kumimoji="1" lang="en-US" altLang="zh-TW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acc>
                        </m:e>
                        <m:sub>
                          <m:r>
                            <a:rPr kumimoji="1" lang="en-US" altLang="zh-TW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7</m:t>
                          </m:r>
                        </m:sub>
                      </m:sSub>
                    </m:oMath>
                  </m:oMathPara>
                </a14:m>
                <a:endParaRPr kumimoji="1" lang="zh-TW" alt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3" name="圓角矩形 32">
                <a:extLst>
                  <a:ext uri="{FF2B5EF4-FFF2-40B4-BE49-F238E27FC236}">
                    <a16:creationId xmlns:a16="http://schemas.microsoft.com/office/drawing/2014/main" id="{5A05ADE9-2D97-A05E-8A81-DB2F7E136E1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78846" y="3502304"/>
                <a:ext cx="448780" cy="375953"/>
              </a:xfrm>
              <a:prstGeom prst="roundRect">
                <a:avLst/>
              </a:prstGeom>
              <a:blipFill>
                <a:blip r:embed="rId8"/>
                <a:stretch>
                  <a:fillRect b="-6250"/>
                </a:stretch>
              </a:blipFill>
              <a:ln w="19050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4" name="直線箭頭接點 33">
            <a:extLst>
              <a:ext uri="{FF2B5EF4-FFF2-40B4-BE49-F238E27FC236}">
                <a16:creationId xmlns:a16="http://schemas.microsoft.com/office/drawing/2014/main" id="{2475E79F-48DE-9209-0580-B79AD575C254}"/>
              </a:ext>
            </a:extLst>
          </p:cNvPr>
          <p:cNvCxnSpPr>
            <a:cxnSpLocks/>
          </p:cNvCxnSpPr>
          <p:nvPr/>
        </p:nvCxnSpPr>
        <p:spPr>
          <a:xfrm flipV="1">
            <a:off x="5008052" y="3928927"/>
            <a:ext cx="0" cy="263988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5" name="圓角矩形 34">
                <a:extLst>
                  <a:ext uri="{FF2B5EF4-FFF2-40B4-BE49-F238E27FC236}">
                    <a16:creationId xmlns:a16="http://schemas.microsoft.com/office/drawing/2014/main" id="{091AC2BF-5E77-E7C0-1F2D-38B4880EC537}"/>
                  </a:ext>
                </a:extLst>
              </p:cNvPr>
              <p:cNvSpPr/>
              <p:nvPr/>
            </p:nvSpPr>
            <p:spPr>
              <a:xfrm>
                <a:off x="5284821" y="3502304"/>
                <a:ext cx="448780" cy="375953"/>
              </a:xfrm>
              <a:prstGeom prst="roundRect">
                <a:avLst/>
              </a:prstGeom>
              <a:solidFill>
                <a:srgbClr val="C5E0B4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US"/>
                </a:defPPr>
                <a:lvl1pPr marL="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zh-TW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kumimoji="1" lang="en-US" altLang="zh-TW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kumimoji="1" lang="en-US" altLang="zh-TW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acc>
                        </m:e>
                        <m:sub>
                          <m:r>
                            <a:rPr kumimoji="1" lang="en-US" altLang="zh-TW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8</m:t>
                          </m:r>
                        </m:sub>
                      </m:sSub>
                    </m:oMath>
                  </m:oMathPara>
                </a14:m>
                <a:endParaRPr kumimoji="1" lang="zh-TW" alt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5" name="圓角矩形 34">
                <a:extLst>
                  <a:ext uri="{FF2B5EF4-FFF2-40B4-BE49-F238E27FC236}">
                    <a16:creationId xmlns:a16="http://schemas.microsoft.com/office/drawing/2014/main" id="{091AC2BF-5E77-E7C0-1F2D-38B4880EC53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84821" y="3502304"/>
                <a:ext cx="448780" cy="375953"/>
              </a:xfrm>
              <a:prstGeom prst="roundRect">
                <a:avLst/>
              </a:prstGeom>
              <a:blipFill>
                <a:blip r:embed="rId9"/>
                <a:stretch>
                  <a:fillRect b="-6250"/>
                </a:stretch>
              </a:blipFill>
              <a:ln w="19050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6" name="直線箭頭接點 35">
            <a:extLst>
              <a:ext uri="{FF2B5EF4-FFF2-40B4-BE49-F238E27FC236}">
                <a16:creationId xmlns:a16="http://schemas.microsoft.com/office/drawing/2014/main" id="{920B818E-CFA1-7700-65E1-52C52F8C18FC}"/>
              </a:ext>
            </a:extLst>
          </p:cNvPr>
          <p:cNvCxnSpPr>
            <a:cxnSpLocks/>
          </p:cNvCxnSpPr>
          <p:nvPr/>
        </p:nvCxnSpPr>
        <p:spPr>
          <a:xfrm flipV="1">
            <a:off x="5514027" y="3928927"/>
            <a:ext cx="0" cy="263988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7" name="圓角矩形 36">
                <a:extLst>
                  <a:ext uri="{FF2B5EF4-FFF2-40B4-BE49-F238E27FC236}">
                    <a16:creationId xmlns:a16="http://schemas.microsoft.com/office/drawing/2014/main" id="{ECD230C5-B50A-004F-E2A0-2BD942370963}"/>
                  </a:ext>
                </a:extLst>
              </p:cNvPr>
              <p:cNvSpPr/>
              <p:nvPr/>
            </p:nvSpPr>
            <p:spPr>
              <a:xfrm>
                <a:off x="1735520" y="3502304"/>
                <a:ext cx="448780" cy="375953"/>
              </a:xfrm>
              <a:prstGeom prst="roundRect">
                <a:avLst/>
              </a:prstGeom>
              <a:solidFill>
                <a:srgbClr val="C5E0B4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US"/>
                </a:defPPr>
                <a:lvl1pPr marL="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zh-TW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kumimoji="1" lang="en-US" altLang="zh-TW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kumimoji="1" lang="en-US" altLang="zh-TW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acc>
                        </m:e>
                        <m:sub>
                          <m:r>
                            <a:rPr kumimoji="1" lang="en-US" altLang="zh-TW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kumimoji="1" lang="zh-TW" alt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7" name="圓角矩形 36">
                <a:extLst>
                  <a:ext uri="{FF2B5EF4-FFF2-40B4-BE49-F238E27FC236}">
                    <a16:creationId xmlns:a16="http://schemas.microsoft.com/office/drawing/2014/main" id="{ECD230C5-B50A-004F-E2A0-2BD94237096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35520" y="3502304"/>
                <a:ext cx="448780" cy="375953"/>
              </a:xfrm>
              <a:prstGeom prst="roundRect">
                <a:avLst/>
              </a:prstGeom>
              <a:blipFill>
                <a:blip r:embed="rId10"/>
                <a:stretch>
                  <a:fillRect b="-6250"/>
                </a:stretch>
              </a:blipFill>
              <a:ln w="19050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8" name="直線箭頭接點 37">
            <a:extLst>
              <a:ext uri="{FF2B5EF4-FFF2-40B4-BE49-F238E27FC236}">
                <a16:creationId xmlns:a16="http://schemas.microsoft.com/office/drawing/2014/main" id="{C8E57D72-8417-2DCC-3C3F-B283E10E0506}"/>
              </a:ext>
            </a:extLst>
          </p:cNvPr>
          <p:cNvCxnSpPr>
            <a:cxnSpLocks/>
          </p:cNvCxnSpPr>
          <p:nvPr/>
        </p:nvCxnSpPr>
        <p:spPr>
          <a:xfrm flipV="1">
            <a:off x="1977642" y="3934211"/>
            <a:ext cx="0" cy="263988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圓角矩形 38">
            <a:extLst>
              <a:ext uri="{FF2B5EF4-FFF2-40B4-BE49-F238E27FC236}">
                <a16:creationId xmlns:a16="http://schemas.microsoft.com/office/drawing/2014/main" id="{553DBA92-7DAA-0768-80D2-10D883615E52}"/>
              </a:ext>
            </a:extLst>
          </p:cNvPr>
          <p:cNvSpPr/>
          <p:nvPr/>
        </p:nvSpPr>
        <p:spPr>
          <a:xfrm>
            <a:off x="1743921" y="2418964"/>
            <a:ext cx="448780" cy="375953"/>
          </a:xfrm>
          <a:prstGeom prst="roundRect">
            <a:avLst/>
          </a:prstGeom>
          <a:solidFill>
            <a:srgbClr val="C5E0B4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en-US" altLang="zh-TW" dirty="0">
                <a:solidFill>
                  <a:schemeClr val="tx1"/>
                </a:solidFill>
              </a:rPr>
              <a:t>y</a:t>
            </a:r>
            <a:r>
              <a:rPr kumimoji="1" lang="en-US" altLang="zh-TW" baseline="-25000" dirty="0">
                <a:solidFill>
                  <a:schemeClr val="tx1"/>
                </a:solidFill>
              </a:rPr>
              <a:t>1</a:t>
            </a:r>
            <a:endParaRPr kumimoji="1" lang="zh-TW" altLang="en-US" dirty="0">
              <a:solidFill>
                <a:schemeClr val="tx1"/>
              </a:solidFill>
            </a:endParaRPr>
          </a:p>
        </p:txBody>
      </p:sp>
      <p:sp>
        <p:nvSpPr>
          <p:cNvPr id="40" name="圓角矩形 39">
            <a:extLst>
              <a:ext uri="{FF2B5EF4-FFF2-40B4-BE49-F238E27FC236}">
                <a16:creationId xmlns:a16="http://schemas.microsoft.com/office/drawing/2014/main" id="{C9DFD210-6286-27DF-8D00-F92967960059}"/>
              </a:ext>
            </a:extLst>
          </p:cNvPr>
          <p:cNvSpPr/>
          <p:nvPr/>
        </p:nvSpPr>
        <p:spPr>
          <a:xfrm>
            <a:off x="4273799" y="2418964"/>
            <a:ext cx="448780" cy="375953"/>
          </a:xfrm>
          <a:prstGeom prst="roundRect">
            <a:avLst/>
          </a:prstGeom>
          <a:solidFill>
            <a:srgbClr val="C5E0B4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en-US" altLang="zh-TW" dirty="0">
                <a:solidFill>
                  <a:schemeClr val="tx1"/>
                </a:solidFill>
              </a:rPr>
              <a:t>y</a:t>
            </a:r>
            <a:r>
              <a:rPr kumimoji="1" lang="en-US" altLang="zh-TW" baseline="-25000" dirty="0">
                <a:solidFill>
                  <a:schemeClr val="tx1"/>
                </a:solidFill>
              </a:rPr>
              <a:t>6</a:t>
            </a:r>
            <a:endParaRPr kumimoji="1" lang="zh-TW" altLang="en-US" dirty="0">
              <a:solidFill>
                <a:schemeClr val="tx1"/>
              </a:solidFill>
            </a:endParaRPr>
          </a:p>
        </p:txBody>
      </p:sp>
      <p:sp>
        <p:nvSpPr>
          <p:cNvPr id="41" name="圓角矩形 40">
            <a:extLst>
              <a:ext uri="{FF2B5EF4-FFF2-40B4-BE49-F238E27FC236}">
                <a16:creationId xmlns:a16="http://schemas.microsoft.com/office/drawing/2014/main" id="{12D4FFA5-E069-5132-0252-C9440426B00B}"/>
              </a:ext>
            </a:extLst>
          </p:cNvPr>
          <p:cNvSpPr/>
          <p:nvPr/>
        </p:nvSpPr>
        <p:spPr>
          <a:xfrm>
            <a:off x="4779774" y="2418964"/>
            <a:ext cx="448780" cy="375953"/>
          </a:xfrm>
          <a:prstGeom prst="roundRect">
            <a:avLst/>
          </a:prstGeom>
          <a:solidFill>
            <a:srgbClr val="C5E0B4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en-US" altLang="zh-TW" dirty="0">
                <a:solidFill>
                  <a:schemeClr val="tx1"/>
                </a:solidFill>
              </a:rPr>
              <a:t>y</a:t>
            </a:r>
            <a:r>
              <a:rPr kumimoji="1" lang="en-US" altLang="zh-TW" baseline="-25000" dirty="0">
                <a:solidFill>
                  <a:schemeClr val="tx1"/>
                </a:solidFill>
              </a:rPr>
              <a:t>7</a:t>
            </a:r>
            <a:endParaRPr kumimoji="1" lang="zh-TW" altLang="en-US" dirty="0">
              <a:solidFill>
                <a:schemeClr val="tx1"/>
              </a:solidFill>
            </a:endParaRPr>
          </a:p>
        </p:txBody>
      </p:sp>
      <p:sp>
        <p:nvSpPr>
          <p:cNvPr id="42" name="圓角矩形 41">
            <a:extLst>
              <a:ext uri="{FF2B5EF4-FFF2-40B4-BE49-F238E27FC236}">
                <a16:creationId xmlns:a16="http://schemas.microsoft.com/office/drawing/2014/main" id="{E4E53AC8-CA3F-F889-7A24-4FEF67F8FB30}"/>
              </a:ext>
            </a:extLst>
          </p:cNvPr>
          <p:cNvSpPr/>
          <p:nvPr/>
        </p:nvSpPr>
        <p:spPr>
          <a:xfrm>
            <a:off x="2249897" y="2418964"/>
            <a:ext cx="448780" cy="375953"/>
          </a:xfrm>
          <a:prstGeom prst="roundRect">
            <a:avLst/>
          </a:prstGeom>
          <a:solidFill>
            <a:srgbClr val="C5E0B4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en-US" altLang="zh-TW" dirty="0">
                <a:solidFill>
                  <a:schemeClr val="tx1"/>
                </a:solidFill>
              </a:rPr>
              <a:t>y</a:t>
            </a:r>
            <a:r>
              <a:rPr kumimoji="1" lang="en-US" altLang="zh-TW" baseline="-25000" dirty="0">
                <a:solidFill>
                  <a:schemeClr val="tx1"/>
                </a:solidFill>
              </a:rPr>
              <a:t>2</a:t>
            </a:r>
            <a:endParaRPr kumimoji="1" lang="zh-TW" altLang="en-US" dirty="0">
              <a:solidFill>
                <a:schemeClr val="tx1"/>
              </a:solidFill>
            </a:endParaRPr>
          </a:p>
        </p:txBody>
      </p:sp>
      <p:sp>
        <p:nvSpPr>
          <p:cNvPr id="43" name="圓角矩形 42">
            <a:extLst>
              <a:ext uri="{FF2B5EF4-FFF2-40B4-BE49-F238E27FC236}">
                <a16:creationId xmlns:a16="http://schemas.microsoft.com/office/drawing/2014/main" id="{0FC23321-FC0E-086A-A81C-1AD8E45C459F}"/>
              </a:ext>
            </a:extLst>
          </p:cNvPr>
          <p:cNvSpPr/>
          <p:nvPr/>
        </p:nvSpPr>
        <p:spPr>
          <a:xfrm>
            <a:off x="2755872" y="2418964"/>
            <a:ext cx="448780" cy="375953"/>
          </a:xfrm>
          <a:prstGeom prst="roundRect">
            <a:avLst/>
          </a:prstGeom>
          <a:solidFill>
            <a:srgbClr val="C5E0B4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en-US" altLang="zh-TW" dirty="0">
                <a:solidFill>
                  <a:schemeClr val="tx1"/>
                </a:solidFill>
              </a:rPr>
              <a:t>y</a:t>
            </a:r>
            <a:r>
              <a:rPr kumimoji="1" lang="en-US" altLang="zh-TW" baseline="-25000" dirty="0">
                <a:solidFill>
                  <a:schemeClr val="tx1"/>
                </a:solidFill>
              </a:rPr>
              <a:t>3</a:t>
            </a:r>
            <a:endParaRPr kumimoji="1" lang="zh-TW" altLang="en-US" dirty="0">
              <a:solidFill>
                <a:schemeClr val="tx1"/>
              </a:solidFill>
            </a:endParaRPr>
          </a:p>
        </p:txBody>
      </p:sp>
      <p:sp>
        <p:nvSpPr>
          <p:cNvPr id="44" name="圓角矩形 43">
            <a:extLst>
              <a:ext uri="{FF2B5EF4-FFF2-40B4-BE49-F238E27FC236}">
                <a16:creationId xmlns:a16="http://schemas.microsoft.com/office/drawing/2014/main" id="{296D0F49-ED38-2C87-075D-EE8E39BFDC08}"/>
              </a:ext>
            </a:extLst>
          </p:cNvPr>
          <p:cNvSpPr/>
          <p:nvPr/>
        </p:nvSpPr>
        <p:spPr>
          <a:xfrm>
            <a:off x="3261848" y="2418964"/>
            <a:ext cx="448780" cy="375953"/>
          </a:xfrm>
          <a:prstGeom prst="roundRect">
            <a:avLst/>
          </a:prstGeom>
          <a:solidFill>
            <a:srgbClr val="C5E0B4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en-US" altLang="zh-TW" dirty="0">
                <a:solidFill>
                  <a:schemeClr val="tx1"/>
                </a:solidFill>
              </a:rPr>
              <a:t>y</a:t>
            </a:r>
            <a:r>
              <a:rPr kumimoji="1" lang="en-US" altLang="zh-TW" baseline="-25000" dirty="0">
                <a:solidFill>
                  <a:schemeClr val="tx1"/>
                </a:solidFill>
              </a:rPr>
              <a:t>4</a:t>
            </a:r>
            <a:endParaRPr kumimoji="1" lang="zh-TW" altLang="en-US" dirty="0">
              <a:solidFill>
                <a:schemeClr val="tx1"/>
              </a:solidFill>
            </a:endParaRPr>
          </a:p>
        </p:txBody>
      </p:sp>
      <p:sp>
        <p:nvSpPr>
          <p:cNvPr id="45" name="圓角矩形 44">
            <a:extLst>
              <a:ext uri="{FF2B5EF4-FFF2-40B4-BE49-F238E27FC236}">
                <a16:creationId xmlns:a16="http://schemas.microsoft.com/office/drawing/2014/main" id="{7423AF29-B7FA-C06B-210D-2C620D37F568}"/>
              </a:ext>
            </a:extLst>
          </p:cNvPr>
          <p:cNvSpPr/>
          <p:nvPr/>
        </p:nvSpPr>
        <p:spPr>
          <a:xfrm>
            <a:off x="3767824" y="2418964"/>
            <a:ext cx="448780" cy="375953"/>
          </a:xfrm>
          <a:prstGeom prst="roundRect">
            <a:avLst/>
          </a:prstGeom>
          <a:solidFill>
            <a:srgbClr val="C5E0B4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en-US" altLang="zh-TW" dirty="0">
                <a:solidFill>
                  <a:schemeClr val="tx1"/>
                </a:solidFill>
              </a:rPr>
              <a:t>y</a:t>
            </a:r>
            <a:r>
              <a:rPr kumimoji="1" lang="en-US" altLang="zh-TW" baseline="-25000" dirty="0">
                <a:solidFill>
                  <a:schemeClr val="tx1"/>
                </a:solidFill>
              </a:rPr>
              <a:t>5</a:t>
            </a:r>
            <a:endParaRPr kumimoji="1" lang="zh-TW" altLang="en-US" dirty="0">
              <a:solidFill>
                <a:schemeClr val="tx1"/>
              </a:solidFill>
            </a:endParaRPr>
          </a:p>
        </p:txBody>
      </p:sp>
      <p:sp>
        <p:nvSpPr>
          <p:cNvPr id="46" name="圓角矩形 45">
            <a:extLst>
              <a:ext uri="{FF2B5EF4-FFF2-40B4-BE49-F238E27FC236}">
                <a16:creationId xmlns:a16="http://schemas.microsoft.com/office/drawing/2014/main" id="{0904B468-014C-98DD-E154-1ECB36EA3A9B}"/>
              </a:ext>
            </a:extLst>
          </p:cNvPr>
          <p:cNvSpPr/>
          <p:nvPr/>
        </p:nvSpPr>
        <p:spPr>
          <a:xfrm>
            <a:off x="5284821" y="2413309"/>
            <a:ext cx="448780" cy="375953"/>
          </a:xfrm>
          <a:prstGeom prst="roundRect">
            <a:avLst/>
          </a:prstGeom>
          <a:solidFill>
            <a:srgbClr val="C5E0B4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en-US" altLang="zh-TW" dirty="0">
                <a:solidFill>
                  <a:schemeClr val="tx1"/>
                </a:solidFill>
              </a:rPr>
              <a:t>y</a:t>
            </a:r>
            <a:r>
              <a:rPr kumimoji="1" lang="en-US" altLang="zh-TW" baseline="-25000" dirty="0">
                <a:solidFill>
                  <a:schemeClr val="tx1"/>
                </a:solidFill>
              </a:rPr>
              <a:t>8</a:t>
            </a:r>
            <a:endParaRPr kumimoji="1" lang="zh-TW" altLang="en-US" dirty="0">
              <a:solidFill>
                <a:schemeClr val="tx1"/>
              </a:solidFill>
            </a:endParaRPr>
          </a:p>
        </p:txBody>
      </p:sp>
      <p:sp>
        <p:nvSpPr>
          <p:cNvPr id="47" name="上-下雙向箭號 46">
            <a:extLst>
              <a:ext uri="{FF2B5EF4-FFF2-40B4-BE49-F238E27FC236}">
                <a16:creationId xmlns:a16="http://schemas.microsoft.com/office/drawing/2014/main" id="{FEE2EFC4-30D8-48ED-C0BC-61FE655BA220}"/>
              </a:ext>
            </a:extLst>
          </p:cNvPr>
          <p:cNvSpPr/>
          <p:nvPr/>
        </p:nvSpPr>
        <p:spPr>
          <a:xfrm>
            <a:off x="1872480" y="2836782"/>
            <a:ext cx="174859" cy="623656"/>
          </a:xfrm>
          <a:prstGeom prst="upDownArrow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48" name="上-下雙向箭號 47">
            <a:extLst>
              <a:ext uri="{FF2B5EF4-FFF2-40B4-BE49-F238E27FC236}">
                <a16:creationId xmlns:a16="http://schemas.microsoft.com/office/drawing/2014/main" id="{94342D6D-402B-BF3D-088E-6A550D348A27}"/>
              </a:ext>
            </a:extLst>
          </p:cNvPr>
          <p:cNvSpPr/>
          <p:nvPr/>
        </p:nvSpPr>
        <p:spPr>
          <a:xfrm>
            <a:off x="2393466" y="2836782"/>
            <a:ext cx="174859" cy="623656"/>
          </a:xfrm>
          <a:prstGeom prst="upDownArrow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49" name="上-下雙向箭號 48">
            <a:extLst>
              <a:ext uri="{FF2B5EF4-FFF2-40B4-BE49-F238E27FC236}">
                <a16:creationId xmlns:a16="http://schemas.microsoft.com/office/drawing/2014/main" id="{AE3BFD3D-DD51-31A8-68DD-2CC4BDD6B63D}"/>
              </a:ext>
            </a:extLst>
          </p:cNvPr>
          <p:cNvSpPr/>
          <p:nvPr/>
        </p:nvSpPr>
        <p:spPr>
          <a:xfrm>
            <a:off x="2896719" y="2836782"/>
            <a:ext cx="174859" cy="623656"/>
          </a:xfrm>
          <a:prstGeom prst="upDownArrow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50" name="上-下雙向箭號 49">
            <a:extLst>
              <a:ext uri="{FF2B5EF4-FFF2-40B4-BE49-F238E27FC236}">
                <a16:creationId xmlns:a16="http://schemas.microsoft.com/office/drawing/2014/main" id="{62632BED-5A3E-45A1-5812-40154201BE93}"/>
              </a:ext>
            </a:extLst>
          </p:cNvPr>
          <p:cNvSpPr/>
          <p:nvPr/>
        </p:nvSpPr>
        <p:spPr>
          <a:xfrm>
            <a:off x="3397879" y="2837552"/>
            <a:ext cx="174859" cy="623656"/>
          </a:xfrm>
          <a:prstGeom prst="upDownArrow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51" name="上-下雙向箭號 50">
            <a:extLst>
              <a:ext uri="{FF2B5EF4-FFF2-40B4-BE49-F238E27FC236}">
                <a16:creationId xmlns:a16="http://schemas.microsoft.com/office/drawing/2014/main" id="{DBFDA0FC-7933-D42C-22FA-FAB603ED5F0C}"/>
              </a:ext>
            </a:extLst>
          </p:cNvPr>
          <p:cNvSpPr/>
          <p:nvPr/>
        </p:nvSpPr>
        <p:spPr>
          <a:xfrm>
            <a:off x="3903002" y="2845904"/>
            <a:ext cx="174859" cy="623656"/>
          </a:xfrm>
          <a:prstGeom prst="upDownArrow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52" name="上-下雙向箭號 51">
            <a:extLst>
              <a:ext uri="{FF2B5EF4-FFF2-40B4-BE49-F238E27FC236}">
                <a16:creationId xmlns:a16="http://schemas.microsoft.com/office/drawing/2014/main" id="{80B38B2F-8C1D-1532-F1E8-F84F2A359FD6}"/>
              </a:ext>
            </a:extLst>
          </p:cNvPr>
          <p:cNvSpPr/>
          <p:nvPr/>
        </p:nvSpPr>
        <p:spPr>
          <a:xfrm>
            <a:off x="4423988" y="2845904"/>
            <a:ext cx="174859" cy="623656"/>
          </a:xfrm>
          <a:prstGeom prst="upDownArrow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53" name="上-下雙向箭號 52">
            <a:extLst>
              <a:ext uri="{FF2B5EF4-FFF2-40B4-BE49-F238E27FC236}">
                <a16:creationId xmlns:a16="http://schemas.microsoft.com/office/drawing/2014/main" id="{DCFAC07A-B238-C8CA-AD41-5EF78381866A}"/>
              </a:ext>
            </a:extLst>
          </p:cNvPr>
          <p:cNvSpPr/>
          <p:nvPr/>
        </p:nvSpPr>
        <p:spPr>
          <a:xfrm>
            <a:off x="4927241" y="2845904"/>
            <a:ext cx="174859" cy="623656"/>
          </a:xfrm>
          <a:prstGeom prst="upDownArrow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54" name="上-下雙向箭號 53">
            <a:extLst>
              <a:ext uri="{FF2B5EF4-FFF2-40B4-BE49-F238E27FC236}">
                <a16:creationId xmlns:a16="http://schemas.microsoft.com/office/drawing/2014/main" id="{2DC700A7-508A-5B6D-69C0-92BAC577B201}"/>
              </a:ext>
            </a:extLst>
          </p:cNvPr>
          <p:cNvSpPr/>
          <p:nvPr/>
        </p:nvSpPr>
        <p:spPr>
          <a:xfrm>
            <a:off x="5428401" y="2846674"/>
            <a:ext cx="174859" cy="623656"/>
          </a:xfrm>
          <a:prstGeom prst="upDownArrow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63" name="文字方塊 62">
            <a:extLst>
              <a:ext uri="{FF2B5EF4-FFF2-40B4-BE49-F238E27FC236}">
                <a16:creationId xmlns:a16="http://schemas.microsoft.com/office/drawing/2014/main" id="{14BADB57-2B1D-3ECD-3479-9FAF022A3871}"/>
              </a:ext>
            </a:extLst>
          </p:cNvPr>
          <p:cNvSpPr txBox="1"/>
          <p:nvPr/>
        </p:nvSpPr>
        <p:spPr>
          <a:xfrm>
            <a:off x="804994" y="2824763"/>
            <a:ext cx="93769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zh-TW" altLang="en-US" dirty="0">
                <a:solidFill>
                  <a:srgbClr val="0070C0"/>
                </a:solidFill>
              </a:rPr>
              <a:t>越接近越好</a:t>
            </a:r>
          </a:p>
        </p:txBody>
      </p:sp>
      <p:pic>
        <p:nvPicPr>
          <p:cNvPr id="2052" name="Picture 4" descr="undefined">
            <a:extLst>
              <a:ext uri="{FF2B5EF4-FFF2-40B4-BE49-F238E27FC236}">
                <a16:creationId xmlns:a16="http://schemas.microsoft.com/office/drawing/2014/main" id="{A4FD47C9-FEB3-FB9B-65B5-2E565815E9C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74712" y="3775095"/>
            <a:ext cx="818480" cy="8356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048" name="橢圓圖說文字 2047">
            <a:extLst>
              <a:ext uri="{FF2B5EF4-FFF2-40B4-BE49-F238E27FC236}">
                <a16:creationId xmlns:a16="http://schemas.microsoft.com/office/drawing/2014/main" id="{EB17AC62-BF63-36D2-91E4-E942F6C1B492}"/>
              </a:ext>
            </a:extLst>
          </p:cNvPr>
          <p:cNvSpPr/>
          <p:nvPr/>
        </p:nvSpPr>
        <p:spPr>
          <a:xfrm>
            <a:off x="7670388" y="2361974"/>
            <a:ext cx="3531480" cy="1516283"/>
          </a:xfrm>
          <a:prstGeom prst="wedgeEllipseCallout">
            <a:avLst>
              <a:gd name="adj1" fmla="val -39298"/>
              <a:gd name="adj2" fmla="val 52004"/>
            </a:avLst>
          </a:prstGeom>
          <a:noFill/>
          <a:ln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dirty="0">
                <a:solidFill>
                  <a:schemeClr val="tx1"/>
                </a:solidFill>
              </a:rPr>
              <a:t>(2018</a:t>
            </a:r>
            <a:r>
              <a:rPr kumimoji="1" lang="zh-TW" altLang="en-US" dirty="0">
                <a:solidFill>
                  <a:schemeClr val="tx1"/>
                </a:solidFill>
              </a:rPr>
              <a:t>年的</a:t>
            </a:r>
            <a:r>
              <a:rPr kumimoji="1" lang="en-US" altLang="zh-TW" dirty="0">
                <a:solidFill>
                  <a:schemeClr val="tx1"/>
                </a:solidFill>
              </a:rPr>
              <a:t>Google) GPT-1 </a:t>
            </a:r>
            <a:r>
              <a:rPr kumimoji="1" lang="zh-TW" altLang="en-US" dirty="0">
                <a:solidFill>
                  <a:schemeClr val="tx1"/>
                </a:solidFill>
              </a:rPr>
              <a:t>不好，因為訓練無雙向，</a:t>
            </a:r>
            <a:r>
              <a:rPr kumimoji="1" lang="en-US" altLang="zh-TW" dirty="0">
                <a:solidFill>
                  <a:schemeClr val="tx1"/>
                </a:solidFill>
              </a:rPr>
              <a:t>BERT</a:t>
            </a:r>
            <a:r>
              <a:rPr kumimoji="1" lang="zh-TW" altLang="en-US" dirty="0">
                <a:solidFill>
                  <a:schemeClr val="tx1"/>
                </a:solidFill>
              </a:rPr>
              <a:t> 最棒</a:t>
            </a:r>
          </a:p>
        </p:txBody>
      </p:sp>
    </p:spTree>
    <p:extLst>
      <p:ext uri="{BB962C8B-B14F-4D97-AF65-F5344CB8AC3E}">
        <p14:creationId xmlns:p14="http://schemas.microsoft.com/office/powerpoint/2010/main" val="27228407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>
                      <p:stCondLst>
                        <p:cond delay="indefinite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5" fill="hold">
                      <p:stCondLst>
                        <p:cond delay="indefinite"/>
                      </p:stCondLst>
                      <p:childTnLst>
                        <p:par>
                          <p:cTn id="116" fill="hold">
                            <p:stCondLst>
                              <p:cond delay="0"/>
                            </p:stCondLst>
                            <p:childTnLst>
                              <p:par>
                                <p:cTn id="1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22" grpId="0" animBg="1"/>
      <p:bldP spid="23" grpId="0" animBg="1"/>
      <p:bldP spid="24" grpId="0" animBg="1"/>
      <p:bldP spid="25" grpId="0" animBg="1"/>
      <p:bldP spid="31" grpId="0" animBg="1"/>
      <p:bldP spid="33" grpId="0" animBg="1"/>
      <p:bldP spid="35" grpId="0" animBg="1"/>
      <p:bldP spid="37" grpId="0" animBg="1"/>
      <p:bldP spid="39" grpId="0" animBg="1"/>
      <p:bldP spid="40" grpId="0" animBg="1"/>
      <p:bldP spid="41" grpId="0" animBg="1"/>
      <p:bldP spid="42" grpId="0" animBg="1"/>
      <p:bldP spid="43" grpId="0" animBg="1"/>
      <p:bldP spid="44" grpId="0" animBg="1"/>
      <p:bldP spid="45" grpId="0" animBg="1"/>
      <p:bldP spid="46" grpId="0" animBg="1"/>
      <p:bldP spid="47" grpId="0" animBg="1"/>
      <p:bldP spid="48" grpId="0" animBg="1"/>
      <p:bldP spid="49" grpId="0" animBg="1"/>
      <p:bldP spid="50" grpId="0" animBg="1"/>
      <p:bldP spid="51" grpId="0" animBg="1"/>
      <p:bldP spid="52" grpId="0" animBg="1"/>
      <p:bldP spid="53" grpId="0" animBg="1"/>
      <p:bldP spid="54" grpId="0" animBg="1"/>
      <p:bldP spid="63" grpId="0"/>
      <p:bldP spid="2048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3091F3A-F45F-2328-E980-CE8B9AC3AA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Encoder vs. Decoder in Pre-training</a:t>
            </a:r>
            <a:endParaRPr kumimoji="1"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ECC03F16-51D1-3EF7-C341-FA485265A8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12</a:t>
            </a:fld>
            <a:endParaRPr lang="en-US" dirty="0"/>
          </a:p>
        </p:txBody>
      </p:sp>
      <p:graphicFrame>
        <p:nvGraphicFramePr>
          <p:cNvPr id="5" name="表格 4">
            <a:extLst>
              <a:ext uri="{FF2B5EF4-FFF2-40B4-BE49-F238E27FC236}">
                <a16:creationId xmlns:a16="http://schemas.microsoft.com/office/drawing/2014/main" id="{55E0534D-B9FA-8092-FD48-28A2EC2B4B2B}"/>
              </a:ext>
            </a:extLst>
          </p:cNvPr>
          <p:cNvGraphicFramePr>
            <a:graphicFrameLocks noGrp="1"/>
          </p:cNvGraphicFramePr>
          <p:nvPr/>
        </p:nvGraphicFramePr>
        <p:xfrm>
          <a:off x="1226128" y="2590029"/>
          <a:ext cx="9310254" cy="256386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03418">
                  <a:extLst>
                    <a:ext uri="{9D8B030D-6E8A-4147-A177-3AD203B41FA5}">
                      <a16:colId xmlns:a16="http://schemas.microsoft.com/office/drawing/2014/main" val="2627988006"/>
                    </a:ext>
                  </a:extLst>
                </a:gridCol>
                <a:gridCol w="3103418">
                  <a:extLst>
                    <a:ext uri="{9D8B030D-6E8A-4147-A177-3AD203B41FA5}">
                      <a16:colId xmlns:a16="http://schemas.microsoft.com/office/drawing/2014/main" val="847722696"/>
                    </a:ext>
                  </a:extLst>
                </a:gridCol>
                <a:gridCol w="3103418">
                  <a:extLst>
                    <a:ext uri="{9D8B030D-6E8A-4147-A177-3AD203B41FA5}">
                      <a16:colId xmlns:a16="http://schemas.microsoft.com/office/drawing/2014/main" val="4199296597"/>
                    </a:ext>
                  </a:extLst>
                </a:gridCol>
              </a:tblGrid>
              <a:tr h="574116"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Encoder (e.g., BERT)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Decoder (e.g., GPT)</a:t>
                      </a:r>
                      <a:endParaRPr lang="zh-TW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64047364"/>
                  </a:ext>
                </a:extLst>
              </a:tr>
              <a:tr h="574116">
                <a:tc>
                  <a:txBody>
                    <a:bodyPr/>
                    <a:lstStyle/>
                    <a:p>
                      <a:r>
                        <a:rPr lang="en-US" altLang="zh-TW" dirty="0"/>
                        <a:t>Pre-training </a:t>
                      </a:r>
                      <a:r>
                        <a:rPr lang="zh-TW" altLang="en-US" dirty="0"/>
                        <a:t>方式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zh-TW" altLang="en-US" dirty="0"/>
                        <a:t>克漏字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zh-TW" altLang="en-US" dirty="0"/>
                        <a:t>文字接龍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26443118"/>
                  </a:ext>
                </a:extLst>
              </a:tr>
              <a:tr h="1415629">
                <a:tc>
                  <a:txBody>
                    <a:bodyPr/>
                    <a:lstStyle/>
                    <a:p>
                      <a:r>
                        <a:rPr lang="en-US" altLang="zh-TW" dirty="0"/>
                        <a:t>Pre-training </a:t>
                      </a:r>
                      <a:r>
                        <a:rPr lang="zh-TW" altLang="en-US" dirty="0"/>
                        <a:t>目標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zh-TW" altLang="en-US" dirty="0"/>
                        <a:t>透過</a:t>
                      </a:r>
                      <a:r>
                        <a:rPr lang="zh-TW" altLang="en-US" dirty="0">
                          <a:solidFill>
                            <a:srgbClr val="FF0000"/>
                          </a:solidFill>
                        </a:rPr>
                        <a:t>預測被遮住的字</a:t>
                      </a:r>
                      <a:r>
                        <a:rPr lang="zh-TW" altLang="en-US" dirty="0"/>
                        <a:t>來讓模型熟悉字跟字之間的關係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dirty="0"/>
                        <a:t>透過</a:t>
                      </a:r>
                      <a:r>
                        <a:rPr lang="zh-TW" altLang="en-US" dirty="0">
                          <a:solidFill>
                            <a:srgbClr val="FF0000"/>
                          </a:solidFill>
                        </a:rPr>
                        <a:t>根據上下文預測下一個字</a:t>
                      </a:r>
                      <a:r>
                        <a:rPr lang="zh-TW" altLang="en-US" dirty="0"/>
                        <a:t>來讓模型熟悉字跟字之間的關係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3409559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8923846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4790AFE-D7DE-EA72-C01D-9BE540A2E6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GPT-1</a:t>
            </a:r>
            <a:r>
              <a:rPr kumimoji="1" lang="zh-TW" altLang="en-US" dirty="0"/>
              <a:t> 與 </a:t>
            </a:r>
            <a:r>
              <a:rPr kumimoji="1" lang="en-US" altLang="zh-TW" dirty="0"/>
              <a:t>BERT</a:t>
            </a:r>
            <a:r>
              <a:rPr kumimoji="1" lang="zh-TW" altLang="en-US" dirty="0"/>
              <a:t> 的 </a:t>
            </a:r>
            <a:r>
              <a:rPr kumimoji="1" lang="en-US" altLang="zh-TW" dirty="0"/>
              <a:t>Fine-tuning</a:t>
            </a:r>
            <a:endParaRPr kumimoji="1"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6A31A247-7259-3966-A093-AC0085BF2F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13</a:t>
            </a:fld>
            <a:endParaRPr lang="en-US" dirty="0"/>
          </a:p>
        </p:txBody>
      </p:sp>
      <p:sp>
        <p:nvSpPr>
          <p:cNvPr id="5" name="圓角矩形 4">
            <a:extLst>
              <a:ext uri="{FF2B5EF4-FFF2-40B4-BE49-F238E27FC236}">
                <a16:creationId xmlns:a16="http://schemas.microsoft.com/office/drawing/2014/main" id="{50C32902-53C1-66A1-A4C2-69D39AE1057E}"/>
              </a:ext>
            </a:extLst>
          </p:cNvPr>
          <p:cNvSpPr/>
          <p:nvPr/>
        </p:nvSpPr>
        <p:spPr>
          <a:xfrm>
            <a:off x="6352306" y="4467924"/>
            <a:ext cx="4055873" cy="774600"/>
          </a:xfrm>
          <a:prstGeom prst="round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en-US" altLang="zh-TW" sz="2400" dirty="0">
                <a:solidFill>
                  <a:schemeClr val="tx1"/>
                </a:solidFill>
              </a:rPr>
              <a:t>Transformer Decoder</a:t>
            </a:r>
            <a:endParaRPr kumimoji="1" lang="zh-TW" altLang="en-US" sz="2400" dirty="0">
              <a:solidFill>
                <a:schemeClr val="tx1"/>
              </a:solidFill>
            </a:endParaRPr>
          </a:p>
        </p:txBody>
      </p:sp>
      <p:sp>
        <p:nvSpPr>
          <p:cNvPr id="6" name="圓角矩形 5">
            <a:extLst>
              <a:ext uri="{FF2B5EF4-FFF2-40B4-BE49-F238E27FC236}">
                <a16:creationId xmlns:a16="http://schemas.microsoft.com/office/drawing/2014/main" id="{7091DC60-DF3A-39F2-3287-D0C27DDD4282}"/>
              </a:ext>
            </a:extLst>
          </p:cNvPr>
          <p:cNvSpPr/>
          <p:nvPr/>
        </p:nvSpPr>
        <p:spPr>
          <a:xfrm>
            <a:off x="6434037" y="5615584"/>
            <a:ext cx="448780" cy="375953"/>
          </a:xfrm>
          <a:prstGeom prst="roundRect">
            <a:avLst/>
          </a:prstGeom>
          <a:solidFill>
            <a:srgbClr val="C5E0B4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en-US" altLang="zh-TW" dirty="0">
                <a:solidFill>
                  <a:schemeClr val="tx1"/>
                </a:solidFill>
              </a:rPr>
              <a:t>y</a:t>
            </a:r>
            <a:r>
              <a:rPr kumimoji="1" lang="en-US" altLang="zh-TW" baseline="-25000" dirty="0">
                <a:solidFill>
                  <a:schemeClr val="tx1"/>
                </a:solidFill>
              </a:rPr>
              <a:t>1</a:t>
            </a:r>
            <a:endParaRPr kumimoji="1" lang="zh-TW" altLang="en-US" dirty="0">
              <a:solidFill>
                <a:schemeClr val="tx1"/>
              </a:solidFill>
            </a:endParaRPr>
          </a:p>
        </p:txBody>
      </p:sp>
      <p:sp>
        <p:nvSpPr>
          <p:cNvPr id="7" name="圓角矩形 6">
            <a:extLst>
              <a:ext uri="{FF2B5EF4-FFF2-40B4-BE49-F238E27FC236}">
                <a16:creationId xmlns:a16="http://schemas.microsoft.com/office/drawing/2014/main" id="{36853CED-B1F5-4BCD-9AC9-04A0525A719A}"/>
              </a:ext>
            </a:extLst>
          </p:cNvPr>
          <p:cNvSpPr/>
          <p:nvPr/>
        </p:nvSpPr>
        <p:spPr>
          <a:xfrm>
            <a:off x="9348612" y="5615584"/>
            <a:ext cx="448780" cy="375953"/>
          </a:xfrm>
          <a:prstGeom prst="roundRect">
            <a:avLst/>
          </a:prstGeom>
          <a:solidFill>
            <a:schemeClr val="bg1">
              <a:lumMod val="8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kumimoji="1" lang="zh-TW" altLang="en-US" dirty="0">
              <a:solidFill>
                <a:schemeClr val="tx1"/>
              </a:solidFill>
            </a:endParaRPr>
          </a:p>
        </p:txBody>
      </p:sp>
      <p:sp>
        <p:nvSpPr>
          <p:cNvPr id="8" name="圓角矩形 7">
            <a:extLst>
              <a:ext uri="{FF2B5EF4-FFF2-40B4-BE49-F238E27FC236}">
                <a16:creationId xmlns:a16="http://schemas.microsoft.com/office/drawing/2014/main" id="{A349E604-642A-2CB5-3638-88AFFD64DD9D}"/>
              </a:ext>
            </a:extLst>
          </p:cNvPr>
          <p:cNvSpPr/>
          <p:nvPr/>
        </p:nvSpPr>
        <p:spPr>
          <a:xfrm>
            <a:off x="9931529" y="5615584"/>
            <a:ext cx="448780" cy="375953"/>
          </a:xfrm>
          <a:prstGeom prst="roundRect">
            <a:avLst/>
          </a:prstGeom>
          <a:solidFill>
            <a:schemeClr val="bg1">
              <a:lumMod val="8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kumimoji="1" lang="zh-TW" altLang="en-US" dirty="0">
              <a:solidFill>
                <a:schemeClr val="tx1"/>
              </a:solidFill>
            </a:endParaRPr>
          </a:p>
        </p:txBody>
      </p:sp>
      <p:sp>
        <p:nvSpPr>
          <p:cNvPr id="9" name="圓角矩形 8">
            <a:extLst>
              <a:ext uri="{FF2B5EF4-FFF2-40B4-BE49-F238E27FC236}">
                <a16:creationId xmlns:a16="http://schemas.microsoft.com/office/drawing/2014/main" id="{77E2E94B-FC7B-268A-68F0-601A18B861F6}"/>
              </a:ext>
            </a:extLst>
          </p:cNvPr>
          <p:cNvSpPr/>
          <p:nvPr/>
        </p:nvSpPr>
        <p:spPr>
          <a:xfrm>
            <a:off x="7016952" y="5615584"/>
            <a:ext cx="448780" cy="375953"/>
          </a:xfrm>
          <a:prstGeom prst="roundRect">
            <a:avLst/>
          </a:prstGeom>
          <a:solidFill>
            <a:schemeClr val="bg1">
              <a:lumMod val="8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kumimoji="1" lang="zh-TW" altLang="en-US" dirty="0">
              <a:solidFill>
                <a:schemeClr val="tx1"/>
              </a:solidFill>
            </a:endParaRPr>
          </a:p>
        </p:txBody>
      </p:sp>
      <p:sp>
        <p:nvSpPr>
          <p:cNvPr id="10" name="圓角矩形 9">
            <a:extLst>
              <a:ext uri="{FF2B5EF4-FFF2-40B4-BE49-F238E27FC236}">
                <a16:creationId xmlns:a16="http://schemas.microsoft.com/office/drawing/2014/main" id="{CBFCFD02-8052-534D-E907-BC68DCC2D072}"/>
              </a:ext>
            </a:extLst>
          </p:cNvPr>
          <p:cNvSpPr/>
          <p:nvPr/>
        </p:nvSpPr>
        <p:spPr>
          <a:xfrm>
            <a:off x="7599867" y="5615584"/>
            <a:ext cx="448780" cy="375953"/>
          </a:xfrm>
          <a:prstGeom prst="roundRect">
            <a:avLst/>
          </a:prstGeom>
          <a:solidFill>
            <a:schemeClr val="bg1">
              <a:lumMod val="8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kumimoji="1" lang="zh-TW" altLang="en-US" dirty="0">
              <a:solidFill>
                <a:schemeClr val="tx1"/>
              </a:solidFill>
            </a:endParaRPr>
          </a:p>
        </p:txBody>
      </p:sp>
      <p:sp>
        <p:nvSpPr>
          <p:cNvPr id="11" name="圓角矩形 10">
            <a:extLst>
              <a:ext uri="{FF2B5EF4-FFF2-40B4-BE49-F238E27FC236}">
                <a16:creationId xmlns:a16="http://schemas.microsoft.com/office/drawing/2014/main" id="{B9D964ED-9897-892E-A09C-8F0E26B924B7}"/>
              </a:ext>
            </a:extLst>
          </p:cNvPr>
          <p:cNvSpPr/>
          <p:nvPr/>
        </p:nvSpPr>
        <p:spPr>
          <a:xfrm>
            <a:off x="8182782" y="5615584"/>
            <a:ext cx="448780" cy="375953"/>
          </a:xfrm>
          <a:prstGeom prst="roundRect">
            <a:avLst/>
          </a:prstGeom>
          <a:solidFill>
            <a:schemeClr val="bg1">
              <a:lumMod val="8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kumimoji="1" lang="zh-TW" altLang="en-US" dirty="0">
              <a:solidFill>
                <a:schemeClr val="tx1"/>
              </a:solidFill>
            </a:endParaRPr>
          </a:p>
        </p:txBody>
      </p:sp>
      <p:sp>
        <p:nvSpPr>
          <p:cNvPr id="12" name="圓角矩形 11">
            <a:extLst>
              <a:ext uri="{FF2B5EF4-FFF2-40B4-BE49-F238E27FC236}">
                <a16:creationId xmlns:a16="http://schemas.microsoft.com/office/drawing/2014/main" id="{896FBD26-FCF9-E738-F031-A43B7CD72F76}"/>
              </a:ext>
            </a:extLst>
          </p:cNvPr>
          <p:cNvSpPr/>
          <p:nvPr/>
        </p:nvSpPr>
        <p:spPr>
          <a:xfrm>
            <a:off x="8765697" y="5615584"/>
            <a:ext cx="448780" cy="375953"/>
          </a:xfrm>
          <a:prstGeom prst="roundRect">
            <a:avLst/>
          </a:prstGeom>
          <a:solidFill>
            <a:schemeClr val="bg1">
              <a:lumMod val="8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kumimoji="1" lang="zh-TW" altLang="en-US" dirty="0">
              <a:solidFill>
                <a:schemeClr val="tx1"/>
              </a:solidFill>
            </a:endParaRPr>
          </a:p>
        </p:txBody>
      </p:sp>
      <p:cxnSp>
        <p:nvCxnSpPr>
          <p:cNvPr id="13" name="直線箭頭接點 12">
            <a:extLst>
              <a:ext uri="{FF2B5EF4-FFF2-40B4-BE49-F238E27FC236}">
                <a16:creationId xmlns:a16="http://schemas.microsoft.com/office/drawing/2014/main" id="{243F7FCF-696D-5673-5F7C-6ED93CF3A255}"/>
              </a:ext>
            </a:extLst>
          </p:cNvPr>
          <p:cNvCxnSpPr>
            <a:cxnSpLocks/>
          </p:cNvCxnSpPr>
          <p:nvPr/>
        </p:nvCxnSpPr>
        <p:spPr>
          <a:xfrm flipV="1">
            <a:off x="6665965" y="5304123"/>
            <a:ext cx="0" cy="263988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線箭頭接點 13">
            <a:extLst>
              <a:ext uri="{FF2B5EF4-FFF2-40B4-BE49-F238E27FC236}">
                <a16:creationId xmlns:a16="http://schemas.microsoft.com/office/drawing/2014/main" id="{391A7AEA-9F44-955E-6B6C-9BE593596195}"/>
              </a:ext>
            </a:extLst>
          </p:cNvPr>
          <p:cNvCxnSpPr>
            <a:cxnSpLocks/>
          </p:cNvCxnSpPr>
          <p:nvPr/>
        </p:nvCxnSpPr>
        <p:spPr>
          <a:xfrm flipV="1">
            <a:off x="7246159" y="5304123"/>
            <a:ext cx="0" cy="263988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線箭頭接點 14">
            <a:extLst>
              <a:ext uri="{FF2B5EF4-FFF2-40B4-BE49-F238E27FC236}">
                <a16:creationId xmlns:a16="http://schemas.microsoft.com/office/drawing/2014/main" id="{4B4AE3DE-FF21-0DE9-4A8B-B513FD07B996}"/>
              </a:ext>
            </a:extLst>
          </p:cNvPr>
          <p:cNvCxnSpPr>
            <a:cxnSpLocks/>
          </p:cNvCxnSpPr>
          <p:nvPr/>
        </p:nvCxnSpPr>
        <p:spPr>
          <a:xfrm flipV="1">
            <a:off x="7826353" y="5304123"/>
            <a:ext cx="0" cy="263988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線箭頭接點 15">
            <a:extLst>
              <a:ext uri="{FF2B5EF4-FFF2-40B4-BE49-F238E27FC236}">
                <a16:creationId xmlns:a16="http://schemas.microsoft.com/office/drawing/2014/main" id="{8B6FB396-C1C9-4213-B6D3-A467294CD413}"/>
              </a:ext>
            </a:extLst>
          </p:cNvPr>
          <p:cNvCxnSpPr>
            <a:cxnSpLocks/>
          </p:cNvCxnSpPr>
          <p:nvPr/>
        </p:nvCxnSpPr>
        <p:spPr>
          <a:xfrm flipV="1">
            <a:off x="8406547" y="5304123"/>
            <a:ext cx="0" cy="263988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線箭頭接點 16">
            <a:extLst>
              <a:ext uri="{FF2B5EF4-FFF2-40B4-BE49-F238E27FC236}">
                <a16:creationId xmlns:a16="http://schemas.microsoft.com/office/drawing/2014/main" id="{8D6EDD26-449C-ABEE-64F0-0E6041B0816B}"/>
              </a:ext>
            </a:extLst>
          </p:cNvPr>
          <p:cNvCxnSpPr>
            <a:cxnSpLocks/>
          </p:cNvCxnSpPr>
          <p:nvPr/>
        </p:nvCxnSpPr>
        <p:spPr>
          <a:xfrm flipV="1">
            <a:off x="8986741" y="5304123"/>
            <a:ext cx="0" cy="263988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線箭頭接點 17">
            <a:extLst>
              <a:ext uri="{FF2B5EF4-FFF2-40B4-BE49-F238E27FC236}">
                <a16:creationId xmlns:a16="http://schemas.microsoft.com/office/drawing/2014/main" id="{17AC5168-9B36-B26B-13F2-039F61F90F47}"/>
              </a:ext>
            </a:extLst>
          </p:cNvPr>
          <p:cNvCxnSpPr>
            <a:cxnSpLocks/>
          </p:cNvCxnSpPr>
          <p:nvPr/>
        </p:nvCxnSpPr>
        <p:spPr>
          <a:xfrm flipV="1">
            <a:off x="9566935" y="5304123"/>
            <a:ext cx="0" cy="263988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線箭頭接點 18">
            <a:extLst>
              <a:ext uri="{FF2B5EF4-FFF2-40B4-BE49-F238E27FC236}">
                <a16:creationId xmlns:a16="http://schemas.microsoft.com/office/drawing/2014/main" id="{ADDC28B7-9D3E-CAAC-37A0-9AB66AD45FB7}"/>
              </a:ext>
            </a:extLst>
          </p:cNvPr>
          <p:cNvCxnSpPr>
            <a:cxnSpLocks/>
          </p:cNvCxnSpPr>
          <p:nvPr/>
        </p:nvCxnSpPr>
        <p:spPr>
          <a:xfrm flipV="1">
            <a:off x="10147128" y="5304123"/>
            <a:ext cx="0" cy="263988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圓角矩形 21">
            <a:extLst>
              <a:ext uri="{FF2B5EF4-FFF2-40B4-BE49-F238E27FC236}">
                <a16:creationId xmlns:a16="http://schemas.microsoft.com/office/drawing/2014/main" id="{2F46E348-E5F2-F084-7266-E509FC23C677}"/>
              </a:ext>
            </a:extLst>
          </p:cNvPr>
          <p:cNvSpPr/>
          <p:nvPr/>
        </p:nvSpPr>
        <p:spPr>
          <a:xfrm>
            <a:off x="7016950" y="5615583"/>
            <a:ext cx="448780" cy="375953"/>
          </a:xfrm>
          <a:prstGeom prst="roundRect">
            <a:avLst/>
          </a:prstGeom>
          <a:solidFill>
            <a:srgbClr val="C5E0B4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en-US" altLang="zh-TW" dirty="0">
                <a:solidFill>
                  <a:schemeClr val="tx1"/>
                </a:solidFill>
              </a:rPr>
              <a:t>y</a:t>
            </a:r>
            <a:r>
              <a:rPr kumimoji="1" lang="en-US" altLang="zh-TW" baseline="-25000" dirty="0">
                <a:solidFill>
                  <a:schemeClr val="tx1"/>
                </a:solidFill>
              </a:rPr>
              <a:t>2</a:t>
            </a:r>
            <a:endParaRPr kumimoji="1" lang="zh-TW" altLang="en-US" dirty="0">
              <a:solidFill>
                <a:schemeClr val="tx1"/>
              </a:solidFill>
            </a:endParaRPr>
          </a:p>
        </p:txBody>
      </p:sp>
      <p:sp>
        <p:nvSpPr>
          <p:cNvPr id="25" name="圓角矩形 24">
            <a:extLst>
              <a:ext uri="{FF2B5EF4-FFF2-40B4-BE49-F238E27FC236}">
                <a16:creationId xmlns:a16="http://schemas.microsoft.com/office/drawing/2014/main" id="{A61F01F9-4809-29A0-E4CC-A5CE3848F25E}"/>
              </a:ext>
            </a:extLst>
          </p:cNvPr>
          <p:cNvSpPr/>
          <p:nvPr/>
        </p:nvSpPr>
        <p:spPr>
          <a:xfrm>
            <a:off x="7599867" y="5615583"/>
            <a:ext cx="448780" cy="375953"/>
          </a:xfrm>
          <a:prstGeom prst="roundRect">
            <a:avLst/>
          </a:prstGeom>
          <a:solidFill>
            <a:srgbClr val="C5E0B4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en-US" altLang="zh-TW" dirty="0">
                <a:solidFill>
                  <a:schemeClr val="tx1"/>
                </a:solidFill>
              </a:rPr>
              <a:t>y</a:t>
            </a:r>
            <a:r>
              <a:rPr kumimoji="1" lang="en-US" altLang="zh-TW" baseline="-25000" dirty="0">
                <a:solidFill>
                  <a:schemeClr val="tx1"/>
                </a:solidFill>
              </a:rPr>
              <a:t>3</a:t>
            </a:r>
            <a:endParaRPr kumimoji="1" lang="zh-TW" altLang="en-US" dirty="0">
              <a:solidFill>
                <a:schemeClr val="tx1"/>
              </a:solidFill>
            </a:endParaRPr>
          </a:p>
        </p:txBody>
      </p:sp>
      <p:sp>
        <p:nvSpPr>
          <p:cNvPr id="26" name="圓角矩形 25">
            <a:extLst>
              <a:ext uri="{FF2B5EF4-FFF2-40B4-BE49-F238E27FC236}">
                <a16:creationId xmlns:a16="http://schemas.microsoft.com/office/drawing/2014/main" id="{C985FDD7-C684-106B-45C6-220EC3F4C030}"/>
              </a:ext>
            </a:extLst>
          </p:cNvPr>
          <p:cNvSpPr/>
          <p:nvPr/>
        </p:nvSpPr>
        <p:spPr>
          <a:xfrm>
            <a:off x="8182157" y="5615582"/>
            <a:ext cx="448780" cy="375953"/>
          </a:xfrm>
          <a:prstGeom prst="roundRect">
            <a:avLst/>
          </a:prstGeom>
          <a:solidFill>
            <a:srgbClr val="C5E0B4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en-US" altLang="zh-TW" dirty="0">
                <a:solidFill>
                  <a:schemeClr val="tx1"/>
                </a:solidFill>
              </a:rPr>
              <a:t>y</a:t>
            </a:r>
            <a:r>
              <a:rPr kumimoji="1" lang="en-US" altLang="zh-TW" baseline="-25000" dirty="0">
                <a:solidFill>
                  <a:schemeClr val="tx1"/>
                </a:solidFill>
              </a:rPr>
              <a:t>4</a:t>
            </a:r>
            <a:endParaRPr kumimoji="1" lang="zh-TW" altLang="en-US" dirty="0">
              <a:solidFill>
                <a:schemeClr val="tx1"/>
              </a:solidFill>
            </a:endParaRPr>
          </a:p>
        </p:txBody>
      </p:sp>
      <p:sp>
        <p:nvSpPr>
          <p:cNvPr id="27" name="圓角矩形 26">
            <a:extLst>
              <a:ext uri="{FF2B5EF4-FFF2-40B4-BE49-F238E27FC236}">
                <a16:creationId xmlns:a16="http://schemas.microsoft.com/office/drawing/2014/main" id="{72B5C873-D1B9-8544-6B5A-C14407E68C95}"/>
              </a:ext>
            </a:extLst>
          </p:cNvPr>
          <p:cNvSpPr/>
          <p:nvPr/>
        </p:nvSpPr>
        <p:spPr>
          <a:xfrm>
            <a:off x="8765695" y="5615581"/>
            <a:ext cx="448780" cy="375953"/>
          </a:xfrm>
          <a:prstGeom prst="roundRect">
            <a:avLst/>
          </a:prstGeom>
          <a:solidFill>
            <a:srgbClr val="C5E0B4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en-US" altLang="zh-TW" dirty="0">
                <a:solidFill>
                  <a:schemeClr val="tx1"/>
                </a:solidFill>
              </a:rPr>
              <a:t>y</a:t>
            </a:r>
            <a:r>
              <a:rPr kumimoji="1" lang="en-US" altLang="zh-TW" baseline="-25000" dirty="0">
                <a:solidFill>
                  <a:schemeClr val="tx1"/>
                </a:solidFill>
              </a:rPr>
              <a:t>5</a:t>
            </a:r>
            <a:endParaRPr kumimoji="1" lang="zh-TW" altLang="en-US" dirty="0">
              <a:solidFill>
                <a:schemeClr val="tx1"/>
              </a:solidFill>
            </a:endParaRPr>
          </a:p>
        </p:txBody>
      </p:sp>
      <p:sp>
        <p:nvSpPr>
          <p:cNvPr id="28" name="圓角矩形 27">
            <a:extLst>
              <a:ext uri="{FF2B5EF4-FFF2-40B4-BE49-F238E27FC236}">
                <a16:creationId xmlns:a16="http://schemas.microsoft.com/office/drawing/2014/main" id="{99F865CE-C64E-9A66-F6F9-055919FB66E9}"/>
              </a:ext>
            </a:extLst>
          </p:cNvPr>
          <p:cNvSpPr/>
          <p:nvPr/>
        </p:nvSpPr>
        <p:spPr>
          <a:xfrm>
            <a:off x="9348612" y="5615580"/>
            <a:ext cx="448780" cy="375953"/>
          </a:xfrm>
          <a:prstGeom prst="roundRect">
            <a:avLst/>
          </a:prstGeom>
          <a:solidFill>
            <a:srgbClr val="C5E0B4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en-US" altLang="zh-TW" dirty="0">
                <a:solidFill>
                  <a:schemeClr val="tx1"/>
                </a:solidFill>
              </a:rPr>
              <a:t>y</a:t>
            </a:r>
            <a:r>
              <a:rPr kumimoji="1" lang="en-US" altLang="zh-TW" baseline="-25000" dirty="0">
                <a:solidFill>
                  <a:schemeClr val="tx1"/>
                </a:solidFill>
              </a:rPr>
              <a:t>6</a:t>
            </a:r>
            <a:endParaRPr kumimoji="1" lang="zh-TW" altLang="en-US" dirty="0">
              <a:solidFill>
                <a:schemeClr val="tx1"/>
              </a:solidFill>
            </a:endParaRPr>
          </a:p>
        </p:txBody>
      </p:sp>
      <p:sp>
        <p:nvSpPr>
          <p:cNvPr id="29" name="圓角矩形 28">
            <a:extLst>
              <a:ext uri="{FF2B5EF4-FFF2-40B4-BE49-F238E27FC236}">
                <a16:creationId xmlns:a16="http://schemas.microsoft.com/office/drawing/2014/main" id="{325EC525-F37C-D17A-78EA-0CDE248207C3}"/>
              </a:ext>
            </a:extLst>
          </p:cNvPr>
          <p:cNvSpPr/>
          <p:nvPr/>
        </p:nvSpPr>
        <p:spPr>
          <a:xfrm>
            <a:off x="9931529" y="5615579"/>
            <a:ext cx="448780" cy="375953"/>
          </a:xfrm>
          <a:prstGeom prst="roundRect">
            <a:avLst/>
          </a:prstGeom>
          <a:solidFill>
            <a:srgbClr val="C5E0B4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en-US" altLang="zh-TW" dirty="0">
                <a:solidFill>
                  <a:schemeClr val="tx1"/>
                </a:solidFill>
              </a:rPr>
              <a:t>y</a:t>
            </a:r>
            <a:r>
              <a:rPr kumimoji="1" lang="en-US" altLang="zh-TW" baseline="-25000" dirty="0">
                <a:solidFill>
                  <a:schemeClr val="tx1"/>
                </a:solidFill>
              </a:rPr>
              <a:t>7</a:t>
            </a:r>
            <a:endParaRPr kumimoji="1" lang="zh-TW" altLang="en-US" dirty="0">
              <a:solidFill>
                <a:schemeClr val="tx1"/>
              </a:solidFill>
            </a:endParaRPr>
          </a:p>
        </p:txBody>
      </p:sp>
      <p:sp>
        <p:nvSpPr>
          <p:cNvPr id="42" name="Google Shape;200;p17">
            <a:extLst>
              <a:ext uri="{FF2B5EF4-FFF2-40B4-BE49-F238E27FC236}">
                <a16:creationId xmlns:a16="http://schemas.microsoft.com/office/drawing/2014/main" id="{BE50C9EC-242E-8492-90D8-1E9D9D6093BC}"/>
              </a:ext>
            </a:extLst>
          </p:cNvPr>
          <p:cNvSpPr txBox="1"/>
          <p:nvPr/>
        </p:nvSpPr>
        <p:spPr>
          <a:xfrm>
            <a:off x="10805115" y="2544945"/>
            <a:ext cx="754871" cy="4308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dirty="0">
                <a:solidFill>
                  <a:srgbClr val="FF0000"/>
                </a:solidFill>
                <a:latin typeface="Roboto"/>
                <a:ea typeface="Roboto"/>
                <a:cs typeface="Roboto"/>
                <a:sym typeface="Roboto"/>
              </a:rPr>
              <a:t>class</a:t>
            </a:r>
            <a:endParaRPr sz="1600" dirty="0">
              <a:solidFill>
                <a:srgbClr val="FF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3" name="Google Shape;204;p17">
            <a:extLst>
              <a:ext uri="{FF2B5EF4-FFF2-40B4-BE49-F238E27FC236}">
                <a16:creationId xmlns:a16="http://schemas.microsoft.com/office/drawing/2014/main" id="{0D45EED4-A8AC-D059-BED7-93CB1C2257DF}"/>
              </a:ext>
            </a:extLst>
          </p:cNvPr>
          <p:cNvSpPr/>
          <p:nvPr/>
        </p:nvSpPr>
        <p:spPr>
          <a:xfrm>
            <a:off x="9735549" y="2613819"/>
            <a:ext cx="770550" cy="324643"/>
          </a:xfrm>
          <a:prstGeom prst="rect">
            <a:avLst/>
          </a:prstGeom>
          <a:noFill/>
          <a:ln w="19050" cap="flat" cmpd="sng">
            <a:solidFill>
              <a:srgbClr val="00B05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TW" sz="1600" dirty="0"/>
              <a:t>Linear</a:t>
            </a:r>
            <a:endParaRPr sz="1600" dirty="0"/>
          </a:p>
        </p:txBody>
      </p:sp>
      <p:cxnSp>
        <p:nvCxnSpPr>
          <p:cNvPr id="44" name="Google Shape;218;p17">
            <a:extLst>
              <a:ext uri="{FF2B5EF4-FFF2-40B4-BE49-F238E27FC236}">
                <a16:creationId xmlns:a16="http://schemas.microsoft.com/office/drawing/2014/main" id="{4FC1488B-0628-28BA-E772-48F7EB4E1F1E}"/>
              </a:ext>
            </a:extLst>
          </p:cNvPr>
          <p:cNvCxnSpPr>
            <a:cxnSpLocks/>
          </p:cNvCxnSpPr>
          <p:nvPr/>
        </p:nvCxnSpPr>
        <p:spPr>
          <a:xfrm>
            <a:off x="10555385" y="2760374"/>
            <a:ext cx="309598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45" name="直線箭頭接點 44">
            <a:extLst>
              <a:ext uri="{FF2B5EF4-FFF2-40B4-BE49-F238E27FC236}">
                <a16:creationId xmlns:a16="http://schemas.microsoft.com/office/drawing/2014/main" id="{3D1BDECE-B4B7-2BF8-1381-E34EB7B9FB4B}"/>
              </a:ext>
            </a:extLst>
          </p:cNvPr>
          <p:cNvCxnSpPr>
            <a:cxnSpLocks/>
          </p:cNvCxnSpPr>
          <p:nvPr/>
        </p:nvCxnSpPr>
        <p:spPr>
          <a:xfrm flipV="1">
            <a:off x="10137296" y="2975802"/>
            <a:ext cx="0" cy="553881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文字方塊 45">
            <a:extLst>
              <a:ext uri="{FF2B5EF4-FFF2-40B4-BE49-F238E27FC236}">
                <a16:creationId xmlns:a16="http://schemas.microsoft.com/office/drawing/2014/main" id="{7701AD0B-56DB-45CD-B216-3BD6EAF15526}"/>
              </a:ext>
            </a:extLst>
          </p:cNvPr>
          <p:cNvSpPr txBox="1"/>
          <p:nvPr/>
        </p:nvSpPr>
        <p:spPr>
          <a:xfrm>
            <a:off x="6396255" y="6039010"/>
            <a:ext cx="5189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zh-TW" altLang="en-US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這</a:t>
            </a:r>
          </a:p>
        </p:txBody>
      </p:sp>
      <p:sp>
        <p:nvSpPr>
          <p:cNvPr id="47" name="文字方塊 46">
            <a:extLst>
              <a:ext uri="{FF2B5EF4-FFF2-40B4-BE49-F238E27FC236}">
                <a16:creationId xmlns:a16="http://schemas.microsoft.com/office/drawing/2014/main" id="{39791FA5-E211-A792-BCA4-B60318A9A889}"/>
              </a:ext>
            </a:extLst>
          </p:cNvPr>
          <p:cNvSpPr txBox="1"/>
          <p:nvPr/>
        </p:nvSpPr>
        <p:spPr>
          <a:xfrm>
            <a:off x="6977308" y="6039010"/>
            <a:ext cx="5189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zh-TW" altLang="en-US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火</a:t>
            </a:r>
          </a:p>
        </p:txBody>
      </p:sp>
      <p:sp>
        <p:nvSpPr>
          <p:cNvPr id="48" name="文字方塊 47">
            <a:extLst>
              <a:ext uri="{FF2B5EF4-FFF2-40B4-BE49-F238E27FC236}">
                <a16:creationId xmlns:a16="http://schemas.microsoft.com/office/drawing/2014/main" id="{47131AD6-1C0B-737E-7056-9874F1DA7036}"/>
              </a:ext>
            </a:extLst>
          </p:cNvPr>
          <p:cNvSpPr txBox="1"/>
          <p:nvPr/>
        </p:nvSpPr>
        <p:spPr>
          <a:xfrm>
            <a:off x="7558361" y="6039010"/>
            <a:ext cx="5189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zh-TW" altLang="en-US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鍋</a:t>
            </a:r>
          </a:p>
        </p:txBody>
      </p:sp>
      <p:sp>
        <p:nvSpPr>
          <p:cNvPr id="49" name="文字方塊 48">
            <a:extLst>
              <a:ext uri="{FF2B5EF4-FFF2-40B4-BE49-F238E27FC236}">
                <a16:creationId xmlns:a16="http://schemas.microsoft.com/office/drawing/2014/main" id="{40FF7856-1219-8E19-E60D-ECD5014AE7C1}"/>
              </a:ext>
            </a:extLst>
          </p:cNvPr>
          <p:cNvSpPr txBox="1"/>
          <p:nvPr/>
        </p:nvSpPr>
        <p:spPr>
          <a:xfrm>
            <a:off x="8120768" y="6039010"/>
            <a:ext cx="5189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zh-TW" altLang="en-US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真</a:t>
            </a:r>
          </a:p>
        </p:txBody>
      </p:sp>
      <p:sp>
        <p:nvSpPr>
          <p:cNvPr id="50" name="文字方塊 49">
            <a:extLst>
              <a:ext uri="{FF2B5EF4-FFF2-40B4-BE49-F238E27FC236}">
                <a16:creationId xmlns:a16="http://schemas.microsoft.com/office/drawing/2014/main" id="{24FAD131-D2A9-66A0-4A39-2A41D8A901D0}"/>
              </a:ext>
            </a:extLst>
          </p:cNvPr>
          <p:cNvSpPr txBox="1"/>
          <p:nvPr/>
        </p:nvSpPr>
        <p:spPr>
          <a:xfrm>
            <a:off x="8727267" y="6039010"/>
            <a:ext cx="5189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zh-TW" altLang="en-US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是</a:t>
            </a:r>
          </a:p>
        </p:txBody>
      </p:sp>
      <p:sp>
        <p:nvSpPr>
          <p:cNvPr id="51" name="文字方塊 50">
            <a:extLst>
              <a:ext uri="{FF2B5EF4-FFF2-40B4-BE49-F238E27FC236}">
                <a16:creationId xmlns:a16="http://schemas.microsoft.com/office/drawing/2014/main" id="{B093A2B8-97FA-36AF-9ED6-EDDCF9E964E2}"/>
              </a:ext>
            </a:extLst>
          </p:cNvPr>
          <p:cNvSpPr txBox="1"/>
          <p:nvPr/>
        </p:nvSpPr>
        <p:spPr>
          <a:xfrm>
            <a:off x="9307461" y="6039010"/>
            <a:ext cx="5189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zh-TW" altLang="en-US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好</a:t>
            </a:r>
          </a:p>
        </p:txBody>
      </p:sp>
      <p:sp>
        <p:nvSpPr>
          <p:cNvPr id="52" name="文字方塊 51">
            <a:extLst>
              <a:ext uri="{FF2B5EF4-FFF2-40B4-BE49-F238E27FC236}">
                <a16:creationId xmlns:a16="http://schemas.microsoft.com/office/drawing/2014/main" id="{3F193EA1-3C69-41C5-E739-5E873130E74D}"/>
              </a:ext>
            </a:extLst>
          </p:cNvPr>
          <p:cNvSpPr txBox="1"/>
          <p:nvPr/>
        </p:nvSpPr>
        <p:spPr>
          <a:xfrm>
            <a:off x="9896445" y="6039010"/>
            <a:ext cx="5189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zh-TW" altLang="en-US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吃</a:t>
            </a:r>
          </a:p>
        </p:txBody>
      </p:sp>
      <p:sp>
        <p:nvSpPr>
          <p:cNvPr id="54" name="文字方塊 53">
            <a:extLst>
              <a:ext uri="{FF2B5EF4-FFF2-40B4-BE49-F238E27FC236}">
                <a16:creationId xmlns:a16="http://schemas.microsoft.com/office/drawing/2014/main" id="{0534E634-7B5B-11B4-0829-00EA0200FD41}"/>
              </a:ext>
            </a:extLst>
          </p:cNvPr>
          <p:cNvSpPr txBox="1"/>
          <p:nvPr/>
        </p:nvSpPr>
        <p:spPr>
          <a:xfrm>
            <a:off x="10218684" y="3688721"/>
            <a:ext cx="14027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dirty="0">
                <a:ea typeface="Microsoft JhengHei" panose="020B0604030504040204" pitchFamily="34" charset="-120"/>
              </a:rPr>
              <a:t>B x 1 x H</a:t>
            </a:r>
            <a:endParaRPr kumimoji="1" lang="zh-TW" altLang="en-US" dirty="0">
              <a:ea typeface="Microsoft JhengHei" panose="020B0604030504040204" pitchFamily="34" charset="-120"/>
            </a:endParaRPr>
          </a:p>
        </p:txBody>
      </p:sp>
      <p:sp>
        <p:nvSpPr>
          <p:cNvPr id="55" name="文字方塊 54">
            <a:extLst>
              <a:ext uri="{FF2B5EF4-FFF2-40B4-BE49-F238E27FC236}">
                <a16:creationId xmlns:a16="http://schemas.microsoft.com/office/drawing/2014/main" id="{216B946C-97FB-24BA-7DC9-03FDAD70AFD8}"/>
              </a:ext>
            </a:extLst>
          </p:cNvPr>
          <p:cNvSpPr txBox="1"/>
          <p:nvPr/>
        </p:nvSpPr>
        <p:spPr>
          <a:xfrm>
            <a:off x="9409037" y="2191010"/>
            <a:ext cx="140273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sz="2000" dirty="0">
                <a:ea typeface="Microsoft JhengHei" panose="020B0604030504040204" pitchFamily="34" charset="-120"/>
              </a:rPr>
              <a:t>B x 1 x C</a:t>
            </a:r>
            <a:endParaRPr kumimoji="1" lang="zh-TW" altLang="en-US" sz="2000" dirty="0">
              <a:ea typeface="Microsoft JhengHei" panose="020B0604030504040204" pitchFamily="34" charset="-120"/>
            </a:endParaRPr>
          </a:p>
        </p:txBody>
      </p:sp>
      <p:sp>
        <p:nvSpPr>
          <p:cNvPr id="56" name="文字方塊 55">
            <a:extLst>
              <a:ext uri="{FF2B5EF4-FFF2-40B4-BE49-F238E27FC236}">
                <a16:creationId xmlns:a16="http://schemas.microsoft.com/office/drawing/2014/main" id="{FB280243-CC9C-7626-B09C-914397DA5026}"/>
              </a:ext>
            </a:extLst>
          </p:cNvPr>
          <p:cNvSpPr txBox="1"/>
          <p:nvPr/>
        </p:nvSpPr>
        <p:spPr>
          <a:xfrm>
            <a:off x="653143" y="1523017"/>
            <a:ext cx="25225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TW" altLang="en-US" dirty="0">
                <a:ea typeface="Microsoft JhengHei" panose="020B0604030504040204" pitchFamily="34" charset="-120"/>
              </a:rPr>
              <a:t>以 </a:t>
            </a:r>
            <a:r>
              <a:rPr kumimoji="1" lang="en-US" altLang="zh-TW" dirty="0">
                <a:ea typeface="Microsoft JhengHei" panose="020B0604030504040204" pitchFamily="34" charset="-120"/>
              </a:rPr>
              <a:t>Classification</a:t>
            </a:r>
            <a:r>
              <a:rPr kumimoji="1" lang="zh-TW" altLang="en-US" dirty="0">
                <a:ea typeface="Microsoft JhengHei" panose="020B0604030504040204" pitchFamily="34" charset="-120"/>
              </a:rPr>
              <a:t> 為例</a:t>
            </a:r>
          </a:p>
        </p:txBody>
      </p:sp>
      <p:sp>
        <p:nvSpPr>
          <p:cNvPr id="57" name="Google Shape;187;p17">
            <a:extLst>
              <a:ext uri="{FF2B5EF4-FFF2-40B4-BE49-F238E27FC236}">
                <a16:creationId xmlns:a16="http://schemas.microsoft.com/office/drawing/2014/main" id="{A4F4BD08-7B71-A036-A1AE-01FD206599CD}"/>
              </a:ext>
            </a:extLst>
          </p:cNvPr>
          <p:cNvSpPr/>
          <p:nvPr/>
        </p:nvSpPr>
        <p:spPr>
          <a:xfrm>
            <a:off x="2420448" y="3563070"/>
            <a:ext cx="174300" cy="524700"/>
          </a:xfrm>
          <a:prstGeom prst="rect">
            <a:avLst/>
          </a:prstGeom>
          <a:solidFill>
            <a:srgbClr val="F6B26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8" name="Google Shape;188;p17">
            <a:extLst>
              <a:ext uri="{FF2B5EF4-FFF2-40B4-BE49-F238E27FC236}">
                <a16:creationId xmlns:a16="http://schemas.microsoft.com/office/drawing/2014/main" id="{4A1FDA94-A696-BAD6-31D9-70F0B2F5653B}"/>
              </a:ext>
            </a:extLst>
          </p:cNvPr>
          <p:cNvSpPr/>
          <p:nvPr/>
        </p:nvSpPr>
        <p:spPr>
          <a:xfrm>
            <a:off x="1710368" y="3563070"/>
            <a:ext cx="174300" cy="524700"/>
          </a:xfrm>
          <a:prstGeom prst="rect">
            <a:avLst/>
          </a:prstGeom>
          <a:solidFill>
            <a:srgbClr val="F6B26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9" name="Google Shape;189;p17">
            <a:extLst>
              <a:ext uri="{FF2B5EF4-FFF2-40B4-BE49-F238E27FC236}">
                <a16:creationId xmlns:a16="http://schemas.microsoft.com/office/drawing/2014/main" id="{F52427E8-15C6-7A6D-F298-B3BEA7A9FE0E}"/>
              </a:ext>
            </a:extLst>
          </p:cNvPr>
          <p:cNvSpPr/>
          <p:nvPr/>
        </p:nvSpPr>
        <p:spPr>
          <a:xfrm>
            <a:off x="4550153" y="3563070"/>
            <a:ext cx="174300" cy="524700"/>
          </a:xfrm>
          <a:prstGeom prst="rect">
            <a:avLst/>
          </a:prstGeom>
          <a:solidFill>
            <a:srgbClr val="F6B26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60" name="Google Shape;192;p17">
            <a:extLst>
              <a:ext uri="{FF2B5EF4-FFF2-40B4-BE49-F238E27FC236}">
                <a16:creationId xmlns:a16="http://schemas.microsoft.com/office/drawing/2014/main" id="{B3E63F58-E75E-DFEF-C7CB-7219E12C73CF}"/>
              </a:ext>
            </a:extLst>
          </p:cNvPr>
          <p:cNvCxnSpPr>
            <a:cxnSpLocks/>
          </p:cNvCxnSpPr>
          <p:nvPr/>
        </p:nvCxnSpPr>
        <p:spPr>
          <a:xfrm rot="10800000">
            <a:off x="1797515" y="5280339"/>
            <a:ext cx="0" cy="1890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61" name="Google Shape;193;p17">
            <a:extLst>
              <a:ext uri="{FF2B5EF4-FFF2-40B4-BE49-F238E27FC236}">
                <a16:creationId xmlns:a16="http://schemas.microsoft.com/office/drawing/2014/main" id="{9686A172-F826-7D1A-B603-A27C050B89AF}"/>
              </a:ext>
            </a:extLst>
          </p:cNvPr>
          <p:cNvCxnSpPr>
            <a:cxnSpLocks/>
          </p:cNvCxnSpPr>
          <p:nvPr/>
        </p:nvCxnSpPr>
        <p:spPr>
          <a:xfrm rot="10800000">
            <a:off x="3217685" y="5280339"/>
            <a:ext cx="0" cy="1890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62" name="Google Shape;194;p17">
            <a:extLst>
              <a:ext uri="{FF2B5EF4-FFF2-40B4-BE49-F238E27FC236}">
                <a16:creationId xmlns:a16="http://schemas.microsoft.com/office/drawing/2014/main" id="{D2AD4F55-F3ED-E6E2-AC64-4350BAD47026}"/>
              </a:ext>
            </a:extLst>
          </p:cNvPr>
          <p:cNvCxnSpPr>
            <a:cxnSpLocks/>
          </p:cNvCxnSpPr>
          <p:nvPr/>
        </p:nvCxnSpPr>
        <p:spPr>
          <a:xfrm rot="10800000">
            <a:off x="3927770" y="5280339"/>
            <a:ext cx="0" cy="1890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63" name="Google Shape;195;p17">
            <a:extLst>
              <a:ext uri="{FF2B5EF4-FFF2-40B4-BE49-F238E27FC236}">
                <a16:creationId xmlns:a16="http://schemas.microsoft.com/office/drawing/2014/main" id="{E3475148-C43B-A804-1838-FBE1B2BE0CA0}"/>
              </a:ext>
            </a:extLst>
          </p:cNvPr>
          <p:cNvCxnSpPr>
            <a:cxnSpLocks/>
          </p:cNvCxnSpPr>
          <p:nvPr/>
        </p:nvCxnSpPr>
        <p:spPr>
          <a:xfrm rot="10800000">
            <a:off x="4637853" y="5280339"/>
            <a:ext cx="0" cy="1890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64" name="Google Shape;200;p17">
            <a:extLst>
              <a:ext uri="{FF2B5EF4-FFF2-40B4-BE49-F238E27FC236}">
                <a16:creationId xmlns:a16="http://schemas.microsoft.com/office/drawing/2014/main" id="{EBFCDBC1-9E9E-849F-A244-D830A82F277F}"/>
              </a:ext>
            </a:extLst>
          </p:cNvPr>
          <p:cNvSpPr txBox="1"/>
          <p:nvPr/>
        </p:nvSpPr>
        <p:spPr>
          <a:xfrm>
            <a:off x="1417474" y="2101923"/>
            <a:ext cx="754871" cy="4308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dirty="0">
                <a:solidFill>
                  <a:srgbClr val="FF0000"/>
                </a:solidFill>
                <a:latin typeface="Roboto"/>
                <a:ea typeface="Roboto"/>
                <a:cs typeface="Roboto"/>
                <a:sym typeface="Roboto"/>
              </a:rPr>
              <a:t>class</a:t>
            </a:r>
            <a:endParaRPr sz="1600" dirty="0">
              <a:solidFill>
                <a:srgbClr val="FF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65" name="Google Shape;195;p17">
            <a:extLst>
              <a:ext uri="{FF2B5EF4-FFF2-40B4-BE49-F238E27FC236}">
                <a16:creationId xmlns:a16="http://schemas.microsoft.com/office/drawing/2014/main" id="{898FFC5D-8EB8-BB38-C83B-E41AE7D29BC1}"/>
              </a:ext>
            </a:extLst>
          </p:cNvPr>
          <p:cNvCxnSpPr>
            <a:cxnSpLocks/>
          </p:cNvCxnSpPr>
          <p:nvPr/>
        </p:nvCxnSpPr>
        <p:spPr>
          <a:xfrm rot="10800000">
            <a:off x="2507600" y="5280339"/>
            <a:ext cx="0" cy="1890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66" name="Google Shape;192;p17">
            <a:extLst>
              <a:ext uri="{FF2B5EF4-FFF2-40B4-BE49-F238E27FC236}">
                <a16:creationId xmlns:a16="http://schemas.microsoft.com/office/drawing/2014/main" id="{58DE3EE8-41CD-FCA2-ACA5-54E461DC3DDF}"/>
              </a:ext>
            </a:extLst>
          </p:cNvPr>
          <p:cNvCxnSpPr>
            <a:cxnSpLocks/>
          </p:cNvCxnSpPr>
          <p:nvPr/>
        </p:nvCxnSpPr>
        <p:spPr>
          <a:xfrm rot="10800000">
            <a:off x="1797515" y="4191452"/>
            <a:ext cx="0" cy="1890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67" name="Google Shape;193;p17">
            <a:extLst>
              <a:ext uri="{FF2B5EF4-FFF2-40B4-BE49-F238E27FC236}">
                <a16:creationId xmlns:a16="http://schemas.microsoft.com/office/drawing/2014/main" id="{C06EEEA8-AABC-719B-AB51-B947521DE120}"/>
              </a:ext>
            </a:extLst>
          </p:cNvPr>
          <p:cNvCxnSpPr>
            <a:cxnSpLocks/>
          </p:cNvCxnSpPr>
          <p:nvPr/>
        </p:nvCxnSpPr>
        <p:spPr>
          <a:xfrm rot="10800000">
            <a:off x="3217683" y="4191452"/>
            <a:ext cx="0" cy="1890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68" name="Google Shape;194;p17">
            <a:extLst>
              <a:ext uri="{FF2B5EF4-FFF2-40B4-BE49-F238E27FC236}">
                <a16:creationId xmlns:a16="http://schemas.microsoft.com/office/drawing/2014/main" id="{47A27E20-0F13-89B0-2E6F-108A11AD8775}"/>
              </a:ext>
            </a:extLst>
          </p:cNvPr>
          <p:cNvCxnSpPr>
            <a:cxnSpLocks/>
          </p:cNvCxnSpPr>
          <p:nvPr/>
        </p:nvCxnSpPr>
        <p:spPr>
          <a:xfrm rot="10800000">
            <a:off x="3927767" y="4191452"/>
            <a:ext cx="0" cy="1890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69" name="Google Shape;195;p17">
            <a:extLst>
              <a:ext uri="{FF2B5EF4-FFF2-40B4-BE49-F238E27FC236}">
                <a16:creationId xmlns:a16="http://schemas.microsoft.com/office/drawing/2014/main" id="{140A1848-A8AB-8CBD-CA5E-3C2D6796F678}"/>
              </a:ext>
            </a:extLst>
          </p:cNvPr>
          <p:cNvCxnSpPr>
            <a:cxnSpLocks/>
          </p:cNvCxnSpPr>
          <p:nvPr/>
        </p:nvCxnSpPr>
        <p:spPr>
          <a:xfrm rot="10800000">
            <a:off x="4637853" y="4191452"/>
            <a:ext cx="0" cy="1890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70" name="Google Shape;195;p17">
            <a:extLst>
              <a:ext uri="{FF2B5EF4-FFF2-40B4-BE49-F238E27FC236}">
                <a16:creationId xmlns:a16="http://schemas.microsoft.com/office/drawing/2014/main" id="{FEBAC91D-1345-8653-AAFB-7EA586FA31AE}"/>
              </a:ext>
            </a:extLst>
          </p:cNvPr>
          <p:cNvCxnSpPr>
            <a:cxnSpLocks/>
          </p:cNvCxnSpPr>
          <p:nvPr/>
        </p:nvCxnSpPr>
        <p:spPr>
          <a:xfrm rot="10800000">
            <a:off x="2507599" y="4191452"/>
            <a:ext cx="0" cy="1890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71" name="Google Shape;187;p17">
            <a:extLst>
              <a:ext uri="{FF2B5EF4-FFF2-40B4-BE49-F238E27FC236}">
                <a16:creationId xmlns:a16="http://schemas.microsoft.com/office/drawing/2014/main" id="{E560E748-98AF-0F1B-8A49-E6F0702D5213}"/>
              </a:ext>
            </a:extLst>
          </p:cNvPr>
          <p:cNvSpPr/>
          <p:nvPr/>
        </p:nvSpPr>
        <p:spPr>
          <a:xfrm>
            <a:off x="3132458" y="3563070"/>
            <a:ext cx="174300" cy="524700"/>
          </a:xfrm>
          <a:prstGeom prst="rect">
            <a:avLst/>
          </a:prstGeom>
          <a:solidFill>
            <a:srgbClr val="F6B26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2" name="Google Shape;187;p17">
            <a:extLst>
              <a:ext uri="{FF2B5EF4-FFF2-40B4-BE49-F238E27FC236}">
                <a16:creationId xmlns:a16="http://schemas.microsoft.com/office/drawing/2014/main" id="{63122D83-2F42-9918-6337-4D998B77A86E}"/>
              </a:ext>
            </a:extLst>
          </p:cNvPr>
          <p:cNvSpPr/>
          <p:nvPr/>
        </p:nvSpPr>
        <p:spPr>
          <a:xfrm>
            <a:off x="3831108" y="3563070"/>
            <a:ext cx="174300" cy="524700"/>
          </a:xfrm>
          <a:prstGeom prst="rect">
            <a:avLst/>
          </a:prstGeom>
          <a:solidFill>
            <a:srgbClr val="F6B26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3" name="文字方塊 72">
            <a:extLst>
              <a:ext uri="{FF2B5EF4-FFF2-40B4-BE49-F238E27FC236}">
                <a16:creationId xmlns:a16="http://schemas.microsoft.com/office/drawing/2014/main" id="{C211DD60-47FA-C5AE-55CF-3FC6C4E71A55}"/>
              </a:ext>
            </a:extLst>
          </p:cNvPr>
          <p:cNvSpPr txBox="1"/>
          <p:nvPr/>
        </p:nvSpPr>
        <p:spPr>
          <a:xfrm>
            <a:off x="1488583" y="5450300"/>
            <a:ext cx="61786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sz="1400" dirty="0"/>
              <a:t>[CLS]</a:t>
            </a:r>
            <a:endParaRPr kumimoji="1" lang="zh-TW" altLang="en-US" sz="1400" dirty="0"/>
          </a:p>
        </p:txBody>
      </p:sp>
      <p:sp>
        <p:nvSpPr>
          <p:cNvPr id="74" name="文字方塊 73">
            <a:extLst>
              <a:ext uri="{FF2B5EF4-FFF2-40B4-BE49-F238E27FC236}">
                <a16:creationId xmlns:a16="http://schemas.microsoft.com/office/drawing/2014/main" id="{75880870-C1C0-E287-9B67-79AC6650508B}"/>
              </a:ext>
            </a:extLst>
          </p:cNvPr>
          <p:cNvSpPr txBox="1"/>
          <p:nvPr/>
        </p:nvSpPr>
        <p:spPr>
          <a:xfrm>
            <a:off x="2198667" y="5450300"/>
            <a:ext cx="61786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sz="1400" dirty="0"/>
              <a:t>open</a:t>
            </a:r>
            <a:endParaRPr kumimoji="1" lang="zh-TW" altLang="en-US" sz="1400" dirty="0"/>
          </a:p>
        </p:txBody>
      </p:sp>
      <p:sp>
        <p:nvSpPr>
          <p:cNvPr id="75" name="文字方塊 74">
            <a:extLst>
              <a:ext uri="{FF2B5EF4-FFF2-40B4-BE49-F238E27FC236}">
                <a16:creationId xmlns:a16="http://schemas.microsoft.com/office/drawing/2014/main" id="{8BFD0FA2-86CB-3E91-A12D-55EF1934A733}"/>
              </a:ext>
            </a:extLst>
          </p:cNvPr>
          <p:cNvSpPr txBox="1"/>
          <p:nvPr/>
        </p:nvSpPr>
        <p:spPr>
          <a:xfrm>
            <a:off x="2908026" y="5450300"/>
            <a:ext cx="61786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sz="1400" dirty="0"/>
              <a:t>a</a:t>
            </a:r>
            <a:endParaRPr kumimoji="1" lang="zh-TW" altLang="en-US" sz="1400" dirty="0"/>
          </a:p>
        </p:txBody>
      </p:sp>
      <p:sp>
        <p:nvSpPr>
          <p:cNvPr id="76" name="文字方塊 75">
            <a:extLst>
              <a:ext uri="{FF2B5EF4-FFF2-40B4-BE49-F238E27FC236}">
                <a16:creationId xmlns:a16="http://schemas.microsoft.com/office/drawing/2014/main" id="{1C77EE8A-339E-A1F2-2353-13714965B5B5}"/>
              </a:ext>
            </a:extLst>
          </p:cNvPr>
          <p:cNvSpPr txBox="1"/>
          <p:nvPr/>
        </p:nvSpPr>
        <p:spPr>
          <a:xfrm>
            <a:off x="4199737" y="5450300"/>
            <a:ext cx="88161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sz="1400" dirty="0"/>
              <a:t>account</a:t>
            </a:r>
            <a:endParaRPr kumimoji="1" lang="zh-TW" altLang="en-US" sz="1400" dirty="0"/>
          </a:p>
        </p:txBody>
      </p:sp>
      <p:cxnSp>
        <p:nvCxnSpPr>
          <p:cNvPr id="77" name="Google Shape;218;p17">
            <a:extLst>
              <a:ext uri="{FF2B5EF4-FFF2-40B4-BE49-F238E27FC236}">
                <a16:creationId xmlns:a16="http://schemas.microsoft.com/office/drawing/2014/main" id="{E23D3B0D-58E9-6CC2-D6A8-B1AC7E1443E2}"/>
              </a:ext>
            </a:extLst>
          </p:cNvPr>
          <p:cNvCxnSpPr>
            <a:cxnSpLocks/>
          </p:cNvCxnSpPr>
          <p:nvPr/>
        </p:nvCxnSpPr>
        <p:spPr>
          <a:xfrm flipV="1">
            <a:off x="1794973" y="3245921"/>
            <a:ext cx="0" cy="263062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78" name="Google Shape;204;p17">
            <a:extLst>
              <a:ext uri="{FF2B5EF4-FFF2-40B4-BE49-F238E27FC236}">
                <a16:creationId xmlns:a16="http://schemas.microsoft.com/office/drawing/2014/main" id="{4116DB4D-797C-949A-9F42-2EEB2ADB76E6}"/>
              </a:ext>
            </a:extLst>
          </p:cNvPr>
          <p:cNvSpPr/>
          <p:nvPr/>
        </p:nvSpPr>
        <p:spPr>
          <a:xfrm>
            <a:off x="1420777" y="4467924"/>
            <a:ext cx="4210222" cy="774600"/>
          </a:xfrm>
          <a:prstGeom prst="rect">
            <a:avLst/>
          </a:prstGeom>
          <a:noFill/>
          <a:ln w="19050" cap="flat" cmpd="sng">
            <a:solidFill>
              <a:srgbClr val="4A86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dirty="0"/>
              <a:t>BERT</a:t>
            </a:r>
            <a:endParaRPr dirty="0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dirty="0"/>
              <a:t>(</a:t>
            </a:r>
            <a:r>
              <a:rPr lang="en-US" altLang="zh-TW" b="1" dirty="0">
                <a:solidFill>
                  <a:srgbClr val="4A86E8"/>
                </a:solidFill>
              </a:rPr>
              <a:t>Transformer Encoder</a:t>
            </a:r>
            <a:r>
              <a:rPr lang="zh-TW" dirty="0"/>
              <a:t>)</a:t>
            </a:r>
            <a:endParaRPr dirty="0"/>
          </a:p>
        </p:txBody>
      </p:sp>
      <p:sp>
        <p:nvSpPr>
          <p:cNvPr id="79" name="Google Shape;189;p17">
            <a:extLst>
              <a:ext uri="{FF2B5EF4-FFF2-40B4-BE49-F238E27FC236}">
                <a16:creationId xmlns:a16="http://schemas.microsoft.com/office/drawing/2014/main" id="{35B8044F-8D84-78B6-972D-37760C8E9490}"/>
              </a:ext>
            </a:extLst>
          </p:cNvPr>
          <p:cNvSpPr/>
          <p:nvPr/>
        </p:nvSpPr>
        <p:spPr>
          <a:xfrm>
            <a:off x="5249776" y="3561282"/>
            <a:ext cx="174300" cy="524700"/>
          </a:xfrm>
          <a:prstGeom prst="rect">
            <a:avLst/>
          </a:prstGeom>
          <a:solidFill>
            <a:srgbClr val="F6B26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80" name="Google Shape;195;p17">
            <a:extLst>
              <a:ext uri="{FF2B5EF4-FFF2-40B4-BE49-F238E27FC236}">
                <a16:creationId xmlns:a16="http://schemas.microsoft.com/office/drawing/2014/main" id="{8CE0EB88-5E22-1E8B-4614-3A4F122F507F}"/>
              </a:ext>
            </a:extLst>
          </p:cNvPr>
          <p:cNvCxnSpPr>
            <a:cxnSpLocks/>
          </p:cNvCxnSpPr>
          <p:nvPr/>
        </p:nvCxnSpPr>
        <p:spPr>
          <a:xfrm rot="10800000">
            <a:off x="5337476" y="4189664"/>
            <a:ext cx="0" cy="1890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81" name="Google Shape;194;p17">
            <a:extLst>
              <a:ext uri="{FF2B5EF4-FFF2-40B4-BE49-F238E27FC236}">
                <a16:creationId xmlns:a16="http://schemas.microsoft.com/office/drawing/2014/main" id="{06AF6A89-0766-34EB-28B8-EBBE2CB5C18B}"/>
              </a:ext>
            </a:extLst>
          </p:cNvPr>
          <p:cNvCxnSpPr>
            <a:cxnSpLocks/>
          </p:cNvCxnSpPr>
          <p:nvPr/>
        </p:nvCxnSpPr>
        <p:spPr>
          <a:xfrm rot="10800000">
            <a:off x="5315639" y="5287713"/>
            <a:ext cx="0" cy="1890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82" name="文字方塊 81">
            <a:extLst>
              <a:ext uri="{FF2B5EF4-FFF2-40B4-BE49-F238E27FC236}">
                <a16:creationId xmlns:a16="http://schemas.microsoft.com/office/drawing/2014/main" id="{73DF9591-3E23-9C1B-B3E5-7C0AA4AF03B7}"/>
              </a:ext>
            </a:extLst>
          </p:cNvPr>
          <p:cNvSpPr txBox="1"/>
          <p:nvPr/>
        </p:nvSpPr>
        <p:spPr>
          <a:xfrm>
            <a:off x="5006705" y="5453401"/>
            <a:ext cx="61786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sz="1400" dirty="0"/>
              <a:t>[SEP]</a:t>
            </a:r>
            <a:endParaRPr kumimoji="1" lang="zh-TW" altLang="en-US" sz="1400" dirty="0"/>
          </a:p>
        </p:txBody>
      </p:sp>
      <p:sp>
        <p:nvSpPr>
          <p:cNvPr id="83" name="Google Shape;204;p17">
            <a:extLst>
              <a:ext uri="{FF2B5EF4-FFF2-40B4-BE49-F238E27FC236}">
                <a16:creationId xmlns:a16="http://schemas.microsoft.com/office/drawing/2014/main" id="{C7B4F6B2-4E49-A32B-7BA2-17F682B584C5}"/>
              </a:ext>
            </a:extLst>
          </p:cNvPr>
          <p:cNvSpPr/>
          <p:nvPr/>
        </p:nvSpPr>
        <p:spPr>
          <a:xfrm>
            <a:off x="1417474" y="2815511"/>
            <a:ext cx="770550" cy="324643"/>
          </a:xfrm>
          <a:prstGeom prst="rect">
            <a:avLst/>
          </a:prstGeom>
          <a:noFill/>
          <a:ln w="19050" cap="flat" cmpd="sng">
            <a:solidFill>
              <a:srgbClr val="00B05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TW" sz="1600" dirty="0"/>
              <a:t>Linear</a:t>
            </a:r>
            <a:endParaRPr sz="1600" dirty="0"/>
          </a:p>
        </p:txBody>
      </p:sp>
      <p:cxnSp>
        <p:nvCxnSpPr>
          <p:cNvPr id="84" name="Google Shape;218;p17">
            <a:extLst>
              <a:ext uri="{FF2B5EF4-FFF2-40B4-BE49-F238E27FC236}">
                <a16:creationId xmlns:a16="http://schemas.microsoft.com/office/drawing/2014/main" id="{F35FC90A-0344-56EA-469A-81FCE5FB7DAE}"/>
              </a:ext>
            </a:extLst>
          </p:cNvPr>
          <p:cNvCxnSpPr>
            <a:cxnSpLocks/>
          </p:cNvCxnSpPr>
          <p:nvPr/>
        </p:nvCxnSpPr>
        <p:spPr>
          <a:xfrm flipV="1">
            <a:off x="1802505" y="2482077"/>
            <a:ext cx="0" cy="263062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85" name="文字方塊 84">
            <a:extLst>
              <a:ext uri="{FF2B5EF4-FFF2-40B4-BE49-F238E27FC236}">
                <a16:creationId xmlns:a16="http://schemas.microsoft.com/office/drawing/2014/main" id="{40C875B3-AE4E-7188-7340-4A97CCA75203}"/>
              </a:ext>
            </a:extLst>
          </p:cNvPr>
          <p:cNvSpPr txBox="1"/>
          <p:nvPr/>
        </p:nvSpPr>
        <p:spPr>
          <a:xfrm>
            <a:off x="3453485" y="5469339"/>
            <a:ext cx="88161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sz="1400" dirty="0"/>
              <a:t>POST</a:t>
            </a:r>
            <a:endParaRPr kumimoji="1" lang="zh-TW" altLang="en-US" sz="1400" dirty="0"/>
          </a:p>
        </p:txBody>
      </p:sp>
      <p:sp>
        <p:nvSpPr>
          <p:cNvPr id="89" name="Google Shape;187;p17">
            <a:extLst>
              <a:ext uri="{FF2B5EF4-FFF2-40B4-BE49-F238E27FC236}">
                <a16:creationId xmlns:a16="http://schemas.microsoft.com/office/drawing/2014/main" id="{AF47E879-2E06-8E8D-D06E-F791C634992C}"/>
              </a:ext>
            </a:extLst>
          </p:cNvPr>
          <p:cNvSpPr/>
          <p:nvPr/>
        </p:nvSpPr>
        <p:spPr>
          <a:xfrm>
            <a:off x="7151011" y="3576641"/>
            <a:ext cx="174300" cy="524700"/>
          </a:xfrm>
          <a:prstGeom prst="rect">
            <a:avLst/>
          </a:prstGeom>
          <a:solidFill>
            <a:srgbClr val="F6B26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0" name="Google Shape;188;p17">
            <a:extLst>
              <a:ext uri="{FF2B5EF4-FFF2-40B4-BE49-F238E27FC236}">
                <a16:creationId xmlns:a16="http://schemas.microsoft.com/office/drawing/2014/main" id="{9DB6AC37-B6ED-A914-9077-E00AF0556D07}"/>
              </a:ext>
            </a:extLst>
          </p:cNvPr>
          <p:cNvSpPr/>
          <p:nvPr/>
        </p:nvSpPr>
        <p:spPr>
          <a:xfrm>
            <a:off x="6570998" y="3576641"/>
            <a:ext cx="174300" cy="524700"/>
          </a:xfrm>
          <a:prstGeom prst="rect">
            <a:avLst/>
          </a:prstGeom>
          <a:solidFill>
            <a:srgbClr val="F6B26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1" name="Google Shape;189;p17">
            <a:extLst>
              <a:ext uri="{FF2B5EF4-FFF2-40B4-BE49-F238E27FC236}">
                <a16:creationId xmlns:a16="http://schemas.microsoft.com/office/drawing/2014/main" id="{0E63D6D1-0946-F95C-5DD7-E7CA9D356B15}"/>
              </a:ext>
            </a:extLst>
          </p:cNvPr>
          <p:cNvSpPr/>
          <p:nvPr/>
        </p:nvSpPr>
        <p:spPr>
          <a:xfrm>
            <a:off x="9471063" y="3576641"/>
            <a:ext cx="174300" cy="524700"/>
          </a:xfrm>
          <a:prstGeom prst="rect">
            <a:avLst/>
          </a:prstGeom>
          <a:solidFill>
            <a:srgbClr val="F6B26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92" name="Google Shape;192;p17">
            <a:extLst>
              <a:ext uri="{FF2B5EF4-FFF2-40B4-BE49-F238E27FC236}">
                <a16:creationId xmlns:a16="http://schemas.microsoft.com/office/drawing/2014/main" id="{D0EF48DD-F61A-2B33-E57C-41499425946A}"/>
              </a:ext>
            </a:extLst>
          </p:cNvPr>
          <p:cNvCxnSpPr>
            <a:cxnSpLocks/>
          </p:cNvCxnSpPr>
          <p:nvPr/>
        </p:nvCxnSpPr>
        <p:spPr>
          <a:xfrm rot="10800000">
            <a:off x="6658145" y="4196421"/>
            <a:ext cx="0" cy="1890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93" name="Google Shape;193;p17">
            <a:extLst>
              <a:ext uri="{FF2B5EF4-FFF2-40B4-BE49-F238E27FC236}">
                <a16:creationId xmlns:a16="http://schemas.microsoft.com/office/drawing/2014/main" id="{42E6CECD-FE22-9E81-E3FD-E8967EF549E4}"/>
              </a:ext>
            </a:extLst>
          </p:cNvPr>
          <p:cNvCxnSpPr>
            <a:cxnSpLocks/>
          </p:cNvCxnSpPr>
          <p:nvPr/>
        </p:nvCxnSpPr>
        <p:spPr>
          <a:xfrm rot="10800000">
            <a:off x="7818355" y="4196421"/>
            <a:ext cx="0" cy="1890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94" name="Google Shape;194;p17">
            <a:extLst>
              <a:ext uri="{FF2B5EF4-FFF2-40B4-BE49-F238E27FC236}">
                <a16:creationId xmlns:a16="http://schemas.microsoft.com/office/drawing/2014/main" id="{890E3BE6-478E-2AB7-64A9-037F264A7A6C}"/>
              </a:ext>
            </a:extLst>
          </p:cNvPr>
          <p:cNvCxnSpPr>
            <a:cxnSpLocks/>
          </p:cNvCxnSpPr>
          <p:nvPr/>
        </p:nvCxnSpPr>
        <p:spPr>
          <a:xfrm rot="10800000">
            <a:off x="8978565" y="4196421"/>
            <a:ext cx="0" cy="1890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95" name="Google Shape;195;p17">
            <a:extLst>
              <a:ext uri="{FF2B5EF4-FFF2-40B4-BE49-F238E27FC236}">
                <a16:creationId xmlns:a16="http://schemas.microsoft.com/office/drawing/2014/main" id="{80B2A574-C5E1-0CF5-B454-DD74A67855EE}"/>
              </a:ext>
            </a:extLst>
          </p:cNvPr>
          <p:cNvCxnSpPr>
            <a:cxnSpLocks/>
          </p:cNvCxnSpPr>
          <p:nvPr/>
        </p:nvCxnSpPr>
        <p:spPr>
          <a:xfrm rot="10800000">
            <a:off x="9558670" y="4196421"/>
            <a:ext cx="0" cy="1890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96" name="Google Shape;195;p17">
            <a:extLst>
              <a:ext uri="{FF2B5EF4-FFF2-40B4-BE49-F238E27FC236}">
                <a16:creationId xmlns:a16="http://schemas.microsoft.com/office/drawing/2014/main" id="{9DAAA95A-FC82-CAB9-1913-10B2BDAAC38F}"/>
              </a:ext>
            </a:extLst>
          </p:cNvPr>
          <p:cNvCxnSpPr>
            <a:cxnSpLocks/>
          </p:cNvCxnSpPr>
          <p:nvPr/>
        </p:nvCxnSpPr>
        <p:spPr>
          <a:xfrm rot="10800000">
            <a:off x="7238250" y="4196421"/>
            <a:ext cx="0" cy="1890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97" name="Google Shape;187;p17">
            <a:extLst>
              <a:ext uri="{FF2B5EF4-FFF2-40B4-BE49-F238E27FC236}">
                <a16:creationId xmlns:a16="http://schemas.microsoft.com/office/drawing/2014/main" id="{B62BBAA7-285D-73B3-FC88-1D31CD0D0BBA}"/>
              </a:ext>
            </a:extLst>
          </p:cNvPr>
          <p:cNvSpPr/>
          <p:nvPr/>
        </p:nvSpPr>
        <p:spPr>
          <a:xfrm>
            <a:off x="7731024" y="3576641"/>
            <a:ext cx="174300" cy="524700"/>
          </a:xfrm>
          <a:prstGeom prst="rect">
            <a:avLst/>
          </a:prstGeom>
          <a:solidFill>
            <a:srgbClr val="F6B26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8" name="Google Shape;187;p17">
            <a:extLst>
              <a:ext uri="{FF2B5EF4-FFF2-40B4-BE49-F238E27FC236}">
                <a16:creationId xmlns:a16="http://schemas.microsoft.com/office/drawing/2014/main" id="{4744E737-2C5C-E4F4-B698-5E3233328202}"/>
              </a:ext>
            </a:extLst>
          </p:cNvPr>
          <p:cNvSpPr/>
          <p:nvPr/>
        </p:nvSpPr>
        <p:spPr>
          <a:xfrm>
            <a:off x="8891050" y="3576641"/>
            <a:ext cx="174300" cy="524700"/>
          </a:xfrm>
          <a:prstGeom prst="rect">
            <a:avLst/>
          </a:prstGeom>
          <a:solidFill>
            <a:srgbClr val="F6B26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0" name="Google Shape;189;p17">
            <a:extLst>
              <a:ext uri="{FF2B5EF4-FFF2-40B4-BE49-F238E27FC236}">
                <a16:creationId xmlns:a16="http://schemas.microsoft.com/office/drawing/2014/main" id="{01EFD45F-1110-5416-28D4-2746584877E3}"/>
              </a:ext>
            </a:extLst>
          </p:cNvPr>
          <p:cNvSpPr/>
          <p:nvPr/>
        </p:nvSpPr>
        <p:spPr>
          <a:xfrm>
            <a:off x="10051077" y="3576641"/>
            <a:ext cx="174300" cy="524700"/>
          </a:xfrm>
          <a:prstGeom prst="rect">
            <a:avLst/>
          </a:prstGeom>
          <a:solidFill>
            <a:srgbClr val="F6B26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101" name="Google Shape;195;p17">
            <a:extLst>
              <a:ext uri="{FF2B5EF4-FFF2-40B4-BE49-F238E27FC236}">
                <a16:creationId xmlns:a16="http://schemas.microsoft.com/office/drawing/2014/main" id="{9E4B592B-C246-5CBF-4563-A455710EE1BF}"/>
              </a:ext>
            </a:extLst>
          </p:cNvPr>
          <p:cNvCxnSpPr>
            <a:cxnSpLocks/>
          </p:cNvCxnSpPr>
          <p:nvPr/>
        </p:nvCxnSpPr>
        <p:spPr>
          <a:xfrm rot="10800000">
            <a:off x="10138777" y="4196421"/>
            <a:ext cx="0" cy="1890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02" name="Google Shape;194;p17">
            <a:extLst>
              <a:ext uri="{FF2B5EF4-FFF2-40B4-BE49-F238E27FC236}">
                <a16:creationId xmlns:a16="http://schemas.microsoft.com/office/drawing/2014/main" id="{0C59D0E6-35C0-F6E0-CA1A-AA2E7FA8FDAC}"/>
              </a:ext>
            </a:extLst>
          </p:cNvPr>
          <p:cNvCxnSpPr>
            <a:cxnSpLocks/>
          </p:cNvCxnSpPr>
          <p:nvPr/>
        </p:nvCxnSpPr>
        <p:spPr>
          <a:xfrm rot="10800000">
            <a:off x="8398460" y="4196421"/>
            <a:ext cx="0" cy="1890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03" name="Google Shape;187;p17">
            <a:extLst>
              <a:ext uri="{FF2B5EF4-FFF2-40B4-BE49-F238E27FC236}">
                <a16:creationId xmlns:a16="http://schemas.microsoft.com/office/drawing/2014/main" id="{68796ACF-7FAD-EA30-DCB6-8AC67783816A}"/>
              </a:ext>
            </a:extLst>
          </p:cNvPr>
          <p:cNvSpPr/>
          <p:nvPr/>
        </p:nvSpPr>
        <p:spPr>
          <a:xfrm>
            <a:off x="8311037" y="3576641"/>
            <a:ext cx="174300" cy="524700"/>
          </a:xfrm>
          <a:prstGeom prst="rect">
            <a:avLst/>
          </a:prstGeom>
          <a:solidFill>
            <a:srgbClr val="F6B26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4" name="文字方塊 103">
            <a:extLst>
              <a:ext uri="{FF2B5EF4-FFF2-40B4-BE49-F238E27FC236}">
                <a16:creationId xmlns:a16="http://schemas.microsoft.com/office/drawing/2014/main" id="{168E2E15-A828-15DE-BD98-DA7477901408}"/>
              </a:ext>
            </a:extLst>
          </p:cNvPr>
          <p:cNvSpPr txBox="1"/>
          <p:nvPr/>
        </p:nvSpPr>
        <p:spPr>
          <a:xfrm>
            <a:off x="511700" y="3390294"/>
            <a:ext cx="14027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dirty="0">
                <a:ea typeface="Microsoft JhengHei" panose="020B0604030504040204" pitchFamily="34" charset="-120"/>
              </a:rPr>
              <a:t>B x 1 x H</a:t>
            </a:r>
            <a:endParaRPr kumimoji="1" lang="zh-TW" altLang="en-US" dirty="0"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5944395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2" grpId="0"/>
      <p:bldP spid="43" grpId="0" animBg="1"/>
      <p:bldP spid="46" grpId="0"/>
      <p:bldP spid="47" grpId="0"/>
      <p:bldP spid="48" grpId="0"/>
      <p:bldP spid="49" grpId="0"/>
      <p:bldP spid="50" grpId="0"/>
      <p:bldP spid="51" grpId="0"/>
      <p:bldP spid="52" grpId="0"/>
      <p:bldP spid="54" grpId="0"/>
      <p:bldP spid="55" grpId="0"/>
      <p:bldP spid="104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DB2C0A3-F510-CB0B-BE71-8DEEA37275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6165" y="329454"/>
            <a:ext cx="11370365" cy="1033416"/>
          </a:xfrm>
        </p:spPr>
        <p:txBody>
          <a:bodyPr>
            <a:normAutofit fontScale="90000"/>
          </a:bodyPr>
          <a:lstStyle/>
          <a:p>
            <a:r>
              <a:rPr lang="en-US" altLang="zh-TW" dirty="0">
                <a:ea typeface="新細明體"/>
                <a:cs typeface="Calibri Light"/>
              </a:rPr>
              <a:t>How to train a (Conditional) Language Model?</a:t>
            </a:r>
            <a:endParaRPr kumimoji="1"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30ECCA13-447D-C0DD-CBB8-4F465AF77D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14</a:t>
            </a:fld>
            <a:endParaRPr lang="en-US"/>
          </a:p>
        </p:txBody>
      </p:sp>
      <p:sp>
        <p:nvSpPr>
          <p:cNvPr id="102" name="文字方塊 101">
            <a:extLst>
              <a:ext uri="{FF2B5EF4-FFF2-40B4-BE49-F238E27FC236}">
                <a16:creationId xmlns:a16="http://schemas.microsoft.com/office/drawing/2014/main" id="{65E66A4C-FEE0-FE51-B88E-E0B669634F32}"/>
              </a:ext>
            </a:extLst>
          </p:cNvPr>
          <p:cNvSpPr txBox="1"/>
          <p:nvPr/>
        </p:nvSpPr>
        <p:spPr>
          <a:xfrm>
            <a:off x="1005936" y="1855809"/>
            <a:ext cx="651798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kumimoji="1" lang="en-US" altLang="zh-TW" sz="2800" dirty="0"/>
              <a:t>First, you need a training corpus.</a:t>
            </a:r>
            <a:endParaRPr kumimoji="1" lang="zh-TW" altLang="en-US" sz="2800" dirty="0"/>
          </a:p>
        </p:txBody>
      </p:sp>
      <p:sp>
        <p:nvSpPr>
          <p:cNvPr id="103" name="圓角矩形 102">
            <a:extLst>
              <a:ext uri="{FF2B5EF4-FFF2-40B4-BE49-F238E27FC236}">
                <a16:creationId xmlns:a16="http://schemas.microsoft.com/office/drawing/2014/main" id="{2F8A82D3-A8BA-0996-A2DB-93AC0DB6C6B8}"/>
              </a:ext>
            </a:extLst>
          </p:cNvPr>
          <p:cNvSpPr/>
          <p:nvPr/>
        </p:nvSpPr>
        <p:spPr>
          <a:xfrm>
            <a:off x="1464812" y="4061144"/>
            <a:ext cx="762607" cy="400110"/>
          </a:xfrm>
          <a:prstGeom prst="roundRect">
            <a:avLst/>
          </a:prstGeom>
          <a:solidFill>
            <a:schemeClr val="bg2">
              <a:lumMod val="9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en-US" altLang="zh-TW" dirty="0">
                <a:solidFill>
                  <a:schemeClr val="tx1"/>
                </a:solidFill>
              </a:rPr>
              <a:t>I</a:t>
            </a:r>
            <a:endParaRPr kumimoji="1" lang="zh-TW" altLang="en-US" dirty="0">
              <a:solidFill>
                <a:schemeClr val="tx1"/>
              </a:solidFill>
            </a:endParaRPr>
          </a:p>
        </p:txBody>
      </p:sp>
      <p:sp>
        <p:nvSpPr>
          <p:cNvPr id="118" name="文字方塊 117">
            <a:extLst>
              <a:ext uri="{FF2B5EF4-FFF2-40B4-BE49-F238E27FC236}">
                <a16:creationId xmlns:a16="http://schemas.microsoft.com/office/drawing/2014/main" id="{7A84387A-CC48-C4EC-DEA8-E3C514232327}"/>
              </a:ext>
            </a:extLst>
          </p:cNvPr>
          <p:cNvSpPr txBox="1"/>
          <p:nvPr/>
        </p:nvSpPr>
        <p:spPr>
          <a:xfrm>
            <a:off x="1367598" y="2534038"/>
            <a:ext cx="459588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sz="2000" b="1" dirty="0"/>
              <a:t>Example: I love reading books.</a:t>
            </a:r>
            <a:endParaRPr kumimoji="1" lang="zh-TW" altLang="en-US" sz="2000" b="1" dirty="0"/>
          </a:p>
        </p:txBody>
      </p:sp>
      <p:sp>
        <p:nvSpPr>
          <p:cNvPr id="119" name="圓角矩形 118">
            <a:extLst>
              <a:ext uri="{FF2B5EF4-FFF2-40B4-BE49-F238E27FC236}">
                <a16:creationId xmlns:a16="http://schemas.microsoft.com/office/drawing/2014/main" id="{AD816977-C39A-2A32-5CBF-761CF5547FBC}"/>
              </a:ext>
            </a:extLst>
          </p:cNvPr>
          <p:cNvSpPr/>
          <p:nvPr/>
        </p:nvSpPr>
        <p:spPr>
          <a:xfrm>
            <a:off x="2975496" y="4061144"/>
            <a:ext cx="762607" cy="400110"/>
          </a:xfrm>
          <a:prstGeom prst="roundRect">
            <a:avLst/>
          </a:prstGeom>
          <a:solidFill>
            <a:schemeClr val="bg2">
              <a:lumMod val="9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en-US" altLang="zh-TW" dirty="0">
                <a:solidFill>
                  <a:schemeClr val="tx1"/>
                </a:solidFill>
              </a:rPr>
              <a:t>love</a:t>
            </a:r>
            <a:endParaRPr kumimoji="1" lang="zh-TW" altLang="en-US" dirty="0">
              <a:solidFill>
                <a:schemeClr val="tx1"/>
              </a:solidFill>
            </a:endParaRPr>
          </a:p>
        </p:txBody>
      </p:sp>
      <p:cxnSp>
        <p:nvCxnSpPr>
          <p:cNvPr id="121" name="直線箭頭接點 120">
            <a:extLst>
              <a:ext uri="{FF2B5EF4-FFF2-40B4-BE49-F238E27FC236}">
                <a16:creationId xmlns:a16="http://schemas.microsoft.com/office/drawing/2014/main" id="{97172784-5C86-AB5C-F34C-31505BB46152}"/>
              </a:ext>
            </a:extLst>
          </p:cNvPr>
          <p:cNvCxnSpPr/>
          <p:nvPr/>
        </p:nvCxnSpPr>
        <p:spPr>
          <a:xfrm>
            <a:off x="2396974" y="4247425"/>
            <a:ext cx="382614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2" name="圓角矩形 121">
            <a:extLst>
              <a:ext uri="{FF2B5EF4-FFF2-40B4-BE49-F238E27FC236}">
                <a16:creationId xmlns:a16="http://schemas.microsoft.com/office/drawing/2014/main" id="{2BB7EE76-3348-98C1-2418-4E741F6E25E7}"/>
              </a:ext>
            </a:extLst>
          </p:cNvPr>
          <p:cNvSpPr/>
          <p:nvPr/>
        </p:nvSpPr>
        <p:spPr>
          <a:xfrm>
            <a:off x="1464812" y="4671665"/>
            <a:ext cx="762607" cy="400110"/>
          </a:xfrm>
          <a:prstGeom prst="roundRect">
            <a:avLst/>
          </a:prstGeom>
          <a:solidFill>
            <a:schemeClr val="bg2">
              <a:lumMod val="9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en-US" altLang="zh-TW" dirty="0">
                <a:solidFill>
                  <a:schemeClr val="tx1"/>
                </a:solidFill>
              </a:rPr>
              <a:t>I</a:t>
            </a:r>
            <a:endParaRPr kumimoji="1" lang="zh-TW" altLang="en-US" dirty="0">
              <a:solidFill>
                <a:schemeClr val="tx1"/>
              </a:solidFill>
            </a:endParaRPr>
          </a:p>
        </p:txBody>
      </p:sp>
      <p:sp>
        <p:nvSpPr>
          <p:cNvPr id="123" name="圓角矩形 122">
            <a:extLst>
              <a:ext uri="{FF2B5EF4-FFF2-40B4-BE49-F238E27FC236}">
                <a16:creationId xmlns:a16="http://schemas.microsoft.com/office/drawing/2014/main" id="{A482C1C0-7A40-5CE9-0796-5F20AF92B6F9}"/>
              </a:ext>
            </a:extLst>
          </p:cNvPr>
          <p:cNvSpPr/>
          <p:nvPr/>
        </p:nvSpPr>
        <p:spPr>
          <a:xfrm>
            <a:off x="2336140" y="4671665"/>
            <a:ext cx="762607" cy="400110"/>
          </a:xfrm>
          <a:prstGeom prst="roundRect">
            <a:avLst/>
          </a:prstGeom>
          <a:solidFill>
            <a:schemeClr val="bg2">
              <a:lumMod val="9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en-US" altLang="zh-TW" dirty="0">
                <a:solidFill>
                  <a:schemeClr val="tx1"/>
                </a:solidFill>
              </a:rPr>
              <a:t>love</a:t>
            </a:r>
            <a:endParaRPr kumimoji="1" lang="zh-TW" altLang="en-US" dirty="0">
              <a:solidFill>
                <a:schemeClr val="tx1"/>
              </a:solidFill>
            </a:endParaRPr>
          </a:p>
        </p:txBody>
      </p:sp>
      <p:cxnSp>
        <p:nvCxnSpPr>
          <p:cNvPr id="124" name="直線箭頭接點 123">
            <a:extLst>
              <a:ext uri="{FF2B5EF4-FFF2-40B4-BE49-F238E27FC236}">
                <a16:creationId xmlns:a16="http://schemas.microsoft.com/office/drawing/2014/main" id="{0CEFABFF-477B-E69F-5241-4E95E8189033}"/>
              </a:ext>
            </a:extLst>
          </p:cNvPr>
          <p:cNvCxnSpPr/>
          <p:nvPr/>
        </p:nvCxnSpPr>
        <p:spPr>
          <a:xfrm>
            <a:off x="3288318" y="4871720"/>
            <a:ext cx="382614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6" name="圓角矩形 125">
            <a:extLst>
              <a:ext uri="{FF2B5EF4-FFF2-40B4-BE49-F238E27FC236}">
                <a16:creationId xmlns:a16="http://schemas.microsoft.com/office/drawing/2014/main" id="{72419F2A-BDD5-3196-C461-A6CD032D9685}"/>
              </a:ext>
            </a:extLst>
          </p:cNvPr>
          <p:cNvSpPr/>
          <p:nvPr/>
        </p:nvSpPr>
        <p:spPr>
          <a:xfrm>
            <a:off x="1464812" y="5275666"/>
            <a:ext cx="762607" cy="400110"/>
          </a:xfrm>
          <a:prstGeom prst="roundRect">
            <a:avLst/>
          </a:prstGeom>
          <a:solidFill>
            <a:schemeClr val="bg2">
              <a:lumMod val="9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en-US" altLang="zh-TW" dirty="0">
                <a:solidFill>
                  <a:schemeClr val="tx1"/>
                </a:solidFill>
              </a:rPr>
              <a:t>I</a:t>
            </a:r>
            <a:endParaRPr kumimoji="1" lang="zh-TW" altLang="en-US" dirty="0">
              <a:solidFill>
                <a:schemeClr val="tx1"/>
              </a:solidFill>
            </a:endParaRPr>
          </a:p>
        </p:txBody>
      </p:sp>
      <p:sp>
        <p:nvSpPr>
          <p:cNvPr id="127" name="圓角矩形 126">
            <a:extLst>
              <a:ext uri="{FF2B5EF4-FFF2-40B4-BE49-F238E27FC236}">
                <a16:creationId xmlns:a16="http://schemas.microsoft.com/office/drawing/2014/main" id="{AC768B82-6F6B-4F49-DB49-8A12C866CD13}"/>
              </a:ext>
            </a:extLst>
          </p:cNvPr>
          <p:cNvSpPr/>
          <p:nvPr/>
        </p:nvSpPr>
        <p:spPr>
          <a:xfrm>
            <a:off x="2336140" y="5275666"/>
            <a:ext cx="762607" cy="400110"/>
          </a:xfrm>
          <a:prstGeom prst="roundRect">
            <a:avLst/>
          </a:prstGeom>
          <a:solidFill>
            <a:schemeClr val="bg2">
              <a:lumMod val="9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en-US" altLang="zh-TW" dirty="0">
                <a:solidFill>
                  <a:schemeClr val="tx1"/>
                </a:solidFill>
              </a:rPr>
              <a:t>love</a:t>
            </a:r>
            <a:endParaRPr kumimoji="1" lang="zh-TW" altLang="en-US" dirty="0">
              <a:solidFill>
                <a:schemeClr val="tx1"/>
              </a:solidFill>
            </a:endParaRPr>
          </a:p>
        </p:txBody>
      </p:sp>
      <p:cxnSp>
        <p:nvCxnSpPr>
          <p:cNvPr id="128" name="直線箭頭接點 127">
            <a:extLst>
              <a:ext uri="{FF2B5EF4-FFF2-40B4-BE49-F238E27FC236}">
                <a16:creationId xmlns:a16="http://schemas.microsoft.com/office/drawing/2014/main" id="{349DE62B-FB10-9502-B48B-0960A08AAB2C}"/>
              </a:ext>
            </a:extLst>
          </p:cNvPr>
          <p:cNvCxnSpPr/>
          <p:nvPr/>
        </p:nvCxnSpPr>
        <p:spPr>
          <a:xfrm>
            <a:off x="4318344" y="5475721"/>
            <a:ext cx="382614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9" name="圓角矩形 128">
            <a:extLst>
              <a:ext uri="{FF2B5EF4-FFF2-40B4-BE49-F238E27FC236}">
                <a16:creationId xmlns:a16="http://schemas.microsoft.com/office/drawing/2014/main" id="{D003AE2D-6EA9-E0DA-F277-DEBF31FDFA93}"/>
              </a:ext>
            </a:extLst>
          </p:cNvPr>
          <p:cNvSpPr/>
          <p:nvPr/>
        </p:nvSpPr>
        <p:spPr>
          <a:xfrm>
            <a:off x="3840625" y="4671665"/>
            <a:ext cx="998146" cy="400110"/>
          </a:xfrm>
          <a:prstGeom prst="roundRect">
            <a:avLst/>
          </a:prstGeom>
          <a:solidFill>
            <a:schemeClr val="bg2">
              <a:lumMod val="9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en-US" altLang="zh-TW" dirty="0">
                <a:solidFill>
                  <a:schemeClr val="tx1"/>
                </a:solidFill>
              </a:rPr>
              <a:t>reading</a:t>
            </a:r>
            <a:endParaRPr kumimoji="1" lang="zh-TW" altLang="en-US" dirty="0">
              <a:solidFill>
                <a:schemeClr val="tx1"/>
              </a:solidFill>
            </a:endParaRPr>
          </a:p>
        </p:txBody>
      </p:sp>
      <p:sp>
        <p:nvSpPr>
          <p:cNvPr id="137" name="文字方塊 136">
            <a:extLst>
              <a:ext uri="{FF2B5EF4-FFF2-40B4-BE49-F238E27FC236}">
                <a16:creationId xmlns:a16="http://schemas.microsoft.com/office/drawing/2014/main" id="{226B75ED-8459-15F1-6136-C7ED1CCB4671}"/>
              </a:ext>
            </a:extLst>
          </p:cNvPr>
          <p:cNvSpPr txBox="1"/>
          <p:nvPr/>
        </p:nvSpPr>
        <p:spPr>
          <a:xfrm>
            <a:off x="1367597" y="3174560"/>
            <a:ext cx="459588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sz="2000" b="1" dirty="0"/>
              <a:t>Language modeling</a:t>
            </a:r>
            <a:r>
              <a:rPr kumimoji="1" lang="en-US" altLang="zh-TW" sz="2000" b="1" dirty="0">
                <a:solidFill>
                  <a:srgbClr val="FF0000"/>
                </a:solidFill>
              </a:rPr>
              <a:t> (Unsupervised)</a:t>
            </a:r>
            <a:endParaRPr kumimoji="1" lang="zh-TW" altLang="en-US" sz="2000" b="1" dirty="0">
              <a:solidFill>
                <a:srgbClr val="FF0000"/>
              </a:solidFill>
            </a:endParaRPr>
          </a:p>
        </p:txBody>
      </p:sp>
      <p:sp>
        <p:nvSpPr>
          <p:cNvPr id="138" name="文字方塊 137">
            <a:extLst>
              <a:ext uri="{FF2B5EF4-FFF2-40B4-BE49-F238E27FC236}">
                <a16:creationId xmlns:a16="http://schemas.microsoft.com/office/drawing/2014/main" id="{B443BC06-A741-22C4-B01F-564F987ECFB6}"/>
              </a:ext>
            </a:extLst>
          </p:cNvPr>
          <p:cNvSpPr txBox="1"/>
          <p:nvPr/>
        </p:nvSpPr>
        <p:spPr>
          <a:xfrm>
            <a:off x="6376082" y="3179849"/>
            <a:ext cx="44483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sz="2000" b="1" dirty="0"/>
              <a:t>Machine Translation </a:t>
            </a:r>
            <a:r>
              <a:rPr kumimoji="1" lang="en-US" altLang="zh-TW" sz="2000" b="1" dirty="0">
                <a:solidFill>
                  <a:srgbClr val="FF0000"/>
                </a:solidFill>
              </a:rPr>
              <a:t>(Supervised)</a:t>
            </a:r>
            <a:endParaRPr kumimoji="1" lang="zh-TW" altLang="en-US" sz="2000" b="1" dirty="0">
              <a:solidFill>
                <a:srgbClr val="FF0000"/>
              </a:solidFill>
            </a:endParaRPr>
          </a:p>
        </p:txBody>
      </p:sp>
      <p:sp>
        <p:nvSpPr>
          <p:cNvPr id="140" name="圓角矩形 139">
            <a:extLst>
              <a:ext uri="{FF2B5EF4-FFF2-40B4-BE49-F238E27FC236}">
                <a16:creationId xmlns:a16="http://schemas.microsoft.com/office/drawing/2014/main" id="{4D31A981-87DE-7530-180F-40532563F1CD}"/>
              </a:ext>
            </a:extLst>
          </p:cNvPr>
          <p:cNvSpPr/>
          <p:nvPr/>
        </p:nvSpPr>
        <p:spPr>
          <a:xfrm>
            <a:off x="6447101" y="4047370"/>
            <a:ext cx="762607" cy="400110"/>
          </a:xfrm>
          <a:prstGeom prst="roundRect">
            <a:avLst/>
          </a:prstGeom>
          <a:solidFill>
            <a:schemeClr val="bg2">
              <a:lumMod val="9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en-US" altLang="zh-TW" dirty="0">
                <a:solidFill>
                  <a:schemeClr val="tx1"/>
                </a:solidFill>
              </a:rPr>
              <a:t>I</a:t>
            </a:r>
            <a:endParaRPr kumimoji="1" lang="zh-TW" altLang="en-US" dirty="0">
              <a:solidFill>
                <a:schemeClr val="tx1"/>
              </a:solidFill>
            </a:endParaRPr>
          </a:p>
        </p:txBody>
      </p:sp>
      <p:sp>
        <p:nvSpPr>
          <p:cNvPr id="141" name="圓角矩形 140">
            <a:extLst>
              <a:ext uri="{FF2B5EF4-FFF2-40B4-BE49-F238E27FC236}">
                <a16:creationId xmlns:a16="http://schemas.microsoft.com/office/drawing/2014/main" id="{4991094A-7CA9-51C8-D3A0-A0C34D29265E}"/>
              </a:ext>
            </a:extLst>
          </p:cNvPr>
          <p:cNvSpPr/>
          <p:nvPr/>
        </p:nvSpPr>
        <p:spPr>
          <a:xfrm>
            <a:off x="7318429" y="4047370"/>
            <a:ext cx="762607" cy="400110"/>
          </a:xfrm>
          <a:prstGeom prst="roundRect">
            <a:avLst/>
          </a:prstGeom>
          <a:solidFill>
            <a:schemeClr val="bg2">
              <a:lumMod val="9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en-US" altLang="zh-TW" dirty="0">
                <a:solidFill>
                  <a:schemeClr val="tx1"/>
                </a:solidFill>
              </a:rPr>
              <a:t>love</a:t>
            </a:r>
            <a:endParaRPr kumimoji="1" lang="zh-TW" altLang="en-US" dirty="0">
              <a:solidFill>
                <a:schemeClr val="tx1"/>
              </a:solidFill>
            </a:endParaRPr>
          </a:p>
        </p:txBody>
      </p:sp>
      <p:sp>
        <p:nvSpPr>
          <p:cNvPr id="145" name="圓角矩形 144">
            <a:extLst>
              <a:ext uri="{FF2B5EF4-FFF2-40B4-BE49-F238E27FC236}">
                <a16:creationId xmlns:a16="http://schemas.microsoft.com/office/drawing/2014/main" id="{962DDC79-A59F-C5A6-9861-9A40BF5BE196}"/>
              </a:ext>
            </a:extLst>
          </p:cNvPr>
          <p:cNvSpPr/>
          <p:nvPr/>
        </p:nvSpPr>
        <p:spPr>
          <a:xfrm>
            <a:off x="3207468" y="5275666"/>
            <a:ext cx="998146" cy="400110"/>
          </a:xfrm>
          <a:prstGeom prst="roundRect">
            <a:avLst/>
          </a:prstGeom>
          <a:solidFill>
            <a:schemeClr val="bg2">
              <a:lumMod val="9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en-US" altLang="zh-TW" dirty="0">
                <a:solidFill>
                  <a:schemeClr val="tx1"/>
                </a:solidFill>
              </a:rPr>
              <a:t>reading</a:t>
            </a:r>
            <a:endParaRPr kumimoji="1" lang="zh-TW" altLang="en-US" dirty="0">
              <a:solidFill>
                <a:schemeClr val="tx1"/>
              </a:solidFill>
            </a:endParaRPr>
          </a:p>
        </p:txBody>
      </p:sp>
      <p:sp>
        <p:nvSpPr>
          <p:cNvPr id="147" name="圓角矩形 146">
            <a:extLst>
              <a:ext uri="{FF2B5EF4-FFF2-40B4-BE49-F238E27FC236}">
                <a16:creationId xmlns:a16="http://schemas.microsoft.com/office/drawing/2014/main" id="{97CCC893-2DA3-3494-E769-D8079B5A9039}"/>
              </a:ext>
            </a:extLst>
          </p:cNvPr>
          <p:cNvSpPr/>
          <p:nvPr/>
        </p:nvSpPr>
        <p:spPr>
          <a:xfrm>
            <a:off x="4838773" y="5275666"/>
            <a:ext cx="846059" cy="400110"/>
          </a:xfrm>
          <a:prstGeom prst="roundRect">
            <a:avLst/>
          </a:prstGeom>
          <a:solidFill>
            <a:schemeClr val="bg2">
              <a:lumMod val="9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en-US" altLang="zh-TW" dirty="0">
                <a:solidFill>
                  <a:schemeClr val="tx1"/>
                </a:solidFill>
              </a:rPr>
              <a:t>books</a:t>
            </a:r>
            <a:endParaRPr kumimoji="1" lang="zh-TW" altLang="en-US" dirty="0">
              <a:solidFill>
                <a:schemeClr val="tx1"/>
              </a:solidFill>
            </a:endParaRPr>
          </a:p>
        </p:txBody>
      </p:sp>
      <p:sp>
        <p:nvSpPr>
          <p:cNvPr id="148" name="圓角矩形 147">
            <a:extLst>
              <a:ext uri="{FF2B5EF4-FFF2-40B4-BE49-F238E27FC236}">
                <a16:creationId xmlns:a16="http://schemas.microsoft.com/office/drawing/2014/main" id="{96BAAEC5-2952-DA91-1ADA-57787F2B53D3}"/>
              </a:ext>
            </a:extLst>
          </p:cNvPr>
          <p:cNvSpPr/>
          <p:nvPr/>
        </p:nvSpPr>
        <p:spPr>
          <a:xfrm>
            <a:off x="8150001" y="4047370"/>
            <a:ext cx="1026747" cy="400110"/>
          </a:xfrm>
          <a:prstGeom prst="roundRect">
            <a:avLst/>
          </a:prstGeom>
          <a:solidFill>
            <a:schemeClr val="bg2">
              <a:lumMod val="9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en-US" altLang="zh-TW" dirty="0">
                <a:solidFill>
                  <a:schemeClr val="tx1"/>
                </a:solidFill>
              </a:rPr>
              <a:t>reading</a:t>
            </a:r>
            <a:endParaRPr kumimoji="1" lang="zh-TW" altLang="en-US" dirty="0">
              <a:solidFill>
                <a:schemeClr val="tx1"/>
              </a:solidFill>
            </a:endParaRPr>
          </a:p>
        </p:txBody>
      </p:sp>
      <p:sp>
        <p:nvSpPr>
          <p:cNvPr id="149" name="圓角矩形 148">
            <a:extLst>
              <a:ext uri="{FF2B5EF4-FFF2-40B4-BE49-F238E27FC236}">
                <a16:creationId xmlns:a16="http://schemas.microsoft.com/office/drawing/2014/main" id="{CB022605-19DF-868D-0CD5-990B0607B730}"/>
              </a:ext>
            </a:extLst>
          </p:cNvPr>
          <p:cNvSpPr/>
          <p:nvPr/>
        </p:nvSpPr>
        <p:spPr>
          <a:xfrm>
            <a:off x="9234039" y="4047370"/>
            <a:ext cx="846059" cy="400110"/>
          </a:xfrm>
          <a:prstGeom prst="roundRect">
            <a:avLst/>
          </a:prstGeom>
          <a:solidFill>
            <a:schemeClr val="bg2">
              <a:lumMod val="9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en-US" altLang="zh-TW" dirty="0">
                <a:solidFill>
                  <a:schemeClr val="tx1"/>
                </a:solidFill>
              </a:rPr>
              <a:t>books</a:t>
            </a:r>
            <a:endParaRPr kumimoji="1" lang="zh-TW" altLang="en-US" dirty="0">
              <a:solidFill>
                <a:schemeClr val="tx1"/>
              </a:solidFill>
            </a:endParaRPr>
          </a:p>
        </p:txBody>
      </p:sp>
      <p:sp>
        <p:nvSpPr>
          <p:cNvPr id="150" name="文字方塊 149">
            <a:extLst>
              <a:ext uri="{FF2B5EF4-FFF2-40B4-BE49-F238E27FC236}">
                <a16:creationId xmlns:a16="http://schemas.microsoft.com/office/drawing/2014/main" id="{2238114A-5EE0-7423-B204-EA3F01E72FF7}"/>
              </a:ext>
            </a:extLst>
          </p:cNvPr>
          <p:cNvSpPr txBox="1"/>
          <p:nvPr/>
        </p:nvSpPr>
        <p:spPr>
          <a:xfrm>
            <a:off x="10188819" y="4061144"/>
            <a:ext cx="114522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sz="2000" b="1" dirty="0"/>
              <a:t>English</a:t>
            </a:r>
            <a:endParaRPr kumimoji="1" lang="zh-TW" altLang="en-US" sz="2000" b="1" dirty="0"/>
          </a:p>
        </p:txBody>
      </p:sp>
      <p:sp>
        <p:nvSpPr>
          <p:cNvPr id="151" name="圓角矩形 150">
            <a:extLst>
              <a:ext uri="{FF2B5EF4-FFF2-40B4-BE49-F238E27FC236}">
                <a16:creationId xmlns:a16="http://schemas.microsoft.com/office/drawing/2014/main" id="{8D46B155-6D01-99F1-BC1B-7FC8F7E57A21}"/>
              </a:ext>
            </a:extLst>
          </p:cNvPr>
          <p:cNvSpPr/>
          <p:nvPr/>
        </p:nvSpPr>
        <p:spPr>
          <a:xfrm>
            <a:off x="6447101" y="5106789"/>
            <a:ext cx="762607" cy="400110"/>
          </a:xfrm>
          <a:prstGeom prst="roundRect">
            <a:avLst/>
          </a:prstGeom>
          <a:solidFill>
            <a:srgbClr val="C5E0B4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zh-TW" altLang="en-US" dirty="0">
                <a:solidFill>
                  <a:schemeClr val="tx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我</a:t>
            </a:r>
          </a:p>
        </p:txBody>
      </p:sp>
      <p:sp>
        <p:nvSpPr>
          <p:cNvPr id="152" name="圓角矩形 151">
            <a:extLst>
              <a:ext uri="{FF2B5EF4-FFF2-40B4-BE49-F238E27FC236}">
                <a16:creationId xmlns:a16="http://schemas.microsoft.com/office/drawing/2014/main" id="{6C7F7119-05C5-2CDE-A329-52C56D5D2488}"/>
              </a:ext>
            </a:extLst>
          </p:cNvPr>
          <p:cNvSpPr/>
          <p:nvPr/>
        </p:nvSpPr>
        <p:spPr>
          <a:xfrm>
            <a:off x="7318429" y="5106789"/>
            <a:ext cx="762607" cy="400110"/>
          </a:xfrm>
          <a:prstGeom prst="roundRect">
            <a:avLst/>
          </a:prstGeom>
          <a:solidFill>
            <a:srgbClr val="C5E0B4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zh-TW" altLang="en-US" dirty="0">
                <a:solidFill>
                  <a:schemeClr val="tx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愛</a:t>
            </a:r>
          </a:p>
        </p:txBody>
      </p:sp>
      <p:sp>
        <p:nvSpPr>
          <p:cNvPr id="153" name="圓角矩形 152">
            <a:extLst>
              <a:ext uri="{FF2B5EF4-FFF2-40B4-BE49-F238E27FC236}">
                <a16:creationId xmlns:a16="http://schemas.microsoft.com/office/drawing/2014/main" id="{B4633D36-AE85-04ED-1790-9D42F3C2EE70}"/>
              </a:ext>
            </a:extLst>
          </p:cNvPr>
          <p:cNvSpPr/>
          <p:nvPr/>
        </p:nvSpPr>
        <p:spPr>
          <a:xfrm>
            <a:off x="8189757" y="5106789"/>
            <a:ext cx="935561" cy="400110"/>
          </a:xfrm>
          <a:prstGeom prst="roundRect">
            <a:avLst/>
          </a:prstGeom>
          <a:solidFill>
            <a:srgbClr val="C5E0B4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zh-TW" altLang="en-US" dirty="0">
                <a:solidFill>
                  <a:schemeClr val="tx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閱</a:t>
            </a:r>
          </a:p>
        </p:txBody>
      </p:sp>
      <p:sp>
        <p:nvSpPr>
          <p:cNvPr id="154" name="圓角矩形 153">
            <a:extLst>
              <a:ext uri="{FF2B5EF4-FFF2-40B4-BE49-F238E27FC236}">
                <a16:creationId xmlns:a16="http://schemas.microsoft.com/office/drawing/2014/main" id="{AF7035C1-14A8-645B-C003-B354ACCE6DC3}"/>
              </a:ext>
            </a:extLst>
          </p:cNvPr>
          <p:cNvSpPr/>
          <p:nvPr/>
        </p:nvSpPr>
        <p:spPr>
          <a:xfrm>
            <a:off x="9234039" y="5106789"/>
            <a:ext cx="846059" cy="400110"/>
          </a:xfrm>
          <a:prstGeom prst="roundRect">
            <a:avLst/>
          </a:prstGeom>
          <a:solidFill>
            <a:srgbClr val="C5E0B4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zh-TW" altLang="en-US" dirty="0">
                <a:solidFill>
                  <a:schemeClr val="tx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讀</a:t>
            </a:r>
          </a:p>
        </p:txBody>
      </p:sp>
      <p:sp>
        <p:nvSpPr>
          <p:cNvPr id="155" name="文字方塊 154">
            <a:extLst>
              <a:ext uri="{FF2B5EF4-FFF2-40B4-BE49-F238E27FC236}">
                <a16:creationId xmlns:a16="http://schemas.microsoft.com/office/drawing/2014/main" id="{A17B4148-ECE6-BDF6-590A-E94F63DAC7F1}"/>
              </a:ext>
            </a:extLst>
          </p:cNvPr>
          <p:cNvSpPr txBox="1"/>
          <p:nvPr/>
        </p:nvSpPr>
        <p:spPr>
          <a:xfrm>
            <a:off x="10188818" y="5120563"/>
            <a:ext cx="124056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sz="2000" b="1" dirty="0"/>
              <a:t>Chinese</a:t>
            </a:r>
            <a:endParaRPr kumimoji="1" lang="zh-TW" altLang="en-US" sz="2000" b="1" dirty="0"/>
          </a:p>
        </p:txBody>
      </p:sp>
      <p:cxnSp>
        <p:nvCxnSpPr>
          <p:cNvPr id="159" name="直線箭頭接點 158">
            <a:extLst>
              <a:ext uri="{FF2B5EF4-FFF2-40B4-BE49-F238E27FC236}">
                <a16:creationId xmlns:a16="http://schemas.microsoft.com/office/drawing/2014/main" id="{C75F87F2-201B-2CB4-EBAC-A2492F05FDF4}"/>
              </a:ext>
            </a:extLst>
          </p:cNvPr>
          <p:cNvCxnSpPr/>
          <p:nvPr/>
        </p:nvCxnSpPr>
        <p:spPr>
          <a:xfrm>
            <a:off x="10753819" y="4535767"/>
            <a:ext cx="0" cy="490896"/>
          </a:xfrm>
          <a:prstGeom prst="straightConnector1">
            <a:avLst/>
          </a:prstGeom>
          <a:ln w="28575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8772202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30ECCA13-447D-C0DD-CBB8-4F465AF77D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15</a:t>
            </a:fld>
            <a:endParaRPr lang="en-US"/>
          </a:p>
        </p:txBody>
      </p:sp>
      <p:sp>
        <p:nvSpPr>
          <p:cNvPr id="5" name="圓角矩形 4">
            <a:extLst>
              <a:ext uri="{FF2B5EF4-FFF2-40B4-BE49-F238E27FC236}">
                <a16:creationId xmlns:a16="http://schemas.microsoft.com/office/drawing/2014/main" id="{20ED88FC-F9F8-1078-95E7-282762B22A67}"/>
              </a:ext>
            </a:extLst>
          </p:cNvPr>
          <p:cNvSpPr/>
          <p:nvPr/>
        </p:nvSpPr>
        <p:spPr>
          <a:xfrm>
            <a:off x="1190097" y="4263664"/>
            <a:ext cx="4063943" cy="941558"/>
          </a:xfrm>
          <a:prstGeom prst="round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en-US" altLang="zh-TW" sz="2400" dirty="0">
                <a:solidFill>
                  <a:schemeClr val="tx1"/>
                </a:solidFill>
              </a:rPr>
              <a:t>Encoder</a:t>
            </a:r>
            <a:endParaRPr kumimoji="1" lang="zh-TW" altLang="en-US" sz="2400" dirty="0">
              <a:solidFill>
                <a:schemeClr val="tx1"/>
              </a:solidFill>
            </a:endParaRPr>
          </a:p>
        </p:txBody>
      </p:sp>
      <p:sp>
        <p:nvSpPr>
          <p:cNvPr id="6" name="圓角矩形 5">
            <a:extLst>
              <a:ext uri="{FF2B5EF4-FFF2-40B4-BE49-F238E27FC236}">
                <a16:creationId xmlns:a16="http://schemas.microsoft.com/office/drawing/2014/main" id="{597BED2F-87B0-208B-B691-443F16ECC21B}"/>
              </a:ext>
            </a:extLst>
          </p:cNvPr>
          <p:cNvSpPr/>
          <p:nvPr/>
        </p:nvSpPr>
        <p:spPr>
          <a:xfrm>
            <a:off x="6891523" y="4263664"/>
            <a:ext cx="4055873" cy="941558"/>
          </a:xfrm>
          <a:prstGeom prst="round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en-US" altLang="zh-TW" sz="2400" dirty="0">
                <a:solidFill>
                  <a:schemeClr val="tx1"/>
                </a:solidFill>
              </a:rPr>
              <a:t>Decoder</a:t>
            </a:r>
            <a:endParaRPr kumimoji="1" lang="zh-TW" altLang="en-US" sz="2400" dirty="0">
              <a:solidFill>
                <a:schemeClr val="tx1"/>
              </a:solidFill>
            </a:endParaRPr>
          </a:p>
        </p:txBody>
      </p:sp>
      <p:sp>
        <p:nvSpPr>
          <p:cNvPr id="7" name="圓角矩形 6">
            <a:extLst>
              <a:ext uri="{FF2B5EF4-FFF2-40B4-BE49-F238E27FC236}">
                <a16:creationId xmlns:a16="http://schemas.microsoft.com/office/drawing/2014/main" id="{42076F99-2BF5-58DF-FF09-A275AE9F679D}"/>
              </a:ext>
            </a:extLst>
          </p:cNvPr>
          <p:cNvSpPr/>
          <p:nvPr/>
        </p:nvSpPr>
        <p:spPr>
          <a:xfrm>
            <a:off x="1198165" y="5578282"/>
            <a:ext cx="448780" cy="375953"/>
          </a:xfrm>
          <a:prstGeom prst="roundRect">
            <a:avLst/>
          </a:prstGeom>
          <a:solidFill>
            <a:schemeClr val="bg2">
              <a:lumMod val="9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en-US" altLang="zh-TW" dirty="0">
                <a:solidFill>
                  <a:schemeClr val="tx1"/>
                </a:solidFill>
              </a:rPr>
              <a:t>x</a:t>
            </a:r>
            <a:r>
              <a:rPr kumimoji="1" lang="en-US" altLang="zh-TW" baseline="-25000" dirty="0">
                <a:solidFill>
                  <a:schemeClr val="tx1"/>
                </a:solidFill>
              </a:rPr>
              <a:t>1</a:t>
            </a:r>
            <a:endParaRPr kumimoji="1" lang="zh-TW" altLang="en-US" dirty="0">
              <a:solidFill>
                <a:schemeClr val="tx1"/>
              </a:solidFill>
            </a:endParaRPr>
          </a:p>
        </p:txBody>
      </p:sp>
      <p:sp>
        <p:nvSpPr>
          <p:cNvPr id="8" name="圓角矩形 7">
            <a:extLst>
              <a:ext uri="{FF2B5EF4-FFF2-40B4-BE49-F238E27FC236}">
                <a16:creationId xmlns:a16="http://schemas.microsoft.com/office/drawing/2014/main" id="{F582765F-232E-631F-3398-EECF718949FE}"/>
              </a:ext>
            </a:extLst>
          </p:cNvPr>
          <p:cNvSpPr/>
          <p:nvPr/>
        </p:nvSpPr>
        <p:spPr>
          <a:xfrm>
            <a:off x="1704141" y="5578282"/>
            <a:ext cx="448780" cy="375953"/>
          </a:xfrm>
          <a:prstGeom prst="roundRect">
            <a:avLst/>
          </a:prstGeom>
          <a:solidFill>
            <a:schemeClr val="bg2">
              <a:lumMod val="9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en-US" altLang="zh-TW" dirty="0">
                <a:solidFill>
                  <a:schemeClr val="tx1"/>
                </a:solidFill>
              </a:rPr>
              <a:t>x</a:t>
            </a:r>
            <a:r>
              <a:rPr kumimoji="1" lang="en-US" altLang="zh-TW" baseline="-25000" dirty="0">
                <a:solidFill>
                  <a:schemeClr val="tx1"/>
                </a:solidFill>
              </a:rPr>
              <a:t>2</a:t>
            </a:r>
            <a:endParaRPr kumimoji="1" lang="zh-TW" altLang="en-US" dirty="0">
              <a:solidFill>
                <a:schemeClr val="tx1"/>
              </a:solidFill>
            </a:endParaRPr>
          </a:p>
        </p:txBody>
      </p:sp>
      <p:sp>
        <p:nvSpPr>
          <p:cNvPr id="9" name="圓角矩形 8">
            <a:extLst>
              <a:ext uri="{FF2B5EF4-FFF2-40B4-BE49-F238E27FC236}">
                <a16:creationId xmlns:a16="http://schemas.microsoft.com/office/drawing/2014/main" id="{9C409F34-B393-87B9-21AC-802C7EBA847C}"/>
              </a:ext>
            </a:extLst>
          </p:cNvPr>
          <p:cNvSpPr/>
          <p:nvPr/>
        </p:nvSpPr>
        <p:spPr>
          <a:xfrm>
            <a:off x="4234019" y="5578282"/>
            <a:ext cx="448780" cy="375953"/>
          </a:xfrm>
          <a:prstGeom prst="roundRect">
            <a:avLst/>
          </a:prstGeom>
          <a:solidFill>
            <a:schemeClr val="bg2">
              <a:lumMod val="9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en-US" altLang="zh-TW" dirty="0">
                <a:solidFill>
                  <a:schemeClr val="tx1"/>
                </a:solidFill>
              </a:rPr>
              <a:t>x</a:t>
            </a:r>
            <a:r>
              <a:rPr kumimoji="1" lang="en-US" altLang="zh-TW" baseline="-25000" dirty="0">
                <a:solidFill>
                  <a:schemeClr val="tx1"/>
                </a:solidFill>
              </a:rPr>
              <a:t>7</a:t>
            </a:r>
            <a:endParaRPr kumimoji="1" lang="zh-TW" altLang="en-US" dirty="0">
              <a:solidFill>
                <a:schemeClr val="tx1"/>
              </a:solidFill>
            </a:endParaRPr>
          </a:p>
        </p:txBody>
      </p:sp>
      <p:sp>
        <p:nvSpPr>
          <p:cNvPr id="10" name="圓角矩形 9">
            <a:extLst>
              <a:ext uri="{FF2B5EF4-FFF2-40B4-BE49-F238E27FC236}">
                <a16:creationId xmlns:a16="http://schemas.microsoft.com/office/drawing/2014/main" id="{2CAD4679-3FFF-D507-694E-68CCAC32837E}"/>
              </a:ext>
            </a:extLst>
          </p:cNvPr>
          <p:cNvSpPr/>
          <p:nvPr/>
        </p:nvSpPr>
        <p:spPr>
          <a:xfrm>
            <a:off x="4739995" y="5578282"/>
            <a:ext cx="448780" cy="375953"/>
          </a:xfrm>
          <a:prstGeom prst="roundRect">
            <a:avLst/>
          </a:prstGeom>
          <a:solidFill>
            <a:schemeClr val="bg2">
              <a:lumMod val="9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en-US" altLang="zh-TW" dirty="0">
                <a:solidFill>
                  <a:schemeClr val="tx1"/>
                </a:solidFill>
              </a:rPr>
              <a:t>x</a:t>
            </a:r>
            <a:r>
              <a:rPr kumimoji="1" lang="en-US" altLang="zh-TW" baseline="-25000" dirty="0">
                <a:solidFill>
                  <a:schemeClr val="tx1"/>
                </a:solidFill>
              </a:rPr>
              <a:t>8</a:t>
            </a:r>
            <a:endParaRPr kumimoji="1" lang="zh-TW" altLang="en-US" dirty="0">
              <a:solidFill>
                <a:schemeClr val="tx1"/>
              </a:solidFill>
            </a:endParaRPr>
          </a:p>
        </p:txBody>
      </p:sp>
      <p:sp>
        <p:nvSpPr>
          <p:cNvPr id="11" name="圓角矩形 10">
            <a:extLst>
              <a:ext uri="{FF2B5EF4-FFF2-40B4-BE49-F238E27FC236}">
                <a16:creationId xmlns:a16="http://schemas.microsoft.com/office/drawing/2014/main" id="{65412ACF-B066-AAE8-8419-B0306DCC4F40}"/>
              </a:ext>
            </a:extLst>
          </p:cNvPr>
          <p:cNvSpPr/>
          <p:nvPr/>
        </p:nvSpPr>
        <p:spPr>
          <a:xfrm>
            <a:off x="2210117" y="5578282"/>
            <a:ext cx="448780" cy="375953"/>
          </a:xfrm>
          <a:prstGeom prst="roundRect">
            <a:avLst/>
          </a:prstGeom>
          <a:solidFill>
            <a:schemeClr val="bg2">
              <a:lumMod val="9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en-US" altLang="zh-TW" dirty="0">
                <a:solidFill>
                  <a:schemeClr val="tx1"/>
                </a:solidFill>
              </a:rPr>
              <a:t>x</a:t>
            </a:r>
            <a:r>
              <a:rPr kumimoji="1" lang="en-US" altLang="zh-TW" baseline="-25000" dirty="0">
                <a:solidFill>
                  <a:schemeClr val="tx1"/>
                </a:solidFill>
              </a:rPr>
              <a:t>3</a:t>
            </a:r>
            <a:endParaRPr kumimoji="1" lang="zh-TW" altLang="en-US" dirty="0">
              <a:solidFill>
                <a:schemeClr val="tx1"/>
              </a:solidFill>
            </a:endParaRPr>
          </a:p>
        </p:txBody>
      </p:sp>
      <p:sp>
        <p:nvSpPr>
          <p:cNvPr id="12" name="圓角矩形 11">
            <a:extLst>
              <a:ext uri="{FF2B5EF4-FFF2-40B4-BE49-F238E27FC236}">
                <a16:creationId xmlns:a16="http://schemas.microsoft.com/office/drawing/2014/main" id="{613A6EA8-50D2-CF42-C932-0F6EB0B83657}"/>
              </a:ext>
            </a:extLst>
          </p:cNvPr>
          <p:cNvSpPr/>
          <p:nvPr/>
        </p:nvSpPr>
        <p:spPr>
          <a:xfrm>
            <a:off x="2716092" y="5578282"/>
            <a:ext cx="448780" cy="375953"/>
          </a:xfrm>
          <a:prstGeom prst="roundRect">
            <a:avLst/>
          </a:prstGeom>
          <a:solidFill>
            <a:schemeClr val="bg2">
              <a:lumMod val="9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en-US" altLang="zh-TW" dirty="0">
                <a:solidFill>
                  <a:schemeClr val="tx1"/>
                </a:solidFill>
              </a:rPr>
              <a:t>x</a:t>
            </a:r>
            <a:r>
              <a:rPr kumimoji="1" lang="en-US" altLang="zh-TW" baseline="-25000" dirty="0">
                <a:solidFill>
                  <a:schemeClr val="tx1"/>
                </a:solidFill>
              </a:rPr>
              <a:t>4</a:t>
            </a:r>
            <a:endParaRPr kumimoji="1" lang="zh-TW" altLang="en-US" dirty="0">
              <a:solidFill>
                <a:schemeClr val="tx1"/>
              </a:solidFill>
            </a:endParaRPr>
          </a:p>
        </p:txBody>
      </p:sp>
      <p:sp>
        <p:nvSpPr>
          <p:cNvPr id="13" name="圓角矩形 12">
            <a:extLst>
              <a:ext uri="{FF2B5EF4-FFF2-40B4-BE49-F238E27FC236}">
                <a16:creationId xmlns:a16="http://schemas.microsoft.com/office/drawing/2014/main" id="{986A9E5C-11A2-AD6A-4B5B-B208BF900DF4}"/>
              </a:ext>
            </a:extLst>
          </p:cNvPr>
          <p:cNvSpPr/>
          <p:nvPr/>
        </p:nvSpPr>
        <p:spPr>
          <a:xfrm>
            <a:off x="3222068" y="5578282"/>
            <a:ext cx="448780" cy="375953"/>
          </a:xfrm>
          <a:prstGeom prst="roundRect">
            <a:avLst/>
          </a:prstGeom>
          <a:solidFill>
            <a:schemeClr val="bg2">
              <a:lumMod val="9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en-US" altLang="zh-TW" dirty="0">
                <a:solidFill>
                  <a:schemeClr val="tx1"/>
                </a:solidFill>
              </a:rPr>
              <a:t>x</a:t>
            </a:r>
            <a:r>
              <a:rPr kumimoji="1" lang="en-US" altLang="zh-TW" baseline="-25000" dirty="0">
                <a:solidFill>
                  <a:schemeClr val="tx1"/>
                </a:solidFill>
              </a:rPr>
              <a:t>5</a:t>
            </a:r>
            <a:endParaRPr kumimoji="1" lang="zh-TW" altLang="en-US" dirty="0">
              <a:solidFill>
                <a:schemeClr val="tx1"/>
              </a:solidFill>
            </a:endParaRPr>
          </a:p>
        </p:txBody>
      </p:sp>
      <p:sp>
        <p:nvSpPr>
          <p:cNvPr id="14" name="圓角矩形 13">
            <a:extLst>
              <a:ext uri="{FF2B5EF4-FFF2-40B4-BE49-F238E27FC236}">
                <a16:creationId xmlns:a16="http://schemas.microsoft.com/office/drawing/2014/main" id="{11C45B4A-FEAC-CD84-E3B1-0CBEED429135}"/>
              </a:ext>
            </a:extLst>
          </p:cNvPr>
          <p:cNvSpPr/>
          <p:nvPr/>
        </p:nvSpPr>
        <p:spPr>
          <a:xfrm>
            <a:off x="3728044" y="5578282"/>
            <a:ext cx="448780" cy="375953"/>
          </a:xfrm>
          <a:prstGeom prst="roundRect">
            <a:avLst/>
          </a:prstGeom>
          <a:solidFill>
            <a:schemeClr val="bg2">
              <a:lumMod val="9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en-US" altLang="zh-TW" dirty="0">
                <a:solidFill>
                  <a:schemeClr val="tx1"/>
                </a:solidFill>
              </a:rPr>
              <a:t>x</a:t>
            </a:r>
            <a:r>
              <a:rPr kumimoji="1" lang="en-US" altLang="zh-TW" baseline="-25000" dirty="0">
                <a:solidFill>
                  <a:schemeClr val="tx1"/>
                </a:solidFill>
              </a:rPr>
              <a:t>6</a:t>
            </a:r>
            <a:endParaRPr kumimoji="1" lang="zh-TW" altLang="en-US" dirty="0">
              <a:solidFill>
                <a:schemeClr val="tx1"/>
              </a:solidFill>
            </a:endParaRPr>
          </a:p>
        </p:txBody>
      </p:sp>
      <p:cxnSp>
        <p:nvCxnSpPr>
          <p:cNvPr id="15" name="直線箭頭接點 14">
            <a:extLst>
              <a:ext uri="{FF2B5EF4-FFF2-40B4-BE49-F238E27FC236}">
                <a16:creationId xmlns:a16="http://schemas.microsoft.com/office/drawing/2014/main" id="{6B8DBF65-0C10-EA96-AEE6-07815058D57D}"/>
              </a:ext>
            </a:extLst>
          </p:cNvPr>
          <p:cNvCxnSpPr>
            <a:cxnSpLocks/>
          </p:cNvCxnSpPr>
          <p:nvPr/>
        </p:nvCxnSpPr>
        <p:spPr>
          <a:xfrm flipV="1">
            <a:off x="1432816" y="5266821"/>
            <a:ext cx="0" cy="263988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線箭頭接點 15">
            <a:extLst>
              <a:ext uri="{FF2B5EF4-FFF2-40B4-BE49-F238E27FC236}">
                <a16:creationId xmlns:a16="http://schemas.microsoft.com/office/drawing/2014/main" id="{9140C28B-B9E7-63F2-A2DE-33471AFD6B22}"/>
              </a:ext>
            </a:extLst>
          </p:cNvPr>
          <p:cNvCxnSpPr>
            <a:cxnSpLocks/>
          </p:cNvCxnSpPr>
          <p:nvPr/>
        </p:nvCxnSpPr>
        <p:spPr>
          <a:xfrm flipV="1">
            <a:off x="1936070" y="5266821"/>
            <a:ext cx="0" cy="263988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線箭頭接點 16">
            <a:extLst>
              <a:ext uri="{FF2B5EF4-FFF2-40B4-BE49-F238E27FC236}">
                <a16:creationId xmlns:a16="http://schemas.microsoft.com/office/drawing/2014/main" id="{F4D21C82-D949-1F30-F9EB-103E8D710D6F}"/>
              </a:ext>
            </a:extLst>
          </p:cNvPr>
          <p:cNvCxnSpPr>
            <a:cxnSpLocks/>
          </p:cNvCxnSpPr>
          <p:nvPr/>
        </p:nvCxnSpPr>
        <p:spPr>
          <a:xfrm flipV="1">
            <a:off x="2439323" y="5266821"/>
            <a:ext cx="0" cy="263988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線箭頭接點 17">
            <a:extLst>
              <a:ext uri="{FF2B5EF4-FFF2-40B4-BE49-F238E27FC236}">
                <a16:creationId xmlns:a16="http://schemas.microsoft.com/office/drawing/2014/main" id="{ABE8B018-CFB1-54B6-BD60-AA90D8F3DC74}"/>
              </a:ext>
            </a:extLst>
          </p:cNvPr>
          <p:cNvCxnSpPr>
            <a:cxnSpLocks/>
          </p:cNvCxnSpPr>
          <p:nvPr/>
        </p:nvCxnSpPr>
        <p:spPr>
          <a:xfrm flipV="1">
            <a:off x="2942578" y="5266821"/>
            <a:ext cx="0" cy="263988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線箭頭接點 18">
            <a:extLst>
              <a:ext uri="{FF2B5EF4-FFF2-40B4-BE49-F238E27FC236}">
                <a16:creationId xmlns:a16="http://schemas.microsoft.com/office/drawing/2014/main" id="{A54B947C-7992-6FC3-2358-476C7DB5252D}"/>
              </a:ext>
            </a:extLst>
          </p:cNvPr>
          <p:cNvCxnSpPr>
            <a:cxnSpLocks/>
          </p:cNvCxnSpPr>
          <p:nvPr/>
        </p:nvCxnSpPr>
        <p:spPr>
          <a:xfrm flipV="1">
            <a:off x="3445831" y="5266821"/>
            <a:ext cx="0" cy="263988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線箭頭接點 19">
            <a:extLst>
              <a:ext uri="{FF2B5EF4-FFF2-40B4-BE49-F238E27FC236}">
                <a16:creationId xmlns:a16="http://schemas.microsoft.com/office/drawing/2014/main" id="{BCD7DC33-1194-5467-4275-0389FFF68232}"/>
              </a:ext>
            </a:extLst>
          </p:cNvPr>
          <p:cNvCxnSpPr>
            <a:cxnSpLocks/>
          </p:cNvCxnSpPr>
          <p:nvPr/>
        </p:nvCxnSpPr>
        <p:spPr>
          <a:xfrm flipV="1">
            <a:off x="3949085" y="5266821"/>
            <a:ext cx="0" cy="263988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線箭頭接點 20">
            <a:extLst>
              <a:ext uri="{FF2B5EF4-FFF2-40B4-BE49-F238E27FC236}">
                <a16:creationId xmlns:a16="http://schemas.microsoft.com/office/drawing/2014/main" id="{21D77EE0-5CF1-FB3E-7205-02039960301C}"/>
              </a:ext>
            </a:extLst>
          </p:cNvPr>
          <p:cNvCxnSpPr>
            <a:cxnSpLocks/>
          </p:cNvCxnSpPr>
          <p:nvPr/>
        </p:nvCxnSpPr>
        <p:spPr>
          <a:xfrm flipV="1">
            <a:off x="4452339" y="5266821"/>
            <a:ext cx="0" cy="263988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直線箭頭接點 21">
            <a:extLst>
              <a:ext uri="{FF2B5EF4-FFF2-40B4-BE49-F238E27FC236}">
                <a16:creationId xmlns:a16="http://schemas.microsoft.com/office/drawing/2014/main" id="{695E5EB0-77AB-1819-EEBA-03ACBA334212}"/>
              </a:ext>
            </a:extLst>
          </p:cNvPr>
          <p:cNvCxnSpPr>
            <a:cxnSpLocks/>
          </p:cNvCxnSpPr>
          <p:nvPr/>
        </p:nvCxnSpPr>
        <p:spPr>
          <a:xfrm flipV="1">
            <a:off x="4955593" y="5266821"/>
            <a:ext cx="0" cy="263988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圓角矩形 22">
            <a:extLst>
              <a:ext uri="{FF2B5EF4-FFF2-40B4-BE49-F238E27FC236}">
                <a16:creationId xmlns:a16="http://schemas.microsoft.com/office/drawing/2014/main" id="{0CFCF190-32FF-FD6A-8283-0E3563E6B551}"/>
              </a:ext>
            </a:extLst>
          </p:cNvPr>
          <p:cNvSpPr/>
          <p:nvPr/>
        </p:nvSpPr>
        <p:spPr>
          <a:xfrm>
            <a:off x="6928917" y="5578282"/>
            <a:ext cx="448780" cy="375953"/>
          </a:xfrm>
          <a:prstGeom prst="roundRect">
            <a:avLst/>
          </a:prstGeom>
          <a:solidFill>
            <a:srgbClr val="C5E0B4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en-US" altLang="zh-TW" dirty="0">
                <a:solidFill>
                  <a:schemeClr val="tx1"/>
                </a:solidFill>
              </a:rPr>
              <a:t>_</a:t>
            </a:r>
            <a:endParaRPr kumimoji="1" lang="zh-TW" altLang="en-US" dirty="0">
              <a:solidFill>
                <a:schemeClr val="tx1"/>
              </a:solidFill>
            </a:endParaRPr>
          </a:p>
        </p:txBody>
      </p:sp>
      <p:sp>
        <p:nvSpPr>
          <p:cNvPr id="24" name="圓角矩形 23">
            <a:extLst>
              <a:ext uri="{FF2B5EF4-FFF2-40B4-BE49-F238E27FC236}">
                <a16:creationId xmlns:a16="http://schemas.microsoft.com/office/drawing/2014/main" id="{3852CE15-7AA5-04B5-4743-DA050AB1BD4D}"/>
              </a:ext>
            </a:extLst>
          </p:cNvPr>
          <p:cNvSpPr/>
          <p:nvPr/>
        </p:nvSpPr>
        <p:spPr>
          <a:xfrm>
            <a:off x="7434893" y="5578282"/>
            <a:ext cx="448780" cy="375953"/>
          </a:xfrm>
          <a:prstGeom prst="roundRect">
            <a:avLst/>
          </a:prstGeom>
          <a:solidFill>
            <a:srgbClr val="C5E0B4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en-US" altLang="zh-TW" dirty="0">
                <a:solidFill>
                  <a:schemeClr val="tx1"/>
                </a:solidFill>
              </a:rPr>
              <a:t>y</a:t>
            </a:r>
            <a:r>
              <a:rPr kumimoji="1" lang="en-US" altLang="zh-TW" baseline="-25000" dirty="0">
                <a:solidFill>
                  <a:schemeClr val="tx1"/>
                </a:solidFill>
              </a:rPr>
              <a:t>1</a:t>
            </a:r>
            <a:endParaRPr kumimoji="1" lang="zh-TW" altLang="en-US" dirty="0">
              <a:solidFill>
                <a:schemeClr val="tx1"/>
              </a:solidFill>
            </a:endParaRPr>
          </a:p>
        </p:txBody>
      </p:sp>
      <p:sp>
        <p:nvSpPr>
          <p:cNvPr id="25" name="圓角矩形 24">
            <a:extLst>
              <a:ext uri="{FF2B5EF4-FFF2-40B4-BE49-F238E27FC236}">
                <a16:creationId xmlns:a16="http://schemas.microsoft.com/office/drawing/2014/main" id="{0C31930E-A147-9F56-6A2B-3C1C65C38AAA}"/>
              </a:ext>
            </a:extLst>
          </p:cNvPr>
          <p:cNvSpPr/>
          <p:nvPr/>
        </p:nvSpPr>
        <p:spPr>
          <a:xfrm>
            <a:off x="9964771" y="5578282"/>
            <a:ext cx="448780" cy="375953"/>
          </a:xfrm>
          <a:prstGeom prst="roundRect">
            <a:avLst/>
          </a:prstGeom>
          <a:solidFill>
            <a:srgbClr val="C5E0B4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en-US" altLang="zh-TW" dirty="0">
                <a:solidFill>
                  <a:schemeClr val="tx1"/>
                </a:solidFill>
              </a:rPr>
              <a:t>y</a:t>
            </a:r>
            <a:r>
              <a:rPr kumimoji="1" lang="en-US" altLang="zh-TW" baseline="-25000" dirty="0">
                <a:solidFill>
                  <a:schemeClr val="tx1"/>
                </a:solidFill>
              </a:rPr>
              <a:t>6</a:t>
            </a:r>
            <a:endParaRPr kumimoji="1" lang="zh-TW" altLang="en-US" dirty="0">
              <a:solidFill>
                <a:schemeClr val="tx1"/>
              </a:solidFill>
            </a:endParaRPr>
          </a:p>
        </p:txBody>
      </p:sp>
      <p:sp>
        <p:nvSpPr>
          <p:cNvPr id="26" name="圓角矩形 25">
            <a:extLst>
              <a:ext uri="{FF2B5EF4-FFF2-40B4-BE49-F238E27FC236}">
                <a16:creationId xmlns:a16="http://schemas.microsoft.com/office/drawing/2014/main" id="{7EF18AA4-CB0E-3C66-18BA-E76FDF054A8D}"/>
              </a:ext>
            </a:extLst>
          </p:cNvPr>
          <p:cNvSpPr/>
          <p:nvPr/>
        </p:nvSpPr>
        <p:spPr>
          <a:xfrm>
            <a:off x="10470746" y="5578282"/>
            <a:ext cx="448780" cy="375953"/>
          </a:xfrm>
          <a:prstGeom prst="roundRect">
            <a:avLst/>
          </a:prstGeom>
          <a:solidFill>
            <a:srgbClr val="C5E0B4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en-US" altLang="zh-TW" dirty="0">
                <a:solidFill>
                  <a:schemeClr val="tx1"/>
                </a:solidFill>
              </a:rPr>
              <a:t>y</a:t>
            </a:r>
            <a:r>
              <a:rPr kumimoji="1" lang="en-US" altLang="zh-TW" baseline="-25000" dirty="0">
                <a:solidFill>
                  <a:schemeClr val="tx1"/>
                </a:solidFill>
              </a:rPr>
              <a:t>7</a:t>
            </a:r>
            <a:endParaRPr kumimoji="1" lang="zh-TW" altLang="en-US" dirty="0">
              <a:solidFill>
                <a:schemeClr val="tx1"/>
              </a:solidFill>
            </a:endParaRPr>
          </a:p>
        </p:txBody>
      </p:sp>
      <p:sp>
        <p:nvSpPr>
          <p:cNvPr id="27" name="圓角矩形 26">
            <a:extLst>
              <a:ext uri="{FF2B5EF4-FFF2-40B4-BE49-F238E27FC236}">
                <a16:creationId xmlns:a16="http://schemas.microsoft.com/office/drawing/2014/main" id="{F53BDB6A-132B-4C13-8E6F-6B589DDE8B1A}"/>
              </a:ext>
            </a:extLst>
          </p:cNvPr>
          <p:cNvSpPr/>
          <p:nvPr/>
        </p:nvSpPr>
        <p:spPr>
          <a:xfrm>
            <a:off x="7940869" y="5578282"/>
            <a:ext cx="448780" cy="375953"/>
          </a:xfrm>
          <a:prstGeom prst="roundRect">
            <a:avLst/>
          </a:prstGeom>
          <a:solidFill>
            <a:srgbClr val="C5E0B4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en-US" altLang="zh-TW" dirty="0">
                <a:solidFill>
                  <a:schemeClr val="tx1"/>
                </a:solidFill>
              </a:rPr>
              <a:t>y</a:t>
            </a:r>
            <a:r>
              <a:rPr kumimoji="1" lang="en-US" altLang="zh-TW" baseline="-25000" dirty="0">
                <a:solidFill>
                  <a:schemeClr val="tx1"/>
                </a:solidFill>
              </a:rPr>
              <a:t>2</a:t>
            </a:r>
            <a:endParaRPr kumimoji="1" lang="zh-TW" altLang="en-US" dirty="0">
              <a:solidFill>
                <a:schemeClr val="tx1"/>
              </a:solidFill>
            </a:endParaRPr>
          </a:p>
        </p:txBody>
      </p:sp>
      <p:sp>
        <p:nvSpPr>
          <p:cNvPr id="28" name="圓角矩形 27">
            <a:extLst>
              <a:ext uri="{FF2B5EF4-FFF2-40B4-BE49-F238E27FC236}">
                <a16:creationId xmlns:a16="http://schemas.microsoft.com/office/drawing/2014/main" id="{974E4617-D5A5-924A-E8EF-28276253E184}"/>
              </a:ext>
            </a:extLst>
          </p:cNvPr>
          <p:cNvSpPr/>
          <p:nvPr/>
        </p:nvSpPr>
        <p:spPr>
          <a:xfrm>
            <a:off x="8446844" y="5578282"/>
            <a:ext cx="448780" cy="375953"/>
          </a:xfrm>
          <a:prstGeom prst="roundRect">
            <a:avLst/>
          </a:prstGeom>
          <a:solidFill>
            <a:srgbClr val="C5E0B4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en-US" altLang="zh-TW" dirty="0">
                <a:solidFill>
                  <a:schemeClr val="tx1"/>
                </a:solidFill>
              </a:rPr>
              <a:t>y</a:t>
            </a:r>
            <a:r>
              <a:rPr kumimoji="1" lang="en-US" altLang="zh-TW" baseline="-25000" dirty="0">
                <a:solidFill>
                  <a:schemeClr val="tx1"/>
                </a:solidFill>
              </a:rPr>
              <a:t>3</a:t>
            </a:r>
            <a:endParaRPr kumimoji="1" lang="zh-TW" altLang="en-US" dirty="0">
              <a:solidFill>
                <a:schemeClr val="tx1"/>
              </a:solidFill>
            </a:endParaRPr>
          </a:p>
        </p:txBody>
      </p:sp>
      <p:sp>
        <p:nvSpPr>
          <p:cNvPr id="29" name="圓角矩形 28">
            <a:extLst>
              <a:ext uri="{FF2B5EF4-FFF2-40B4-BE49-F238E27FC236}">
                <a16:creationId xmlns:a16="http://schemas.microsoft.com/office/drawing/2014/main" id="{12900C32-B018-5744-6416-0DB6046C01F1}"/>
              </a:ext>
            </a:extLst>
          </p:cNvPr>
          <p:cNvSpPr/>
          <p:nvPr/>
        </p:nvSpPr>
        <p:spPr>
          <a:xfrm>
            <a:off x="8952820" y="5578282"/>
            <a:ext cx="448780" cy="375953"/>
          </a:xfrm>
          <a:prstGeom prst="roundRect">
            <a:avLst/>
          </a:prstGeom>
          <a:solidFill>
            <a:srgbClr val="C5E0B4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en-US" altLang="zh-TW" dirty="0">
                <a:solidFill>
                  <a:schemeClr val="tx1"/>
                </a:solidFill>
              </a:rPr>
              <a:t>y</a:t>
            </a:r>
            <a:r>
              <a:rPr kumimoji="1" lang="en-US" altLang="zh-TW" baseline="-25000" dirty="0">
                <a:solidFill>
                  <a:schemeClr val="tx1"/>
                </a:solidFill>
              </a:rPr>
              <a:t>4</a:t>
            </a:r>
            <a:endParaRPr kumimoji="1" lang="zh-TW" altLang="en-US" dirty="0">
              <a:solidFill>
                <a:schemeClr val="tx1"/>
              </a:solidFill>
            </a:endParaRPr>
          </a:p>
        </p:txBody>
      </p:sp>
      <p:sp>
        <p:nvSpPr>
          <p:cNvPr id="30" name="圓角矩形 29">
            <a:extLst>
              <a:ext uri="{FF2B5EF4-FFF2-40B4-BE49-F238E27FC236}">
                <a16:creationId xmlns:a16="http://schemas.microsoft.com/office/drawing/2014/main" id="{B5E9258E-97B1-E366-3A04-AE804D9608F1}"/>
              </a:ext>
            </a:extLst>
          </p:cNvPr>
          <p:cNvSpPr/>
          <p:nvPr/>
        </p:nvSpPr>
        <p:spPr>
          <a:xfrm>
            <a:off x="9458796" y="5578282"/>
            <a:ext cx="448780" cy="375953"/>
          </a:xfrm>
          <a:prstGeom prst="roundRect">
            <a:avLst/>
          </a:prstGeom>
          <a:solidFill>
            <a:srgbClr val="C5E0B4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en-US" altLang="zh-TW" dirty="0">
                <a:solidFill>
                  <a:schemeClr val="tx1"/>
                </a:solidFill>
              </a:rPr>
              <a:t>y</a:t>
            </a:r>
            <a:r>
              <a:rPr kumimoji="1" lang="en-US" altLang="zh-TW" baseline="-25000" dirty="0">
                <a:solidFill>
                  <a:schemeClr val="tx1"/>
                </a:solidFill>
              </a:rPr>
              <a:t>5</a:t>
            </a:r>
            <a:endParaRPr kumimoji="1" lang="zh-TW" altLang="en-US" dirty="0">
              <a:solidFill>
                <a:schemeClr val="tx1"/>
              </a:solidFill>
            </a:endParaRPr>
          </a:p>
        </p:txBody>
      </p:sp>
      <p:cxnSp>
        <p:nvCxnSpPr>
          <p:cNvPr id="31" name="直線箭頭接點 30">
            <a:extLst>
              <a:ext uri="{FF2B5EF4-FFF2-40B4-BE49-F238E27FC236}">
                <a16:creationId xmlns:a16="http://schemas.microsoft.com/office/drawing/2014/main" id="{DD3855C5-EE32-FC4F-3778-72CE58B05D63}"/>
              </a:ext>
            </a:extLst>
          </p:cNvPr>
          <p:cNvCxnSpPr>
            <a:cxnSpLocks/>
          </p:cNvCxnSpPr>
          <p:nvPr/>
        </p:nvCxnSpPr>
        <p:spPr>
          <a:xfrm flipV="1">
            <a:off x="7163567" y="5266821"/>
            <a:ext cx="0" cy="263988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直線箭頭接點 31">
            <a:extLst>
              <a:ext uri="{FF2B5EF4-FFF2-40B4-BE49-F238E27FC236}">
                <a16:creationId xmlns:a16="http://schemas.microsoft.com/office/drawing/2014/main" id="{9B849148-B545-9187-A9B5-F2CE562A324E}"/>
              </a:ext>
            </a:extLst>
          </p:cNvPr>
          <p:cNvCxnSpPr>
            <a:cxnSpLocks/>
          </p:cNvCxnSpPr>
          <p:nvPr/>
        </p:nvCxnSpPr>
        <p:spPr>
          <a:xfrm flipV="1">
            <a:off x="7666821" y="5266821"/>
            <a:ext cx="0" cy="263988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直線箭頭接點 32">
            <a:extLst>
              <a:ext uri="{FF2B5EF4-FFF2-40B4-BE49-F238E27FC236}">
                <a16:creationId xmlns:a16="http://schemas.microsoft.com/office/drawing/2014/main" id="{03CFCC4B-D936-F099-CB84-34F38606D4DB}"/>
              </a:ext>
            </a:extLst>
          </p:cNvPr>
          <p:cNvCxnSpPr>
            <a:cxnSpLocks/>
          </p:cNvCxnSpPr>
          <p:nvPr/>
        </p:nvCxnSpPr>
        <p:spPr>
          <a:xfrm flipV="1">
            <a:off x="8170074" y="5266821"/>
            <a:ext cx="0" cy="263988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直線箭頭接點 33">
            <a:extLst>
              <a:ext uri="{FF2B5EF4-FFF2-40B4-BE49-F238E27FC236}">
                <a16:creationId xmlns:a16="http://schemas.microsoft.com/office/drawing/2014/main" id="{00D11DAB-140C-9882-5C4C-F517314FC690}"/>
              </a:ext>
            </a:extLst>
          </p:cNvPr>
          <p:cNvCxnSpPr>
            <a:cxnSpLocks/>
          </p:cNvCxnSpPr>
          <p:nvPr/>
        </p:nvCxnSpPr>
        <p:spPr>
          <a:xfrm flipV="1">
            <a:off x="8673329" y="5266821"/>
            <a:ext cx="0" cy="263988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直線箭頭接點 34">
            <a:extLst>
              <a:ext uri="{FF2B5EF4-FFF2-40B4-BE49-F238E27FC236}">
                <a16:creationId xmlns:a16="http://schemas.microsoft.com/office/drawing/2014/main" id="{B4670ACA-9359-AF89-D919-C05C60DA3D6D}"/>
              </a:ext>
            </a:extLst>
          </p:cNvPr>
          <p:cNvCxnSpPr>
            <a:cxnSpLocks/>
          </p:cNvCxnSpPr>
          <p:nvPr/>
        </p:nvCxnSpPr>
        <p:spPr>
          <a:xfrm flipV="1">
            <a:off x="9176582" y="5266821"/>
            <a:ext cx="0" cy="263988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直線箭頭接點 35">
            <a:extLst>
              <a:ext uri="{FF2B5EF4-FFF2-40B4-BE49-F238E27FC236}">
                <a16:creationId xmlns:a16="http://schemas.microsoft.com/office/drawing/2014/main" id="{9D13DE52-8C42-123C-A23E-20AA8E054BD8}"/>
              </a:ext>
            </a:extLst>
          </p:cNvPr>
          <p:cNvCxnSpPr>
            <a:cxnSpLocks/>
          </p:cNvCxnSpPr>
          <p:nvPr/>
        </p:nvCxnSpPr>
        <p:spPr>
          <a:xfrm flipV="1">
            <a:off x="9679836" y="5266821"/>
            <a:ext cx="0" cy="263988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直線箭頭接點 36">
            <a:extLst>
              <a:ext uri="{FF2B5EF4-FFF2-40B4-BE49-F238E27FC236}">
                <a16:creationId xmlns:a16="http://schemas.microsoft.com/office/drawing/2014/main" id="{1351857D-3BC5-745F-D205-FADC1B99327A}"/>
              </a:ext>
            </a:extLst>
          </p:cNvPr>
          <p:cNvCxnSpPr>
            <a:cxnSpLocks/>
          </p:cNvCxnSpPr>
          <p:nvPr/>
        </p:nvCxnSpPr>
        <p:spPr>
          <a:xfrm flipV="1">
            <a:off x="10183089" y="5266821"/>
            <a:ext cx="0" cy="263988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直線箭頭接點 37">
            <a:extLst>
              <a:ext uri="{FF2B5EF4-FFF2-40B4-BE49-F238E27FC236}">
                <a16:creationId xmlns:a16="http://schemas.microsoft.com/office/drawing/2014/main" id="{7DB78143-65F2-535D-2288-DFD6A71B28E5}"/>
              </a:ext>
            </a:extLst>
          </p:cNvPr>
          <p:cNvCxnSpPr>
            <a:cxnSpLocks/>
          </p:cNvCxnSpPr>
          <p:nvPr/>
        </p:nvCxnSpPr>
        <p:spPr>
          <a:xfrm flipV="1">
            <a:off x="10686345" y="5266821"/>
            <a:ext cx="0" cy="263988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39" name="圓角矩形 38">
                <a:extLst>
                  <a:ext uri="{FF2B5EF4-FFF2-40B4-BE49-F238E27FC236}">
                    <a16:creationId xmlns:a16="http://schemas.microsoft.com/office/drawing/2014/main" id="{015EF55E-731C-2AF1-3FF7-941664329FB6}"/>
                  </a:ext>
                </a:extLst>
              </p:cNvPr>
              <p:cNvSpPr/>
              <p:nvPr/>
            </p:nvSpPr>
            <p:spPr>
              <a:xfrm>
                <a:off x="7940869" y="3537855"/>
                <a:ext cx="448780" cy="375953"/>
              </a:xfrm>
              <a:prstGeom prst="roundRect">
                <a:avLst/>
              </a:prstGeom>
              <a:solidFill>
                <a:srgbClr val="C5E0B4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US"/>
                </a:defPPr>
                <a:lvl1pPr marL="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zh-TW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kumimoji="1" lang="en-US" altLang="zh-TW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kumimoji="1" lang="en-US" altLang="zh-TW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acc>
                        </m:e>
                        <m:sub>
                          <m:r>
                            <a:rPr kumimoji="1" lang="en-US" altLang="zh-TW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kumimoji="1" lang="zh-TW" altLang="en-US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39" name="圓角矩形 38">
                <a:extLst>
                  <a:ext uri="{FF2B5EF4-FFF2-40B4-BE49-F238E27FC236}">
                    <a16:creationId xmlns:a16="http://schemas.microsoft.com/office/drawing/2014/main" id="{015EF55E-731C-2AF1-3FF7-941664329FB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40869" y="3537855"/>
                <a:ext cx="448780" cy="375953"/>
              </a:xfrm>
              <a:prstGeom prst="roundRect">
                <a:avLst/>
              </a:prstGeom>
              <a:blipFill>
                <a:blip r:embed="rId2"/>
                <a:stretch>
                  <a:fillRect b="-6061"/>
                </a:stretch>
              </a:blipFill>
              <a:ln w="19050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0" name="圓角矩形 39">
                <a:extLst>
                  <a:ext uri="{FF2B5EF4-FFF2-40B4-BE49-F238E27FC236}">
                    <a16:creationId xmlns:a16="http://schemas.microsoft.com/office/drawing/2014/main" id="{E6B918E4-852E-7456-4E44-FE5D240178BA}"/>
                  </a:ext>
                </a:extLst>
              </p:cNvPr>
              <p:cNvSpPr/>
              <p:nvPr/>
            </p:nvSpPr>
            <p:spPr>
              <a:xfrm>
                <a:off x="8446844" y="3537855"/>
                <a:ext cx="448780" cy="375953"/>
              </a:xfrm>
              <a:prstGeom prst="roundRect">
                <a:avLst/>
              </a:prstGeom>
              <a:solidFill>
                <a:srgbClr val="C5E0B4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US"/>
                </a:defPPr>
                <a:lvl1pPr marL="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zh-TW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kumimoji="1" lang="en-US" altLang="zh-TW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kumimoji="1" lang="en-US" altLang="zh-TW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acc>
                        </m:e>
                        <m:sub>
                          <m:r>
                            <a:rPr kumimoji="1" lang="en-US" altLang="zh-TW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kumimoji="1" lang="zh-TW" altLang="en-US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40" name="圓角矩形 39">
                <a:extLst>
                  <a:ext uri="{FF2B5EF4-FFF2-40B4-BE49-F238E27FC236}">
                    <a16:creationId xmlns:a16="http://schemas.microsoft.com/office/drawing/2014/main" id="{E6B918E4-852E-7456-4E44-FE5D240178B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46844" y="3537855"/>
                <a:ext cx="448780" cy="375953"/>
              </a:xfrm>
              <a:prstGeom prst="roundRect">
                <a:avLst/>
              </a:prstGeom>
              <a:blipFill>
                <a:blip r:embed="rId3"/>
                <a:stretch>
                  <a:fillRect b="-6061"/>
                </a:stretch>
              </a:blipFill>
              <a:ln w="19050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1" name="圓角矩形 40">
                <a:extLst>
                  <a:ext uri="{FF2B5EF4-FFF2-40B4-BE49-F238E27FC236}">
                    <a16:creationId xmlns:a16="http://schemas.microsoft.com/office/drawing/2014/main" id="{8E3ED31C-C95A-68EF-5DE5-7DAD86E90775}"/>
                  </a:ext>
                </a:extLst>
              </p:cNvPr>
              <p:cNvSpPr/>
              <p:nvPr/>
            </p:nvSpPr>
            <p:spPr>
              <a:xfrm>
                <a:off x="8952820" y="3537855"/>
                <a:ext cx="448780" cy="375953"/>
              </a:xfrm>
              <a:prstGeom prst="roundRect">
                <a:avLst/>
              </a:prstGeom>
              <a:solidFill>
                <a:srgbClr val="C5E0B4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US"/>
                </a:defPPr>
                <a:lvl1pPr marL="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zh-TW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kumimoji="1" lang="en-US" altLang="zh-TW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kumimoji="1" lang="en-US" altLang="zh-TW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acc>
                        </m:e>
                        <m:sub>
                          <m:r>
                            <a:rPr kumimoji="1" lang="en-US" altLang="zh-TW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5</m:t>
                          </m:r>
                        </m:sub>
                      </m:sSub>
                    </m:oMath>
                  </m:oMathPara>
                </a14:m>
                <a:endParaRPr kumimoji="1" lang="zh-TW" altLang="en-US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41" name="圓角矩形 40">
                <a:extLst>
                  <a:ext uri="{FF2B5EF4-FFF2-40B4-BE49-F238E27FC236}">
                    <a16:creationId xmlns:a16="http://schemas.microsoft.com/office/drawing/2014/main" id="{8E3ED31C-C95A-68EF-5DE5-7DAD86E9077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52820" y="3537855"/>
                <a:ext cx="448780" cy="375953"/>
              </a:xfrm>
              <a:prstGeom prst="roundRect">
                <a:avLst/>
              </a:prstGeom>
              <a:blipFill>
                <a:blip r:embed="rId4"/>
                <a:stretch>
                  <a:fillRect b="-6061"/>
                </a:stretch>
              </a:blipFill>
              <a:ln w="19050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2" name="圓角矩形 41">
                <a:extLst>
                  <a:ext uri="{FF2B5EF4-FFF2-40B4-BE49-F238E27FC236}">
                    <a16:creationId xmlns:a16="http://schemas.microsoft.com/office/drawing/2014/main" id="{E814D719-8D78-E123-C671-C6FCDF00B2EC}"/>
                  </a:ext>
                </a:extLst>
              </p:cNvPr>
              <p:cNvSpPr/>
              <p:nvPr/>
            </p:nvSpPr>
            <p:spPr>
              <a:xfrm>
                <a:off x="9458796" y="3537855"/>
                <a:ext cx="448780" cy="375953"/>
              </a:xfrm>
              <a:prstGeom prst="roundRect">
                <a:avLst/>
              </a:prstGeom>
              <a:solidFill>
                <a:srgbClr val="C5E0B4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US"/>
                </a:defPPr>
                <a:lvl1pPr marL="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zh-TW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kumimoji="1" lang="en-US" altLang="zh-TW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kumimoji="1" lang="en-US" altLang="zh-TW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acc>
                        </m:e>
                        <m:sub>
                          <m:r>
                            <a:rPr kumimoji="1" lang="en-US" altLang="zh-TW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6</m:t>
                          </m:r>
                        </m:sub>
                      </m:sSub>
                    </m:oMath>
                  </m:oMathPara>
                </a14:m>
                <a:endParaRPr kumimoji="1" lang="zh-TW" altLang="en-US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42" name="圓角矩形 41">
                <a:extLst>
                  <a:ext uri="{FF2B5EF4-FFF2-40B4-BE49-F238E27FC236}">
                    <a16:creationId xmlns:a16="http://schemas.microsoft.com/office/drawing/2014/main" id="{E814D719-8D78-E123-C671-C6FCDF00B2E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458796" y="3537855"/>
                <a:ext cx="448780" cy="375953"/>
              </a:xfrm>
              <a:prstGeom prst="roundRect">
                <a:avLst/>
              </a:prstGeom>
              <a:blipFill>
                <a:blip r:embed="rId5"/>
                <a:stretch>
                  <a:fillRect b="-6061"/>
                </a:stretch>
              </a:blipFill>
              <a:ln w="19050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3" name="直線箭頭接點 42">
            <a:extLst>
              <a:ext uri="{FF2B5EF4-FFF2-40B4-BE49-F238E27FC236}">
                <a16:creationId xmlns:a16="http://schemas.microsoft.com/office/drawing/2014/main" id="{357BFC87-024D-C225-BAD3-A59E6A2BC97C}"/>
              </a:ext>
            </a:extLst>
          </p:cNvPr>
          <p:cNvCxnSpPr>
            <a:cxnSpLocks/>
          </p:cNvCxnSpPr>
          <p:nvPr/>
        </p:nvCxnSpPr>
        <p:spPr>
          <a:xfrm flipV="1">
            <a:off x="8170074" y="3964478"/>
            <a:ext cx="0" cy="263988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直線箭頭接點 43">
            <a:extLst>
              <a:ext uri="{FF2B5EF4-FFF2-40B4-BE49-F238E27FC236}">
                <a16:creationId xmlns:a16="http://schemas.microsoft.com/office/drawing/2014/main" id="{D7AC2FAF-DC27-5332-08DD-7ABA941168DB}"/>
              </a:ext>
            </a:extLst>
          </p:cNvPr>
          <p:cNvCxnSpPr>
            <a:cxnSpLocks/>
          </p:cNvCxnSpPr>
          <p:nvPr/>
        </p:nvCxnSpPr>
        <p:spPr>
          <a:xfrm flipV="1">
            <a:off x="8673329" y="3964478"/>
            <a:ext cx="0" cy="263988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直線箭頭接點 44">
            <a:extLst>
              <a:ext uri="{FF2B5EF4-FFF2-40B4-BE49-F238E27FC236}">
                <a16:creationId xmlns:a16="http://schemas.microsoft.com/office/drawing/2014/main" id="{71414CF9-B405-A88A-5BF8-DE0D09F87778}"/>
              </a:ext>
            </a:extLst>
          </p:cNvPr>
          <p:cNvCxnSpPr>
            <a:cxnSpLocks/>
          </p:cNvCxnSpPr>
          <p:nvPr/>
        </p:nvCxnSpPr>
        <p:spPr>
          <a:xfrm flipV="1">
            <a:off x="9176582" y="3964478"/>
            <a:ext cx="0" cy="263988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直線箭頭接點 45">
            <a:extLst>
              <a:ext uri="{FF2B5EF4-FFF2-40B4-BE49-F238E27FC236}">
                <a16:creationId xmlns:a16="http://schemas.microsoft.com/office/drawing/2014/main" id="{32078E8D-58B1-BF42-DB5E-1C50845E1FDD}"/>
              </a:ext>
            </a:extLst>
          </p:cNvPr>
          <p:cNvCxnSpPr>
            <a:cxnSpLocks/>
          </p:cNvCxnSpPr>
          <p:nvPr/>
        </p:nvCxnSpPr>
        <p:spPr>
          <a:xfrm flipV="1">
            <a:off x="9679836" y="3964478"/>
            <a:ext cx="0" cy="263988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文字方塊 67">
            <a:extLst>
              <a:ext uri="{FF2B5EF4-FFF2-40B4-BE49-F238E27FC236}">
                <a16:creationId xmlns:a16="http://schemas.microsoft.com/office/drawing/2014/main" id="{F8895E5E-96A4-8BA1-4CAA-4DDA9C7B6EF1}"/>
              </a:ext>
            </a:extLst>
          </p:cNvPr>
          <p:cNvSpPr txBox="1"/>
          <p:nvPr/>
        </p:nvSpPr>
        <p:spPr>
          <a:xfrm>
            <a:off x="6774256" y="5950903"/>
            <a:ext cx="77862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en-US" altLang="zh-TW" sz="1200" dirty="0"/>
              <a:t>(Start)</a:t>
            </a:r>
            <a:endParaRPr kumimoji="1" lang="zh-TW" altLang="en-US" sz="12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1" name="圓角矩形 50">
                <a:extLst>
                  <a:ext uri="{FF2B5EF4-FFF2-40B4-BE49-F238E27FC236}">
                    <a16:creationId xmlns:a16="http://schemas.microsoft.com/office/drawing/2014/main" id="{6D609B5D-2840-4B9A-4530-2C4FFCE494EC}"/>
                  </a:ext>
                </a:extLst>
              </p:cNvPr>
              <p:cNvSpPr/>
              <p:nvPr/>
            </p:nvSpPr>
            <p:spPr>
              <a:xfrm>
                <a:off x="7431157" y="3537855"/>
                <a:ext cx="448780" cy="375953"/>
              </a:xfrm>
              <a:prstGeom prst="roundRect">
                <a:avLst/>
              </a:prstGeom>
              <a:solidFill>
                <a:srgbClr val="C5E0B4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US"/>
                </a:defPPr>
                <a:lvl1pPr marL="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zh-TW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kumimoji="1" lang="en-US" altLang="zh-TW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kumimoji="1" lang="en-US" altLang="zh-TW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acc>
                        </m:e>
                        <m:sub>
                          <m:r>
                            <a:rPr kumimoji="1" lang="en-US" altLang="zh-TW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kumimoji="1" lang="zh-TW" altLang="en-US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51" name="圓角矩形 50">
                <a:extLst>
                  <a:ext uri="{FF2B5EF4-FFF2-40B4-BE49-F238E27FC236}">
                    <a16:creationId xmlns:a16="http://schemas.microsoft.com/office/drawing/2014/main" id="{6D609B5D-2840-4B9A-4530-2C4FFCE494E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31157" y="3537855"/>
                <a:ext cx="448780" cy="375953"/>
              </a:xfrm>
              <a:prstGeom prst="roundRect">
                <a:avLst/>
              </a:prstGeom>
              <a:blipFill>
                <a:blip r:embed="rId6"/>
                <a:stretch>
                  <a:fillRect b="-6061"/>
                </a:stretch>
              </a:blipFill>
              <a:ln w="19050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2" name="直線箭頭接點 51">
            <a:extLst>
              <a:ext uri="{FF2B5EF4-FFF2-40B4-BE49-F238E27FC236}">
                <a16:creationId xmlns:a16="http://schemas.microsoft.com/office/drawing/2014/main" id="{B6AFEF38-86A8-9EB1-EDB2-DDE8CA338A40}"/>
              </a:ext>
            </a:extLst>
          </p:cNvPr>
          <p:cNvCxnSpPr>
            <a:cxnSpLocks/>
          </p:cNvCxnSpPr>
          <p:nvPr/>
        </p:nvCxnSpPr>
        <p:spPr>
          <a:xfrm flipV="1">
            <a:off x="7660364" y="3964478"/>
            <a:ext cx="0" cy="263988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53" name="圓角矩形 52">
                <a:extLst>
                  <a:ext uri="{FF2B5EF4-FFF2-40B4-BE49-F238E27FC236}">
                    <a16:creationId xmlns:a16="http://schemas.microsoft.com/office/drawing/2014/main" id="{3BDBE56B-644F-2E96-A97B-F5412FD50663}"/>
                  </a:ext>
                </a:extLst>
              </p:cNvPr>
              <p:cNvSpPr/>
              <p:nvPr/>
            </p:nvSpPr>
            <p:spPr>
              <a:xfrm>
                <a:off x="9964771" y="3532571"/>
                <a:ext cx="448780" cy="375953"/>
              </a:xfrm>
              <a:prstGeom prst="roundRect">
                <a:avLst/>
              </a:prstGeom>
              <a:solidFill>
                <a:srgbClr val="C5E0B4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US"/>
                </a:defPPr>
                <a:lvl1pPr marL="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zh-TW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kumimoji="1" lang="en-US" altLang="zh-TW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kumimoji="1" lang="en-US" altLang="zh-TW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acc>
                        </m:e>
                        <m:sub>
                          <m:r>
                            <a:rPr kumimoji="1" lang="en-US" altLang="zh-TW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7</m:t>
                          </m:r>
                        </m:sub>
                      </m:sSub>
                    </m:oMath>
                  </m:oMathPara>
                </a14:m>
                <a:endParaRPr kumimoji="1" lang="zh-TW" altLang="en-US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53" name="圓角矩形 52">
                <a:extLst>
                  <a:ext uri="{FF2B5EF4-FFF2-40B4-BE49-F238E27FC236}">
                    <a16:creationId xmlns:a16="http://schemas.microsoft.com/office/drawing/2014/main" id="{3BDBE56B-644F-2E96-A97B-F5412FD5066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64771" y="3532571"/>
                <a:ext cx="448780" cy="375953"/>
              </a:xfrm>
              <a:prstGeom prst="roundRect">
                <a:avLst/>
              </a:prstGeom>
              <a:blipFill>
                <a:blip r:embed="rId7"/>
                <a:stretch>
                  <a:fillRect b="-9375"/>
                </a:stretch>
              </a:blipFill>
              <a:ln w="19050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4" name="直線箭頭接點 53">
            <a:extLst>
              <a:ext uri="{FF2B5EF4-FFF2-40B4-BE49-F238E27FC236}">
                <a16:creationId xmlns:a16="http://schemas.microsoft.com/office/drawing/2014/main" id="{5BF91B8A-1027-54F1-1023-F27F5C7D9391}"/>
              </a:ext>
            </a:extLst>
          </p:cNvPr>
          <p:cNvCxnSpPr>
            <a:cxnSpLocks/>
          </p:cNvCxnSpPr>
          <p:nvPr/>
        </p:nvCxnSpPr>
        <p:spPr>
          <a:xfrm flipV="1">
            <a:off x="10193977" y="3959194"/>
            <a:ext cx="0" cy="263988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55" name="圓角矩形 54">
                <a:extLst>
                  <a:ext uri="{FF2B5EF4-FFF2-40B4-BE49-F238E27FC236}">
                    <a16:creationId xmlns:a16="http://schemas.microsoft.com/office/drawing/2014/main" id="{0CB9D55B-3627-1601-22CD-FC3022715055}"/>
                  </a:ext>
                </a:extLst>
              </p:cNvPr>
              <p:cNvSpPr/>
              <p:nvPr/>
            </p:nvSpPr>
            <p:spPr>
              <a:xfrm>
                <a:off x="10470746" y="3532571"/>
                <a:ext cx="448780" cy="375953"/>
              </a:xfrm>
              <a:prstGeom prst="roundRect">
                <a:avLst/>
              </a:prstGeom>
              <a:solidFill>
                <a:srgbClr val="C5E0B4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US"/>
                </a:defPPr>
                <a:lvl1pPr marL="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zh-TW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kumimoji="1" lang="en-US" altLang="zh-TW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kumimoji="1" lang="en-US" altLang="zh-TW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acc>
                        </m:e>
                        <m:sub>
                          <m:r>
                            <a:rPr kumimoji="1" lang="en-US" altLang="zh-TW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8</m:t>
                          </m:r>
                        </m:sub>
                      </m:sSub>
                    </m:oMath>
                  </m:oMathPara>
                </a14:m>
                <a:endParaRPr kumimoji="1" lang="zh-TW" altLang="en-US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55" name="圓角矩形 54">
                <a:extLst>
                  <a:ext uri="{FF2B5EF4-FFF2-40B4-BE49-F238E27FC236}">
                    <a16:creationId xmlns:a16="http://schemas.microsoft.com/office/drawing/2014/main" id="{0CB9D55B-3627-1601-22CD-FC302271505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470746" y="3532571"/>
                <a:ext cx="448780" cy="375953"/>
              </a:xfrm>
              <a:prstGeom prst="roundRect">
                <a:avLst/>
              </a:prstGeom>
              <a:blipFill>
                <a:blip r:embed="rId8"/>
                <a:stretch>
                  <a:fillRect b="-9375"/>
                </a:stretch>
              </a:blipFill>
              <a:ln w="19050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6" name="直線箭頭接點 55">
            <a:extLst>
              <a:ext uri="{FF2B5EF4-FFF2-40B4-BE49-F238E27FC236}">
                <a16:creationId xmlns:a16="http://schemas.microsoft.com/office/drawing/2014/main" id="{9488521C-812A-785F-D248-B31947B135F8}"/>
              </a:ext>
            </a:extLst>
          </p:cNvPr>
          <p:cNvCxnSpPr>
            <a:cxnSpLocks/>
          </p:cNvCxnSpPr>
          <p:nvPr/>
        </p:nvCxnSpPr>
        <p:spPr>
          <a:xfrm flipV="1">
            <a:off x="10699952" y="3959194"/>
            <a:ext cx="0" cy="263988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57" name="圓角矩形 56">
                <a:extLst>
                  <a:ext uri="{FF2B5EF4-FFF2-40B4-BE49-F238E27FC236}">
                    <a16:creationId xmlns:a16="http://schemas.microsoft.com/office/drawing/2014/main" id="{F097B589-31AF-9BBC-BC2C-89B86CAE83D8}"/>
                  </a:ext>
                </a:extLst>
              </p:cNvPr>
              <p:cNvSpPr/>
              <p:nvPr/>
            </p:nvSpPr>
            <p:spPr>
              <a:xfrm>
                <a:off x="6921445" y="3532571"/>
                <a:ext cx="448780" cy="375953"/>
              </a:xfrm>
              <a:prstGeom prst="roundRect">
                <a:avLst/>
              </a:prstGeom>
              <a:solidFill>
                <a:srgbClr val="C5E0B4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US"/>
                </a:defPPr>
                <a:lvl1pPr marL="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zh-TW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kumimoji="1" lang="en-US" altLang="zh-TW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kumimoji="1" lang="en-US" altLang="zh-TW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acc>
                        </m:e>
                        <m:sub>
                          <m:r>
                            <a:rPr kumimoji="1" lang="en-US" altLang="zh-TW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kumimoji="1" lang="zh-TW" altLang="en-US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57" name="圓角矩形 56">
                <a:extLst>
                  <a:ext uri="{FF2B5EF4-FFF2-40B4-BE49-F238E27FC236}">
                    <a16:creationId xmlns:a16="http://schemas.microsoft.com/office/drawing/2014/main" id="{F097B589-31AF-9BBC-BC2C-89B86CAE83D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21445" y="3532571"/>
                <a:ext cx="448780" cy="375953"/>
              </a:xfrm>
              <a:prstGeom prst="roundRect">
                <a:avLst/>
              </a:prstGeom>
              <a:blipFill>
                <a:blip r:embed="rId9"/>
                <a:stretch>
                  <a:fillRect b="-9375"/>
                </a:stretch>
              </a:blipFill>
              <a:ln w="19050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8" name="直線箭頭接點 57">
            <a:extLst>
              <a:ext uri="{FF2B5EF4-FFF2-40B4-BE49-F238E27FC236}">
                <a16:creationId xmlns:a16="http://schemas.microsoft.com/office/drawing/2014/main" id="{CCCD7878-4E59-76F7-ABCF-2C7D1DAC17A0}"/>
              </a:ext>
            </a:extLst>
          </p:cNvPr>
          <p:cNvCxnSpPr>
            <a:cxnSpLocks/>
          </p:cNvCxnSpPr>
          <p:nvPr/>
        </p:nvCxnSpPr>
        <p:spPr>
          <a:xfrm flipV="1">
            <a:off x="7163567" y="3964478"/>
            <a:ext cx="0" cy="263988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" name="文字方塊 58">
            <a:extLst>
              <a:ext uri="{FF2B5EF4-FFF2-40B4-BE49-F238E27FC236}">
                <a16:creationId xmlns:a16="http://schemas.microsoft.com/office/drawing/2014/main" id="{D5F09C9D-9268-BCFE-D324-593D401F4287}"/>
              </a:ext>
            </a:extLst>
          </p:cNvPr>
          <p:cNvSpPr txBox="1"/>
          <p:nvPr/>
        </p:nvSpPr>
        <p:spPr>
          <a:xfrm>
            <a:off x="7606280" y="1796628"/>
            <a:ext cx="262635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sz="2400" b="1" dirty="0"/>
              <a:t>Teacher Forcing</a:t>
            </a:r>
            <a:endParaRPr kumimoji="1" lang="zh-TW" altLang="en-US" sz="2400" b="1" dirty="0"/>
          </a:p>
        </p:txBody>
      </p:sp>
      <p:sp>
        <p:nvSpPr>
          <p:cNvPr id="60" name="圓角矩形 59">
            <a:extLst>
              <a:ext uri="{FF2B5EF4-FFF2-40B4-BE49-F238E27FC236}">
                <a16:creationId xmlns:a16="http://schemas.microsoft.com/office/drawing/2014/main" id="{D24F2471-8224-521F-4E98-0340A7986AB6}"/>
              </a:ext>
            </a:extLst>
          </p:cNvPr>
          <p:cNvSpPr/>
          <p:nvPr/>
        </p:nvSpPr>
        <p:spPr>
          <a:xfrm>
            <a:off x="6929846" y="2449231"/>
            <a:ext cx="448780" cy="375953"/>
          </a:xfrm>
          <a:prstGeom prst="roundRect">
            <a:avLst/>
          </a:prstGeom>
          <a:solidFill>
            <a:srgbClr val="C5E0B4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en-US" altLang="zh-TW" dirty="0">
                <a:solidFill>
                  <a:schemeClr val="tx1"/>
                </a:solidFill>
              </a:rPr>
              <a:t>y</a:t>
            </a:r>
            <a:r>
              <a:rPr kumimoji="1" lang="en-US" altLang="zh-TW" baseline="-25000" dirty="0">
                <a:solidFill>
                  <a:schemeClr val="tx1"/>
                </a:solidFill>
              </a:rPr>
              <a:t>1</a:t>
            </a:r>
            <a:endParaRPr kumimoji="1" lang="zh-TW" altLang="en-US" dirty="0">
              <a:solidFill>
                <a:schemeClr val="tx1"/>
              </a:solidFill>
            </a:endParaRPr>
          </a:p>
        </p:txBody>
      </p:sp>
      <p:sp>
        <p:nvSpPr>
          <p:cNvPr id="61" name="圓角矩形 60">
            <a:extLst>
              <a:ext uri="{FF2B5EF4-FFF2-40B4-BE49-F238E27FC236}">
                <a16:creationId xmlns:a16="http://schemas.microsoft.com/office/drawing/2014/main" id="{B7679CD9-0E6C-9D1A-4154-0A5ECEBE97C4}"/>
              </a:ext>
            </a:extLst>
          </p:cNvPr>
          <p:cNvSpPr/>
          <p:nvPr/>
        </p:nvSpPr>
        <p:spPr>
          <a:xfrm>
            <a:off x="9459724" y="2449231"/>
            <a:ext cx="448780" cy="375953"/>
          </a:xfrm>
          <a:prstGeom prst="roundRect">
            <a:avLst/>
          </a:prstGeom>
          <a:solidFill>
            <a:srgbClr val="C5E0B4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en-US" altLang="zh-TW" dirty="0">
                <a:solidFill>
                  <a:schemeClr val="tx1"/>
                </a:solidFill>
              </a:rPr>
              <a:t>y</a:t>
            </a:r>
            <a:r>
              <a:rPr kumimoji="1" lang="en-US" altLang="zh-TW" baseline="-25000" dirty="0">
                <a:solidFill>
                  <a:schemeClr val="tx1"/>
                </a:solidFill>
              </a:rPr>
              <a:t>6</a:t>
            </a:r>
            <a:endParaRPr kumimoji="1" lang="zh-TW" altLang="en-US" dirty="0">
              <a:solidFill>
                <a:schemeClr val="tx1"/>
              </a:solidFill>
            </a:endParaRPr>
          </a:p>
        </p:txBody>
      </p:sp>
      <p:sp>
        <p:nvSpPr>
          <p:cNvPr id="62" name="圓角矩形 61">
            <a:extLst>
              <a:ext uri="{FF2B5EF4-FFF2-40B4-BE49-F238E27FC236}">
                <a16:creationId xmlns:a16="http://schemas.microsoft.com/office/drawing/2014/main" id="{BB22A4B2-A233-9CA0-DCD3-5778541A17A6}"/>
              </a:ext>
            </a:extLst>
          </p:cNvPr>
          <p:cNvSpPr/>
          <p:nvPr/>
        </p:nvSpPr>
        <p:spPr>
          <a:xfrm>
            <a:off x="9965699" y="2449231"/>
            <a:ext cx="448780" cy="375953"/>
          </a:xfrm>
          <a:prstGeom prst="roundRect">
            <a:avLst/>
          </a:prstGeom>
          <a:solidFill>
            <a:srgbClr val="C5E0B4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en-US" altLang="zh-TW" dirty="0">
                <a:solidFill>
                  <a:schemeClr val="tx1"/>
                </a:solidFill>
              </a:rPr>
              <a:t>y</a:t>
            </a:r>
            <a:r>
              <a:rPr kumimoji="1" lang="en-US" altLang="zh-TW" baseline="-25000" dirty="0">
                <a:solidFill>
                  <a:schemeClr val="tx1"/>
                </a:solidFill>
              </a:rPr>
              <a:t>7</a:t>
            </a:r>
            <a:endParaRPr kumimoji="1" lang="zh-TW" altLang="en-US" dirty="0">
              <a:solidFill>
                <a:schemeClr val="tx1"/>
              </a:solidFill>
            </a:endParaRPr>
          </a:p>
        </p:txBody>
      </p:sp>
      <p:sp>
        <p:nvSpPr>
          <p:cNvPr id="63" name="圓角矩形 62">
            <a:extLst>
              <a:ext uri="{FF2B5EF4-FFF2-40B4-BE49-F238E27FC236}">
                <a16:creationId xmlns:a16="http://schemas.microsoft.com/office/drawing/2014/main" id="{BB24711D-E62F-5C09-B805-506EBC233923}"/>
              </a:ext>
            </a:extLst>
          </p:cNvPr>
          <p:cNvSpPr/>
          <p:nvPr/>
        </p:nvSpPr>
        <p:spPr>
          <a:xfrm>
            <a:off x="7435822" y="2449231"/>
            <a:ext cx="448780" cy="375953"/>
          </a:xfrm>
          <a:prstGeom prst="roundRect">
            <a:avLst/>
          </a:prstGeom>
          <a:solidFill>
            <a:srgbClr val="C5E0B4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en-US" altLang="zh-TW" dirty="0">
                <a:solidFill>
                  <a:schemeClr val="tx1"/>
                </a:solidFill>
              </a:rPr>
              <a:t>y</a:t>
            </a:r>
            <a:r>
              <a:rPr kumimoji="1" lang="en-US" altLang="zh-TW" baseline="-25000" dirty="0">
                <a:solidFill>
                  <a:schemeClr val="tx1"/>
                </a:solidFill>
              </a:rPr>
              <a:t>2</a:t>
            </a:r>
            <a:endParaRPr kumimoji="1" lang="zh-TW" altLang="en-US" dirty="0">
              <a:solidFill>
                <a:schemeClr val="tx1"/>
              </a:solidFill>
            </a:endParaRPr>
          </a:p>
        </p:txBody>
      </p:sp>
      <p:sp>
        <p:nvSpPr>
          <p:cNvPr id="64" name="圓角矩形 63">
            <a:extLst>
              <a:ext uri="{FF2B5EF4-FFF2-40B4-BE49-F238E27FC236}">
                <a16:creationId xmlns:a16="http://schemas.microsoft.com/office/drawing/2014/main" id="{D9F8A0C4-0AB0-92B0-53A9-83D273636257}"/>
              </a:ext>
            </a:extLst>
          </p:cNvPr>
          <p:cNvSpPr/>
          <p:nvPr/>
        </p:nvSpPr>
        <p:spPr>
          <a:xfrm>
            <a:off x="7941797" y="2449231"/>
            <a:ext cx="448780" cy="375953"/>
          </a:xfrm>
          <a:prstGeom prst="roundRect">
            <a:avLst/>
          </a:prstGeom>
          <a:solidFill>
            <a:srgbClr val="C5E0B4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en-US" altLang="zh-TW" dirty="0">
                <a:solidFill>
                  <a:schemeClr val="tx1"/>
                </a:solidFill>
              </a:rPr>
              <a:t>y</a:t>
            </a:r>
            <a:r>
              <a:rPr kumimoji="1" lang="en-US" altLang="zh-TW" baseline="-25000" dirty="0">
                <a:solidFill>
                  <a:schemeClr val="tx1"/>
                </a:solidFill>
              </a:rPr>
              <a:t>3</a:t>
            </a:r>
            <a:endParaRPr kumimoji="1" lang="zh-TW" altLang="en-US" dirty="0">
              <a:solidFill>
                <a:schemeClr val="tx1"/>
              </a:solidFill>
            </a:endParaRPr>
          </a:p>
        </p:txBody>
      </p:sp>
      <p:sp>
        <p:nvSpPr>
          <p:cNvPr id="65" name="圓角矩形 64">
            <a:extLst>
              <a:ext uri="{FF2B5EF4-FFF2-40B4-BE49-F238E27FC236}">
                <a16:creationId xmlns:a16="http://schemas.microsoft.com/office/drawing/2014/main" id="{7A153E3D-3A28-1C3D-DF35-696C761A48F4}"/>
              </a:ext>
            </a:extLst>
          </p:cNvPr>
          <p:cNvSpPr/>
          <p:nvPr/>
        </p:nvSpPr>
        <p:spPr>
          <a:xfrm>
            <a:off x="8447773" y="2449231"/>
            <a:ext cx="448780" cy="375953"/>
          </a:xfrm>
          <a:prstGeom prst="roundRect">
            <a:avLst/>
          </a:prstGeom>
          <a:solidFill>
            <a:srgbClr val="C5E0B4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en-US" altLang="zh-TW" dirty="0">
                <a:solidFill>
                  <a:schemeClr val="tx1"/>
                </a:solidFill>
              </a:rPr>
              <a:t>y</a:t>
            </a:r>
            <a:r>
              <a:rPr kumimoji="1" lang="en-US" altLang="zh-TW" baseline="-25000" dirty="0">
                <a:solidFill>
                  <a:schemeClr val="tx1"/>
                </a:solidFill>
              </a:rPr>
              <a:t>4</a:t>
            </a:r>
            <a:endParaRPr kumimoji="1" lang="zh-TW" altLang="en-US" dirty="0">
              <a:solidFill>
                <a:schemeClr val="tx1"/>
              </a:solidFill>
            </a:endParaRPr>
          </a:p>
        </p:txBody>
      </p:sp>
      <p:sp>
        <p:nvSpPr>
          <p:cNvPr id="66" name="圓角矩形 65">
            <a:extLst>
              <a:ext uri="{FF2B5EF4-FFF2-40B4-BE49-F238E27FC236}">
                <a16:creationId xmlns:a16="http://schemas.microsoft.com/office/drawing/2014/main" id="{041EACC0-3BC5-4FE8-88EF-CF87C7409CC6}"/>
              </a:ext>
            </a:extLst>
          </p:cNvPr>
          <p:cNvSpPr/>
          <p:nvPr/>
        </p:nvSpPr>
        <p:spPr>
          <a:xfrm>
            <a:off x="8953749" y="2449231"/>
            <a:ext cx="448780" cy="375953"/>
          </a:xfrm>
          <a:prstGeom prst="roundRect">
            <a:avLst/>
          </a:prstGeom>
          <a:solidFill>
            <a:srgbClr val="C5E0B4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en-US" altLang="zh-TW" dirty="0">
                <a:solidFill>
                  <a:schemeClr val="tx1"/>
                </a:solidFill>
              </a:rPr>
              <a:t>y</a:t>
            </a:r>
            <a:r>
              <a:rPr kumimoji="1" lang="en-US" altLang="zh-TW" baseline="-25000" dirty="0">
                <a:solidFill>
                  <a:schemeClr val="tx1"/>
                </a:solidFill>
              </a:rPr>
              <a:t>5</a:t>
            </a:r>
            <a:endParaRPr kumimoji="1" lang="zh-TW" altLang="en-US" dirty="0">
              <a:solidFill>
                <a:schemeClr val="tx1"/>
              </a:solidFill>
            </a:endParaRPr>
          </a:p>
        </p:txBody>
      </p:sp>
      <p:sp>
        <p:nvSpPr>
          <p:cNvPr id="67" name="圓角矩形 66">
            <a:extLst>
              <a:ext uri="{FF2B5EF4-FFF2-40B4-BE49-F238E27FC236}">
                <a16:creationId xmlns:a16="http://schemas.microsoft.com/office/drawing/2014/main" id="{E9D7ADDE-B641-32B7-773D-AF9CBFEFDEC6}"/>
              </a:ext>
            </a:extLst>
          </p:cNvPr>
          <p:cNvSpPr/>
          <p:nvPr/>
        </p:nvSpPr>
        <p:spPr>
          <a:xfrm>
            <a:off x="10470746" y="2443576"/>
            <a:ext cx="448780" cy="375953"/>
          </a:xfrm>
          <a:prstGeom prst="roundRect">
            <a:avLst/>
          </a:prstGeom>
          <a:solidFill>
            <a:srgbClr val="C5E0B4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en-US" altLang="zh-TW" dirty="0">
                <a:solidFill>
                  <a:schemeClr val="tx1"/>
                </a:solidFill>
              </a:rPr>
              <a:t>y</a:t>
            </a:r>
            <a:r>
              <a:rPr kumimoji="1" lang="en-US" altLang="zh-TW" baseline="-25000" dirty="0">
                <a:solidFill>
                  <a:schemeClr val="tx1"/>
                </a:solidFill>
              </a:rPr>
              <a:t>8</a:t>
            </a:r>
            <a:endParaRPr kumimoji="1" lang="zh-TW" altLang="en-US" dirty="0">
              <a:solidFill>
                <a:schemeClr val="tx1"/>
              </a:solidFill>
            </a:endParaRPr>
          </a:p>
        </p:txBody>
      </p:sp>
      <p:sp>
        <p:nvSpPr>
          <p:cNvPr id="68" name="上-下雙向箭號 67">
            <a:extLst>
              <a:ext uri="{FF2B5EF4-FFF2-40B4-BE49-F238E27FC236}">
                <a16:creationId xmlns:a16="http://schemas.microsoft.com/office/drawing/2014/main" id="{46621AB1-7123-1DDB-590D-46E48C51D79F}"/>
              </a:ext>
            </a:extLst>
          </p:cNvPr>
          <p:cNvSpPr/>
          <p:nvPr/>
        </p:nvSpPr>
        <p:spPr>
          <a:xfrm>
            <a:off x="7058405" y="2867049"/>
            <a:ext cx="174859" cy="623656"/>
          </a:xfrm>
          <a:prstGeom prst="upDownArrow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78" name="圓角矩形 77">
            <a:extLst>
              <a:ext uri="{FF2B5EF4-FFF2-40B4-BE49-F238E27FC236}">
                <a16:creationId xmlns:a16="http://schemas.microsoft.com/office/drawing/2014/main" id="{AE15E609-967F-0C3B-C0B2-F3A53C59D535}"/>
              </a:ext>
            </a:extLst>
          </p:cNvPr>
          <p:cNvSpPr/>
          <p:nvPr/>
        </p:nvSpPr>
        <p:spPr>
          <a:xfrm>
            <a:off x="5509605" y="4559551"/>
            <a:ext cx="1126351" cy="349784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en-US" altLang="zh-TW" sz="1600" dirty="0">
                <a:solidFill>
                  <a:schemeClr val="tx1"/>
                </a:solidFill>
              </a:rPr>
              <a:t>Attention</a:t>
            </a:r>
            <a:endParaRPr kumimoji="1" lang="zh-TW" altLang="en-US" sz="1200" dirty="0">
              <a:solidFill>
                <a:schemeClr val="tx1"/>
              </a:solidFill>
            </a:endParaRPr>
          </a:p>
        </p:txBody>
      </p:sp>
      <p:cxnSp>
        <p:nvCxnSpPr>
          <p:cNvPr id="79" name="直線箭頭接點 78">
            <a:extLst>
              <a:ext uri="{FF2B5EF4-FFF2-40B4-BE49-F238E27FC236}">
                <a16:creationId xmlns:a16="http://schemas.microsoft.com/office/drawing/2014/main" id="{90466B83-E39F-D73C-4421-9D9A9066D26E}"/>
              </a:ext>
            </a:extLst>
          </p:cNvPr>
          <p:cNvCxnSpPr>
            <a:endCxn id="78" idx="1"/>
          </p:cNvCxnSpPr>
          <p:nvPr/>
        </p:nvCxnSpPr>
        <p:spPr>
          <a:xfrm>
            <a:off x="5254039" y="4734442"/>
            <a:ext cx="255566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直線箭頭接點 79">
            <a:extLst>
              <a:ext uri="{FF2B5EF4-FFF2-40B4-BE49-F238E27FC236}">
                <a16:creationId xmlns:a16="http://schemas.microsoft.com/office/drawing/2014/main" id="{14EA065B-1758-9108-BA71-97EA93B2E01E}"/>
              </a:ext>
            </a:extLst>
          </p:cNvPr>
          <p:cNvCxnSpPr>
            <a:stCxn id="78" idx="3"/>
          </p:cNvCxnSpPr>
          <p:nvPr/>
        </p:nvCxnSpPr>
        <p:spPr>
          <a:xfrm>
            <a:off x="6635955" y="4734442"/>
            <a:ext cx="255568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1" name="上-下雙向箭號 80">
            <a:extLst>
              <a:ext uri="{FF2B5EF4-FFF2-40B4-BE49-F238E27FC236}">
                <a16:creationId xmlns:a16="http://schemas.microsoft.com/office/drawing/2014/main" id="{75CE8B97-0DBF-4A87-DEC0-1D63E868F84B}"/>
              </a:ext>
            </a:extLst>
          </p:cNvPr>
          <p:cNvSpPr/>
          <p:nvPr/>
        </p:nvSpPr>
        <p:spPr>
          <a:xfrm>
            <a:off x="7579391" y="2867049"/>
            <a:ext cx="174859" cy="623656"/>
          </a:xfrm>
          <a:prstGeom prst="upDownArrow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82" name="上-下雙向箭號 81">
            <a:extLst>
              <a:ext uri="{FF2B5EF4-FFF2-40B4-BE49-F238E27FC236}">
                <a16:creationId xmlns:a16="http://schemas.microsoft.com/office/drawing/2014/main" id="{92D905D2-287E-64F9-FED2-D986F0D79BFE}"/>
              </a:ext>
            </a:extLst>
          </p:cNvPr>
          <p:cNvSpPr/>
          <p:nvPr/>
        </p:nvSpPr>
        <p:spPr>
          <a:xfrm>
            <a:off x="8082644" y="2867049"/>
            <a:ext cx="174859" cy="623656"/>
          </a:xfrm>
          <a:prstGeom prst="upDownArrow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83" name="上-下雙向箭號 82">
            <a:extLst>
              <a:ext uri="{FF2B5EF4-FFF2-40B4-BE49-F238E27FC236}">
                <a16:creationId xmlns:a16="http://schemas.microsoft.com/office/drawing/2014/main" id="{FB552F14-D636-9C16-FA70-C4AF9DE2CDCF}"/>
              </a:ext>
            </a:extLst>
          </p:cNvPr>
          <p:cNvSpPr/>
          <p:nvPr/>
        </p:nvSpPr>
        <p:spPr>
          <a:xfrm>
            <a:off x="8583804" y="2867819"/>
            <a:ext cx="174859" cy="623656"/>
          </a:xfrm>
          <a:prstGeom prst="upDownArrow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88" name="上-下雙向箭號 87">
            <a:extLst>
              <a:ext uri="{FF2B5EF4-FFF2-40B4-BE49-F238E27FC236}">
                <a16:creationId xmlns:a16="http://schemas.microsoft.com/office/drawing/2014/main" id="{7696F1CF-C369-3BC4-2479-AF95E40E7351}"/>
              </a:ext>
            </a:extLst>
          </p:cNvPr>
          <p:cNvSpPr/>
          <p:nvPr/>
        </p:nvSpPr>
        <p:spPr>
          <a:xfrm>
            <a:off x="9088927" y="2876171"/>
            <a:ext cx="174859" cy="623656"/>
          </a:xfrm>
          <a:prstGeom prst="upDownArrow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89" name="上-下雙向箭號 88">
            <a:extLst>
              <a:ext uri="{FF2B5EF4-FFF2-40B4-BE49-F238E27FC236}">
                <a16:creationId xmlns:a16="http://schemas.microsoft.com/office/drawing/2014/main" id="{5466C96C-858D-7B46-721E-8A96083A6286}"/>
              </a:ext>
            </a:extLst>
          </p:cNvPr>
          <p:cNvSpPr/>
          <p:nvPr/>
        </p:nvSpPr>
        <p:spPr>
          <a:xfrm>
            <a:off x="9609913" y="2876171"/>
            <a:ext cx="174859" cy="623656"/>
          </a:xfrm>
          <a:prstGeom prst="upDownArrow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90" name="上-下雙向箭號 89">
            <a:extLst>
              <a:ext uri="{FF2B5EF4-FFF2-40B4-BE49-F238E27FC236}">
                <a16:creationId xmlns:a16="http://schemas.microsoft.com/office/drawing/2014/main" id="{9F29B83C-D734-D532-1367-C54B9F21EC88}"/>
              </a:ext>
            </a:extLst>
          </p:cNvPr>
          <p:cNvSpPr/>
          <p:nvPr/>
        </p:nvSpPr>
        <p:spPr>
          <a:xfrm>
            <a:off x="10113166" y="2876171"/>
            <a:ext cx="174859" cy="623656"/>
          </a:xfrm>
          <a:prstGeom prst="upDownArrow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91" name="上-下雙向箭號 90">
            <a:extLst>
              <a:ext uri="{FF2B5EF4-FFF2-40B4-BE49-F238E27FC236}">
                <a16:creationId xmlns:a16="http://schemas.microsoft.com/office/drawing/2014/main" id="{30A9A1C7-505D-EC39-E5CA-0E3FEAAF95ED}"/>
              </a:ext>
            </a:extLst>
          </p:cNvPr>
          <p:cNvSpPr/>
          <p:nvPr/>
        </p:nvSpPr>
        <p:spPr>
          <a:xfrm>
            <a:off x="10614326" y="2876941"/>
            <a:ext cx="174859" cy="623656"/>
          </a:xfrm>
          <a:prstGeom prst="upDownArrow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92" name="文字方塊 91">
            <a:extLst>
              <a:ext uri="{FF2B5EF4-FFF2-40B4-BE49-F238E27FC236}">
                <a16:creationId xmlns:a16="http://schemas.microsoft.com/office/drawing/2014/main" id="{E621C4BE-7ACA-6C0F-8D74-D22C57BF59BC}"/>
              </a:ext>
            </a:extLst>
          </p:cNvPr>
          <p:cNvSpPr txBox="1"/>
          <p:nvPr/>
        </p:nvSpPr>
        <p:spPr>
          <a:xfrm>
            <a:off x="10758262" y="2899982"/>
            <a:ext cx="106273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sz="1600" dirty="0"/>
              <a:t>Cross-</a:t>
            </a:r>
          </a:p>
          <a:p>
            <a:pPr algn="ctr"/>
            <a:r>
              <a:rPr kumimoji="1" lang="en-US" altLang="zh-TW" sz="1600" dirty="0"/>
              <a:t>entropy</a:t>
            </a:r>
            <a:endParaRPr kumimoji="1" lang="zh-TW" altLang="en-US" sz="16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93" name="文字方塊 92">
                <a:extLst>
                  <a:ext uri="{FF2B5EF4-FFF2-40B4-BE49-F238E27FC236}">
                    <a16:creationId xmlns:a16="http://schemas.microsoft.com/office/drawing/2014/main" id="{B082D015-7037-C8AB-567F-F50041E62D04}"/>
                  </a:ext>
                </a:extLst>
              </p:cNvPr>
              <p:cNvSpPr txBox="1"/>
              <p:nvPr/>
            </p:nvSpPr>
            <p:spPr>
              <a:xfrm>
                <a:off x="1112388" y="2109863"/>
                <a:ext cx="4864547" cy="175657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342900" indent="-342900">
                  <a:lnSpc>
                    <a:spcPct val="114000"/>
                  </a:lnSpc>
                  <a:buFont typeface="Arial" panose="020B0604020202020204" pitchFamily="34" charset="0"/>
                  <a:buChar char="•"/>
                </a:pPr>
                <a:r>
                  <a:rPr kumimoji="1" lang="en-US" altLang="zh-TW" sz="2400" dirty="0"/>
                  <a:t>Use the Teacher Forcing technique during training.</a:t>
                </a:r>
              </a:p>
              <a:p>
                <a:pPr marL="342900" indent="-342900">
                  <a:lnSpc>
                    <a:spcPct val="114000"/>
                  </a:lnSpc>
                  <a:buFont typeface="Arial" panose="020B0604020202020204" pitchFamily="34" charset="0"/>
                  <a:buChar char="•"/>
                </a:pPr>
                <a:r>
                  <a:rPr kumimoji="1" lang="en-US" altLang="zh-TW" sz="2400" dirty="0"/>
                  <a:t>Total loss for a sequence: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ctrlPr>
                          <a:rPr kumimoji="1" lang="en-US" altLang="zh-TW" sz="240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kumimoji="1" lang="en-US" altLang="zh-TW" sz="2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kumimoji="1" lang="en-US" altLang="zh-TW" sz="2400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  <m:e>
                        <m:sSub>
                          <m:sSubPr>
                            <m:ctrlPr>
                              <a:rPr kumimoji="1" lang="en-US" altLang="zh-TW" sz="24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zh-TW" sz="2400" b="0" i="1" smtClean="0">
                                <a:latin typeface="Cambria Math" panose="02040503050406030204" pitchFamily="18" charset="0"/>
                              </a:rPr>
                              <m:t>𝑙</m:t>
                            </m:r>
                          </m:e>
                          <m:sub>
                            <m:r>
                              <a:rPr kumimoji="1" lang="en-US" altLang="zh-TW" sz="2400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</m:e>
                    </m:nary>
                  </m:oMath>
                </a14:m>
                <a:endParaRPr kumimoji="1" lang="en-US" altLang="zh-TW" sz="2400" dirty="0"/>
              </a:p>
              <a:p>
                <a:pPr marL="800100" lvl="1" indent="-342900">
                  <a:lnSpc>
                    <a:spcPct val="114000"/>
                  </a:lnSpc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kumimoji="1" lang="en-US" altLang="zh-TW" sz="2400" b="0" i="1" smtClean="0"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r>
                  <a:rPr kumimoji="1" lang="en-US" altLang="zh-TW" sz="2400" dirty="0"/>
                  <a:t>: Sequence length</a:t>
                </a:r>
              </a:p>
            </p:txBody>
          </p:sp>
        </mc:Choice>
        <mc:Fallback>
          <p:sp>
            <p:nvSpPr>
              <p:cNvPr id="93" name="文字方塊 92">
                <a:extLst>
                  <a:ext uri="{FF2B5EF4-FFF2-40B4-BE49-F238E27FC236}">
                    <a16:creationId xmlns:a16="http://schemas.microsoft.com/office/drawing/2014/main" id="{B082D015-7037-C8AB-567F-F50041E62D0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12388" y="2109863"/>
                <a:ext cx="4864547" cy="1756571"/>
              </a:xfrm>
              <a:prstGeom prst="rect">
                <a:avLst/>
              </a:prstGeom>
              <a:blipFill>
                <a:blip r:embed="rId10"/>
                <a:stretch>
                  <a:fillRect l="-1563" t="-1439" b="-26619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4" name="文字方塊 93">
                <a:extLst>
                  <a:ext uri="{FF2B5EF4-FFF2-40B4-BE49-F238E27FC236}">
                    <a16:creationId xmlns:a16="http://schemas.microsoft.com/office/drawing/2014/main" id="{A0F446E1-DE62-B0EC-6C03-710C46B90328}"/>
                  </a:ext>
                </a:extLst>
              </p:cNvPr>
              <p:cNvSpPr txBox="1"/>
              <p:nvPr/>
            </p:nvSpPr>
            <p:spPr>
              <a:xfrm>
                <a:off x="6769209" y="3003333"/>
                <a:ext cx="403259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zh-TW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TW" b="0" i="1" smtClean="0">
                              <a:latin typeface="Cambria Math" panose="02040503050406030204" pitchFamily="18" charset="0"/>
                            </a:rPr>
                            <m:t>𝑙</m:t>
                          </m:r>
                        </m:e>
                        <m:sub>
                          <m:r>
                            <a:rPr kumimoji="1" lang="en-US" altLang="zh-TW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kumimoji="1" lang="zh-TW" altLang="en-US" dirty="0"/>
              </a:p>
            </p:txBody>
          </p:sp>
        </mc:Choice>
        <mc:Fallback>
          <p:sp>
            <p:nvSpPr>
              <p:cNvPr id="94" name="文字方塊 93">
                <a:extLst>
                  <a:ext uri="{FF2B5EF4-FFF2-40B4-BE49-F238E27FC236}">
                    <a16:creationId xmlns:a16="http://schemas.microsoft.com/office/drawing/2014/main" id="{A0F446E1-DE62-B0EC-6C03-710C46B9032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69209" y="3003333"/>
                <a:ext cx="403259" cy="369332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5" name="文字方塊 94">
                <a:extLst>
                  <a:ext uri="{FF2B5EF4-FFF2-40B4-BE49-F238E27FC236}">
                    <a16:creationId xmlns:a16="http://schemas.microsoft.com/office/drawing/2014/main" id="{D61666DC-444C-6FBF-B81F-590CBD00AA35}"/>
                  </a:ext>
                </a:extLst>
              </p:cNvPr>
              <p:cNvSpPr txBox="1"/>
              <p:nvPr/>
            </p:nvSpPr>
            <p:spPr>
              <a:xfrm>
                <a:off x="7313547" y="3004900"/>
                <a:ext cx="403259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zh-TW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TW" b="0" i="1" smtClean="0">
                              <a:latin typeface="Cambria Math" panose="02040503050406030204" pitchFamily="18" charset="0"/>
                            </a:rPr>
                            <m:t>𝑙</m:t>
                          </m:r>
                        </m:e>
                        <m:sub>
                          <m:r>
                            <a:rPr kumimoji="1" lang="en-US" altLang="zh-TW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kumimoji="1" lang="zh-TW" altLang="en-US" dirty="0"/>
              </a:p>
            </p:txBody>
          </p:sp>
        </mc:Choice>
        <mc:Fallback>
          <p:sp>
            <p:nvSpPr>
              <p:cNvPr id="95" name="文字方塊 94">
                <a:extLst>
                  <a:ext uri="{FF2B5EF4-FFF2-40B4-BE49-F238E27FC236}">
                    <a16:creationId xmlns:a16="http://schemas.microsoft.com/office/drawing/2014/main" id="{D61666DC-444C-6FBF-B81F-590CBD00AA3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13547" y="3004900"/>
                <a:ext cx="403259" cy="369332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6" name="文字方塊 95">
                <a:extLst>
                  <a:ext uri="{FF2B5EF4-FFF2-40B4-BE49-F238E27FC236}">
                    <a16:creationId xmlns:a16="http://schemas.microsoft.com/office/drawing/2014/main" id="{469CEFBE-39DF-1EAD-7ACC-9EADD59449C7}"/>
                  </a:ext>
                </a:extLst>
              </p:cNvPr>
              <p:cNvSpPr txBox="1"/>
              <p:nvPr/>
            </p:nvSpPr>
            <p:spPr>
              <a:xfrm>
                <a:off x="7832599" y="3013578"/>
                <a:ext cx="403259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zh-TW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TW" b="0" i="1" smtClean="0">
                              <a:latin typeface="Cambria Math" panose="02040503050406030204" pitchFamily="18" charset="0"/>
                            </a:rPr>
                            <m:t>𝑙</m:t>
                          </m:r>
                        </m:e>
                        <m:sub>
                          <m:r>
                            <a:rPr kumimoji="1" lang="en-US" altLang="zh-TW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kumimoji="1" lang="zh-TW" altLang="en-US" dirty="0"/>
              </a:p>
            </p:txBody>
          </p:sp>
        </mc:Choice>
        <mc:Fallback>
          <p:sp>
            <p:nvSpPr>
              <p:cNvPr id="96" name="文字方塊 95">
                <a:extLst>
                  <a:ext uri="{FF2B5EF4-FFF2-40B4-BE49-F238E27FC236}">
                    <a16:creationId xmlns:a16="http://schemas.microsoft.com/office/drawing/2014/main" id="{469CEFBE-39DF-1EAD-7ACC-9EADD59449C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32599" y="3013578"/>
                <a:ext cx="403259" cy="369332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7" name="文字方塊 96">
                <a:extLst>
                  <a:ext uri="{FF2B5EF4-FFF2-40B4-BE49-F238E27FC236}">
                    <a16:creationId xmlns:a16="http://schemas.microsoft.com/office/drawing/2014/main" id="{1E193C26-A290-198C-99DE-7C65DDAE36EB}"/>
                  </a:ext>
                </a:extLst>
              </p:cNvPr>
              <p:cNvSpPr txBox="1"/>
              <p:nvPr/>
            </p:nvSpPr>
            <p:spPr>
              <a:xfrm>
                <a:off x="8327580" y="3003333"/>
                <a:ext cx="403259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zh-TW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TW" b="0" i="1" smtClean="0">
                              <a:latin typeface="Cambria Math" panose="02040503050406030204" pitchFamily="18" charset="0"/>
                            </a:rPr>
                            <m:t>𝑙</m:t>
                          </m:r>
                        </m:e>
                        <m:sub>
                          <m:r>
                            <a:rPr kumimoji="1" lang="en-US" altLang="zh-TW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kumimoji="1" lang="zh-TW" altLang="en-US" dirty="0"/>
              </a:p>
            </p:txBody>
          </p:sp>
        </mc:Choice>
        <mc:Fallback>
          <p:sp>
            <p:nvSpPr>
              <p:cNvPr id="97" name="文字方塊 96">
                <a:extLst>
                  <a:ext uri="{FF2B5EF4-FFF2-40B4-BE49-F238E27FC236}">
                    <a16:creationId xmlns:a16="http://schemas.microsoft.com/office/drawing/2014/main" id="{1E193C26-A290-198C-99DE-7C65DDAE36E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27580" y="3003333"/>
                <a:ext cx="403259" cy="369332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8" name="文字方塊 97">
                <a:extLst>
                  <a:ext uri="{FF2B5EF4-FFF2-40B4-BE49-F238E27FC236}">
                    <a16:creationId xmlns:a16="http://schemas.microsoft.com/office/drawing/2014/main" id="{FE91F4A4-FD8D-BADC-F884-099111D2F59A}"/>
                  </a:ext>
                </a:extLst>
              </p:cNvPr>
              <p:cNvSpPr txBox="1"/>
              <p:nvPr/>
            </p:nvSpPr>
            <p:spPr>
              <a:xfrm>
                <a:off x="8826974" y="3003386"/>
                <a:ext cx="403259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zh-TW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TW" b="0" i="1" smtClean="0">
                              <a:latin typeface="Cambria Math" panose="02040503050406030204" pitchFamily="18" charset="0"/>
                            </a:rPr>
                            <m:t>𝑙</m:t>
                          </m:r>
                        </m:e>
                        <m:sub>
                          <m:r>
                            <a:rPr kumimoji="1" lang="en-US" altLang="zh-TW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</m:sub>
                      </m:sSub>
                    </m:oMath>
                  </m:oMathPara>
                </a14:m>
                <a:endParaRPr kumimoji="1" lang="zh-TW" altLang="en-US" dirty="0"/>
              </a:p>
            </p:txBody>
          </p:sp>
        </mc:Choice>
        <mc:Fallback>
          <p:sp>
            <p:nvSpPr>
              <p:cNvPr id="98" name="文字方塊 97">
                <a:extLst>
                  <a:ext uri="{FF2B5EF4-FFF2-40B4-BE49-F238E27FC236}">
                    <a16:creationId xmlns:a16="http://schemas.microsoft.com/office/drawing/2014/main" id="{FE91F4A4-FD8D-BADC-F884-099111D2F59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26974" y="3003386"/>
                <a:ext cx="403259" cy="369332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9" name="文字方塊 98">
                <a:extLst>
                  <a:ext uri="{FF2B5EF4-FFF2-40B4-BE49-F238E27FC236}">
                    <a16:creationId xmlns:a16="http://schemas.microsoft.com/office/drawing/2014/main" id="{5DAAA15C-7388-69A4-4505-DC3AA498C252}"/>
                  </a:ext>
                </a:extLst>
              </p:cNvPr>
              <p:cNvSpPr txBox="1"/>
              <p:nvPr/>
            </p:nvSpPr>
            <p:spPr>
              <a:xfrm>
                <a:off x="9353303" y="3013578"/>
                <a:ext cx="403259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zh-TW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TW" b="0" i="1" smtClean="0">
                              <a:latin typeface="Cambria Math" panose="02040503050406030204" pitchFamily="18" charset="0"/>
                            </a:rPr>
                            <m:t>𝑙</m:t>
                          </m:r>
                        </m:e>
                        <m:sub>
                          <m:r>
                            <a:rPr kumimoji="1" lang="en-US" altLang="zh-TW" b="0" i="1" smtClean="0">
                              <a:latin typeface="Cambria Math" panose="02040503050406030204" pitchFamily="18" charset="0"/>
                            </a:rPr>
                            <m:t>6</m:t>
                          </m:r>
                        </m:sub>
                      </m:sSub>
                    </m:oMath>
                  </m:oMathPara>
                </a14:m>
                <a:endParaRPr kumimoji="1" lang="zh-TW" altLang="en-US" dirty="0"/>
              </a:p>
            </p:txBody>
          </p:sp>
        </mc:Choice>
        <mc:Fallback>
          <p:sp>
            <p:nvSpPr>
              <p:cNvPr id="99" name="文字方塊 98">
                <a:extLst>
                  <a:ext uri="{FF2B5EF4-FFF2-40B4-BE49-F238E27FC236}">
                    <a16:creationId xmlns:a16="http://schemas.microsoft.com/office/drawing/2014/main" id="{5DAAA15C-7388-69A4-4505-DC3AA498C25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53303" y="3013578"/>
                <a:ext cx="403259" cy="369332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00" name="文字方塊 99">
                <a:extLst>
                  <a:ext uri="{FF2B5EF4-FFF2-40B4-BE49-F238E27FC236}">
                    <a16:creationId xmlns:a16="http://schemas.microsoft.com/office/drawing/2014/main" id="{869007C9-30C4-A23F-7F82-B3E039EB3B1F}"/>
                  </a:ext>
                </a:extLst>
              </p:cNvPr>
              <p:cNvSpPr txBox="1"/>
              <p:nvPr/>
            </p:nvSpPr>
            <p:spPr>
              <a:xfrm>
                <a:off x="9840730" y="3004900"/>
                <a:ext cx="403259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zh-TW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TW" b="0" i="1" smtClean="0">
                              <a:latin typeface="Cambria Math" panose="02040503050406030204" pitchFamily="18" charset="0"/>
                            </a:rPr>
                            <m:t>𝑙</m:t>
                          </m:r>
                        </m:e>
                        <m:sub>
                          <m:r>
                            <a:rPr kumimoji="1" lang="en-US" altLang="zh-TW" b="0" i="1" smtClean="0">
                              <a:latin typeface="Cambria Math" panose="02040503050406030204" pitchFamily="18" charset="0"/>
                            </a:rPr>
                            <m:t>7</m:t>
                          </m:r>
                        </m:sub>
                      </m:sSub>
                    </m:oMath>
                  </m:oMathPara>
                </a14:m>
                <a:endParaRPr kumimoji="1" lang="zh-TW" altLang="en-US" dirty="0"/>
              </a:p>
            </p:txBody>
          </p:sp>
        </mc:Choice>
        <mc:Fallback>
          <p:sp>
            <p:nvSpPr>
              <p:cNvPr id="100" name="文字方塊 99">
                <a:extLst>
                  <a:ext uri="{FF2B5EF4-FFF2-40B4-BE49-F238E27FC236}">
                    <a16:creationId xmlns:a16="http://schemas.microsoft.com/office/drawing/2014/main" id="{869007C9-30C4-A23F-7F82-B3E039EB3B1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40730" y="3004900"/>
                <a:ext cx="403259" cy="369332"/>
              </a:xfrm>
              <a:prstGeom prst="rect">
                <a:avLst/>
              </a:prstGeom>
              <a:blipFill>
                <a:blip r:embed="rId1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01" name="文字方塊 100">
                <a:extLst>
                  <a:ext uri="{FF2B5EF4-FFF2-40B4-BE49-F238E27FC236}">
                    <a16:creationId xmlns:a16="http://schemas.microsoft.com/office/drawing/2014/main" id="{23062D85-3A88-5325-83CB-113934A4B6DA}"/>
                  </a:ext>
                </a:extLst>
              </p:cNvPr>
              <p:cNvSpPr txBox="1"/>
              <p:nvPr/>
            </p:nvSpPr>
            <p:spPr>
              <a:xfrm>
                <a:off x="10357714" y="3003333"/>
                <a:ext cx="403259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zh-TW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TW" b="0" i="1" smtClean="0">
                              <a:latin typeface="Cambria Math" panose="02040503050406030204" pitchFamily="18" charset="0"/>
                            </a:rPr>
                            <m:t>𝑙</m:t>
                          </m:r>
                        </m:e>
                        <m:sub>
                          <m:r>
                            <a:rPr kumimoji="1" lang="en-US" altLang="zh-TW" b="0" i="1" smtClean="0">
                              <a:latin typeface="Cambria Math" panose="02040503050406030204" pitchFamily="18" charset="0"/>
                            </a:rPr>
                            <m:t>8</m:t>
                          </m:r>
                        </m:sub>
                      </m:sSub>
                    </m:oMath>
                  </m:oMathPara>
                </a14:m>
                <a:endParaRPr kumimoji="1" lang="zh-TW" altLang="en-US" dirty="0"/>
              </a:p>
            </p:txBody>
          </p:sp>
        </mc:Choice>
        <mc:Fallback>
          <p:sp>
            <p:nvSpPr>
              <p:cNvPr id="101" name="文字方塊 100">
                <a:extLst>
                  <a:ext uri="{FF2B5EF4-FFF2-40B4-BE49-F238E27FC236}">
                    <a16:creationId xmlns:a16="http://schemas.microsoft.com/office/drawing/2014/main" id="{23062D85-3A88-5325-83CB-113934A4B6D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357714" y="3003333"/>
                <a:ext cx="403259" cy="369332"/>
              </a:xfrm>
              <a:prstGeom prst="rect">
                <a:avLst/>
              </a:prstGeom>
              <a:blipFill>
                <a:blip r:embed="rId1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9" name="標題 1">
            <a:extLst>
              <a:ext uri="{FF2B5EF4-FFF2-40B4-BE49-F238E27FC236}">
                <a16:creationId xmlns:a16="http://schemas.microsoft.com/office/drawing/2014/main" id="{EAACD187-4E22-8DF2-C248-C0EAE4B035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6165" y="329454"/>
            <a:ext cx="11370365" cy="1033416"/>
          </a:xfrm>
        </p:spPr>
        <p:txBody>
          <a:bodyPr>
            <a:normAutofit fontScale="90000"/>
          </a:bodyPr>
          <a:lstStyle/>
          <a:p>
            <a:r>
              <a:rPr lang="en-US" altLang="zh-TW" dirty="0">
                <a:ea typeface="新細明體"/>
                <a:cs typeface="Calibri Light"/>
              </a:rPr>
              <a:t>How to train a (Conditional) Language Model?</a:t>
            </a:r>
            <a:endParaRPr kumimoji="1"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16062115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FACBC92-F134-0540-8676-38FF753360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en-US" altLang="zh-TW" dirty="0"/>
              <a:t>Teacher Forcing – Training Time</a:t>
            </a:r>
            <a:endParaRPr kumimoji="1" lang="zh-TW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內容版面配置區 2">
                <a:extLst>
                  <a:ext uri="{FF2B5EF4-FFF2-40B4-BE49-F238E27FC236}">
                    <a16:creationId xmlns:a16="http://schemas.microsoft.com/office/drawing/2014/main" id="{216F2A66-6AEB-E94B-9FB0-2A496826C9C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495703" y="1599427"/>
                <a:ext cx="3931721" cy="943492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zh-TW" sz="18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TW" sz="1800" i="1">
                              <a:latin typeface="Cambria Math" panose="02040503050406030204" pitchFamily="18" charset="0"/>
                            </a:rPr>
                            <m:t>𝐿</m:t>
                          </m:r>
                        </m:e>
                        <m:sub>
                          <m:r>
                            <a:rPr kumimoji="1" lang="en-US" altLang="zh-TW" sz="1800" i="1">
                              <a:latin typeface="Cambria Math" panose="02040503050406030204" pitchFamily="18" charset="0"/>
                            </a:rPr>
                            <m:t>𝑚𝑙</m:t>
                          </m:r>
                        </m:sub>
                      </m:sSub>
                      <m:r>
                        <a:rPr kumimoji="1" lang="en-US" altLang="zh-TW" sz="1800" i="1">
                          <a:latin typeface="Cambria Math" panose="02040503050406030204" pitchFamily="18" charset="0"/>
                        </a:rPr>
                        <m:t>=−</m:t>
                      </m:r>
                      <m:nary>
                        <m:naryPr>
                          <m:chr m:val="∑"/>
                          <m:ctrlPr>
                            <a:rPr kumimoji="1" lang="en-US" altLang="zh-TW" sz="18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kumimoji="1" lang="en-US" altLang="zh-TW" sz="1800" i="1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kumimoji="1" lang="en-US" altLang="zh-TW" sz="1800" i="1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sSup>
                            <m:sSupPr>
                              <m:ctrlPr>
                                <a:rPr kumimoji="1" lang="en-US" altLang="zh-TW" sz="18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kumimoji="1" lang="en-US" altLang="zh-TW" sz="1800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  <m:sup>
                              <m:r>
                                <a:rPr kumimoji="1" lang="en-US" altLang="zh-TW" sz="1800" i="1"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</m:sup>
                        <m:e>
                          <m:func>
                            <m:funcPr>
                              <m:ctrlPr>
                                <a:rPr kumimoji="1" lang="en-US" altLang="zh-TW" sz="1800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kumimoji="1" lang="en-US" altLang="zh-TW" sz="1800">
                                  <a:latin typeface="Cambria Math" panose="02040503050406030204" pitchFamily="18" charset="0"/>
                                </a:rPr>
                                <m:t>log</m:t>
                              </m:r>
                            </m:fName>
                            <m:e>
                              <m:r>
                                <a:rPr kumimoji="1" lang="en-US" altLang="zh-TW" sz="1800" i="1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  <m:r>
                                <a:rPr kumimoji="1" lang="en-US" altLang="zh-TW" sz="1800" i="1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sSub>
                                <m:sSubPr>
                                  <m:ctrlPr>
                                    <a:rPr kumimoji="1" lang="en-US" altLang="zh-TW" sz="18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kumimoji="1" lang="en-US" altLang="zh-TW" sz="18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kumimoji="1" lang="en-US" altLang="zh-TW" sz="18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sub>
                              </m:sSub>
                              <m:r>
                                <a:rPr kumimoji="1" lang="en-US" altLang="zh-TW" sz="1800" i="1">
                                  <a:latin typeface="Cambria Math" panose="02040503050406030204" pitchFamily="18" charset="0"/>
                                </a:rPr>
                                <m:t>|</m:t>
                              </m:r>
                              <m:sSub>
                                <m:sSubPr>
                                  <m:ctrlPr>
                                    <a:rPr kumimoji="1" lang="en-US" altLang="zh-TW" sz="18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kumimoji="1" lang="en-US" altLang="zh-TW" sz="18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kumimoji="1" lang="en-US" altLang="zh-TW" sz="18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kumimoji="1" lang="en-US" altLang="zh-TW" sz="1800" i="1">
                                  <a:latin typeface="Cambria Math" panose="02040503050406030204" pitchFamily="18" charset="0"/>
                                </a:rPr>
                                <m:t>,…,</m:t>
                              </m:r>
                              <m:sSub>
                                <m:sSubPr>
                                  <m:ctrlPr>
                                    <a:rPr kumimoji="1" lang="en-US" altLang="zh-TW" sz="18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kumimoji="1" lang="en-US" altLang="zh-TW" sz="18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kumimoji="1" lang="en-US" altLang="zh-TW" sz="18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  <m:r>
                                    <a:rPr kumimoji="1" lang="en-US" altLang="zh-TW" sz="18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−1</m:t>
                                  </m:r>
                                </m:sub>
                              </m:sSub>
                              <m:r>
                                <a:rPr kumimoji="1" lang="en-US" altLang="zh-TW" sz="1800" i="1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kumimoji="1" lang="en-US" altLang="zh-TW" sz="18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kumimoji="1" lang="en-US" altLang="zh-TW" sz="1800" i="1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</m:func>
                        </m:e>
                      </m:nary>
                    </m:oMath>
                  </m:oMathPara>
                </a14:m>
                <a:endParaRPr kumimoji="1" lang="zh-TW" altLang="en-US" sz="2000" dirty="0"/>
              </a:p>
            </p:txBody>
          </p:sp>
        </mc:Choice>
        <mc:Fallback xmlns="">
          <p:sp>
            <p:nvSpPr>
              <p:cNvPr id="3" name="內容版面配置區 2">
                <a:extLst>
                  <a:ext uri="{FF2B5EF4-FFF2-40B4-BE49-F238E27FC236}">
                    <a16:creationId xmlns:a16="http://schemas.microsoft.com/office/drawing/2014/main" id="{216F2A66-6AEB-E94B-9FB0-2A496826C9C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495703" y="1599427"/>
                <a:ext cx="3931721" cy="943492"/>
              </a:xfrm>
              <a:blipFill>
                <a:blip r:embed="rId3"/>
                <a:stretch>
                  <a:fillRect l="-1929" t="-88158" b="-126316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CC5BCECF-4DEC-5D4F-B1A8-5D6FE6671D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91681C-F638-B044-A8F2-A1B9864D5A40}" type="slidenum">
              <a:rPr kumimoji="1" lang="zh-TW" altLang="en-US" smtClean="0"/>
              <a:t>16</a:t>
            </a:fld>
            <a:endParaRPr kumimoji="1" lang="zh-TW" altLang="en-US" dirty="0"/>
          </a:p>
        </p:txBody>
      </p:sp>
      <p:sp>
        <p:nvSpPr>
          <p:cNvPr id="6" name="圓角矩形 5">
            <a:extLst>
              <a:ext uri="{FF2B5EF4-FFF2-40B4-BE49-F238E27FC236}">
                <a16:creationId xmlns:a16="http://schemas.microsoft.com/office/drawing/2014/main" id="{60F5CDC7-8A10-ED4C-A484-FDC970412F20}"/>
              </a:ext>
            </a:extLst>
          </p:cNvPr>
          <p:cNvSpPr/>
          <p:nvPr/>
        </p:nvSpPr>
        <p:spPr>
          <a:xfrm>
            <a:off x="1313682" y="4182863"/>
            <a:ext cx="4433985" cy="991359"/>
          </a:xfrm>
          <a:prstGeom prst="round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sz="2400" dirty="0">
                <a:solidFill>
                  <a:schemeClr val="tx1"/>
                </a:solidFill>
              </a:rPr>
              <a:t>Decoder</a:t>
            </a:r>
            <a:endParaRPr kumimoji="1" lang="zh-TW" altLang="en-US" sz="1500" dirty="0">
              <a:solidFill>
                <a:schemeClr val="tx1"/>
              </a:solidFill>
            </a:endParaRPr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0A8B4F7E-86F3-B548-BE92-DFC901BF9DD1}"/>
              </a:ext>
            </a:extLst>
          </p:cNvPr>
          <p:cNvSpPr txBox="1"/>
          <p:nvPr/>
        </p:nvSpPr>
        <p:spPr>
          <a:xfrm>
            <a:off x="1365211" y="5994130"/>
            <a:ext cx="58914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sz="1200" dirty="0"/>
              <a:t>(Start)</a:t>
            </a:r>
            <a:endParaRPr kumimoji="1" lang="zh-TW" altLang="en-US" sz="12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圓角矩形 7">
                <a:extLst>
                  <a:ext uri="{FF2B5EF4-FFF2-40B4-BE49-F238E27FC236}">
                    <a16:creationId xmlns:a16="http://schemas.microsoft.com/office/drawing/2014/main" id="{D255F287-0699-CF47-B04E-04F6E2320B5A}"/>
                  </a:ext>
                </a:extLst>
              </p:cNvPr>
              <p:cNvSpPr/>
              <p:nvPr/>
            </p:nvSpPr>
            <p:spPr>
              <a:xfrm>
                <a:off x="2129172" y="5523784"/>
                <a:ext cx="555205" cy="465107"/>
              </a:xfrm>
              <a:prstGeom prst="roundRect">
                <a:avLst/>
              </a:prstGeom>
              <a:solidFill>
                <a:srgbClr val="C5E0B4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kumimoji="1" lang="en-US" altLang="zh-TW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kumimoji="1" lang="en-US" altLang="zh-TW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kumimoji="1" lang="en-US" altLang="zh-TW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kumimoji="1" lang="en-US" altLang="zh-TW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bSup>
                    </m:oMath>
                  </m:oMathPara>
                </a14:m>
                <a:endParaRPr kumimoji="1" lang="zh-TW" alt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8" name="圓角矩形 7">
                <a:extLst>
                  <a:ext uri="{FF2B5EF4-FFF2-40B4-BE49-F238E27FC236}">
                    <a16:creationId xmlns:a16="http://schemas.microsoft.com/office/drawing/2014/main" id="{D255F287-0699-CF47-B04E-04F6E2320B5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29172" y="5523784"/>
                <a:ext cx="555205" cy="465107"/>
              </a:xfrm>
              <a:prstGeom prst="roundRect">
                <a:avLst/>
              </a:prstGeom>
              <a:blipFill>
                <a:blip r:embed="rId4"/>
                <a:stretch>
                  <a:fillRect/>
                </a:stretch>
              </a:blipFill>
              <a:ln w="19050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9" name="直線箭頭接點 8">
            <a:extLst>
              <a:ext uri="{FF2B5EF4-FFF2-40B4-BE49-F238E27FC236}">
                <a16:creationId xmlns:a16="http://schemas.microsoft.com/office/drawing/2014/main" id="{1E8BBA64-B904-434F-AD18-4CF6EB41E3C8}"/>
              </a:ext>
            </a:extLst>
          </p:cNvPr>
          <p:cNvCxnSpPr>
            <a:cxnSpLocks/>
          </p:cNvCxnSpPr>
          <p:nvPr/>
        </p:nvCxnSpPr>
        <p:spPr>
          <a:xfrm flipV="1">
            <a:off x="1677723" y="3869528"/>
            <a:ext cx="0" cy="242085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線箭頭接點 10">
            <a:extLst>
              <a:ext uri="{FF2B5EF4-FFF2-40B4-BE49-F238E27FC236}">
                <a16:creationId xmlns:a16="http://schemas.microsoft.com/office/drawing/2014/main" id="{3CB9954B-DF93-9C42-99E2-E4BDD8806A07}"/>
              </a:ext>
            </a:extLst>
          </p:cNvPr>
          <p:cNvCxnSpPr>
            <a:cxnSpLocks/>
          </p:cNvCxnSpPr>
          <p:nvPr/>
        </p:nvCxnSpPr>
        <p:spPr>
          <a:xfrm flipV="1">
            <a:off x="2400138" y="3869528"/>
            <a:ext cx="0" cy="242085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線箭頭接點 12">
            <a:extLst>
              <a:ext uri="{FF2B5EF4-FFF2-40B4-BE49-F238E27FC236}">
                <a16:creationId xmlns:a16="http://schemas.microsoft.com/office/drawing/2014/main" id="{A1BF625C-7E67-F344-8028-443D04FA342D}"/>
              </a:ext>
            </a:extLst>
          </p:cNvPr>
          <p:cNvCxnSpPr>
            <a:cxnSpLocks/>
          </p:cNvCxnSpPr>
          <p:nvPr/>
        </p:nvCxnSpPr>
        <p:spPr>
          <a:xfrm flipV="1">
            <a:off x="5327413" y="3869528"/>
            <a:ext cx="0" cy="242085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線箭頭接點 14">
            <a:extLst>
              <a:ext uri="{FF2B5EF4-FFF2-40B4-BE49-F238E27FC236}">
                <a16:creationId xmlns:a16="http://schemas.microsoft.com/office/drawing/2014/main" id="{B677AB22-B124-E04E-8037-43329EA78AE7}"/>
              </a:ext>
            </a:extLst>
          </p:cNvPr>
          <p:cNvCxnSpPr>
            <a:cxnSpLocks/>
          </p:cNvCxnSpPr>
          <p:nvPr/>
        </p:nvCxnSpPr>
        <p:spPr>
          <a:xfrm flipV="1">
            <a:off x="4604998" y="3869528"/>
            <a:ext cx="0" cy="242085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文字方塊 15">
            <a:extLst>
              <a:ext uri="{FF2B5EF4-FFF2-40B4-BE49-F238E27FC236}">
                <a16:creationId xmlns:a16="http://schemas.microsoft.com/office/drawing/2014/main" id="{39D0C40D-D879-AE44-B34D-85BB7FF857B0}"/>
              </a:ext>
            </a:extLst>
          </p:cNvPr>
          <p:cNvSpPr txBox="1"/>
          <p:nvPr/>
        </p:nvSpPr>
        <p:spPr>
          <a:xfrm>
            <a:off x="3181828" y="3351610"/>
            <a:ext cx="84630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sz="2400" dirty="0"/>
              <a:t>……</a:t>
            </a:r>
            <a:endParaRPr kumimoji="1" lang="zh-TW" altLang="en-US" sz="2400" dirty="0"/>
          </a:p>
        </p:txBody>
      </p:sp>
      <p:sp>
        <p:nvSpPr>
          <p:cNvPr id="17" name="圓角矩形 16">
            <a:extLst>
              <a:ext uri="{FF2B5EF4-FFF2-40B4-BE49-F238E27FC236}">
                <a16:creationId xmlns:a16="http://schemas.microsoft.com/office/drawing/2014/main" id="{CB1826D8-8C83-3E4A-83B8-A43DBD74178A}"/>
              </a:ext>
            </a:extLst>
          </p:cNvPr>
          <p:cNvSpPr/>
          <p:nvPr/>
        </p:nvSpPr>
        <p:spPr>
          <a:xfrm>
            <a:off x="1400119" y="5527279"/>
            <a:ext cx="555205" cy="465107"/>
          </a:xfrm>
          <a:prstGeom prst="roundRect">
            <a:avLst/>
          </a:prstGeom>
          <a:solidFill>
            <a:schemeClr val="bg2">
              <a:lumMod val="9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dirty="0">
                <a:solidFill>
                  <a:schemeClr val="tx1"/>
                </a:solidFill>
              </a:rPr>
              <a:t>_</a:t>
            </a:r>
            <a:endParaRPr kumimoji="1" lang="zh-TW" altLang="en-US" dirty="0">
              <a:solidFill>
                <a:schemeClr val="tx1"/>
              </a:solidFill>
            </a:endParaRPr>
          </a:p>
        </p:txBody>
      </p:sp>
      <p:cxnSp>
        <p:nvCxnSpPr>
          <p:cNvPr id="18" name="直線箭頭接點 17">
            <a:extLst>
              <a:ext uri="{FF2B5EF4-FFF2-40B4-BE49-F238E27FC236}">
                <a16:creationId xmlns:a16="http://schemas.microsoft.com/office/drawing/2014/main" id="{46A128E1-B81C-A949-8974-350D2D4DFD96}"/>
              </a:ext>
            </a:extLst>
          </p:cNvPr>
          <p:cNvCxnSpPr>
            <a:cxnSpLocks/>
          </p:cNvCxnSpPr>
          <p:nvPr/>
        </p:nvCxnSpPr>
        <p:spPr>
          <a:xfrm flipV="1">
            <a:off x="1677723" y="5225714"/>
            <a:ext cx="0" cy="242085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線箭頭接點 19">
            <a:extLst>
              <a:ext uri="{FF2B5EF4-FFF2-40B4-BE49-F238E27FC236}">
                <a16:creationId xmlns:a16="http://schemas.microsoft.com/office/drawing/2014/main" id="{1726EC4C-85C5-724E-A2CE-B56A0259C379}"/>
              </a:ext>
            </a:extLst>
          </p:cNvPr>
          <p:cNvCxnSpPr>
            <a:cxnSpLocks/>
          </p:cNvCxnSpPr>
          <p:nvPr/>
        </p:nvCxnSpPr>
        <p:spPr>
          <a:xfrm flipV="1">
            <a:off x="2400137" y="5225714"/>
            <a:ext cx="0" cy="242085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直線箭頭接點 21">
            <a:extLst>
              <a:ext uri="{FF2B5EF4-FFF2-40B4-BE49-F238E27FC236}">
                <a16:creationId xmlns:a16="http://schemas.microsoft.com/office/drawing/2014/main" id="{3442DB7B-151A-7E42-ACFB-03682A1240C9}"/>
              </a:ext>
            </a:extLst>
          </p:cNvPr>
          <p:cNvCxnSpPr>
            <a:cxnSpLocks/>
          </p:cNvCxnSpPr>
          <p:nvPr/>
        </p:nvCxnSpPr>
        <p:spPr>
          <a:xfrm flipV="1">
            <a:off x="4604997" y="5222219"/>
            <a:ext cx="0" cy="242085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直線箭頭接點 23">
            <a:extLst>
              <a:ext uri="{FF2B5EF4-FFF2-40B4-BE49-F238E27FC236}">
                <a16:creationId xmlns:a16="http://schemas.microsoft.com/office/drawing/2014/main" id="{986DAF03-A479-3C4C-A277-75B510491070}"/>
              </a:ext>
            </a:extLst>
          </p:cNvPr>
          <p:cNvCxnSpPr>
            <a:cxnSpLocks/>
          </p:cNvCxnSpPr>
          <p:nvPr/>
        </p:nvCxnSpPr>
        <p:spPr>
          <a:xfrm flipV="1">
            <a:off x="5327411" y="5222219"/>
            <a:ext cx="0" cy="242085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文字方塊 24">
            <a:extLst>
              <a:ext uri="{FF2B5EF4-FFF2-40B4-BE49-F238E27FC236}">
                <a16:creationId xmlns:a16="http://schemas.microsoft.com/office/drawing/2014/main" id="{AA871436-8E8C-FE45-B268-4390C72224B9}"/>
              </a:ext>
            </a:extLst>
          </p:cNvPr>
          <p:cNvSpPr txBox="1"/>
          <p:nvPr/>
        </p:nvSpPr>
        <p:spPr>
          <a:xfrm>
            <a:off x="3179078" y="5418495"/>
            <a:ext cx="84630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sz="2400" dirty="0"/>
              <a:t>……</a:t>
            </a:r>
            <a:endParaRPr kumimoji="1" lang="zh-TW" altLang="en-US" sz="2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5" name="圓角矩形 54">
                <a:extLst>
                  <a:ext uri="{FF2B5EF4-FFF2-40B4-BE49-F238E27FC236}">
                    <a16:creationId xmlns:a16="http://schemas.microsoft.com/office/drawing/2014/main" id="{5A598325-959A-2542-BDC8-61B33AF51535}"/>
                  </a:ext>
                </a:extLst>
              </p:cNvPr>
              <p:cNvSpPr/>
              <p:nvPr/>
            </p:nvSpPr>
            <p:spPr>
              <a:xfrm>
                <a:off x="4325502" y="5520145"/>
                <a:ext cx="555205" cy="465107"/>
              </a:xfrm>
              <a:prstGeom prst="roundRect">
                <a:avLst/>
              </a:prstGeom>
              <a:solidFill>
                <a:srgbClr val="C5E0B4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kumimoji="1" lang="en-US" altLang="zh-TW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kumimoji="1" lang="en-US" altLang="zh-TW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kumimoji="1" lang="en-US" altLang="zh-TW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kumimoji="1" lang="en-US" altLang="zh-TW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−2</m:t>
                          </m:r>
                        </m:sub>
                        <m:sup>
                          <m:r>
                            <a:rPr kumimoji="1" lang="en-US" altLang="zh-TW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bSup>
                    </m:oMath>
                  </m:oMathPara>
                </a14:m>
                <a:endParaRPr kumimoji="1" lang="zh-TW" alt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55" name="圓角矩形 54">
                <a:extLst>
                  <a:ext uri="{FF2B5EF4-FFF2-40B4-BE49-F238E27FC236}">
                    <a16:creationId xmlns:a16="http://schemas.microsoft.com/office/drawing/2014/main" id="{5A598325-959A-2542-BDC8-61B33AF5153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25502" y="5520145"/>
                <a:ext cx="555205" cy="465107"/>
              </a:xfrm>
              <a:prstGeom prst="roundRect">
                <a:avLst/>
              </a:prstGeom>
              <a:blipFill>
                <a:blip r:embed="rId5"/>
                <a:stretch>
                  <a:fillRect l="-8696"/>
                </a:stretch>
              </a:blipFill>
              <a:ln w="19050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7" name="圓角矩形 56">
                <a:extLst>
                  <a:ext uri="{FF2B5EF4-FFF2-40B4-BE49-F238E27FC236}">
                    <a16:creationId xmlns:a16="http://schemas.microsoft.com/office/drawing/2014/main" id="{77528BE3-CD70-3543-9AFF-502DBBA196CD}"/>
                  </a:ext>
                </a:extLst>
              </p:cNvPr>
              <p:cNvSpPr/>
              <p:nvPr/>
            </p:nvSpPr>
            <p:spPr>
              <a:xfrm>
                <a:off x="5052499" y="5527279"/>
                <a:ext cx="555205" cy="465107"/>
              </a:xfrm>
              <a:prstGeom prst="roundRect">
                <a:avLst/>
              </a:prstGeom>
              <a:solidFill>
                <a:srgbClr val="C5E0B4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kumimoji="1" lang="en-US" altLang="zh-TW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kumimoji="1" lang="en-US" altLang="zh-TW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kumimoji="1" lang="en-US" altLang="zh-TW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kumimoji="1" lang="en-US" altLang="zh-TW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−1</m:t>
                          </m:r>
                        </m:sub>
                        <m:sup>
                          <m:r>
                            <a:rPr kumimoji="1" lang="en-US" altLang="zh-TW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bSup>
                    </m:oMath>
                  </m:oMathPara>
                </a14:m>
                <a:endParaRPr kumimoji="1" lang="zh-TW" alt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57" name="圓角矩形 56">
                <a:extLst>
                  <a:ext uri="{FF2B5EF4-FFF2-40B4-BE49-F238E27FC236}">
                    <a16:creationId xmlns:a16="http://schemas.microsoft.com/office/drawing/2014/main" id="{77528BE3-CD70-3543-9AFF-502DBBA196C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52499" y="5527279"/>
                <a:ext cx="555205" cy="465107"/>
              </a:xfrm>
              <a:prstGeom prst="roundRect">
                <a:avLst/>
              </a:prstGeom>
              <a:blipFill>
                <a:blip r:embed="rId6"/>
                <a:stretch>
                  <a:fillRect l="-6522"/>
                </a:stretch>
              </a:blipFill>
              <a:ln w="19050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9" name="圓角矩形 58">
                <a:extLst>
                  <a:ext uri="{FF2B5EF4-FFF2-40B4-BE49-F238E27FC236}">
                    <a16:creationId xmlns:a16="http://schemas.microsoft.com/office/drawing/2014/main" id="{79B44CDE-B328-E044-964D-033066EBB833}"/>
                  </a:ext>
                </a:extLst>
              </p:cNvPr>
              <p:cNvSpPr/>
              <p:nvPr/>
            </p:nvSpPr>
            <p:spPr>
              <a:xfrm>
                <a:off x="4330087" y="3357600"/>
                <a:ext cx="555203" cy="465105"/>
              </a:xfrm>
              <a:prstGeom prst="roundRect">
                <a:avLst/>
              </a:prstGeom>
              <a:solidFill>
                <a:schemeClr val="bg2">
                  <a:lumMod val="90000"/>
                </a:schemeClr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zh-TW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kumimoji="1" lang="en-US" altLang="zh-TW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kumimoji="1" lang="en-US" altLang="zh-TW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acc>
                        </m:e>
                        <m:sub>
                          <m:r>
                            <a:rPr kumimoji="1" lang="en-US" altLang="zh-TW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kumimoji="1" lang="en-US" altLang="zh-TW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−1</m:t>
                          </m:r>
                        </m:sub>
                      </m:sSub>
                    </m:oMath>
                  </m:oMathPara>
                </a14:m>
                <a:endParaRPr kumimoji="1" lang="zh-TW" alt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59" name="圓角矩形 58">
                <a:extLst>
                  <a:ext uri="{FF2B5EF4-FFF2-40B4-BE49-F238E27FC236}">
                    <a16:creationId xmlns:a16="http://schemas.microsoft.com/office/drawing/2014/main" id="{79B44CDE-B328-E044-964D-033066EBB83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30087" y="3357600"/>
                <a:ext cx="555203" cy="465105"/>
              </a:xfrm>
              <a:prstGeom prst="roundRect">
                <a:avLst/>
              </a:prstGeom>
              <a:blipFill>
                <a:blip r:embed="rId7"/>
                <a:stretch>
                  <a:fillRect l="-6522"/>
                </a:stretch>
              </a:blipFill>
              <a:ln w="19050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3" name="圓角矩形 72">
                <a:extLst>
                  <a:ext uri="{FF2B5EF4-FFF2-40B4-BE49-F238E27FC236}">
                    <a16:creationId xmlns:a16="http://schemas.microsoft.com/office/drawing/2014/main" id="{65EBA6B1-4887-204B-A9B8-2F5775D545C2}"/>
                  </a:ext>
                </a:extLst>
              </p:cNvPr>
              <p:cNvSpPr/>
              <p:nvPr/>
            </p:nvSpPr>
            <p:spPr>
              <a:xfrm>
                <a:off x="5052501" y="3355535"/>
                <a:ext cx="555203" cy="465105"/>
              </a:xfrm>
              <a:prstGeom prst="roundRect">
                <a:avLst/>
              </a:prstGeom>
              <a:solidFill>
                <a:schemeClr val="bg2">
                  <a:lumMod val="90000"/>
                </a:schemeClr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zh-TW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kumimoji="1" lang="en-US" altLang="zh-TW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kumimoji="1" lang="en-US" altLang="zh-TW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acc>
                        </m:e>
                        <m:sub>
                          <m:r>
                            <a:rPr kumimoji="1" lang="en-US" altLang="zh-TW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</m:oMath>
                  </m:oMathPara>
                </a14:m>
                <a:endParaRPr kumimoji="1" lang="zh-TW" alt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73" name="圓角矩形 72">
                <a:extLst>
                  <a:ext uri="{FF2B5EF4-FFF2-40B4-BE49-F238E27FC236}">
                    <a16:creationId xmlns:a16="http://schemas.microsoft.com/office/drawing/2014/main" id="{65EBA6B1-4887-204B-A9B8-2F5775D545C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52501" y="3355535"/>
                <a:ext cx="555203" cy="465105"/>
              </a:xfrm>
              <a:prstGeom prst="roundRect">
                <a:avLst/>
              </a:prstGeom>
              <a:blipFill>
                <a:blip r:embed="rId8"/>
                <a:stretch>
                  <a:fillRect/>
                </a:stretch>
              </a:blipFill>
              <a:ln w="19050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4" name="圓角矩形 73">
                <a:extLst>
                  <a:ext uri="{FF2B5EF4-FFF2-40B4-BE49-F238E27FC236}">
                    <a16:creationId xmlns:a16="http://schemas.microsoft.com/office/drawing/2014/main" id="{7A730307-E26B-2545-A2FE-5AD1481BCAD5}"/>
                  </a:ext>
                </a:extLst>
              </p:cNvPr>
              <p:cNvSpPr/>
              <p:nvPr/>
            </p:nvSpPr>
            <p:spPr>
              <a:xfrm>
                <a:off x="1400119" y="3344943"/>
                <a:ext cx="555203" cy="465105"/>
              </a:xfrm>
              <a:prstGeom prst="roundRect">
                <a:avLst/>
              </a:prstGeom>
              <a:solidFill>
                <a:schemeClr val="bg2">
                  <a:lumMod val="90000"/>
                </a:schemeClr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zh-TW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kumimoji="1" lang="en-US" altLang="zh-TW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kumimoji="1" lang="en-US" altLang="zh-TW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acc>
                        </m:e>
                        <m:sub>
                          <m:r>
                            <a:rPr kumimoji="1" lang="en-US" altLang="zh-TW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kumimoji="1" lang="zh-TW" alt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74" name="圓角矩形 73">
                <a:extLst>
                  <a:ext uri="{FF2B5EF4-FFF2-40B4-BE49-F238E27FC236}">
                    <a16:creationId xmlns:a16="http://schemas.microsoft.com/office/drawing/2014/main" id="{7A730307-E26B-2545-A2FE-5AD1481BCAD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00119" y="3344943"/>
                <a:ext cx="555203" cy="465105"/>
              </a:xfrm>
              <a:prstGeom prst="roundRect">
                <a:avLst/>
              </a:prstGeom>
              <a:blipFill>
                <a:blip r:embed="rId9"/>
                <a:stretch>
                  <a:fillRect/>
                </a:stretch>
              </a:blipFill>
              <a:ln w="19050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5" name="圓角矩形 74">
                <a:extLst>
                  <a:ext uri="{FF2B5EF4-FFF2-40B4-BE49-F238E27FC236}">
                    <a16:creationId xmlns:a16="http://schemas.microsoft.com/office/drawing/2014/main" id="{20ADE35F-3077-2B43-8474-10B7BCBD9592}"/>
                  </a:ext>
                </a:extLst>
              </p:cNvPr>
              <p:cNvSpPr/>
              <p:nvPr/>
            </p:nvSpPr>
            <p:spPr>
              <a:xfrm>
                <a:off x="2129173" y="3354759"/>
                <a:ext cx="555203" cy="465105"/>
              </a:xfrm>
              <a:prstGeom prst="roundRect">
                <a:avLst/>
              </a:prstGeom>
              <a:solidFill>
                <a:schemeClr val="bg2">
                  <a:lumMod val="90000"/>
                </a:schemeClr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zh-TW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kumimoji="1" lang="en-US" altLang="zh-TW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kumimoji="1" lang="en-US" altLang="zh-TW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acc>
                        </m:e>
                        <m:sub>
                          <m:r>
                            <a:rPr kumimoji="1" lang="en-US" altLang="zh-TW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kumimoji="1" lang="zh-TW" alt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75" name="圓角矩形 74">
                <a:extLst>
                  <a:ext uri="{FF2B5EF4-FFF2-40B4-BE49-F238E27FC236}">
                    <a16:creationId xmlns:a16="http://schemas.microsoft.com/office/drawing/2014/main" id="{20ADE35F-3077-2B43-8474-10B7BCBD959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29173" y="3354759"/>
                <a:ext cx="555203" cy="465105"/>
              </a:xfrm>
              <a:prstGeom prst="roundRect">
                <a:avLst/>
              </a:prstGeom>
              <a:blipFill>
                <a:blip r:embed="rId10"/>
                <a:stretch>
                  <a:fillRect/>
                </a:stretch>
              </a:blipFill>
              <a:ln w="19050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0" name="圓角矩形 79">
                <a:extLst>
                  <a:ext uri="{FF2B5EF4-FFF2-40B4-BE49-F238E27FC236}">
                    <a16:creationId xmlns:a16="http://schemas.microsoft.com/office/drawing/2014/main" id="{F0ECB34C-66A1-A548-9FC2-65BA6C0AC462}"/>
                  </a:ext>
                </a:extLst>
              </p:cNvPr>
              <p:cNvSpPr/>
              <p:nvPr/>
            </p:nvSpPr>
            <p:spPr>
              <a:xfrm>
                <a:off x="6960450" y="4406444"/>
                <a:ext cx="555205" cy="465107"/>
              </a:xfrm>
              <a:prstGeom prst="roundRect">
                <a:avLst/>
              </a:prstGeom>
              <a:solidFill>
                <a:srgbClr val="C5E0B4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zh-TW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TW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kumimoji="1" lang="en-US" altLang="zh-TW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kumimoji="1" lang="zh-TW" altLang="en-US" baseline="-25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80" name="圓角矩形 79">
                <a:extLst>
                  <a:ext uri="{FF2B5EF4-FFF2-40B4-BE49-F238E27FC236}">
                    <a16:creationId xmlns:a16="http://schemas.microsoft.com/office/drawing/2014/main" id="{F0ECB34C-66A1-A548-9FC2-65BA6C0AC46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60450" y="4406444"/>
                <a:ext cx="555205" cy="465107"/>
              </a:xfrm>
              <a:prstGeom prst="roundRect">
                <a:avLst/>
              </a:prstGeom>
              <a:blipFill>
                <a:blip r:embed="rId11"/>
                <a:stretch>
                  <a:fillRect/>
                </a:stretch>
              </a:blipFill>
              <a:ln w="19050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1" name="文字方塊 80">
            <a:extLst>
              <a:ext uri="{FF2B5EF4-FFF2-40B4-BE49-F238E27FC236}">
                <a16:creationId xmlns:a16="http://schemas.microsoft.com/office/drawing/2014/main" id="{D8475631-6E7B-E34D-A083-830F8C6A866C}"/>
              </a:ext>
            </a:extLst>
          </p:cNvPr>
          <p:cNvSpPr txBox="1"/>
          <p:nvPr/>
        </p:nvSpPr>
        <p:spPr>
          <a:xfrm>
            <a:off x="8414115" y="4313030"/>
            <a:ext cx="84630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sz="2400" dirty="0"/>
              <a:t>……</a:t>
            </a:r>
            <a:endParaRPr kumimoji="1" lang="zh-TW" altLang="en-US" sz="2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2" name="圓角矩形 81">
                <a:extLst>
                  <a:ext uri="{FF2B5EF4-FFF2-40B4-BE49-F238E27FC236}">
                    <a16:creationId xmlns:a16="http://schemas.microsoft.com/office/drawing/2014/main" id="{B165F2DE-53CE-A645-A941-2FF98C71F602}"/>
                  </a:ext>
                </a:extLst>
              </p:cNvPr>
              <p:cNvSpPr/>
              <p:nvPr/>
            </p:nvSpPr>
            <p:spPr>
              <a:xfrm>
                <a:off x="9156780" y="4402805"/>
                <a:ext cx="555205" cy="465107"/>
              </a:xfrm>
              <a:prstGeom prst="roundRect">
                <a:avLst/>
              </a:prstGeom>
              <a:solidFill>
                <a:srgbClr val="C5E0B4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zh-TW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TW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kumimoji="1" lang="en-US" altLang="zh-TW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kumimoji="1" lang="en-US" altLang="zh-TW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−1</m:t>
                          </m:r>
                        </m:sub>
                      </m:sSub>
                    </m:oMath>
                  </m:oMathPara>
                </a14:m>
                <a:endParaRPr kumimoji="1" lang="zh-TW" altLang="en-US" baseline="-25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82" name="圓角矩形 81">
                <a:extLst>
                  <a:ext uri="{FF2B5EF4-FFF2-40B4-BE49-F238E27FC236}">
                    <a16:creationId xmlns:a16="http://schemas.microsoft.com/office/drawing/2014/main" id="{B165F2DE-53CE-A645-A941-2FF98C71F60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56780" y="4402805"/>
                <a:ext cx="555205" cy="465107"/>
              </a:xfrm>
              <a:prstGeom prst="roundRect">
                <a:avLst/>
              </a:prstGeom>
              <a:blipFill>
                <a:blip r:embed="rId12"/>
                <a:stretch>
                  <a:fillRect l="-4348"/>
                </a:stretch>
              </a:blipFill>
              <a:ln w="19050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3" name="圓角矩形 82">
                <a:extLst>
                  <a:ext uri="{FF2B5EF4-FFF2-40B4-BE49-F238E27FC236}">
                    <a16:creationId xmlns:a16="http://schemas.microsoft.com/office/drawing/2014/main" id="{165DB2C1-CC3F-3D4E-ACF5-B081D5C76F1E}"/>
                  </a:ext>
                </a:extLst>
              </p:cNvPr>
              <p:cNvSpPr/>
              <p:nvPr/>
            </p:nvSpPr>
            <p:spPr>
              <a:xfrm>
                <a:off x="9895546" y="4400788"/>
                <a:ext cx="555205" cy="465107"/>
              </a:xfrm>
              <a:prstGeom prst="roundRect">
                <a:avLst/>
              </a:prstGeom>
              <a:solidFill>
                <a:srgbClr val="C5E0B4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zh-TW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TW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kumimoji="1" lang="en-US" altLang="zh-TW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</m:oMath>
                  </m:oMathPara>
                </a14:m>
                <a:endParaRPr kumimoji="1" lang="zh-TW" altLang="en-US" baseline="-25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83" name="圓角矩形 82">
                <a:extLst>
                  <a:ext uri="{FF2B5EF4-FFF2-40B4-BE49-F238E27FC236}">
                    <a16:creationId xmlns:a16="http://schemas.microsoft.com/office/drawing/2014/main" id="{165DB2C1-CC3F-3D4E-ACF5-B081D5C76F1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95546" y="4400788"/>
                <a:ext cx="555205" cy="465107"/>
              </a:xfrm>
              <a:prstGeom prst="roundRect">
                <a:avLst/>
              </a:prstGeom>
              <a:blipFill>
                <a:blip r:embed="rId13"/>
                <a:stretch>
                  <a:fillRect/>
                </a:stretch>
              </a:blipFill>
              <a:ln w="19050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文字方塊 4">
            <a:extLst>
              <a:ext uri="{FF2B5EF4-FFF2-40B4-BE49-F238E27FC236}">
                <a16:creationId xmlns:a16="http://schemas.microsoft.com/office/drawing/2014/main" id="{48B0EC82-31AE-6C42-B240-4280F598BB33}"/>
              </a:ext>
            </a:extLst>
          </p:cNvPr>
          <p:cNvSpPr txBox="1"/>
          <p:nvPr/>
        </p:nvSpPr>
        <p:spPr>
          <a:xfrm>
            <a:off x="1313682" y="1908237"/>
            <a:ext cx="266017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sz="2000" b="1" dirty="0">
                <a:solidFill>
                  <a:srgbClr val="FF0000"/>
                </a:solidFill>
              </a:rPr>
              <a:t>During training:</a:t>
            </a:r>
            <a:endParaRPr kumimoji="1" lang="zh-TW" altLang="en-US" sz="2000" b="1" dirty="0">
              <a:solidFill>
                <a:srgbClr val="FF000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4" name="圓角矩形 83">
                <a:extLst>
                  <a:ext uri="{FF2B5EF4-FFF2-40B4-BE49-F238E27FC236}">
                    <a16:creationId xmlns:a16="http://schemas.microsoft.com/office/drawing/2014/main" id="{AD19FF6C-9C71-7E45-BD27-CEEEBD9F25B2}"/>
                  </a:ext>
                </a:extLst>
              </p:cNvPr>
              <p:cNvSpPr/>
              <p:nvPr/>
            </p:nvSpPr>
            <p:spPr>
              <a:xfrm>
                <a:off x="7710237" y="4409939"/>
                <a:ext cx="555205" cy="465107"/>
              </a:xfrm>
              <a:prstGeom prst="roundRect">
                <a:avLst/>
              </a:prstGeom>
              <a:solidFill>
                <a:srgbClr val="C5E0B4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TW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kumimoji="1" lang="en-US" altLang="zh-TW" b="0" i="1" baseline="-2500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</m:oMath>
                  </m:oMathPara>
                </a14:m>
                <a:endParaRPr kumimoji="1" lang="zh-TW" altLang="en-US" baseline="-25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84" name="圓角矩形 83">
                <a:extLst>
                  <a:ext uri="{FF2B5EF4-FFF2-40B4-BE49-F238E27FC236}">
                    <a16:creationId xmlns:a16="http://schemas.microsoft.com/office/drawing/2014/main" id="{AD19FF6C-9C71-7E45-BD27-CEEEBD9F25B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10237" y="4409939"/>
                <a:ext cx="555205" cy="465107"/>
              </a:xfrm>
              <a:prstGeom prst="roundRect">
                <a:avLst/>
              </a:prstGeom>
              <a:blipFill>
                <a:blip r:embed="rId14"/>
                <a:stretch>
                  <a:fillRect/>
                </a:stretch>
              </a:blipFill>
              <a:ln w="19050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6" name="肘形接點 35">
            <a:extLst>
              <a:ext uri="{FF2B5EF4-FFF2-40B4-BE49-F238E27FC236}">
                <a16:creationId xmlns:a16="http://schemas.microsoft.com/office/drawing/2014/main" id="{4CD3AD9E-6DE6-D149-9455-E2E9A0DEF0A7}"/>
              </a:ext>
            </a:extLst>
          </p:cNvPr>
          <p:cNvCxnSpPr>
            <a:stCxn id="74" idx="0"/>
            <a:endCxn id="80" idx="0"/>
          </p:cNvCxnSpPr>
          <p:nvPr/>
        </p:nvCxnSpPr>
        <p:spPr>
          <a:xfrm rot="16200000" flipH="1">
            <a:off x="3927136" y="1095527"/>
            <a:ext cx="1061501" cy="5560332"/>
          </a:xfrm>
          <a:prstGeom prst="bentConnector3">
            <a:avLst>
              <a:gd name="adj1" fmla="val -23774"/>
            </a:avLst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肘形接點 38">
            <a:extLst>
              <a:ext uri="{FF2B5EF4-FFF2-40B4-BE49-F238E27FC236}">
                <a16:creationId xmlns:a16="http://schemas.microsoft.com/office/drawing/2014/main" id="{883F8233-787F-1B46-A9A4-C102F4640176}"/>
              </a:ext>
            </a:extLst>
          </p:cNvPr>
          <p:cNvCxnSpPr>
            <a:stCxn id="75" idx="0"/>
            <a:endCxn id="84" idx="0"/>
          </p:cNvCxnSpPr>
          <p:nvPr/>
        </p:nvCxnSpPr>
        <p:spPr>
          <a:xfrm rot="16200000" flipH="1">
            <a:off x="4669717" y="1091817"/>
            <a:ext cx="1055180" cy="5581065"/>
          </a:xfrm>
          <a:prstGeom prst="bentConnector3">
            <a:avLst>
              <a:gd name="adj1" fmla="val -45299"/>
            </a:avLst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肘形接點 43">
            <a:extLst>
              <a:ext uri="{FF2B5EF4-FFF2-40B4-BE49-F238E27FC236}">
                <a16:creationId xmlns:a16="http://schemas.microsoft.com/office/drawing/2014/main" id="{5ED05CEE-25ED-214B-955D-EA8641050653}"/>
              </a:ext>
            </a:extLst>
          </p:cNvPr>
          <p:cNvCxnSpPr>
            <a:cxnSpLocks/>
            <a:stCxn id="59" idx="0"/>
            <a:endCxn id="82" idx="0"/>
          </p:cNvCxnSpPr>
          <p:nvPr/>
        </p:nvCxnSpPr>
        <p:spPr>
          <a:xfrm rot="16200000" flipH="1">
            <a:off x="6498433" y="1466855"/>
            <a:ext cx="1045205" cy="4826694"/>
          </a:xfrm>
          <a:prstGeom prst="bentConnector3">
            <a:avLst>
              <a:gd name="adj1" fmla="val -66182"/>
            </a:avLst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" name="肘形接點 84">
            <a:extLst>
              <a:ext uri="{FF2B5EF4-FFF2-40B4-BE49-F238E27FC236}">
                <a16:creationId xmlns:a16="http://schemas.microsoft.com/office/drawing/2014/main" id="{EA66705F-AF3E-134F-9189-4F1E16241373}"/>
              </a:ext>
            </a:extLst>
          </p:cNvPr>
          <p:cNvCxnSpPr>
            <a:stCxn id="73" idx="0"/>
            <a:endCxn id="83" idx="0"/>
          </p:cNvCxnSpPr>
          <p:nvPr/>
        </p:nvCxnSpPr>
        <p:spPr>
          <a:xfrm rot="16200000" flipH="1">
            <a:off x="7228999" y="1456638"/>
            <a:ext cx="1045253" cy="4843046"/>
          </a:xfrm>
          <a:prstGeom prst="bentConnector3">
            <a:avLst>
              <a:gd name="adj1" fmla="val -88901"/>
            </a:avLst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7" name="文字方塊 86">
            <a:extLst>
              <a:ext uri="{FF2B5EF4-FFF2-40B4-BE49-F238E27FC236}">
                <a16:creationId xmlns:a16="http://schemas.microsoft.com/office/drawing/2014/main" id="{265D9F96-E9B5-684D-8CA4-6C11F9013BDA}"/>
              </a:ext>
            </a:extLst>
          </p:cNvPr>
          <p:cNvSpPr txBox="1"/>
          <p:nvPr/>
        </p:nvSpPr>
        <p:spPr>
          <a:xfrm>
            <a:off x="7605139" y="5023283"/>
            <a:ext cx="24036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TW" b="1" dirty="0"/>
              <a:t>Ground truth sequence</a:t>
            </a:r>
            <a:endParaRPr kumimoji="1" lang="zh-TW" altLang="en-US" b="1" dirty="0"/>
          </a:p>
        </p:txBody>
      </p:sp>
    </p:spTree>
    <p:extLst>
      <p:ext uri="{BB962C8B-B14F-4D97-AF65-F5344CB8AC3E}">
        <p14:creationId xmlns:p14="http://schemas.microsoft.com/office/powerpoint/2010/main" val="74131963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FACBC92-F134-0540-8676-38FF753360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en-US" altLang="zh-TW" dirty="0"/>
              <a:t>Teacher Forcing – Testing Time</a:t>
            </a:r>
            <a:endParaRPr kumimoji="1"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CC5BCECF-4DEC-5D4F-B1A8-5D6FE6671D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91681C-F638-B044-A8F2-A1B9864D5A40}" type="slidenum">
              <a:rPr kumimoji="1" lang="zh-TW" altLang="en-US" smtClean="0"/>
              <a:t>17</a:t>
            </a:fld>
            <a:endParaRPr kumimoji="1" lang="zh-TW" altLang="en-US" dirty="0"/>
          </a:p>
        </p:txBody>
      </p:sp>
      <p:sp>
        <p:nvSpPr>
          <p:cNvPr id="76" name="文字方塊 75">
            <a:extLst>
              <a:ext uri="{FF2B5EF4-FFF2-40B4-BE49-F238E27FC236}">
                <a16:creationId xmlns:a16="http://schemas.microsoft.com/office/drawing/2014/main" id="{75851F64-08AB-AD44-99A1-CAD187DBDF2A}"/>
              </a:ext>
            </a:extLst>
          </p:cNvPr>
          <p:cNvSpPr txBox="1"/>
          <p:nvPr/>
        </p:nvSpPr>
        <p:spPr>
          <a:xfrm>
            <a:off x="1313682" y="1908237"/>
            <a:ext cx="266017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sz="2000" b="1" dirty="0">
                <a:solidFill>
                  <a:srgbClr val="FF0000"/>
                </a:solidFill>
              </a:rPr>
              <a:t>During testing:</a:t>
            </a:r>
            <a:endParaRPr kumimoji="1" lang="zh-TW" altLang="en-US" sz="2000" b="1" dirty="0">
              <a:solidFill>
                <a:srgbClr val="FF0000"/>
              </a:solidFill>
            </a:endParaRPr>
          </a:p>
        </p:txBody>
      </p:sp>
      <p:sp>
        <p:nvSpPr>
          <p:cNvPr id="77" name="圓角矩形 76">
            <a:extLst>
              <a:ext uri="{FF2B5EF4-FFF2-40B4-BE49-F238E27FC236}">
                <a16:creationId xmlns:a16="http://schemas.microsoft.com/office/drawing/2014/main" id="{0287673B-ECCD-8449-BED4-A3F511F56C09}"/>
              </a:ext>
            </a:extLst>
          </p:cNvPr>
          <p:cNvSpPr/>
          <p:nvPr/>
        </p:nvSpPr>
        <p:spPr>
          <a:xfrm>
            <a:off x="1313682" y="4182868"/>
            <a:ext cx="4433985" cy="991359"/>
          </a:xfrm>
          <a:prstGeom prst="round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sz="2400" dirty="0">
                <a:solidFill>
                  <a:schemeClr val="tx1"/>
                </a:solidFill>
              </a:rPr>
              <a:t>Decoder</a:t>
            </a:r>
            <a:endParaRPr kumimoji="1" lang="zh-TW" altLang="en-US" sz="1500" dirty="0">
              <a:solidFill>
                <a:schemeClr val="tx1"/>
              </a:solidFill>
            </a:endParaRPr>
          </a:p>
        </p:txBody>
      </p:sp>
      <p:sp>
        <p:nvSpPr>
          <p:cNvPr id="78" name="文字方塊 77">
            <a:extLst>
              <a:ext uri="{FF2B5EF4-FFF2-40B4-BE49-F238E27FC236}">
                <a16:creationId xmlns:a16="http://schemas.microsoft.com/office/drawing/2014/main" id="{7E40B88B-DEF5-0445-B31B-4A6E98DDE3E5}"/>
              </a:ext>
            </a:extLst>
          </p:cNvPr>
          <p:cNvSpPr txBox="1"/>
          <p:nvPr/>
        </p:nvSpPr>
        <p:spPr>
          <a:xfrm>
            <a:off x="1365211" y="5985257"/>
            <a:ext cx="58914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sz="1200" dirty="0"/>
              <a:t>(Start)</a:t>
            </a:r>
            <a:endParaRPr kumimoji="1" lang="zh-TW" altLang="en-US" sz="1200" dirty="0"/>
          </a:p>
        </p:txBody>
      </p:sp>
      <p:cxnSp>
        <p:nvCxnSpPr>
          <p:cNvPr id="80" name="直線箭頭接點 79">
            <a:extLst>
              <a:ext uri="{FF2B5EF4-FFF2-40B4-BE49-F238E27FC236}">
                <a16:creationId xmlns:a16="http://schemas.microsoft.com/office/drawing/2014/main" id="{375DFBA1-2FD4-EC41-9A7C-F93C7160DA4E}"/>
              </a:ext>
            </a:extLst>
          </p:cNvPr>
          <p:cNvCxnSpPr>
            <a:cxnSpLocks/>
          </p:cNvCxnSpPr>
          <p:nvPr/>
        </p:nvCxnSpPr>
        <p:spPr>
          <a:xfrm flipV="1">
            <a:off x="1677723" y="3869533"/>
            <a:ext cx="0" cy="242085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直線箭頭接點 80">
            <a:extLst>
              <a:ext uri="{FF2B5EF4-FFF2-40B4-BE49-F238E27FC236}">
                <a16:creationId xmlns:a16="http://schemas.microsoft.com/office/drawing/2014/main" id="{28C08EB6-DB4E-D843-B51C-7BBF2755AB9F}"/>
              </a:ext>
            </a:extLst>
          </p:cNvPr>
          <p:cNvCxnSpPr>
            <a:cxnSpLocks/>
          </p:cNvCxnSpPr>
          <p:nvPr/>
        </p:nvCxnSpPr>
        <p:spPr>
          <a:xfrm flipV="1">
            <a:off x="2400138" y="3869533"/>
            <a:ext cx="0" cy="242085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直線箭頭接點 81">
            <a:extLst>
              <a:ext uri="{FF2B5EF4-FFF2-40B4-BE49-F238E27FC236}">
                <a16:creationId xmlns:a16="http://schemas.microsoft.com/office/drawing/2014/main" id="{A909D22B-434B-AD44-9B2F-EC93BD1C53C7}"/>
              </a:ext>
            </a:extLst>
          </p:cNvPr>
          <p:cNvCxnSpPr>
            <a:cxnSpLocks/>
          </p:cNvCxnSpPr>
          <p:nvPr/>
        </p:nvCxnSpPr>
        <p:spPr>
          <a:xfrm flipV="1">
            <a:off x="5327413" y="3869533"/>
            <a:ext cx="0" cy="242085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直線箭頭接點 82">
            <a:extLst>
              <a:ext uri="{FF2B5EF4-FFF2-40B4-BE49-F238E27FC236}">
                <a16:creationId xmlns:a16="http://schemas.microsoft.com/office/drawing/2014/main" id="{4A58823A-BEC9-F141-81F6-F8051D423454}"/>
              </a:ext>
            </a:extLst>
          </p:cNvPr>
          <p:cNvCxnSpPr>
            <a:cxnSpLocks/>
          </p:cNvCxnSpPr>
          <p:nvPr/>
        </p:nvCxnSpPr>
        <p:spPr>
          <a:xfrm flipV="1">
            <a:off x="4604998" y="3869533"/>
            <a:ext cx="0" cy="242085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4" name="圓角矩形 83">
            <a:extLst>
              <a:ext uri="{FF2B5EF4-FFF2-40B4-BE49-F238E27FC236}">
                <a16:creationId xmlns:a16="http://schemas.microsoft.com/office/drawing/2014/main" id="{27DA5170-49EF-0B43-B28B-0B57A773E828}"/>
              </a:ext>
            </a:extLst>
          </p:cNvPr>
          <p:cNvSpPr/>
          <p:nvPr/>
        </p:nvSpPr>
        <p:spPr>
          <a:xfrm>
            <a:off x="1400119" y="5527284"/>
            <a:ext cx="555205" cy="465107"/>
          </a:xfrm>
          <a:prstGeom prst="roundRect">
            <a:avLst/>
          </a:prstGeom>
          <a:solidFill>
            <a:srgbClr val="C5E0B4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dirty="0">
                <a:solidFill>
                  <a:schemeClr val="tx1"/>
                </a:solidFill>
              </a:rPr>
              <a:t>_</a:t>
            </a:r>
            <a:endParaRPr kumimoji="1" lang="zh-TW" altLang="en-US" dirty="0">
              <a:solidFill>
                <a:schemeClr val="tx1"/>
              </a:solidFill>
            </a:endParaRPr>
          </a:p>
        </p:txBody>
      </p:sp>
      <p:cxnSp>
        <p:nvCxnSpPr>
          <p:cNvPr id="85" name="直線箭頭接點 84">
            <a:extLst>
              <a:ext uri="{FF2B5EF4-FFF2-40B4-BE49-F238E27FC236}">
                <a16:creationId xmlns:a16="http://schemas.microsoft.com/office/drawing/2014/main" id="{993072D1-B430-814D-A9F5-015836087991}"/>
              </a:ext>
            </a:extLst>
          </p:cNvPr>
          <p:cNvCxnSpPr>
            <a:cxnSpLocks/>
          </p:cNvCxnSpPr>
          <p:nvPr/>
        </p:nvCxnSpPr>
        <p:spPr>
          <a:xfrm flipV="1">
            <a:off x="1677723" y="5225719"/>
            <a:ext cx="0" cy="242085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" name="直線箭頭接點 85">
            <a:extLst>
              <a:ext uri="{FF2B5EF4-FFF2-40B4-BE49-F238E27FC236}">
                <a16:creationId xmlns:a16="http://schemas.microsoft.com/office/drawing/2014/main" id="{CB6C364B-2F8B-1B43-9AFB-FDDF0556A0D7}"/>
              </a:ext>
            </a:extLst>
          </p:cNvPr>
          <p:cNvCxnSpPr>
            <a:cxnSpLocks/>
          </p:cNvCxnSpPr>
          <p:nvPr/>
        </p:nvCxnSpPr>
        <p:spPr>
          <a:xfrm flipV="1">
            <a:off x="2400137" y="5225719"/>
            <a:ext cx="0" cy="242085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" name="直線箭頭接點 86">
            <a:extLst>
              <a:ext uri="{FF2B5EF4-FFF2-40B4-BE49-F238E27FC236}">
                <a16:creationId xmlns:a16="http://schemas.microsoft.com/office/drawing/2014/main" id="{32317DE1-8ABD-FF46-B4AC-9B507AD08A00}"/>
              </a:ext>
            </a:extLst>
          </p:cNvPr>
          <p:cNvCxnSpPr>
            <a:cxnSpLocks/>
          </p:cNvCxnSpPr>
          <p:nvPr/>
        </p:nvCxnSpPr>
        <p:spPr>
          <a:xfrm flipV="1">
            <a:off x="4604997" y="5222224"/>
            <a:ext cx="0" cy="242085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" name="直線箭頭接點 87">
            <a:extLst>
              <a:ext uri="{FF2B5EF4-FFF2-40B4-BE49-F238E27FC236}">
                <a16:creationId xmlns:a16="http://schemas.microsoft.com/office/drawing/2014/main" id="{84CE9547-46BC-A943-91C2-2BDFB2948DF5}"/>
              </a:ext>
            </a:extLst>
          </p:cNvPr>
          <p:cNvCxnSpPr>
            <a:cxnSpLocks/>
          </p:cNvCxnSpPr>
          <p:nvPr/>
        </p:nvCxnSpPr>
        <p:spPr>
          <a:xfrm flipV="1">
            <a:off x="5327411" y="5222224"/>
            <a:ext cx="0" cy="242085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9" name="文字方塊 88">
            <a:extLst>
              <a:ext uri="{FF2B5EF4-FFF2-40B4-BE49-F238E27FC236}">
                <a16:creationId xmlns:a16="http://schemas.microsoft.com/office/drawing/2014/main" id="{A8AB5402-A827-494E-A112-D3F1DCB0844E}"/>
              </a:ext>
            </a:extLst>
          </p:cNvPr>
          <p:cNvSpPr txBox="1"/>
          <p:nvPr/>
        </p:nvSpPr>
        <p:spPr>
          <a:xfrm>
            <a:off x="3179078" y="5418500"/>
            <a:ext cx="84630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sz="2400" dirty="0"/>
              <a:t>……</a:t>
            </a:r>
            <a:endParaRPr kumimoji="1" lang="zh-TW" altLang="en-US" sz="2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2" name="圓角矩形 91">
                <a:extLst>
                  <a:ext uri="{FF2B5EF4-FFF2-40B4-BE49-F238E27FC236}">
                    <a16:creationId xmlns:a16="http://schemas.microsoft.com/office/drawing/2014/main" id="{49869F45-A712-194B-82CB-772B6B029F44}"/>
                  </a:ext>
                </a:extLst>
              </p:cNvPr>
              <p:cNvSpPr/>
              <p:nvPr/>
            </p:nvSpPr>
            <p:spPr>
              <a:xfrm>
                <a:off x="4330087" y="3357605"/>
                <a:ext cx="555203" cy="465105"/>
              </a:xfrm>
              <a:prstGeom prst="roundRect">
                <a:avLst/>
              </a:prstGeom>
              <a:solidFill>
                <a:srgbClr val="C5E0B4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zh-TW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kumimoji="1" lang="en-US" altLang="zh-TW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kumimoji="1" lang="en-US" altLang="zh-TW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acc>
                        </m:e>
                        <m:sub>
                          <m:r>
                            <a:rPr kumimoji="1" lang="en-US" altLang="zh-TW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kumimoji="1" lang="en-US" altLang="zh-TW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−1</m:t>
                          </m:r>
                        </m:sub>
                      </m:sSub>
                    </m:oMath>
                  </m:oMathPara>
                </a14:m>
                <a:endParaRPr kumimoji="1" lang="zh-TW" alt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92" name="圓角矩形 91">
                <a:extLst>
                  <a:ext uri="{FF2B5EF4-FFF2-40B4-BE49-F238E27FC236}">
                    <a16:creationId xmlns:a16="http://schemas.microsoft.com/office/drawing/2014/main" id="{49869F45-A712-194B-82CB-772B6B029F4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30087" y="3357605"/>
                <a:ext cx="555203" cy="465105"/>
              </a:xfrm>
              <a:prstGeom prst="roundRect">
                <a:avLst/>
              </a:prstGeom>
              <a:blipFill>
                <a:blip r:embed="rId3"/>
                <a:stretch>
                  <a:fillRect l="-6522"/>
                </a:stretch>
              </a:blipFill>
              <a:ln w="19050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3" name="圓角矩形 92">
                <a:extLst>
                  <a:ext uri="{FF2B5EF4-FFF2-40B4-BE49-F238E27FC236}">
                    <a16:creationId xmlns:a16="http://schemas.microsoft.com/office/drawing/2014/main" id="{AA39E56D-0579-CE48-BBEF-705C5FC33294}"/>
                  </a:ext>
                </a:extLst>
              </p:cNvPr>
              <p:cNvSpPr/>
              <p:nvPr/>
            </p:nvSpPr>
            <p:spPr>
              <a:xfrm>
                <a:off x="5052501" y="3355540"/>
                <a:ext cx="555203" cy="465105"/>
              </a:xfrm>
              <a:prstGeom prst="roundRect">
                <a:avLst/>
              </a:prstGeom>
              <a:solidFill>
                <a:srgbClr val="C5E0B4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zh-TW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kumimoji="1" lang="en-US" altLang="zh-TW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kumimoji="1" lang="en-US" altLang="zh-TW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acc>
                        </m:e>
                        <m:sub>
                          <m:r>
                            <a:rPr kumimoji="1" lang="en-US" altLang="zh-TW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</m:oMath>
                  </m:oMathPara>
                </a14:m>
                <a:endParaRPr kumimoji="1" lang="zh-TW" alt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93" name="圓角矩形 92">
                <a:extLst>
                  <a:ext uri="{FF2B5EF4-FFF2-40B4-BE49-F238E27FC236}">
                    <a16:creationId xmlns:a16="http://schemas.microsoft.com/office/drawing/2014/main" id="{AA39E56D-0579-CE48-BBEF-705C5FC3329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52501" y="3355540"/>
                <a:ext cx="555203" cy="465105"/>
              </a:xfrm>
              <a:prstGeom prst="roundRect">
                <a:avLst/>
              </a:prstGeom>
              <a:blipFill>
                <a:blip r:embed="rId4"/>
                <a:stretch>
                  <a:fillRect/>
                </a:stretch>
              </a:blipFill>
              <a:ln w="19050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4" name="圓角矩形 93">
                <a:extLst>
                  <a:ext uri="{FF2B5EF4-FFF2-40B4-BE49-F238E27FC236}">
                    <a16:creationId xmlns:a16="http://schemas.microsoft.com/office/drawing/2014/main" id="{319B7B34-E254-FE43-A6BF-19764741CE85}"/>
                  </a:ext>
                </a:extLst>
              </p:cNvPr>
              <p:cNvSpPr/>
              <p:nvPr/>
            </p:nvSpPr>
            <p:spPr>
              <a:xfrm>
                <a:off x="1400119" y="3344948"/>
                <a:ext cx="555203" cy="465105"/>
              </a:xfrm>
              <a:prstGeom prst="roundRect">
                <a:avLst/>
              </a:prstGeom>
              <a:solidFill>
                <a:srgbClr val="C5E0B4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zh-TW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kumimoji="1" lang="en-US" altLang="zh-TW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kumimoji="1" lang="en-US" altLang="zh-TW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acc>
                        </m:e>
                        <m:sub>
                          <m:r>
                            <a:rPr kumimoji="1" lang="en-US" altLang="zh-TW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kumimoji="1" lang="zh-TW" alt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94" name="圓角矩形 93">
                <a:extLst>
                  <a:ext uri="{FF2B5EF4-FFF2-40B4-BE49-F238E27FC236}">
                    <a16:creationId xmlns:a16="http://schemas.microsoft.com/office/drawing/2014/main" id="{319B7B34-E254-FE43-A6BF-19764741CE8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00119" y="3344948"/>
                <a:ext cx="555203" cy="465105"/>
              </a:xfrm>
              <a:prstGeom prst="roundRect">
                <a:avLst/>
              </a:prstGeom>
              <a:blipFill>
                <a:blip r:embed="rId5"/>
                <a:stretch>
                  <a:fillRect/>
                </a:stretch>
              </a:blipFill>
              <a:ln w="19050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5" name="圓角矩形 94">
                <a:extLst>
                  <a:ext uri="{FF2B5EF4-FFF2-40B4-BE49-F238E27FC236}">
                    <a16:creationId xmlns:a16="http://schemas.microsoft.com/office/drawing/2014/main" id="{97CC34E6-D2D5-A048-9609-DDD49058FB73}"/>
                  </a:ext>
                </a:extLst>
              </p:cNvPr>
              <p:cNvSpPr/>
              <p:nvPr/>
            </p:nvSpPr>
            <p:spPr>
              <a:xfrm>
                <a:off x="2129173" y="3354764"/>
                <a:ext cx="555203" cy="465105"/>
              </a:xfrm>
              <a:prstGeom prst="roundRect">
                <a:avLst/>
              </a:prstGeom>
              <a:solidFill>
                <a:srgbClr val="C5E0B4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zh-TW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kumimoji="1" lang="en-US" altLang="zh-TW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kumimoji="1" lang="en-US" altLang="zh-TW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acc>
                        </m:e>
                        <m:sub>
                          <m:r>
                            <a:rPr kumimoji="1" lang="en-US" altLang="zh-TW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kumimoji="1" lang="zh-TW" alt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95" name="圓角矩形 94">
                <a:extLst>
                  <a:ext uri="{FF2B5EF4-FFF2-40B4-BE49-F238E27FC236}">
                    <a16:creationId xmlns:a16="http://schemas.microsoft.com/office/drawing/2014/main" id="{97CC34E6-D2D5-A048-9609-DDD49058FB7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29173" y="3354764"/>
                <a:ext cx="555203" cy="465105"/>
              </a:xfrm>
              <a:prstGeom prst="roundRect">
                <a:avLst/>
              </a:prstGeom>
              <a:blipFill>
                <a:blip r:embed="rId6"/>
                <a:stretch>
                  <a:fillRect/>
                </a:stretch>
              </a:blipFill>
              <a:ln w="19050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6" name="圓角矩形 95">
                <a:extLst>
                  <a:ext uri="{FF2B5EF4-FFF2-40B4-BE49-F238E27FC236}">
                    <a16:creationId xmlns:a16="http://schemas.microsoft.com/office/drawing/2014/main" id="{998D21DD-5B44-0143-BB82-4FE5417E7B4A}"/>
                  </a:ext>
                </a:extLst>
              </p:cNvPr>
              <p:cNvSpPr/>
              <p:nvPr/>
            </p:nvSpPr>
            <p:spPr>
              <a:xfrm>
                <a:off x="2119314" y="5527284"/>
                <a:ext cx="555203" cy="465105"/>
              </a:xfrm>
              <a:prstGeom prst="roundRect">
                <a:avLst/>
              </a:prstGeom>
              <a:solidFill>
                <a:srgbClr val="C5E0B4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zh-TW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kumimoji="1" lang="en-US" altLang="zh-TW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kumimoji="1" lang="en-US" altLang="zh-TW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acc>
                        </m:e>
                        <m:sub>
                          <m:r>
                            <a:rPr kumimoji="1" lang="en-US" altLang="zh-TW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kumimoji="1" lang="zh-TW" alt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96" name="圓角矩形 95">
                <a:extLst>
                  <a:ext uri="{FF2B5EF4-FFF2-40B4-BE49-F238E27FC236}">
                    <a16:creationId xmlns:a16="http://schemas.microsoft.com/office/drawing/2014/main" id="{998D21DD-5B44-0143-BB82-4FE5417E7B4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19314" y="5527284"/>
                <a:ext cx="555203" cy="465105"/>
              </a:xfrm>
              <a:prstGeom prst="roundRect">
                <a:avLst/>
              </a:prstGeom>
              <a:blipFill>
                <a:blip r:embed="rId7"/>
                <a:stretch>
                  <a:fillRect/>
                </a:stretch>
              </a:blipFill>
              <a:ln w="19050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7" name="圓角矩形 96">
                <a:extLst>
                  <a:ext uri="{FF2B5EF4-FFF2-40B4-BE49-F238E27FC236}">
                    <a16:creationId xmlns:a16="http://schemas.microsoft.com/office/drawing/2014/main" id="{350AE83B-9D23-584B-BCAA-989124E37F49}"/>
                  </a:ext>
                </a:extLst>
              </p:cNvPr>
              <p:cNvSpPr/>
              <p:nvPr/>
            </p:nvSpPr>
            <p:spPr>
              <a:xfrm>
                <a:off x="4322280" y="5527284"/>
                <a:ext cx="555203" cy="465105"/>
              </a:xfrm>
              <a:prstGeom prst="roundRect">
                <a:avLst/>
              </a:prstGeom>
              <a:solidFill>
                <a:srgbClr val="C5E0B4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zh-TW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kumimoji="1" lang="en-US" altLang="zh-TW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kumimoji="1" lang="en-US" altLang="zh-TW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acc>
                        </m:e>
                        <m:sub>
                          <m:r>
                            <a:rPr kumimoji="1" lang="en-US" altLang="zh-TW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kumimoji="1" lang="en-US" altLang="zh-TW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−2</m:t>
                          </m:r>
                        </m:sub>
                      </m:sSub>
                    </m:oMath>
                  </m:oMathPara>
                </a14:m>
                <a:endParaRPr kumimoji="1" lang="zh-TW" alt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97" name="圓角矩形 96">
                <a:extLst>
                  <a:ext uri="{FF2B5EF4-FFF2-40B4-BE49-F238E27FC236}">
                    <a16:creationId xmlns:a16="http://schemas.microsoft.com/office/drawing/2014/main" id="{350AE83B-9D23-584B-BCAA-989124E37F4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22280" y="5527284"/>
                <a:ext cx="555203" cy="465105"/>
              </a:xfrm>
              <a:prstGeom prst="roundRect">
                <a:avLst/>
              </a:prstGeom>
              <a:blipFill>
                <a:blip r:embed="rId8"/>
                <a:stretch>
                  <a:fillRect l="-6522"/>
                </a:stretch>
              </a:blipFill>
              <a:ln w="19050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8" name="圓角矩形 97">
                <a:extLst>
                  <a:ext uri="{FF2B5EF4-FFF2-40B4-BE49-F238E27FC236}">
                    <a16:creationId xmlns:a16="http://schemas.microsoft.com/office/drawing/2014/main" id="{C5E98198-9B43-1D40-987A-F8BE64B81451}"/>
                  </a:ext>
                </a:extLst>
              </p:cNvPr>
              <p:cNvSpPr/>
              <p:nvPr/>
            </p:nvSpPr>
            <p:spPr>
              <a:xfrm>
                <a:off x="5044692" y="5527284"/>
                <a:ext cx="555203" cy="465105"/>
              </a:xfrm>
              <a:prstGeom prst="roundRect">
                <a:avLst/>
              </a:prstGeom>
              <a:solidFill>
                <a:srgbClr val="C5E0B4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zh-TW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kumimoji="1" lang="en-US" altLang="zh-TW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kumimoji="1" lang="en-US" altLang="zh-TW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acc>
                        </m:e>
                        <m:sub>
                          <m:r>
                            <a:rPr kumimoji="1" lang="en-US" altLang="zh-TW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kumimoji="1" lang="en-US" altLang="zh-TW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−1</m:t>
                          </m:r>
                        </m:sub>
                      </m:sSub>
                    </m:oMath>
                  </m:oMathPara>
                </a14:m>
                <a:endParaRPr kumimoji="1" lang="zh-TW" alt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98" name="圓角矩形 97">
                <a:extLst>
                  <a:ext uri="{FF2B5EF4-FFF2-40B4-BE49-F238E27FC236}">
                    <a16:creationId xmlns:a16="http://schemas.microsoft.com/office/drawing/2014/main" id="{C5E98198-9B43-1D40-987A-F8BE64B8145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44692" y="5527284"/>
                <a:ext cx="555203" cy="465105"/>
              </a:xfrm>
              <a:prstGeom prst="roundRect">
                <a:avLst/>
              </a:prstGeom>
              <a:blipFill>
                <a:blip r:embed="rId9"/>
                <a:stretch>
                  <a:fillRect l="-6383"/>
                </a:stretch>
              </a:blipFill>
              <a:ln w="19050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99" name="直線箭頭接點 98">
            <a:extLst>
              <a:ext uri="{FF2B5EF4-FFF2-40B4-BE49-F238E27FC236}">
                <a16:creationId xmlns:a16="http://schemas.microsoft.com/office/drawing/2014/main" id="{9B5575B0-141B-7B40-A9B9-47C8C0D1B0D4}"/>
              </a:ext>
            </a:extLst>
          </p:cNvPr>
          <p:cNvCxnSpPr/>
          <p:nvPr/>
        </p:nvCxnSpPr>
        <p:spPr>
          <a:xfrm>
            <a:off x="1946037" y="3878115"/>
            <a:ext cx="278214" cy="154896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0" name="直線箭頭接點 99">
            <a:extLst>
              <a:ext uri="{FF2B5EF4-FFF2-40B4-BE49-F238E27FC236}">
                <a16:creationId xmlns:a16="http://schemas.microsoft.com/office/drawing/2014/main" id="{F7398AD7-B04F-B941-AF8E-BE396B421370}"/>
              </a:ext>
            </a:extLst>
          </p:cNvPr>
          <p:cNvCxnSpPr/>
          <p:nvPr/>
        </p:nvCxnSpPr>
        <p:spPr>
          <a:xfrm>
            <a:off x="2664758" y="3923924"/>
            <a:ext cx="278214" cy="154896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1" name="直線箭頭接點 100">
            <a:extLst>
              <a:ext uri="{FF2B5EF4-FFF2-40B4-BE49-F238E27FC236}">
                <a16:creationId xmlns:a16="http://schemas.microsoft.com/office/drawing/2014/main" id="{673E9BEA-BE81-234F-8653-E7F83617449F}"/>
              </a:ext>
            </a:extLst>
          </p:cNvPr>
          <p:cNvCxnSpPr/>
          <p:nvPr/>
        </p:nvCxnSpPr>
        <p:spPr>
          <a:xfrm>
            <a:off x="4096363" y="3878114"/>
            <a:ext cx="278214" cy="154896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2" name="直線箭頭接點 101">
            <a:extLst>
              <a:ext uri="{FF2B5EF4-FFF2-40B4-BE49-F238E27FC236}">
                <a16:creationId xmlns:a16="http://schemas.microsoft.com/office/drawing/2014/main" id="{FB520371-17D5-2441-B981-EFC973D77CBF}"/>
              </a:ext>
            </a:extLst>
          </p:cNvPr>
          <p:cNvCxnSpPr/>
          <p:nvPr/>
        </p:nvCxnSpPr>
        <p:spPr>
          <a:xfrm>
            <a:off x="4874584" y="3912296"/>
            <a:ext cx="278214" cy="154896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3" name="文字方塊 102">
            <a:extLst>
              <a:ext uri="{FF2B5EF4-FFF2-40B4-BE49-F238E27FC236}">
                <a16:creationId xmlns:a16="http://schemas.microsoft.com/office/drawing/2014/main" id="{01573A0C-CA9C-1E42-AE35-1CCAF17A97D7}"/>
              </a:ext>
            </a:extLst>
          </p:cNvPr>
          <p:cNvSpPr txBox="1"/>
          <p:nvPr/>
        </p:nvSpPr>
        <p:spPr>
          <a:xfrm>
            <a:off x="3176696" y="3278079"/>
            <a:ext cx="84630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sz="2400" dirty="0"/>
              <a:t>……</a:t>
            </a:r>
            <a:endParaRPr kumimoji="1" lang="zh-TW" altLang="en-US" sz="2400" dirty="0"/>
          </a:p>
        </p:txBody>
      </p:sp>
      <p:sp>
        <p:nvSpPr>
          <p:cNvPr id="114" name="文字方塊 113">
            <a:extLst>
              <a:ext uri="{FF2B5EF4-FFF2-40B4-BE49-F238E27FC236}">
                <a16:creationId xmlns:a16="http://schemas.microsoft.com/office/drawing/2014/main" id="{2CB24DD4-EC8B-DA4A-B588-E038060FC25A}"/>
              </a:ext>
            </a:extLst>
          </p:cNvPr>
          <p:cNvSpPr txBox="1"/>
          <p:nvPr/>
        </p:nvSpPr>
        <p:spPr>
          <a:xfrm>
            <a:off x="2626420" y="2708047"/>
            <a:ext cx="18277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TW" b="1" dirty="0"/>
              <a:t>Output sequence</a:t>
            </a:r>
            <a:endParaRPr kumimoji="1" lang="zh-TW" altLang="en-US" b="1" dirty="0"/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4B265B0A-197C-71A6-1D88-26C3AD0A3956}"/>
              </a:ext>
            </a:extLst>
          </p:cNvPr>
          <p:cNvSpPr txBox="1"/>
          <p:nvPr/>
        </p:nvSpPr>
        <p:spPr>
          <a:xfrm>
            <a:off x="6531001" y="2630625"/>
            <a:ext cx="4363748" cy="22510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en-US" altLang="zh-TW" sz="2400" dirty="0"/>
              <a:t>Advantage: stabilize training and increase performance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en-US" altLang="zh-TW" sz="2400" dirty="0"/>
              <a:t>Question: </a:t>
            </a:r>
            <a:r>
              <a:rPr kumimoji="1" lang="en-US" altLang="zh-TW" sz="2400" dirty="0">
                <a:solidFill>
                  <a:srgbClr val="FF0000"/>
                </a:solidFill>
              </a:rPr>
              <a:t>How does the next word be determined?</a:t>
            </a:r>
          </a:p>
        </p:txBody>
      </p:sp>
    </p:spTree>
    <p:extLst>
      <p:ext uri="{BB962C8B-B14F-4D97-AF65-F5344CB8AC3E}">
        <p14:creationId xmlns:p14="http://schemas.microsoft.com/office/powerpoint/2010/main" val="306641725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標題 4">
            <a:extLst>
              <a:ext uri="{FF2B5EF4-FFF2-40B4-BE49-F238E27FC236}">
                <a16:creationId xmlns:a16="http://schemas.microsoft.com/office/drawing/2014/main" id="{C0088F74-E7BD-9221-09BE-BD84A56E8B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730086"/>
            <a:ext cx="3200400" cy="2286000"/>
          </a:xfrm>
        </p:spPr>
        <p:txBody>
          <a:bodyPr>
            <a:normAutofit/>
          </a:bodyPr>
          <a:lstStyle/>
          <a:p>
            <a:r>
              <a:rPr lang="en-US" altLang="zh-TW" sz="4400" dirty="0"/>
              <a:t>Decoding Strategies</a:t>
            </a:r>
            <a:endParaRPr lang="zh-TW" altLang="en-US" sz="4400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126CD975-2D44-BE2A-2880-315742DD10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18</a:t>
            </a:fld>
            <a:endParaRPr lang="en-US"/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9E919598-F59B-45C4-7FB7-8DF7C89F5441}"/>
              </a:ext>
            </a:extLst>
          </p:cNvPr>
          <p:cNvSpPr txBox="1"/>
          <p:nvPr/>
        </p:nvSpPr>
        <p:spPr>
          <a:xfrm>
            <a:off x="4785362" y="2205990"/>
            <a:ext cx="3749040" cy="26108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en-US" altLang="zh-TW" sz="2800" dirty="0"/>
              <a:t>Greedy Decoding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en-US" altLang="zh-TW" sz="2800" dirty="0"/>
              <a:t>Beam Search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en-US" altLang="zh-TW" sz="2800" dirty="0"/>
              <a:t>Top-k Sampling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en-US" altLang="zh-TW" sz="2800" dirty="0"/>
              <a:t>Top-p Sampling</a:t>
            </a:r>
            <a:endParaRPr kumimoji="1" lang="zh-TW" altLang="en-US" sz="2800" dirty="0"/>
          </a:p>
        </p:txBody>
      </p:sp>
    </p:spTree>
    <p:extLst>
      <p:ext uri="{BB962C8B-B14F-4D97-AF65-F5344CB8AC3E}">
        <p14:creationId xmlns:p14="http://schemas.microsoft.com/office/powerpoint/2010/main" val="111120944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1BAF15D-D741-F37D-5052-0CD3B56D59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Greedy Decoding</a:t>
            </a:r>
            <a:endParaRPr kumimoji="1"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D2B77902-BEE6-BEEF-7CEE-D3FCF61BA3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19</a:t>
            </a:fld>
            <a:endParaRPr lang="en-US"/>
          </a:p>
        </p:txBody>
      </p:sp>
      <p:sp>
        <p:nvSpPr>
          <p:cNvPr id="6" name="圓角矩形 5">
            <a:extLst>
              <a:ext uri="{FF2B5EF4-FFF2-40B4-BE49-F238E27FC236}">
                <a16:creationId xmlns:a16="http://schemas.microsoft.com/office/drawing/2014/main" id="{0132690B-9236-67B2-F48F-79EEABD102C9}"/>
              </a:ext>
            </a:extLst>
          </p:cNvPr>
          <p:cNvSpPr/>
          <p:nvPr/>
        </p:nvSpPr>
        <p:spPr>
          <a:xfrm>
            <a:off x="4038355" y="4530883"/>
            <a:ext cx="4433985" cy="991359"/>
          </a:xfrm>
          <a:prstGeom prst="round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sz="2400" dirty="0">
                <a:solidFill>
                  <a:schemeClr val="tx1"/>
                </a:solidFill>
              </a:rPr>
              <a:t>Decoder</a:t>
            </a:r>
            <a:endParaRPr kumimoji="1" lang="zh-TW" altLang="en-US" sz="1500" dirty="0">
              <a:solidFill>
                <a:schemeClr val="tx1"/>
              </a:solidFill>
            </a:endParaRPr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8FD41496-3B9F-B583-407F-DC425B1486BB}"/>
              </a:ext>
            </a:extLst>
          </p:cNvPr>
          <p:cNvSpPr txBox="1"/>
          <p:nvPr/>
        </p:nvSpPr>
        <p:spPr>
          <a:xfrm>
            <a:off x="4199716" y="6346235"/>
            <a:ext cx="58914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sz="1200" dirty="0"/>
              <a:t>(Start)</a:t>
            </a:r>
            <a:endParaRPr kumimoji="1" lang="zh-TW" altLang="en-US" sz="1200" dirty="0"/>
          </a:p>
        </p:txBody>
      </p:sp>
      <p:cxnSp>
        <p:nvCxnSpPr>
          <p:cNvPr id="8" name="直線箭頭接點 7">
            <a:extLst>
              <a:ext uri="{FF2B5EF4-FFF2-40B4-BE49-F238E27FC236}">
                <a16:creationId xmlns:a16="http://schemas.microsoft.com/office/drawing/2014/main" id="{038097AD-3269-A0E5-9011-EC69C9E3EC2C}"/>
              </a:ext>
            </a:extLst>
          </p:cNvPr>
          <p:cNvCxnSpPr>
            <a:cxnSpLocks/>
          </p:cNvCxnSpPr>
          <p:nvPr/>
        </p:nvCxnSpPr>
        <p:spPr>
          <a:xfrm flipV="1">
            <a:off x="4494289" y="4230511"/>
            <a:ext cx="0" cy="242085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直線箭頭接點 8">
            <a:extLst>
              <a:ext uri="{FF2B5EF4-FFF2-40B4-BE49-F238E27FC236}">
                <a16:creationId xmlns:a16="http://schemas.microsoft.com/office/drawing/2014/main" id="{11E477DB-0D4C-5F1B-BA63-B25A855350E3}"/>
              </a:ext>
            </a:extLst>
          </p:cNvPr>
          <p:cNvCxnSpPr>
            <a:cxnSpLocks/>
          </p:cNvCxnSpPr>
          <p:nvPr/>
        </p:nvCxnSpPr>
        <p:spPr>
          <a:xfrm flipV="1">
            <a:off x="5681038" y="4217548"/>
            <a:ext cx="0" cy="242085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線箭頭接點 9">
            <a:extLst>
              <a:ext uri="{FF2B5EF4-FFF2-40B4-BE49-F238E27FC236}">
                <a16:creationId xmlns:a16="http://schemas.microsoft.com/office/drawing/2014/main" id="{FD095249-E731-A204-2683-1416A980F37A}"/>
              </a:ext>
            </a:extLst>
          </p:cNvPr>
          <p:cNvCxnSpPr>
            <a:cxnSpLocks/>
          </p:cNvCxnSpPr>
          <p:nvPr/>
        </p:nvCxnSpPr>
        <p:spPr>
          <a:xfrm flipV="1">
            <a:off x="8043060" y="4217548"/>
            <a:ext cx="0" cy="242085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線箭頭接點 10">
            <a:extLst>
              <a:ext uri="{FF2B5EF4-FFF2-40B4-BE49-F238E27FC236}">
                <a16:creationId xmlns:a16="http://schemas.microsoft.com/office/drawing/2014/main" id="{8DCB09DE-3C94-0EA7-BDC0-D6C3FDE6CD7A}"/>
              </a:ext>
            </a:extLst>
          </p:cNvPr>
          <p:cNvCxnSpPr>
            <a:cxnSpLocks/>
          </p:cNvCxnSpPr>
          <p:nvPr/>
        </p:nvCxnSpPr>
        <p:spPr>
          <a:xfrm flipV="1">
            <a:off x="6862049" y="4217548"/>
            <a:ext cx="0" cy="242085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圓角矩形 11">
            <a:extLst>
              <a:ext uri="{FF2B5EF4-FFF2-40B4-BE49-F238E27FC236}">
                <a16:creationId xmlns:a16="http://schemas.microsoft.com/office/drawing/2014/main" id="{1FC6FFAA-D2BD-DF24-8B6A-C7BB1C1D1C57}"/>
              </a:ext>
            </a:extLst>
          </p:cNvPr>
          <p:cNvSpPr/>
          <p:nvPr/>
        </p:nvSpPr>
        <p:spPr>
          <a:xfrm>
            <a:off x="4216687" y="5888262"/>
            <a:ext cx="555205" cy="465107"/>
          </a:xfrm>
          <a:prstGeom prst="roundRect">
            <a:avLst/>
          </a:prstGeom>
          <a:solidFill>
            <a:srgbClr val="C5E0B4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dirty="0">
                <a:solidFill>
                  <a:schemeClr val="tx1"/>
                </a:solidFill>
              </a:rPr>
              <a:t>_</a:t>
            </a:r>
            <a:endParaRPr kumimoji="1" lang="zh-TW" altLang="en-US" dirty="0">
              <a:solidFill>
                <a:schemeClr val="tx1"/>
              </a:solidFill>
            </a:endParaRPr>
          </a:p>
        </p:txBody>
      </p:sp>
      <p:cxnSp>
        <p:nvCxnSpPr>
          <p:cNvPr id="13" name="直線箭頭接點 12">
            <a:extLst>
              <a:ext uri="{FF2B5EF4-FFF2-40B4-BE49-F238E27FC236}">
                <a16:creationId xmlns:a16="http://schemas.microsoft.com/office/drawing/2014/main" id="{E14E2C0F-1BCE-3797-DC2C-302DA3AAD939}"/>
              </a:ext>
            </a:extLst>
          </p:cNvPr>
          <p:cNvCxnSpPr>
            <a:cxnSpLocks/>
          </p:cNvCxnSpPr>
          <p:nvPr/>
        </p:nvCxnSpPr>
        <p:spPr>
          <a:xfrm flipV="1">
            <a:off x="4494289" y="5586697"/>
            <a:ext cx="0" cy="242085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線箭頭接點 13">
            <a:extLst>
              <a:ext uri="{FF2B5EF4-FFF2-40B4-BE49-F238E27FC236}">
                <a16:creationId xmlns:a16="http://schemas.microsoft.com/office/drawing/2014/main" id="{55F93677-66BC-8770-EB13-0BBEC8A21C70}"/>
              </a:ext>
            </a:extLst>
          </p:cNvPr>
          <p:cNvCxnSpPr>
            <a:cxnSpLocks/>
          </p:cNvCxnSpPr>
          <p:nvPr/>
        </p:nvCxnSpPr>
        <p:spPr>
          <a:xfrm flipV="1">
            <a:off x="5681038" y="5573734"/>
            <a:ext cx="0" cy="242085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線箭頭接點 14">
            <a:extLst>
              <a:ext uri="{FF2B5EF4-FFF2-40B4-BE49-F238E27FC236}">
                <a16:creationId xmlns:a16="http://schemas.microsoft.com/office/drawing/2014/main" id="{687A1A18-560A-F74B-B3D5-F4609670CA48}"/>
              </a:ext>
            </a:extLst>
          </p:cNvPr>
          <p:cNvCxnSpPr>
            <a:cxnSpLocks/>
          </p:cNvCxnSpPr>
          <p:nvPr/>
        </p:nvCxnSpPr>
        <p:spPr>
          <a:xfrm flipV="1">
            <a:off x="6862049" y="5570239"/>
            <a:ext cx="0" cy="242085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線箭頭接點 15">
            <a:extLst>
              <a:ext uri="{FF2B5EF4-FFF2-40B4-BE49-F238E27FC236}">
                <a16:creationId xmlns:a16="http://schemas.microsoft.com/office/drawing/2014/main" id="{B1C79BD7-6DDF-9E8F-8790-2150E0C2D11A}"/>
              </a:ext>
            </a:extLst>
          </p:cNvPr>
          <p:cNvCxnSpPr>
            <a:cxnSpLocks/>
          </p:cNvCxnSpPr>
          <p:nvPr/>
        </p:nvCxnSpPr>
        <p:spPr>
          <a:xfrm flipV="1">
            <a:off x="8043060" y="5570239"/>
            <a:ext cx="0" cy="242085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圓角矩形 17">
                <a:extLst>
                  <a:ext uri="{FF2B5EF4-FFF2-40B4-BE49-F238E27FC236}">
                    <a16:creationId xmlns:a16="http://schemas.microsoft.com/office/drawing/2014/main" id="{F897EA2B-4E8B-50DB-FD88-B60A5C472BAA}"/>
                  </a:ext>
                </a:extLst>
              </p:cNvPr>
              <p:cNvSpPr/>
              <p:nvPr/>
            </p:nvSpPr>
            <p:spPr>
              <a:xfrm>
                <a:off x="6584448" y="3705620"/>
                <a:ext cx="555203" cy="465105"/>
              </a:xfrm>
              <a:prstGeom prst="roundRect">
                <a:avLst/>
              </a:prstGeom>
              <a:solidFill>
                <a:srgbClr val="C5E0B4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zh-TW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TW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kumimoji="1" lang="en-US" altLang="zh-TW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kumimoji="1" lang="zh-TW" alt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8" name="圓角矩形 17">
                <a:extLst>
                  <a:ext uri="{FF2B5EF4-FFF2-40B4-BE49-F238E27FC236}">
                    <a16:creationId xmlns:a16="http://schemas.microsoft.com/office/drawing/2014/main" id="{F897EA2B-4E8B-50DB-FD88-B60A5C472BA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84448" y="3705620"/>
                <a:ext cx="555203" cy="465105"/>
              </a:xfrm>
              <a:prstGeom prst="roundRect">
                <a:avLst/>
              </a:prstGeom>
              <a:blipFill>
                <a:blip r:embed="rId2"/>
                <a:stretch>
                  <a:fillRect/>
                </a:stretch>
              </a:blipFill>
              <a:ln w="19050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圓角矩形 18">
                <a:extLst>
                  <a:ext uri="{FF2B5EF4-FFF2-40B4-BE49-F238E27FC236}">
                    <a16:creationId xmlns:a16="http://schemas.microsoft.com/office/drawing/2014/main" id="{878679A7-58AE-94D4-C2C8-0D5A34C9EE2C}"/>
                  </a:ext>
                </a:extLst>
              </p:cNvPr>
              <p:cNvSpPr/>
              <p:nvPr/>
            </p:nvSpPr>
            <p:spPr>
              <a:xfrm>
                <a:off x="7765459" y="3703555"/>
                <a:ext cx="555203" cy="465105"/>
              </a:xfrm>
              <a:prstGeom prst="roundRect">
                <a:avLst/>
              </a:prstGeom>
              <a:solidFill>
                <a:srgbClr val="C5E0B4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zh-TW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TW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kumimoji="1" lang="en-US" altLang="zh-TW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kumimoji="1" lang="zh-TW" alt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9" name="圓角矩形 18">
                <a:extLst>
                  <a:ext uri="{FF2B5EF4-FFF2-40B4-BE49-F238E27FC236}">
                    <a16:creationId xmlns:a16="http://schemas.microsoft.com/office/drawing/2014/main" id="{878679A7-58AE-94D4-C2C8-0D5A34C9EE2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65459" y="3703555"/>
                <a:ext cx="555203" cy="465105"/>
              </a:xfrm>
              <a:prstGeom prst="roundRect">
                <a:avLst/>
              </a:prstGeom>
              <a:blipFill>
                <a:blip r:embed="rId3"/>
                <a:stretch>
                  <a:fillRect/>
                </a:stretch>
              </a:blipFill>
              <a:ln w="19050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圓角矩形 19">
                <a:extLst>
                  <a:ext uri="{FF2B5EF4-FFF2-40B4-BE49-F238E27FC236}">
                    <a16:creationId xmlns:a16="http://schemas.microsoft.com/office/drawing/2014/main" id="{EE464465-D429-1874-2758-3882086BAD8B}"/>
                  </a:ext>
                </a:extLst>
              </p:cNvPr>
              <p:cNvSpPr/>
              <p:nvPr/>
            </p:nvSpPr>
            <p:spPr>
              <a:xfrm>
                <a:off x="4216688" y="3705926"/>
                <a:ext cx="555203" cy="465105"/>
              </a:xfrm>
              <a:prstGeom prst="roundRect">
                <a:avLst/>
              </a:prstGeom>
              <a:solidFill>
                <a:srgbClr val="C5E0B4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zh-TW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Microsoft JhengHei" panose="020B0604030504040204" pitchFamily="34" charset="-120"/>
                            </a:rPr>
                          </m:ctrlPr>
                        </m:sSubPr>
                        <m:e>
                          <m:r>
                            <a:rPr kumimoji="1" lang="en-US" altLang="zh-TW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Microsoft JhengHei" panose="020B0604030504040204" pitchFamily="34" charset="-120"/>
                            </a:rPr>
                            <m:t>h</m:t>
                          </m:r>
                        </m:e>
                        <m:sub>
                          <m:r>
                            <a:rPr kumimoji="1" lang="en-US" altLang="zh-TW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Microsoft JhengHei" panose="020B0604030504040204" pitchFamily="34" charset="-12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kumimoji="1" lang="zh-TW" altLang="en-US" dirty="0">
                  <a:solidFill>
                    <a:schemeClr val="tx1"/>
                  </a:solidFill>
                  <a:latin typeface="Microsoft JhengHei" panose="020B0604030504040204" pitchFamily="34" charset="-120"/>
                  <a:ea typeface="Microsoft JhengHei" panose="020B0604030504040204" pitchFamily="34" charset="-120"/>
                </a:endParaRPr>
              </a:p>
            </p:txBody>
          </p:sp>
        </mc:Choice>
        <mc:Fallback xmlns="">
          <p:sp>
            <p:nvSpPr>
              <p:cNvPr id="20" name="圓角矩形 19">
                <a:extLst>
                  <a:ext uri="{FF2B5EF4-FFF2-40B4-BE49-F238E27FC236}">
                    <a16:creationId xmlns:a16="http://schemas.microsoft.com/office/drawing/2014/main" id="{EE464465-D429-1874-2758-3882086BAD8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16688" y="3705926"/>
                <a:ext cx="555203" cy="465105"/>
              </a:xfrm>
              <a:prstGeom prst="roundRect">
                <a:avLst/>
              </a:prstGeom>
              <a:blipFill>
                <a:blip r:embed="rId4"/>
                <a:stretch>
                  <a:fillRect/>
                </a:stretch>
              </a:blipFill>
              <a:ln w="19050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圓角矩形 20">
                <a:extLst>
                  <a:ext uri="{FF2B5EF4-FFF2-40B4-BE49-F238E27FC236}">
                    <a16:creationId xmlns:a16="http://schemas.microsoft.com/office/drawing/2014/main" id="{30D846B2-592A-039D-C15A-CE8F4242A0EF}"/>
                  </a:ext>
                </a:extLst>
              </p:cNvPr>
              <p:cNvSpPr/>
              <p:nvPr/>
            </p:nvSpPr>
            <p:spPr>
              <a:xfrm>
                <a:off x="5403437" y="3702779"/>
                <a:ext cx="555203" cy="465105"/>
              </a:xfrm>
              <a:prstGeom prst="roundRect">
                <a:avLst/>
              </a:prstGeom>
              <a:solidFill>
                <a:srgbClr val="C5E0B4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zh-TW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Microsoft JhengHei" panose="020B0604030504040204" pitchFamily="34" charset="-120"/>
                            </a:rPr>
                          </m:ctrlPr>
                        </m:sSubPr>
                        <m:e>
                          <m:r>
                            <a:rPr kumimoji="1" lang="en-US" altLang="zh-TW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Microsoft JhengHei" panose="020B0604030504040204" pitchFamily="34" charset="-120"/>
                            </a:rPr>
                            <m:t>h</m:t>
                          </m:r>
                        </m:e>
                        <m:sub>
                          <m:r>
                            <a:rPr kumimoji="1" lang="en-US" altLang="zh-TW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Microsoft JhengHei" panose="020B0604030504040204" pitchFamily="34" charset="-12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kumimoji="1" lang="zh-TW" altLang="en-US" dirty="0">
                  <a:solidFill>
                    <a:schemeClr val="tx1"/>
                  </a:solidFill>
                  <a:latin typeface="Microsoft JhengHei" panose="020B0604030504040204" pitchFamily="34" charset="-120"/>
                  <a:ea typeface="Microsoft JhengHei" panose="020B0604030504040204" pitchFamily="34" charset="-120"/>
                </a:endParaRPr>
              </a:p>
            </p:txBody>
          </p:sp>
        </mc:Choice>
        <mc:Fallback xmlns="">
          <p:sp>
            <p:nvSpPr>
              <p:cNvPr id="21" name="圓角矩形 20">
                <a:extLst>
                  <a:ext uri="{FF2B5EF4-FFF2-40B4-BE49-F238E27FC236}">
                    <a16:creationId xmlns:a16="http://schemas.microsoft.com/office/drawing/2014/main" id="{30D846B2-592A-039D-C15A-CE8F4242A0E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03437" y="3702779"/>
                <a:ext cx="555203" cy="465105"/>
              </a:xfrm>
              <a:prstGeom prst="roundRect">
                <a:avLst/>
              </a:prstGeom>
              <a:blipFill>
                <a:blip r:embed="rId5"/>
                <a:stretch>
                  <a:fillRect/>
                </a:stretch>
              </a:blipFill>
              <a:ln w="19050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2" name="圓角矩形 21">
            <a:extLst>
              <a:ext uri="{FF2B5EF4-FFF2-40B4-BE49-F238E27FC236}">
                <a16:creationId xmlns:a16="http://schemas.microsoft.com/office/drawing/2014/main" id="{69DA415C-A72E-2F57-57DC-550CB973255F}"/>
              </a:ext>
            </a:extLst>
          </p:cNvPr>
          <p:cNvSpPr/>
          <p:nvPr/>
        </p:nvSpPr>
        <p:spPr>
          <a:xfrm>
            <a:off x="5403437" y="5875299"/>
            <a:ext cx="555203" cy="465105"/>
          </a:xfrm>
          <a:prstGeom prst="roundRect">
            <a:avLst/>
          </a:prstGeom>
          <a:solidFill>
            <a:srgbClr val="C5E0B4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TW" altLang="en-US" dirty="0">
                <a:solidFill>
                  <a:schemeClr val="tx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我</a:t>
            </a:r>
          </a:p>
        </p:txBody>
      </p:sp>
      <p:sp>
        <p:nvSpPr>
          <p:cNvPr id="23" name="圓角矩形 22">
            <a:extLst>
              <a:ext uri="{FF2B5EF4-FFF2-40B4-BE49-F238E27FC236}">
                <a16:creationId xmlns:a16="http://schemas.microsoft.com/office/drawing/2014/main" id="{45AD1568-A4A8-4F61-58DD-8E9373F7B829}"/>
              </a:ext>
            </a:extLst>
          </p:cNvPr>
          <p:cNvSpPr/>
          <p:nvPr/>
        </p:nvSpPr>
        <p:spPr>
          <a:xfrm>
            <a:off x="6584448" y="5875299"/>
            <a:ext cx="555203" cy="465105"/>
          </a:xfrm>
          <a:prstGeom prst="roundRect">
            <a:avLst/>
          </a:prstGeom>
          <a:solidFill>
            <a:srgbClr val="C5E0B4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TW" altLang="en-US" dirty="0">
                <a:solidFill>
                  <a:schemeClr val="tx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愛</a:t>
            </a:r>
          </a:p>
        </p:txBody>
      </p:sp>
      <p:sp>
        <p:nvSpPr>
          <p:cNvPr id="24" name="圓角矩形 23">
            <a:extLst>
              <a:ext uri="{FF2B5EF4-FFF2-40B4-BE49-F238E27FC236}">
                <a16:creationId xmlns:a16="http://schemas.microsoft.com/office/drawing/2014/main" id="{BFA093A6-D652-FB9C-981F-6C1A9A6051B2}"/>
              </a:ext>
            </a:extLst>
          </p:cNvPr>
          <p:cNvSpPr/>
          <p:nvPr/>
        </p:nvSpPr>
        <p:spPr>
          <a:xfrm>
            <a:off x="7765459" y="5875299"/>
            <a:ext cx="555203" cy="465105"/>
          </a:xfrm>
          <a:prstGeom prst="roundRect">
            <a:avLst/>
          </a:prstGeom>
          <a:solidFill>
            <a:srgbClr val="C5E0B4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TW" altLang="en-US" dirty="0">
                <a:solidFill>
                  <a:schemeClr val="tx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閱</a:t>
            </a:r>
          </a:p>
        </p:txBody>
      </p:sp>
      <p:cxnSp>
        <p:nvCxnSpPr>
          <p:cNvPr id="25" name="直線箭頭接點 24">
            <a:extLst>
              <a:ext uri="{FF2B5EF4-FFF2-40B4-BE49-F238E27FC236}">
                <a16:creationId xmlns:a16="http://schemas.microsoft.com/office/drawing/2014/main" id="{7F3B3190-E72E-643D-93CB-608777666BD3}"/>
              </a:ext>
            </a:extLst>
          </p:cNvPr>
          <p:cNvCxnSpPr>
            <a:cxnSpLocks/>
          </p:cNvCxnSpPr>
          <p:nvPr/>
        </p:nvCxnSpPr>
        <p:spPr>
          <a:xfrm>
            <a:off x="4803520" y="2973606"/>
            <a:ext cx="564576" cy="282743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文字方塊 29">
            <a:extLst>
              <a:ext uri="{FF2B5EF4-FFF2-40B4-BE49-F238E27FC236}">
                <a16:creationId xmlns:a16="http://schemas.microsoft.com/office/drawing/2014/main" id="{2F854194-AB48-F899-2268-7C0032F1FAA2}"/>
              </a:ext>
            </a:extLst>
          </p:cNvPr>
          <p:cNvSpPr txBox="1"/>
          <p:nvPr/>
        </p:nvSpPr>
        <p:spPr>
          <a:xfrm>
            <a:off x="5341154" y="2030202"/>
            <a:ext cx="18277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TW" b="1" dirty="0"/>
              <a:t>Output sequence</a:t>
            </a:r>
            <a:endParaRPr kumimoji="1" lang="zh-TW" altLang="en-US" b="1" dirty="0"/>
          </a:p>
        </p:txBody>
      </p:sp>
      <p:sp>
        <p:nvSpPr>
          <p:cNvPr id="39" name="文字方塊 38">
            <a:extLst>
              <a:ext uri="{FF2B5EF4-FFF2-40B4-BE49-F238E27FC236}">
                <a16:creationId xmlns:a16="http://schemas.microsoft.com/office/drawing/2014/main" id="{F2320F57-7B44-9078-4A9B-FC659F9A264B}"/>
              </a:ext>
            </a:extLst>
          </p:cNvPr>
          <p:cNvSpPr txBox="1"/>
          <p:nvPr/>
        </p:nvSpPr>
        <p:spPr>
          <a:xfrm>
            <a:off x="653143" y="1509798"/>
            <a:ext cx="407865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sz="2000" b="1" dirty="0"/>
              <a:t>Example: I love reading books.</a:t>
            </a:r>
            <a:endParaRPr kumimoji="1" lang="zh-TW" altLang="en-US" sz="2000" b="1" dirty="0"/>
          </a:p>
        </p:txBody>
      </p:sp>
      <p:sp>
        <p:nvSpPr>
          <p:cNvPr id="40" name="圓角矩形 39">
            <a:extLst>
              <a:ext uri="{FF2B5EF4-FFF2-40B4-BE49-F238E27FC236}">
                <a16:creationId xmlns:a16="http://schemas.microsoft.com/office/drawing/2014/main" id="{EFCB5D60-D5EF-8A6E-A2E6-D9AD594279EB}"/>
              </a:ext>
            </a:extLst>
          </p:cNvPr>
          <p:cNvSpPr/>
          <p:nvPr/>
        </p:nvSpPr>
        <p:spPr>
          <a:xfrm>
            <a:off x="6584448" y="2479043"/>
            <a:ext cx="555203" cy="465105"/>
          </a:xfrm>
          <a:prstGeom prst="roundRect">
            <a:avLst/>
          </a:prstGeom>
          <a:solidFill>
            <a:srgbClr val="C5E0B4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TW" altLang="en-US" dirty="0">
                <a:solidFill>
                  <a:schemeClr val="tx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閱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1" name="圓角矩形 40">
                <a:extLst>
                  <a:ext uri="{FF2B5EF4-FFF2-40B4-BE49-F238E27FC236}">
                    <a16:creationId xmlns:a16="http://schemas.microsoft.com/office/drawing/2014/main" id="{F506E2D5-48A0-CDB2-CBF6-9C1646EB4B43}"/>
                  </a:ext>
                </a:extLst>
              </p:cNvPr>
              <p:cNvSpPr/>
              <p:nvPr/>
            </p:nvSpPr>
            <p:spPr>
              <a:xfrm>
                <a:off x="7765459" y="2476978"/>
                <a:ext cx="555203" cy="465105"/>
              </a:xfrm>
              <a:prstGeom prst="roundRect">
                <a:avLst/>
              </a:prstGeom>
              <a:solidFill>
                <a:srgbClr val="C5E0B4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zh-TW" altLang="en-US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讀</m:t>
                      </m:r>
                    </m:oMath>
                  </m:oMathPara>
                </a14:m>
                <a:endParaRPr kumimoji="1" lang="zh-TW" altLang="en-US" dirty="0">
                  <a:solidFill>
                    <a:schemeClr val="tx1"/>
                  </a:solidFill>
                  <a:latin typeface="Microsoft JhengHei" panose="020B0604030504040204" pitchFamily="34" charset="-120"/>
                  <a:ea typeface="Microsoft JhengHei" panose="020B0604030504040204" pitchFamily="34" charset="-120"/>
                </a:endParaRPr>
              </a:p>
            </p:txBody>
          </p:sp>
        </mc:Choice>
        <mc:Fallback xmlns="">
          <p:sp>
            <p:nvSpPr>
              <p:cNvPr id="41" name="圓角矩形 40">
                <a:extLst>
                  <a:ext uri="{FF2B5EF4-FFF2-40B4-BE49-F238E27FC236}">
                    <a16:creationId xmlns:a16="http://schemas.microsoft.com/office/drawing/2014/main" id="{F506E2D5-48A0-CDB2-CBF6-9C1646EB4B4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65459" y="2476978"/>
                <a:ext cx="555203" cy="465105"/>
              </a:xfrm>
              <a:prstGeom prst="roundRect">
                <a:avLst/>
              </a:prstGeom>
              <a:blipFill>
                <a:blip r:embed="rId6"/>
                <a:stretch>
                  <a:fillRect/>
                </a:stretch>
              </a:blipFill>
              <a:ln w="19050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2" name="圓角矩形 41">
            <a:extLst>
              <a:ext uri="{FF2B5EF4-FFF2-40B4-BE49-F238E27FC236}">
                <a16:creationId xmlns:a16="http://schemas.microsoft.com/office/drawing/2014/main" id="{05B33106-FD84-0646-11B6-F80CB8D74ABD}"/>
              </a:ext>
            </a:extLst>
          </p:cNvPr>
          <p:cNvSpPr/>
          <p:nvPr/>
        </p:nvSpPr>
        <p:spPr>
          <a:xfrm>
            <a:off x="4216688" y="2479349"/>
            <a:ext cx="555203" cy="465105"/>
          </a:xfrm>
          <a:prstGeom prst="roundRect">
            <a:avLst/>
          </a:prstGeom>
          <a:solidFill>
            <a:srgbClr val="C5E0B4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TW" altLang="en-US" dirty="0">
                <a:solidFill>
                  <a:schemeClr val="tx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我</a:t>
            </a:r>
          </a:p>
        </p:txBody>
      </p:sp>
      <p:sp>
        <p:nvSpPr>
          <p:cNvPr id="43" name="圓角矩形 42">
            <a:extLst>
              <a:ext uri="{FF2B5EF4-FFF2-40B4-BE49-F238E27FC236}">
                <a16:creationId xmlns:a16="http://schemas.microsoft.com/office/drawing/2014/main" id="{E091960A-A2E6-B145-F9F6-A6BB77E06E92}"/>
              </a:ext>
            </a:extLst>
          </p:cNvPr>
          <p:cNvSpPr/>
          <p:nvPr/>
        </p:nvSpPr>
        <p:spPr>
          <a:xfrm>
            <a:off x="5403437" y="2476202"/>
            <a:ext cx="555203" cy="465105"/>
          </a:xfrm>
          <a:prstGeom prst="roundRect">
            <a:avLst/>
          </a:prstGeom>
          <a:solidFill>
            <a:srgbClr val="C5E0B4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TW" altLang="en-US" dirty="0">
                <a:solidFill>
                  <a:schemeClr val="tx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愛</a:t>
            </a:r>
          </a:p>
        </p:txBody>
      </p:sp>
      <p:cxnSp>
        <p:nvCxnSpPr>
          <p:cNvPr id="44" name="直線箭頭接點 43">
            <a:extLst>
              <a:ext uri="{FF2B5EF4-FFF2-40B4-BE49-F238E27FC236}">
                <a16:creationId xmlns:a16="http://schemas.microsoft.com/office/drawing/2014/main" id="{0F9A47E1-8EB0-2A0E-83BE-D9122E413665}"/>
              </a:ext>
            </a:extLst>
          </p:cNvPr>
          <p:cNvCxnSpPr>
            <a:cxnSpLocks/>
          </p:cNvCxnSpPr>
          <p:nvPr/>
        </p:nvCxnSpPr>
        <p:spPr>
          <a:xfrm flipV="1">
            <a:off x="8043060" y="2959063"/>
            <a:ext cx="0" cy="729173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直線箭頭接點 47">
            <a:extLst>
              <a:ext uri="{FF2B5EF4-FFF2-40B4-BE49-F238E27FC236}">
                <a16:creationId xmlns:a16="http://schemas.microsoft.com/office/drawing/2014/main" id="{72EC96D5-E94C-AA10-B4B3-E0067EEA97CD}"/>
              </a:ext>
            </a:extLst>
          </p:cNvPr>
          <p:cNvCxnSpPr>
            <a:cxnSpLocks/>
          </p:cNvCxnSpPr>
          <p:nvPr/>
        </p:nvCxnSpPr>
        <p:spPr>
          <a:xfrm flipV="1">
            <a:off x="6862049" y="2959063"/>
            <a:ext cx="0" cy="729173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直線箭頭接點 48">
            <a:extLst>
              <a:ext uri="{FF2B5EF4-FFF2-40B4-BE49-F238E27FC236}">
                <a16:creationId xmlns:a16="http://schemas.microsoft.com/office/drawing/2014/main" id="{BB59BC2C-9D54-139F-361A-192F399CC0AB}"/>
              </a:ext>
            </a:extLst>
          </p:cNvPr>
          <p:cNvCxnSpPr>
            <a:cxnSpLocks/>
          </p:cNvCxnSpPr>
          <p:nvPr/>
        </p:nvCxnSpPr>
        <p:spPr>
          <a:xfrm flipV="1">
            <a:off x="5681038" y="2959063"/>
            <a:ext cx="0" cy="729173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直線箭頭接點 49">
            <a:extLst>
              <a:ext uri="{FF2B5EF4-FFF2-40B4-BE49-F238E27FC236}">
                <a16:creationId xmlns:a16="http://schemas.microsoft.com/office/drawing/2014/main" id="{129D14C3-8430-C7C0-EA57-F43A7D124FC6}"/>
              </a:ext>
            </a:extLst>
          </p:cNvPr>
          <p:cNvCxnSpPr>
            <a:cxnSpLocks/>
          </p:cNvCxnSpPr>
          <p:nvPr/>
        </p:nvCxnSpPr>
        <p:spPr>
          <a:xfrm flipV="1">
            <a:off x="4494289" y="2973606"/>
            <a:ext cx="0" cy="729173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直線箭頭接點 52">
            <a:extLst>
              <a:ext uri="{FF2B5EF4-FFF2-40B4-BE49-F238E27FC236}">
                <a16:creationId xmlns:a16="http://schemas.microsoft.com/office/drawing/2014/main" id="{CE894B40-1057-9F2B-5C8F-0FDFCE129E0B}"/>
              </a:ext>
            </a:extLst>
          </p:cNvPr>
          <p:cNvCxnSpPr>
            <a:cxnSpLocks/>
          </p:cNvCxnSpPr>
          <p:nvPr/>
        </p:nvCxnSpPr>
        <p:spPr>
          <a:xfrm>
            <a:off x="6050128" y="2973606"/>
            <a:ext cx="564576" cy="282743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直線箭頭接點 53">
            <a:extLst>
              <a:ext uri="{FF2B5EF4-FFF2-40B4-BE49-F238E27FC236}">
                <a16:creationId xmlns:a16="http://schemas.microsoft.com/office/drawing/2014/main" id="{6F7C5FB3-7FB6-A748-E113-0544FCA41B65}"/>
              </a:ext>
            </a:extLst>
          </p:cNvPr>
          <p:cNvCxnSpPr>
            <a:cxnSpLocks/>
          </p:cNvCxnSpPr>
          <p:nvPr/>
        </p:nvCxnSpPr>
        <p:spPr>
          <a:xfrm>
            <a:off x="7261234" y="2973606"/>
            <a:ext cx="564576" cy="282743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文字方塊 54">
            <a:extLst>
              <a:ext uri="{FF2B5EF4-FFF2-40B4-BE49-F238E27FC236}">
                <a16:creationId xmlns:a16="http://schemas.microsoft.com/office/drawing/2014/main" id="{68F4C68A-23A8-051E-6DFC-1BCFD51EFFBF}"/>
              </a:ext>
            </a:extLst>
          </p:cNvPr>
          <p:cNvSpPr txBox="1"/>
          <p:nvPr/>
        </p:nvSpPr>
        <p:spPr>
          <a:xfrm rot="16200000">
            <a:off x="3562506" y="3100565"/>
            <a:ext cx="10334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dirty="0">
                <a:solidFill>
                  <a:srgbClr val="FF0000"/>
                </a:solidFill>
              </a:rPr>
              <a:t>argmax</a:t>
            </a:r>
            <a:endParaRPr kumimoji="1" lang="zh-TW" altLang="en-US" dirty="0">
              <a:solidFill>
                <a:srgbClr val="FF0000"/>
              </a:solidFill>
            </a:endParaRPr>
          </a:p>
        </p:txBody>
      </p:sp>
      <p:sp>
        <p:nvSpPr>
          <p:cNvPr id="56" name="文字方塊 55">
            <a:extLst>
              <a:ext uri="{FF2B5EF4-FFF2-40B4-BE49-F238E27FC236}">
                <a16:creationId xmlns:a16="http://schemas.microsoft.com/office/drawing/2014/main" id="{B20CD42F-41A4-4CA0-EF42-A47007323B50}"/>
              </a:ext>
            </a:extLst>
          </p:cNvPr>
          <p:cNvSpPr txBox="1"/>
          <p:nvPr/>
        </p:nvSpPr>
        <p:spPr>
          <a:xfrm rot="16200000">
            <a:off x="4800554" y="3100565"/>
            <a:ext cx="10334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dirty="0">
                <a:solidFill>
                  <a:srgbClr val="FF0000"/>
                </a:solidFill>
              </a:rPr>
              <a:t>argmax</a:t>
            </a:r>
            <a:endParaRPr kumimoji="1" lang="zh-TW" altLang="en-US" dirty="0">
              <a:solidFill>
                <a:srgbClr val="FF0000"/>
              </a:solidFill>
            </a:endParaRPr>
          </a:p>
        </p:txBody>
      </p:sp>
      <p:sp>
        <p:nvSpPr>
          <p:cNvPr id="57" name="文字方塊 56">
            <a:extLst>
              <a:ext uri="{FF2B5EF4-FFF2-40B4-BE49-F238E27FC236}">
                <a16:creationId xmlns:a16="http://schemas.microsoft.com/office/drawing/2014/main" id="{F34B5BDC-8E9A-2AD1-F854-0F6F33ECD713}"/>
              </a:ext>
            </a:extLst>
          </p:cNvPr>
          <p:cNvSpPr txBox="1"/>
          <p:nvPr/>
        </p:nvSpPr>
        <p:spPr>
          <a:xfrm rot="16200000">
            <a:off x="6022077" y="3100565"/>
            <a:ext cx="10334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dirty="0">
                <a:solidFill>
                  <a:srgbClr val="FF0000"/>
                </a:solidFill>
              </a:rPr>
              <a:t>argmax</a:t>
            </a:r>
            <a:endParaRPr kumimoji="1" lang="zh-TW" altLang="en-US" dirty="0">
              <a:solidFill>
                <a:srgbClr val="FF0000"/>
              </a:solidFill>
            </a:endParaRPr>
          </a:p>
        </p:txBody>
      </p:sp>
      <p:sp>
        <p:nvSpPr>
          <p:cNvPr id="58" name="文字方塊 57">
            <a:extLst>
              <a:ext uri="{FF2B5EF4-FFF2-40B4-BE49-F238E27FC236}">
                <a16:creationId xmlns:a16="http://schemas.microsoft.com/office/drawing/2014/main" id="{29DB70D5-1F42-DBE7-E4D1-623D03A8C975}"/>
              </a:ext>
            </a:extLst>
          </p:cNvPr>
          <p:cNvSpPr txBox="1"/>
          <p:nvPr/>
        </p:nvSpPr>
        <p:spPr>
          <a:xfrm rot="16200000">
            <a:off x="7203088" y="3100565"/>
            <a:ext cx="10334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dirty="0">
                <a:solidFill>
                  <a:srgbClr val="FF0000"/>
                </a:solidFill>
              </a:rPr>
              <a:t>argmax</a:t>
            </a:r>
            <a:endParaRPr kumimoji="1" lang="zh-TW" alt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2749795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7F7AAC-3698-0437-EBB7-11AC8AB8DF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9B0B34C-27C4-4923-83EA-6055F12B60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zh-TW" altLang="en-US" dirty="0"/>
              <a:t>文字生成過程</a:t>
            </a:r>
            <a:r>
              <a:rPr kumimoji="1" lang="en-US" altLang="zh-TW" dirty="0"/>
              <a:t> – Greedy Decoding</a:t>
            </a:r>
            <a:endParaRPr lang="zh-TW" altLang="en-US" dirty="0">
              <a:ea typeface="新細明體"/>
              <a:cs typeface="Calibri Light"/>
            </a:endParaRPr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8D36D44F-662B-6381-1EBC-38981C5488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dirty="0"/>
              <a:t>20</a:t>
            </a:fld>
            <a:endParaRPr lang="zh-TW" altLang="en-US"/>
          </a:p>
        </p:txBody>
      </p:sp>
      <p:sp>
        <p:nvSpPr>
          <p:cNvPr id="14" name="圓角矩形 13">
            <a:extLst>
              <a:ext uri="{FF2B5EF4-FFF2-40B4-BE49-F238E27FC236}">
                <a16:creationId xmlns:a16="http://schemas.microsoft.com/office/drawing/2014/main" id="{99333514-A9ED-D2DF-DBB1-7495A7310C25}"/>
              </a:ext>
            </a:extLst>
          </p:cNvPr>
          <p:cNvSpPr/>
          <p:nvPr/>
        </p:nvSpPr>
        <p:spPr>
          <a:xfrm>
            <a:off x="2208394" y="5528709"/>
            <a:ext cx="673768" cy="571500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dirty="0">
                <a:solidFill>
                  <a:schemeClr val="tx1"/>
                </a:solidFill>
              </a:rPr>
              <a:t>love</a:t>
            </a:r>
            <a:endParaRPr kumimoji="1" lang="zh-TW" altLang="en-US" dirty="0">
              <a:solidFill>
                <a:schemeClr val="tx1"/>
              </a:solidFill>
            </a:endParaRPr>
          </a:p>
        </p:txBody>
      </p:sp>
      <p:sp>
        <p:nvSpPr>
          <p:cNvPr id="15" name="圓角矩形 14">
            <a:extLst>
              <a:ext uri="{FF2B5EF4-FFF2-40B4-BE49-F238E27FC236}">
                <a16:creationId xmlns:a16="http://schemas.microsoft.com/office/drawing/2014/main" id="{360F912D-E45F-2403-79BC-CD94A0CFDB6E}"/>
              </a:ext>
            </a:extLst>
          </p:cNvPr>
          <p:cNvSpPr/>
          <p:nvPr/>
        </p:nvSpPr>
        <p:spPr>
          <a:xfrm>
            <a:off x="844026" y="5528708"/>
            <a:ext cx="673768" cy="571500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dirty="0">
                <a:solidFill>
                  <a:schemeClr val="tx1"/>
                </a:solidFill>
              </a:rPr>
              <a:t>I</a:t>
            </a:r>
            <a:endParaRPr kumimoji="1" lang="zh-TW" altLang="en-US" dirty="0">
              <a:solidFill>
                <a:schemeClr val="tx1"/>
              </a:solidFill>
            </a:endParaRPr>
          </a:p>
        </p:txBody>
      </p:sp>
      <p:sp>
        <p:nvSpPr>
          <p:cNvPr id="16" name="圓角矩形 15">
            <a:extLst>
              <a:ext uri="{FF2B5EF4-FFF2-40B4-BE49-F238E27FC236}">
                <a16:creationId xmlns:a16="http://schemas.microsoft.com/office/drawing/2014/main" id="{3BC8B8E6-B6A4-055A-C611-3A7F7A789B23}"/>
              </a:ext>
            </a:extLst>
          </p:cNvPr>
          <p:cNvSpPr/>
          <p:nvPr/>
        </p:nvSpPr>
        <p:spPr>
          <a:xfrm>
            <a:off x="3555699" y="5528708"/>
            <a:ext cx="673768" cy="571500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dirty="0">
                <a:solidFill>
                  <a:schemeClr val="tx1"/>
                </a:solidFill>
              </a:rPr>
              <a:t>an</a:t>
            </a:r>
            <a:endParaRPr kumimoji="1" lang="zh-TW" altLang="en-US" dirty="0">
              <a:solidFill>
                <a:schemeClr val="tx1"/>
              </a:solidFill>
            </a:endParaRPr>
          </a:p>
        </p:txBody>
      </p:sp>
      <p:cxnSp>
        <p:nvCxnSpPr>
          <p:cNvPr id="3" name="直線箭頭接點 2">
            <a:extLst>
              <a:ext uri="{FF2B5EF4-FFF2-40B4-BE49-F238E27FC236}">
                <a16:creationId xmlns:a16="http://schemas.microsoft.com/office/drawing/2014/main" id="{7A1DE3D8-6CB9-D189-260B-C053966A5927}"/>
              </a:ext>
            </a:extLst>
          </p:cNvPr>
          <p:cNvCxnSpPr>
            <a:cxnSpLocks/>
          </p:cNvCxnSpPr>
          <p:nvPr/>
        </p:nvCxnSpPr>
        <p:spPr>
          <a:xfrm flipV="1">
            <a:off x="1170180" y="4941500"/>
            <a:ext cx="0" cy="509716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矩形 5">
            <a:extLst>
              <a:ext uri="{FF2B5EF4-FFF2-40B4-BE49-F238E27FC236}">
                <a16:creationId xmlns:a16="http://schemas.microsoft.com/office/drawing/2014/main" id="{7B8B0E50-E864-8ABC-22EF-6B4232B37327}"/>
              </a:ext>
            </a:extLst>
          </p:cNvPr>
          <p:cNvSpPr/>
          <p:nvPr/>
        </p:nvSpPr>
        <p:spPr>
          <a:xfrm>
            <a:off x="748877" y="4119834"/>
            <a:ext cx="842606" cy="72841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sz="2000" b="1" dirty="0">
                <a:solidFill>
                  <a:schemeClr val="tx1"/>
                </a:solidFill>
              </a:rPr>
              <a:t>RNN</a:t>
            </a:r>
            <a:endParaRPr kumimoji="1" lang="zh-TW" altLang="en-US" sz="2000" b="1" dirty="0">
              <a:solidFill>
                <a:schemeClr val="tx1"/>
              </a:solidFill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BEDEB8D5-F22B-1307-DF2F-D1291CD7C69C}"/>
              </a:ext>
            </a:extLst>
          </p:cNvPr>
          <p:cNvSpPr/>
          <p:nvPr/>
        </p:nvSpPr>
        <p:spPr>
          <a:xfrm>
            <a:off x="2118610" y="4119834"/>
            <a:ext cx="842606" cy="72841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sz="2000" b="1" dirty="0">
                <a:solidFill>
                  <a:schemeClr val="tx1"/>
                </a:solidFill>
              </a:rPr>
              <a:t>RNN</a:t>
            </a:r>
            <a:endParaRPr kumimoji="1" lang="zh-TW" altLang="en-US" sz="2000" b="1" dirty="0">
              <a:solidFill>
                <a:schemeClr val="tx1"/>
              </a:solidFill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E61C17B5-E1BC-888F-10F3-C873FD5DF4EA}"/>
              </a:ext>
            </a:extLst>
          </p:cNvPr>
          <p:cNvSpPr/>
          <p:nvPr/>
        </p:nvSpPr>
        <p:spPr>
          <a:xfrm>
            <a:off x="3471280" y="4119833"/>
            <a:ext cx="842606" cy="72841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sz="2000" b="1" dirty="0">
                <a:solidFill>
                  <a:schemeClr val="tx1"/>
                </a:solidFill>
              </a:rPr>
              <a:t>RNN</a:t>
            </a:r>
            <a:endParaRPr kumimoji="1" lang="zh-TW" altLang="en-US" sz="2000" b="1" dirty="0">
              <a:solidFill>
                <a:schemeClr val="tx1"/>
              </a:solidFill>
            </a:endParaRPr>
          </a:p>
        </p:txBody>
      </p:sp>
      <p:cxnSp>
        <p:nvCxnSpPr>
          <p:cNvPr id="10" name="直線箭頭接點 9">
            <a:extLst>
              <a:ext uri="{FF2B5EF4-FFF2-40B4-BE49-F238E27FC236}">
                <a16:creationId xmlns:a16="http://schemas.microsoft.com/office/drawing/2014/main" id="{5DD039A7-D0F4-DB4F-80A6-44D88046402D}"/>
              </a:ext>
            </a:extLst>
          </p:cNvPr>
          <p:cNvCxnSpPr>
            <a:cxnSpLocks/>
          </p:cNvCxnSpPr>
          <p:nvPr/>
        </p:nvCxnSpPr>
        <p:spPr>
          <a:xfrm flipV="1">
            <a:off x="2539913" y="4941501"/>
            <a:ext cx="0" cy="509716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線箭頭接點 10">
            <a:extLst>
              <a:ext uri="{FF2B5EF4-FFF2-40B4-BE49-F238E27FC236}">
                <a16:creationId xmlns:a16="http://schemas.microsoft.com/office/drawing/2014/main" id="{AC3A0C7B-BA48-40E3-0D45-2466D862AFC7}"/>
              </a:ext>
            </a:extLst>
          </p:cNvPr>
          <p:cNvCxnSpPr>
            <a:cxnSpLocks/>
          </p:cNvCxnSpPr>
          <p:nvPr/>
        </p:nvCxnSpPr>
        <p:spPr>
          <a:xfrm flipV="1">
            <a:off x="3893752" y="4941500"/>
            <a:ext cx="0" cy="509716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線箭頭接點 11">
            <a:extLst>
              <a:ext uri="{FF2B5EF4-FFF2-40B4-BE49-F238E27FC236}">
                <a16:creationId xmlns:a16="http://schemas.microsoft.com/office/drawing/2014/main" id="{902259C5-4291-F7C3-0CC8-16FE7D34EECF}"/>
              </a:ext>
            </a:extLst>
          </p:cNvPr>
          <p:cNvCxnSpPr>
            <a:cxnSpLocks/>
          </p:cNvCxnSpPr>
          <p:nvPr/>
        </p:nvCxnSpPr>
        <p:spPr>
          <a:xfrm>
            <a:off x="1633449" y="4503236"/>
            <a:ext cx="454165" cy="0"/>
          </a:xfrm>
          <a:prstGeom prst="straightConnector1">
            <a:avLst/>
          </a:prstGeom>
          <a:ln w="28575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直線箭頭接點 25">
            <a:extLst>
              <a:ext uri="{FF2B5EF4-FFF2-40B4-BE49-F238E27FC236}">
                <a16:creationId xmlns:a16="http://schemas.microsoft.com/office/drawing/2014/main" id="{6200FF65-82A7-2EC7-4D9E-916754ABA72D}"/>
              </a:ext>
            </a:extLst>
          </p:cNvPr>
          <p:cNvCxnSpPr>
            <a:cxnSpLocks/>
          </p:cNvCxnSpPr>
          <p:nvPr/>
        </p:nvCxnSpPr>
        <p:spPr>
          <a:xfrm>
            <a:off x="3017115" y="4503236"/>
            <a:ext cx="454165" cy="0"/>
          </a:xfrm>
          <a:prstGeom prst="straightConnector1">
            <a:avLst/>
          </a:prstGeom>
          <a:ln w="28575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直線箭頭接點 32">
            <a:extLst>
              <a:ext uri="{FF2B5EF4-FFF2-40B4-BE49-F238E27FC236}">
                <a16:creationId xmlns:a16="http://schemas.microsoft.com/office/drawing/2014/main" id="{80A2930E-9034-489E-82C9-CCB0C2676CE9}"/>
              </a:ext>
            </a:extLst>
          </p:cNvPr>
          <p:cNvCxnSpPr>
            <a:cxnSpLocks/>
          </p:cNvCxnSpPr>
          <p:nvPr/>
        </p:nvCxnSpPr>
        <p:spPr>
          <a:xfrm flipV="1">
            <a:off x="3884908" y="3532499"/>
            <a:ext cx="0" cy="509716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4" name="圓角矩形 33">
                <a:extLst>
                  <a:ext uri="{FF2B5EF4-FFF2-40B4-BE49-F238E27FC236}">
                    <a16:creationId xmlns:a16="http://schemas.microsoft.com/office/drawing/2014/main" id="{DB213551-F323-62D0-E3D0-98A259299C76}"/>
                  </a:ext>
                </a:extLst>
              </p:cNvPr>
              <p:cNvSpPr/>
              <p:nvPr/>
            </p:nvSpPr>
            <p:spPr>
              <a:xfrm>
                <a:off x="3548024" y="2844165"/>
                <a:ext cx="673768" cy="571500"/>
              </a:xfrm>
              <a:prstGeom prst="roundRect">
                <a:avLst/>
              </a:prstGeom>
              <a:noFill/>
              <a:ln w="28575">
                <a:solidFill>
                  <a:srgbClr val="00B05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 xmlns:m="http://schemas.openxmlformats.org/officeDocument/2006/math">
                    <m:r>
                      <a:rPr kumimoji="1" lang="en-US" altLang="zh-TW" sz="20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𝒉</m:t>
                    </m:r>
                  </m:oMath>
                </a14:m>
                <a:r>
                  <a:rPr kumimoji="1" lang="en-US" altLang="zh-TW" sz="2000" b="1" baseline="-25000" dirty="0">
                    <a:solidFill>
                      <a:schemeClr val="tx1"/>
                    </a:solidFill>
                  </a:rPr>
                  <a:t>3</a:t>
                </a:r>
                <a:endParaRPr kumimoji="1" lang="zh-TW" altLang="en-US" sz="2000" b="1" baseline="-25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4" name="圓角矩形 33">
                <a:extLst>
                  <a:ext uri="{FF2B5EF4-FFF2-40B4-BE49-F238E27FC236}">
                    <a16:creationId xmlns:a16="http://schemas.microsoft.com/office/drawing/2014/main" id="{DB213551-F323-62D0-E3D0-98A259299C7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48024" y="2844165"/>
                <a:ext cx="673768" cy="571500"/>
              </a:xfrm>
              <a:prstGeom prst="roundRect">
                <a:avLst/>
              </a:prstGeom>
              <a:blipFill>
                <a:blip r:embed="rId3"/>
                <a:stretch>
                  <a:fillRect/>
                </a:stretch>
              </a:blipFill>
              <a:ln w="28575">
                <a:solidFill>
                  <a:srgbClr val="00B050"/>
                </a:solidFill>
              </a:ln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6" name="矩形 35">
                <a:extLst>
                  <a:ext uri="{FF2B5EF4-FFF2-40B4-BE49-F238E27FC236}">
                    <a16:creationId xmlns:a16="http://schemas.microsoft.com/office/drawing/2014/main" id="{8B7A972F-006F-9127-5E20-1D892E2619F0}"/>
                  </a:ext>
                </a:extLst>
              </p:cNvPr>
              <p:cNvSpPr/>
              <p:nvPr/>
            </p:nvSpPr>
            <p:spPr>
              <a:xfrm>
                <a:off x="5086637" y="2579690"/>
                <a:ext cx="2727045" cy="1103752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kumimoji="1" lang="en-US" altLang="zh-TW" dirty="0">
                    <a:solidFill>
                      <a:schemeClr val="tx1"/>
                    </a:solidFill>
                  </a:rPr>
                  <a:t>Classification Layer</a:t>
                </a:r>
              </a:p>
              <a:p>
                <a:pPr algn="ctr"/>
                <a:r>
                  <a:rPr kumimoji="1" lang="en-US" altLang="zh-TW" dirty="0">
                    <a:solidFill>
                      <a:schemeClr val="tx1"/>
                    </a:solidFill>
                  </a:rPr>
                  <a:t>(</a:t>
                </a:r>
                <a:r>
                  <a:rPr kumimoji="1" lang="zh-TW" altLang="en-US" dirty="0">
                    <a:solidFill>
                      <a:schemeClr val="tx1"/>
                    </a:solidFill>
                  </a:rPr>
                  <a:t>大矩陣</a:t>
                </a:r>
                <a:r>
                  <a:rPr kumimoji="1" lang="en-US" altLang="zh-TW" dirty="0">
                    <a:solidFill>
                      <a:schemeClr val="tx1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TW" sz="1800" i="1" kern="100" smtClean="0"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rPr>
                      <m:t>𝑊</m:t>
                    </m:r>
                    <m:r>
                      <a:rPr lang="en-US" altLang="zh-TW" sz="1800" i="1" kern="100" smtClean="0"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rPr>
                      <m:t>∈</m:t>
                    </m:r>
                    <m:sSup>
                      <m:sSupPr>
                        <m:ctrlPr>
                          <a:rPr lang="zh-TW" altLang="zh-TW" sz="1800" i="1" kern="10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altLang="zh-TW" sz="1800" i="1" kern="10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rPr>
                          <m:t>ℝ</m:t>
                        </m:r>
                      </m:e>
                      <m:sup>
                        <m:r>
                          <a:rPr lang="en-US" altLang="zh-TW" sz="1800" i="1" kern="100" smtClean="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rPr>
                          <m:t>10</m:t>
                        </m:r>
                        <m:r>
                          <a:rPr lang="en-US" altLang="zh-TW" sz="1800" i="1" kern="10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rPr>
                          <m:t>0×40000</m:t>
                        </m:r>
                      </m:sup>
                    </m:sSup>
                  </m:oMath>
                </a14:m>
                <a:r>
                  <a:rPr kumimoji="1" lang="en-US" altLang="zh-TW" dirty="0">
                    <a:solidFill>
                      <a:schemeClr val="tx1"/>
                    </a:solidFill>
                  </a:rPr>
                  <a:t>)</a:t>
                </a:r>
              </a:p>
              <a:p>
                <a:pPr algn="ctr"/>
                <a:r>
                  <a:rPr kumimoji="1" lang="en-US" altLang="zh-TW" dirty="0">
                    <a:solidFill>
                      <a:schemeClr val="tx1"/>
                    </a:solidFill>
                  </a:rPr>
                  <a:t>+ </a:t>
                </a:r>
                <a:r>
                  <a:rPr kumimoji="1" lang="en-US" altLang="zh-TW" dirty="0" err="1">
                    <a:solidFill>
                      <a:schemeClr val="tx1"/>
                    </a:solidFill>
                  </a:rPr>
                  <a:t>Softmax</a:t>
                </a:r>
                <a:endParaRPr kumimoji="1" lang="zh-TW" alt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6" name="矩形 35">
                <a:extLst>
                  <a:ext uri="{FF2B5EF4-FFF2-40B4-BE49-F238E27FC236}">
                    <a16:creationId xmlns:a16="http://schemas.microsoft.com/office/drawing/2014/main" id="{8B7A972F-006F-9127-5E20-1D892E2619F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86637" y="2579690"/>
                <a:ext cx="2727045" cy="110375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7" name="直線箭頭接點 36">
            <a:extLst>
              <a:ext uri="{FF2B5EF4-FFF2-40B4-BE49-F238E27FC236}">
                <a16:creationId xmlns:a16="http://schemas.microsoft.com/office/drawing/2014/main" id="{90589866-84DD-4B7D-974F-CBB8EF6E4C27}"/>
              </a:ext>
            </a:extLst>
          </p:cNvPr>
          <p:cNvCxnSpPr>
            <a:cxnSpLocks/>
          </p:cNvCxnSpPr>
          <p:nvPr/>
        </p:nvCxnSpPr>
        <p:spPr>
          <a:xfrm>
            <a:off x="4344882" y="3129915"/>
            <a:ext cx="637619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文字方塊 38">
            <a:extLst>
              <a:ext uri="{FF2B5EF4-FFF2-40B4-BE49-F238E27FC236}">
                <a16:creationId xmlns:a16="http://schemas.microsoft.com/office/drawing/2014/main" id="{AD7A5E11-8E2E-D3BD-5AAF-C8A28CE10962}"/>
              </a:ext>
            </a:extLst>
          </p:cNvPr>
          <p:cNvSpPr txBox="1"/>
          <p:nvPr/>
        </p:nvSpPr>
        <p:spPr>
          <a:xfrm>
            <a:off x="616717" y="1478736"/>
            <a:ext cx="65808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TW" altLang="en-US" dirty="0"/>
              <a:t>假設 </a:t>
            </a:r>
            <a:r>
              <a:rPr kumimoji="1" lang="en-US" altLang="zh-TW" dirty="0"/>
              <a:t>Hidden size </a:t>
            </a:r>
            <a:r>
              <a:rPr kumimoji="1" lang="zh-TW" altLang="en-US" dirty="0"/>
              <a:t>為</a:t>
            </a:r>
            <a:r>
              <a:rPr kumimoji="1" lang="en-US" altLang="zh-TW" dirty="0"/>
              <a:t> 100</a:t>
            </a:r>
            <a:r>
              <a:rPr kumimoji="1" lang="zh-TW" altLang="en-US" dirty="0"/>
              <a:t>；字典大小（</a:t>
            </a:r>
            <a:r>
              <a:rPr kumimoji="1" lang="en-US" altLang="zh-TW" dirty="0" err="1"/>
              <a:t>vocab_size</a:t>
            </a:r>
            <a:r>
              <a:rPr kumimoji="1" lang="zh-TW" altLang="en-US" dirty="0"/>
              <a:t>）為</a:t>
            </a:r>
            <a:r>
              <a:rPr kumimoji="1" lang="en-US" altLang="zh-TW" dirty="0"/>
              <a:t> 40000</a:t>
            </a:r>
            <a:endParaRPr kumimoji="1" lang="zh-TW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0" name="圓角矩形 39">
                <a:extLst>
                  <a:ext uri="{FF2B5EF4-FFF2-40B4-BE49-F238E27FC236}">
                    <a16:creationId xmlns:a16="http://schemas.microsoft.com/office/drawing/2014/main" id="{9537BBFB-F1F0-6DDD-B1B1-23683776AC05}"/>
                  </a:ext>
                </a:extLst>
              </p:cNvPr>
              <p:cNvSpPr/>
              <p:nvPr/>
            </p:nvSpPr>
            <p:spPr>
              <a:xfrm>
                <a:off x="6113275" y="4196899"/>
                <a:ext cx="673768" cy="571500"/>
              </a:xfrm>
              <a:prstGeom prst="roundRect">
                <a:avLst/>
              </a:prstGeom>
              <a:noFill/>
              <a:ln w="28575">
                <a:solidFill>
                  <a:srgbClr val="0070C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TW" sz="20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𝒉</m:t>
                      </m:r>
                      <m:r>
                        <a:rPr kumimoji="1" lang="en-US" altLang="zh-TW" sz="20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′</m:t>
                      </m:r>
                    </m:oMath>
                  </m:oMathPara>
                </a14:m>
                <a:endParaRPr kumimoji="1" lang="zh-TW" altLang="en-US" sz="2000" b="1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0" name="圓角矩形 39">
                <a:extLst>
                  <a:ext uri="{FF2B5EF4-FFF2-40B4-BE49-F238E27FC236}">
                    <a16:creationId xmlns:a16="http://schemas.microsoft.com/office/drawing/2014/main" id="{9537BBFB-F1F0-6DDD-B1B1-23683776AC0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13275" y="4196899"/>
                <a:ext cx="673768" cy="571500"/>
              </a:xfrm>
              <a:prstGeom prst="roundRect">
                <a:avLst/>
              </a:prstGeom>
              <a:blipFill>
                <a:blip r:embed="rId5"/>
                <a:stretch>
                  <a:fillRect/>
                </a:stretch>
              </a:blipFill>
              <a:ln w="28575">
                <a:solidFill>
                  <a:srgbClr val="0070C0"/>
                </a:solidFill>
              </a:ln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1" name="文字方塊 40">
            <a:extLst>
              <a:ext uri="{FF2B5EF4-FFF2-40B4-BE49-F238E27FC236}">
                <a16:creationId xmlns:a16="http://schemas.microsoft.com/office/drawing/2014/main" id="{FDE315BC-AB70-EE8C-A1B0-4E93619CCC75}"/>
              </a:ext>
            </a:extLst>
          </p:cNvPr>
          <p:cNvSpPr txBox="1"/>
          <p:nvPr/>
        </p:nvSpPr>
        <p:spPr>
          <a:xfrm>
            <a:off x="4982501" y="4848187"/>
            <a:ext cx="272704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sz="1600" dirty="0"/>
              <a:t>(</a:t>
            </a:r>
            <a:r>
              <a:rPr kumimoji="1" lang="zh-TW" altLang="en-US" sz="1600" dirty="0"/>
              <a:t>長度為</a:t>
            </a:r>
            <a:r>
              <a:rPr kumimoji="1" lang="en-US" altLang="zh-TW" sz="1600" dirty="0"/>
              <a:t>40000</a:t>
            </a:r>
            <a:r>
              <a:rPr kumimoji="1" lang="zh-TW" altLang="en-US" sz="1600" dirty="0"/>
              <a:t>的向量</a:t>
            </a:r>
            <a:r>
              <a:rPr kumimoji="1" lang="en-US" altLang="zh-TW" sz="1600" dirty="0"/>
              <a:t>)</a:t>
            </a:r>
            <a:endParaRPr kumimoji="1" lang="zh-TW" altLang="en-US" sz="1600" dirty="0"/>
          </a:p>
        </p:txBody>
      </p:sp>
      <p:cxnSp>
        <p:nvCxnSpPr>
          <p:cNvPr id="42" name="直線箭頭接點 41">
            <a:extLst>
              <a:ext uri="{FF2B5EF4-FFF2-40B4-BE49-F238E27FC236}">
                <a16:creationId xmlns:a16="http://schemas.microsoft.com/office/drawing/2014/main" id="{22F99083-AC89-DB7D-EA4B-D231AC57C577}"/>
              </a:ext>
            </a:extLst>
          </p:cNvPr>
          <p:cNvCxnSpPr>
            <a:cxnSpLocks/>
          </p:cNvCxnSpPr>
          <p:nvPr/>
        </p:nvCxnSpPr>
        <p:spPr>
          <a:xfrm>
            <a:off x="6450159" y="3741517"/>
            <a:ext cx="0" cy="378186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文字方塊 44">
            <a:extLst>
              <a:ext uri="{FF2B5EF4-FFF2-40B4-BE49-F238E27FC236}">
                <a16:creationId xmlns:a16="http://schemas.microsoft.com/office/drawing/2014/main" id="{60717F20-DF64-8151-6EBE-8D8E4DC8BA85}"/>
              </a:ext>
            </a:extLst>
          </p:cNvPr>
          <p:cNvSpPr txBox="1"/>
          <p:nvPr/>
        </p:nvSpPr>
        <p:spPr>
          <a:xfrm>
            <a:off x="8588709" y="2448627"/>
            <a:ext cx="1246720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dirty="0"/>
              <a:t>a</a:t>
            </a:r>
          </a:p>
          <a:p>
            <a:r>
              <a:rPr kumimoji="1" lang="en-US" altLang="zh-TW" dirty="0"/>
              <a:t>...</a:t>
            </a:r>
          </a:p>
          <a:p>
            <a:r>
              <a:rPr kumimoji="1" lang="en-US" altLang="zh-TW" dirty="0"/>
              <a:t>apple</a:t>
            </a:r>
          </a:p>
          <a:p>
            <a:r>
              <a:rPr kumimoji="1" lang="en-US" altLang="zh-TW" dirty="0"/>
              <a:t>...</a:t>
            </a:r>
          </a:p>
          <a:p>
            <a:r>
              <a:rPr kumimoji="1" lang="en-US" altLang="zh-TW" dirty="0"/>
              <a:t>b</a:t>
            </a:r>
          </a:p>
          <a:p>
            <a:r>
              <a:rPr kumimoji="1" lang="en-US" altLang="zh-TW" dirty="0"/>
              <a:t>...</a:t>
            </a:r>
          </a:p>
          <a:p>
            <a:r>
              <a:rPr kumimoji="1" lang="en-US" altLang="zh-TW" dirty="0"/>
              <a:t>banana</a:t>
            </a:r>
          </a:p>
          <a:p>
            <a:r>
              <a:rPr kumimoji="1" lang="en-US" altLang="zh-TW" dirty="0"/>
              <a:t>...</a:t>
            </a:r>
          </a:p>
          <a:p>
            <a:r>
              <a:rPr kumimoji="1" lang="en-US" altLang="zh-TW" dirty="0"/>
              <a:t>elephant</a:t>
            </a:r>
          </a:p>
          <a:p>
            <a:r>
              <a:rPr kumimoji="1" lang="en-US" altLang="zh-TW" dirty="0"/>
              <a:t>...</a:t>
            </a:r>
          </a:p>
          <a:p>
            <a:r>
              <a:rPr kumimoji="1" lang="en-US" altLang="zh-TW" dirty="0"/>
              <a:t>eraser</a:t>
            </a:r>
          </a:p>
          <a:p>
            <a:r>
              <a:rPr kumimoji="1" lang="en-US" altLang="zh-TW" dirty="0"/>
              <a:t>...</a:t>
            </a:r>
          </a:p>
          <a:p>
            <a:r>
              <a:rPr kumimoji="1" lang="en-US" altLang="zh-TW" dirty="0"/>
              <a:t>...</a:t>
            </a:r>
          </a:p>
          <a:p>
            <a:r>
              <a:rPr kumimoji="1" lang="en-US" altLang="zh-TW" dirty="0"/>
              <a:t>zoo</a:t>
            </a:r>
            <a:endParaRPr kumimoji="1" lang="zh-TW" altLang="en-US" dirty="0"/>
          </a:p>
        </p:txBody>
      </p:sp>
      <p:sp>
        <p:nvSpPr>
          <p:cNvPr id="46" name="文字方塊 45">
            <a:extLst>
              <a:ext uri="{FF2B5EF4-FFF2-40B4-BE49-F238E27FC236}">
                <a16:creationId xmlns:a16="http://schemas.microsoft.com/office/drawing/2014/main" id="{FDF7F88E-B8E6-45EC-BC78-1304AA6E1B24}"/>
              </a:ext>
            </a:extLst>
          </p:cNvPr>
          <p:cNvSpPr txBox="1"/>
          <p:nvPr/>
        </p:nvSpPr>
        <p:spPr>
          <a:xfrm>
            <a:off x="9686812" y="2448627"/>
            <a:ext cx="1246720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dirty="0"/>
              <a:t>0.0001</a:t>
            </a:r>
          </a:p>
          <a:p>
            <a:r>
              <a:rPr kumimoji="1" lang="en-US" altLang="zh-TW" dirty="0"/>
              <a:t>...</a:t>
            </a:r>
          </a:p>
          <a:p>
            <a:r>
              <a:rPr kumimoji="1" lang="en-US" altLang="zh-TW" dirty="0">
                <a:solidFill>
                  <a:srgbClr val="FF0000"/>
                </a:solidFill>
              </a:rPr>
              <a:t>0.600</a:t>
            </a:r>
          </a:p>
          <a:p>
            <a:r>
              <a:rPr kumimoji="1" lang="en-US" altLang="zh-TW" dirty="0"/>
              <a:t>...</a:t>
            </a:r>
          </a:p>
          <a:p>
            <a:r>
              <a:rPr kumimoji="1" lang="en-US" altLang="zh-TW" dirty="0"/>
              <a:t>0.0001</a:t>
            </a:r>
          </a:p>
          <a:p>
            <a:r>
              <a:rPr kumimoji="1" lang="en-US" altLang="zh-TW" dirty="0"/>
              <a:t>...</a:t>
            </a:r>
          </a:p>
          <a:p>
            <a:r>
              <a:rPr kumimoji="1" lang="en-US" altLang="zh-TW" dirty="0"/>
              <a:t>0.0003</a:t>
            </a:r>
          </a:p>
          <a:p>
            <a:r>
              <a:rPr kumimoji="1" lang="en-US" altLang="zh-TW" dirty="0"/>
              <a:t>...</a:t>
            </a:r>
          </a:p>
          <a:p>
            <a:r>
              <a:rPr kumimoji="1" lang="en-US" altLang="zh-TW" dirty="0">
                <a:solidFill>
                  <a:srgbClr val="FF0000"/>
                </a:solidFill>
              </a:rPr>
              <a:t>0.300</a:t>
            </a:r>
          </a:p>
          <a:p>
            <a:r>
              <a:rPr kumimoji="1" lang="en-US" altLang="zh-TW" dirty="0"/>
              <a:t>...</a:t>
            </a:r>
          </a:p>
          <a:p>
            <a:r>
              <a:rPr kumimoji="1" lang="en-US" altLang="zh-TW" dirty="0">
                <a:solidFill>
                  <a:srgbClr val="FF0000"/>
                </a:solidFill>
              </a:rPr>
              <a:t>0.05</a:t>
            </a:r>
          </a:p>
          <a:p>
            <a:r>
              <a:rPr kumimoji="1" lang="en-US" altLang="zh-TW" dirty="0"/>
              <a:t>...</a:t>
            </a:r>
          </a:p>
          <a:p>
            <a:r>
              <a:rPr kumimoji="1" lang="en-US" altLang="zh-TW" dirty="0"/>
              <a:t>...</a:t>
            </a:r>
          </a:p>
          <a:p>
            <a:r>
              <a:rPr kumimoji="1" lang="en-US" altLang="zh-TW" dirty="0"/>
              <a:t>0.0001</a:t>
            </a:r>
            <a:endParaRPr kumimoji="1" lang="zh-TW" altLang="en-US" dirty="0"/>
          </a:p>
        </p:txBody>
      </p:sp>
      <p:cxnSp>
        <p:nvCxnSpPr>
          <p:cNvPr id="49" name="直線接點 48">
            <a:extLst>
              <a:ext uri="{FF2B5EF4-FFF2-40B4-BE49-F238E27FC236}">
                <a16:creationId xmlns:a16="http://schemas.microsoft.com/office/drawing/2014/main" id="{E68B1983-77AD-6B29-5BDE-9791A0BBA13F}"/>
              </a:ext>
            </a:extLst>
          </p:cNvPr>
          <p:cNvCxnSpPr/>
          <p:nvPr/>
        </p:nvCxnSpPr>
        <p:spPr>
          <a:xfrm flipV="1">
            <a:off x="7730608" y="2604411"/>
            <a:ext cx="728432" cy="182621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直線接點 49">
            <a:extLst>
              <a:ext uri="{FF2B5EF4-FFF2-40B4-BE49-F238E27FC236}">
                <a16:creationId xmlns:a16="http://schemas.microsoft.com/office/drawing/2014/main" id="{77733D5E-6682-2C4F-F7DE-C9155589362C}"/>
              </a:ext>
            </a:extLst>
          </p:cNvPr>
          <p:cNvCxnSpPr>
            <a:cxnSpLocks/>
          </p:cNvCxnSpPr>
          <p:nvPr/>
        </p:nvCxnSpPr>
        <p:spPr>
          <a:xfrm flipH="1" flipV="1">
            <a:off x="7730608" y="4527923"/>
            <a:ext cx="728432" cy="182621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直線接點 51">
            <a:extLst>
              <a:ext uri="{FF2B5EF4-FFF2-40B4-BE49-F238E27FC236}">
                <a16:creationId xmlns:a16="http://schemas.microsoft.com/office/drawing/2014/main" id="{6FA8CA1B-A2E0-D429-69CD-57769CE83D44}"/>
              </a:ext>
            </a:extLst>
          </p:cNvPr>
          <p:cNvCxnSpPr/>
          <p:nvPr/>
        </p:nvCxnSpPr>
        <p:spPr>
          <a:xfrm>
            <a:off x="7002199" y="4474474"/>
            <a:ext cx="630978" cy="0"/>
          </a:xfrm>
          <a:prstGeom prst="line">
            <a:avLst/>
          </a:prstGeom>
          <a:ln w="28575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右大括弧 52">
            <a:extLst>
              <a:ext uri="{FF2B5EF4-FFF2-40B4-BE49-F238E27FC236}">
                <a16:creationId xmlns:a16="http://schemas.microsoft.com/office/drawing/2014/main" id="{0FC33AA0-04AD-DE91-BD12-5EB46E314DBE}"/>
              </a:ext>
            </a:extLst>
          </p:cNvPr>
          <p:cNvSpPr/>
          <p:nvPr/>
        </p:nvSpPr>
        <p:spPr>
          <a:xfrm>
            <a:off x="10659611" y="2542442"/>
            <a:ext cx="373278" cy="3782688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54" name="文字方塊 53">
            <a:extLst>
              <a:ext uri="{FF2B5EF4-FFF2-40B4-BE49-F238E27FC236}">
                <a16:creationId xmlns:a16="http://schemas.microsoft.com/office/drawing/2014/main" id="{FA0E85DC-4C94-1076-52A3-BBC73D27C8CD}"/>
              </a:ext>
            </a:extLst>
          </p:cNvPr>
          <p:cNvSpPr txBox="1"/>
          <p:nvPr/>
        </p:nvSpPr>
        <p:spPr>
          <a:xfrm>
            <a:off x="11017377" y="4107463"/>
            <a:ext cx="83969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dirty="0">
                <a:solidFill>
                  <a:srgbClr val="FF0000"/>
                </a:solidFill>
              </a:rPr>
              <a:t>Vocab</a:t>
            </a:r>
          </a:p>
          <a:p>
            <a:pPr algn="ctr"/>
            <a:r>
              <a:rPr kumimoji="1" lang="en-US" altLang="zh-TW" dirty="0">
                <a:solidFill>
                  <a:srgbClr val="FF0000"/>
                </a:solidFill>
              </a:rPr>
              <a:t>size</a:t>
            </a:r>
            <a:endParaRPr kumimoji="1" lang="zh-TW" altLang="en-US" dirty="0">
              <a:solidFill>
                <a:srgbClr val="FF0000"/>
              </a:solidFill>
            </a:endParaRPr>
          </a:p>
        </p:txBody>
      </p:sp>
      <p:sp>
        <p:nvSpPr>
          <p:cNvPr id="55" name="文字方塊 54">
            <a:extLst>
              <a:ext uri="{FF2B5EF4-FFF2-40B4-BE49-F238E27FC236}">
                <a16:creationId xmlns:a16="http://schemas.microsoft.com/office/drawing/2014/main" id="{12756F42-A0C6-E2B2-42AD-508B33813225}"/>
              </a:ext>
            </a:extLst>
          </p:cNvPr>
          <p:cNvSpPr txBox="1"/>
          <p:nvPr/>
        </p:nvSpPr>
        <p:spPr>
          <a:xfrm>
            <a:off x="8459040" y="1711021"/>
            <a:ext cx="102808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zh-TW" altLang="en-US" dirty="0">
                <a:solidFill>
                  <a:srgbClr val="0070C0"/>
                </a:solidFill>
              </a:rPr>
              <a:t>字典裡面的字</a:t>
            </a:r>
            <a:endParaRPr kumimoji="1" lang="en-US" altLang="zh-TW" dirty="0">
              <a:solidFill>
                <a:srgbClr val="0070C0"/>
              </a:solidFill>
            </a:endParaRPr>
          </a:p>
        </p:txBody>
      </p:sp>
      <p:sp>
        <p:nvSpPr>
          <p:cNvPr id="56" name="文字方塊 55">
            <a:extLst>
              <a:ext uri="{FF2B5EF4-FFF2-40B4-BE49-F238E27FC236}">
                <a16:creationId xmlns:a16="http://schemas.microsoft.com/office/drawing/2014/main" id="{F3CBF89E-3DFC-C153-04A3-B7B86E9DA31C}"/>
              </a:ext>
            </a:extLst>
          </p:cNvPr>
          <p:cNvSpPr txBox="1"/>
          <p:nvPr/>
        </p:nvSpPr>
        <p:spPr>
          <a:xfrm>
            <a:off x="9625292" y="1849520"/>
            <a:ext cx="9876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zh-TW" altLang="en-US" dirty="0">
                <a:solidFill>
                  <a:srgbClr val="0070C0"/>
                </a:solidFill>
              </a:rPr>
              <a:t>機率值</a:t>
            </a:r>
            <a:endParaRPr kumimoji="1" lang="en-US" altLang="zh-TW" dirty="0">
              <a:solidFill>
                <a:srgbClr val="0070C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圓角矩形 3">
                <a:extLst>
                  <a:ext uri="{FF2B5EF4-FFF2-40B4-BE49-F238E27FC236}">
                    <a16:creationId xmlns:a16="http://schemas.microsoft.com/office/drawing/2014/main" id="{6BFD6332-0BA6-1836-2287-C35824DC7E2C}"/>
                  </a:ext>
                </a:extLst>
              </p:cNvPr>
              <p:cNvSpPr/>
              <p:nvPr/>
            </p:nvSpPr>
            <p:spPr>
              <a:xfrm>
                <a:off x="2203029" y="2844165"/>
                <a:ext cx="673768" cy="571500"/>
              </a:xfrm>
              <a:prstGeom prst="roundRect">
                <a:avLst/>
              </a:prstGeom>
              <a:noFill/>
              <a:ln w="28575">
                <a:solidFill>
                  <a:srgbClr val="00B05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 xmlns:m="http://schemas.openxmlformats.org/officeDocument/2006/math">
                    <m:r>
                      <a:rPr kumimoji="1" lang="en-US" altLang="zh-TW" sz="20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𝒉</m:t>
                    </m:r>
                  </m:oMath>
                </a14:m>
                <a:r>
                  <a:rPr kumimoji="1" lang="en-US" altLang="zh-TW" sz="2000" b="1" baseline="-25000" dirty="0">
                    <a:solidFill>
                      <a:schemeClr val="tx1"/>
                    </a:solidFill>
                  </a:rPr>
                  <a:t>2</a:t>
                </a:r>
                <a:endParaRPr kumimoji="1" lang="zh-TW" altLang="en-US" sz="2000" b="1" baseline="-25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" name="圓角矩形 3">
                <a:extLst>
                  <a:ext uri="{FF2B5EF4-FFF2-40B4-BE49-F238E27FC236}">
                    <a16:creationId xmlns:a16="http://schemas.microsoft.com/office/drawing/2014/main" id="{6BFD6332-0BA6-1836-2287-C35824DC7E2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03029" y="2844165"/>
                <a:ext cx="673768" cy="571500"/>
              </a:xfrm>
              <a:prstGeom prst="roundRect">
                <a:avLst/>
              </a:prstGeom>
              <a:blipFill>
                <a:blip r:embed="rId6"/>
                <a:stretch>
                  <a:fillRect/>
                </a:stretch>
              </a:blipFill>
              <a:ln w="28575">
                <a:solidFill>
                  <a:srgbClr val="00B050"/>
                </a:solidFill>
              </a:ln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圓角矩形 8">
                <a:extLst>
                  <a:ext uri="{FF2B5EF4-FFF2-40B4-BE49-F238E27FC236}">
                    <a16:creationId xmlns:a16="http://schemas.microsoft.com/office/drawing/2014/main" id="{72AD9D4B-5DDE-3F62-8C0C-B4EB88B45D41}"/>
                  </a:ext>
                </a:extLst>
              </p:cNvPr>
              <p:cNvSpPr/>
              <p:nvPr/>
            </p:nvSpPr>
            <p:spPr>
              <a:xfrm>
                <a:off x="844026" y="2844165"/>
                <a:ext cx="673768" cy="571500"/>
              </a:xfrm>
              <a:prstGeom prst="roundRect">
                <a:avLst/>
              </a:prstGeom>
              <a:noFill/>
              <a:ln w="28575">
                <a:solidFill>
                  <a:srgbClr val="00B05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 xmlns:m="http://schemas.openxmlformats.org/officeDocument/2006/math">
                    <m:r>
                      <a:rPr kumimoji="1" lang="en-US" altLang="zh-TW" sz="20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𝒉</m:t>
                    </m:r>
                  </m:oMath>
                </a14:m>
                <a:r>
                  <a:rPr kumimoji="1" lang="en-US" altLang="zh-TW" sz="2000" b="1" baseline="-25000" dirty="0">
                    <a:solidFill>
                      <a:schemeClr val="tx1"/>
                    </a:solidFill>
                  </a:rPr>
                  <a:t>1</a:t>
                </a:r>
                <a:endParaRPr kumimoji="1" lang="zh-TW" altLang="en-US" sz="2000" b="1" baseline="-25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9" name="圓角矩形 8">
                <a:extLst>
                  <a:ext uri="{FF2B5EF4-FFF2-40B4-BE49-F238E27FC236}">
                    <a16:creationId xmlns:a16="http://schemas.microsoft.com/office/drawing/2014/main" id="{72AD9D4B-5DDE-3F62-8C0C-B4EB88B45D4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4026" y="2844165"/>
                <a:ext cx="673768" cy="571500"/>
              </a:xfrm>
              <a:prstGeom prst="roundRect">
                <a:avLst/>
              </a:prstGeom>
              <a:blipFill>
                <a:blip r:embed="rId7"/>
                <a:stretch>
                  <a:fillRect/>
                </a:stretch>
              </a:blipFill>
              <a:ln w="28575">
                <a:solidFill>
                  <a:srgbClr val="00B050"/>
                </a:solidFill>
              </a:ln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3" name="直線箭頭接點 12">
            <a:extLst>
              <a:ext uri="{FF2B5EF4-FFF2-40B4-BE49-F238E27FC236}">
                <a16:creationId xmlns:a16="http://schemas.microsoft.com/office/drawing/2014/main" id="{43E924E2-F6B0-1E6A-52DE-7BE1942DAAB3}"/>
              </a:ext>
            </a:extLst>
          </p:cNvPr>
          <p:cNvCxnSpPr>
            <a:cxnSpLocks/>
          </p:cNvCxnSpPr>
          <p:nvPr/>
        </p:nvCxnSpPr>
        <p:spPr>
          <a:xfrm flipV="1">
            <a:off x="2539913" y="3532499"/>
            <a:ext cx="0" cy="509716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線箭頭接點 16">
            <a:extLst>
              <a:ext uri="{FF2B5EF4-FFF2-40B4-BE49-F238E27FC236}">
                <a16:creationId xmlns:a16="http://schemas.microsoft.com/office/drawing/2014/main" id="{82811BB1-90F4-E013-BB85-B56CBB3C53DA}"/>
              </a:ext>
            </a:extLst>
          </p:cNvPr>
          <p:cNvCxnSpPr>
            <a:cxnSpLocks/>
          </p:cNvCxnSpPr>
          <p:nvPr/>
        </p:nvCxnSpPr>
        <p:spPr>
          <a:xfrm flipV="1">
            <a:off x="1170180" y="3532499"/>
            <a:ext cx="0" cy="509716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文字方塊 17">
            <a:extLst>
              <a:ext uri="{FF2B5EF4-FFF2-40B4-BE49-F238E27FC236}">
                <a16:creationId xmlns:a16="http://schemas.microsoft.com/office/drawing/2014/main" id="{BA599D5B-3FE6-EC76-E3A7-9815124FAC2B}"/>
              </a:ext>
            </a:extLst>
          </p:cNvPr>
          <p:cNvSpPr txBox="1"/>
          <p:nvPr/>
        </p:nvSpPr>
        <p:spPr>
          <a:xfrm>
            <a:off x="3292204" y="2229704"/>
            <a:ext cx="124538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sz="1600" dirty="0"/>
              <a:t>(</a:t>
            </a:r>
            <a:r>
              <a:rPr kumimoji="1" lang="zh-TW" altLang="en-US" sz="1600" dirty="0"/>
              <a:t>長度為</a:t>
            </a:r>
            <a:r>
              <a:rPr kumimoji="1" lang="en-US" altLang="zh-TW" sz="1600" dirty="0"/>
              <a:t>100</a:t>
            </a:r>
            <a:r>
              <a:rPr kumimoji="1" lang="zh-TW" altLang="en-US" sz="1600" dirty="0"/>
              <a:t>的向量</a:t>
            </a:r>
            <a:r>
              <a:rPr kumimoji="1" lang="en-US" altLang="zh-TW" sz="1600" dirty="0"/>
              <a:t>)</a:t>
            </a:r>
            <a:endParaRPr kumimoji="1" lang="zh-TW" altLang="en-US" sz="1600" dirty="0"/>
          </a:p>
        </p:txBody>
      </p:sp>
      <p:sp>
        <p:nvSpPr>
          <p:cNvPr id="19" name="文字方塊 18">
            <a:extLst>
              <a:ext uri="{FF2B5EF4-FFF2-40B4-BE49-F238E27FC236}">
                <a16:creationId xmlns:a16="http://schemas.microsoft.com/office/drawing/2014/main" id="{2828B361-E802-28CA-ABD0-02686596796B}"/>
              </a:ext>
            </a:extLst>
          </p:cNvPr>
          <p:cNvSpPr txBox="1"/>
          <p:nvPr/>
        </p:nvSpPr>
        <p:spPr>
          <a:xfrm>
            <a:off x="1938003" y="2229704"/>
            <a:ext cx="124538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sz="1600" dirty="0"/>
              <a:t>(</a:t>
            </a:r>
            <a:r>
              <a:rPr kumimoji="1" lang="zh-TW" altLang="en-US" sz="1600" dirty="0"/>
              <a:t>長度為</a:t>
            </a:r>
            <a:r>
              <a:rPr kumimoji="1" lang="en-US" altLang="zh-TW" sz="1600" dirty="0"/>
              <a:t>100</a:t>
            </a:r>
            <a:r>
              <a:rPr kumimoji="1" lang="zh-TW" altLang="en-US" sz="1600" dirty="0"/>
              <a:t>的向量</a:t>
            </a:r>
            <a:r>
              <a:rPr kumimoji="1" lang="en-US" altLang="zh-TW" sz="1600" dirty="0"/>
              <a:t>)</a:t>
            </a:r>
            <a:endParaRPr kumimoji="1" lang="zh-TW" altLang="en-US" sz="1600" dirty="0"/>
          </a:p>
        </p:txBody>
      </p:sp>
      <p:sp>
        <p:nvSpPr>
          <p:cNvPr id="20" name="文字方塊 19">
            <a:extLst>
              <a:ext uri="{FF2B5EF4-FFF2-40B4-BE49-F238E27FC236}">
                <a16:creationId xmlns:a16="http://schemas.microsoft.com/office/drawing/2014/main" id="{2F6CD404-45F5-6E7B-3882-242248C95BC6}"/>
              </a:ext>
            </a:extLst>
          </p:cNvPr>
          <p:cNvSpPr txBox="1"/>
          <p:nvPr/>
        </p:nvSpPr>
        <p:spPr>
          <a:xfrm>
            <a:off x="583802" y="2229704"/>
            <a:ext cx="124538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sz="1600" dirty="0"/>
              <a:t>(</a:t>
            </a:r>
            <a:r>
              <a:rPr kumimoji="1" lang="zh-TW" altLang="en-US" sz="1600" dirty="0"/>
              <a:t>長度為</a:t>
            </a:r>
            <a:r>
              <a:rPr kumimoji="1" lang="en-US" altLang="zh-TW" sz="1600" dirty="0"/>
              <a:t>100</a:t>
            </a:r>
            <a:r>
              <a:rPr kumimoji="1" lang="zh-TW" altLang="en-US" sz="1600" dirty="0"/>
              <a:t>的向量</a:t>
            </a:r>
            <a:r>
              <a:rPr kumimoji="1" lang="en-US" altLang="zh-TW" sz="1600" dirty="0"/>
              <a:t>)</a:t>
            </a:r>
            <a:endParaRPr kumimoji="1" lang="zh-TW" altLang="en-US" sz="1600" dirty="0"/>
          </a:p>
        </p:txBody>
      </p:sp>
    </p:spTree>
    <p:extLst>
      <p:ext uri="{BB962C8B-B14F-4D97-AF65-F5344CB8AC3E}">
        <p14:creationId xmlns:p14="http://schemas.microsoft.com/office/powerpoint/2010/main" val="400639045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742DD80-FE48-260B-0473-33D8138DDD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Problem of Greedy Decoding</a:t>
            </a:r>
            <a:endParaRPr kumimoji="1"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9AD0BF83-DEDB-6083-2277-A51723171B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21</a:t>
            </a:fld>
            <a:endParaRPr lang="en-US"/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F2F0F3D3-C611-834E-801D-5082C6008856}"/>
              </a:ext>
            </a:extLst>
          </p:cNvPr>
          <p:cNvSpPr txBox="1"/>
          <p:nvPr/>
        </p:nvSpPr>
        <p:spPr>
          <a:xfrm>
            <a:off x="1005936" y="1855809"/>
            <a:ext cx="560792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kumimoji="1" lang="en-US" altLang="zh-TW" sz="2800" dirty="0"/>
              <a:t>Greedy decoding cannot undo!</a:t>
            </a:r>
            <a:endParaRPr kumimoji="1" lang="zh-TW" altLang="en-US" sz="2800" dirty="0"/>
          </a:p>
        </p:txBody>
      </p:sp>
      <p:sp>
        <p:nvSpPr>
          <p:cNvPr id="6" name="圓角矩形 5">
            <a:extLst>
              <a:ext uri="{FF2B5EF4-FFF2-40B4-BE49-F238E27FC236}">
                <a16:creationId xmlns:a16="http://schemas.microsoft.com/office/drawing/2014/main" id="{F9C8729C-B1C7-73FD-D446-F157C1D34BFF}"/>
              </a:ext>
            </a:extLst>
          </p:cNvPr>
          <p:cNvSpPr/>
          <p:nvPr/>
        </p:nvSpPr>
        <p:spPr>
          <a:xfrm>
            <a:off x="3047293" y="3350603"/>
            <a:ext cx="762607" cy="400110"/>
          </a:xfrm>
          <a:prstGeom prst="roundRect">
            <a:avLst/>
          </a:prstGeom>
          <a:solidFill>
            <a:srgbClr val="C5E0B4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zh-TW" altLang="en-US" dirty="0">
                <a:solidFill>
                  <a:schemeClr val="tx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我</a:t>
            </a:r>
          </a:p>
        </p:txBody>
      </p:sp>
      <p:sp>
        <p:nvSpPr>
          <p:cNvPr id="10" name="圓角矩形 9">
            <a:extLst>
              <a:ext uri="{FF2B5EF4-FFF2-40B4-BE49-F238E27FC236}">
                <a16:creationId xmlns:a16="http://schemas.microsoft.com/office/drawing/2014/main" id="{255B8673-610A-DFF9-E837-1D0954752755}"/>
              </a:ext>
            </a:extLst>
          </p:cNvPr>
          <p:cNvSpPr/>
          <p:nvPr/>
        </p:nvSpPr>
        <p:spPr>
          <a:xfrm>
            <a:off x="3047293" y="4029803"/>
            <a:ext cx="762607" cy="400110"/>
          </a:xfrm>
          <a:prstGeom prst="roundRect">
            <a:avLst/>
          </a:prstGeom>
          <a:solidFill>
            <a:srgbClr val="C5E0B4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zh-TW" altLang="en-US" dirty="0">
                <a:solidFill>
                  <a:schemeClr val="tx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我</a:t>
            </a:r>
          </a:p>
        </p:txBody>
      </p:sp>
      <p:sp>
        <p:nvSpPr>
          <p:cNvPr id="11" name="圓角矩形 10">
            <a:extLst>
              <a:ext uri="{FF2B5EF4-FFF2-40B4-BE49-F238E27FC236}">
                <a16:creationId xmlns:a16="http://schemas.microsoft.com/office/drawing/2014/main" id="{F88614D6-62C5-9FD0-BFD7-D01F2222CB57}"/>
              </a:ext>
            </a:extLst>
          </p:cNvPr>
          <p:cNvSpPr/>
          <p:nvPr/>
        </p:nvSpPr>
        <p:spPr>
          <a:xfrm>
            <a:off x="3918621" y="4029803"/>
            <a:ext cx="762607" cy="400110"/>
          </a:xfrm>
          <a:prstGeom prst="roundRect">
            <a:avLst/>
          </a:prstGeom>
          <a:solidFill>
            <a:srgbClr val="C5E0B4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zh-TW" altLang="en-US" dirty="0">
                <a:solidFill>
                  <a:schemeClr val="tx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愛</a:t>
            </a:r>
          </a:p>
        </p:txBody>
      </p:sp>
      <p:cxnSp>
        <p:nvCxnSpPr>
          <p:cNvPr id="13" name="直線箭頭接點 12">
            <a:extLst>
              <a:ext uri="{FF2B5EF4-FFF2-40B4-BE49-F238E27FC236}">
                <a16:creationId xmlns:a16="http://schemas.microsoft.com/office/drawing/2014/main" id="{FE7C0301-E96D-D435-089A-0CE1726D9BCB}"/>
              </a:ext>
            </a:extLst>
          </p:cNvPr>
          <p:cNvCxnSpPr>
            <a:cxnSpLocks/>
          </p:cNvCxnSpPr>
          <p:nvPr/>
        </p:nvCxnSpPr>
        <p:spPr>
          <a:xfrm>
            <a:off x="1257570" y="3547301"/>
            <a:ext cx="1530018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文字方塊 13">
            <a:extLst>
              <a:ext uri="{FF2B5EF4-FFF2-40B4-BE49-F238E27FC236}">
                <a16:creationId xmlns:a16="http://schemas.microsoft.com/office/drawing/2014/main" id="{288E4ED8-9A0C-6F3A-FCC0-656589B73E0D}"/>
              </a:ext>
            </a:extLst>
          </p:cNvPr>
          <p:cNvSpPr txBox="1"/>
          <p:nvPr/>
        </p:nvSpPr>
        <p:spPr>
          <a:xfrm>
            <a:off x="1489919" y="2888326"/>
            <a:ext cx="116068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dirty="0"/>
              <a:t>Decoding Process</a:t>
            </a:r>
            <a:endParaRPr kumimoji="1" lang="zh-TW" altLang="en-US" dirty="0"/>
          </a:p>
        </p:txBody>
      </p:sp>
      <p:sp>
        <p:nvSpPr>
          <p:cNvPr id="19" name="圓角矩形 18">
            <a:extLst>
              <a:ext uri="{FF2B5EF4-FFF2-40B4-BE49-F238E27FC236}">
                <a16:creationId xmlns:a16="http://schemas.microsoft.com/office/drawing/2014/main" id="{4EA2A180-1473-CC92-4A78-BAC5F4D7FC96}"/>
              </a:ext>
            </a:extLst>
          </p:cNvPr>
          <p:cNvSpPr/>
          <p:nvPr/>
        </p:nvSpPr>
        <p:spPr>
          <a:xfrm>
            <a:off x="3918621" y="4704926"/>
            <a:ext cx="762607" cy="400110"/>
          </a:xfrm>
          <a:prstGeom prst="roundRect">
            <a:avLst/>
          </a:prstGeom>
          <a:solidFill>
            <a:srgbClr val="C5E0B4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zh-TW" altLang="en-US" dirty="0">
                <a:solidFill>
                  <a:schemeClr val="tx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愛</a:t>
            </a:r>
          </a:p>
        </p:txBody>
      </p:sp>
      <p:sp>
        <p:nvSpPr>
          <p:cNvPr id="22" name="圓角矩形 21">
            <a:extLst>
              <a:ext uri="{FF2B5EF4-FFF2-40B4-BE49-F238E27FC236}">
                <a16:creationId xmlns:a16="http://schemas.microsoft.com/office/drawing/2014/main" id="{F395EF28-4612-2834-1905-DA94D00C9BF7}"/>
              </a:ext>
            </a:extLst>
          </p:cNvPr>
          <p:cNvSpPr/>
          <p:nvPr/>
        </p:nvSpPr>
        <p:spPr>
          <a:xfrm>
            <a:off x="3047293" y="4704926"/>
            <a:ext cx="762607" cy="400110"/>
          </a:xfrm>
          <a:prstGeom prst="roundRect">
            <a:avLst/>
          </a:prstGeom>
          <a:solidFill>
            <a:srgbClr val="C5E0B4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zh-TW" altLang="en-US" dirty="0">
                <a:solidFill>
                  <a:schemeClr val="tx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我</a:t>
            </a:r>
          </a:p>
        </p:txBody>
      </p:sp>
      <p:sp>
        <p:nvSpPr>
          <p:cNvPr id="23" name="圓角矩形 22">
            <a:extLst>
              <a:ext uri="{FF2B5EF4-FFF2-40B4-BE49-F238E27FC236}">
                <a16:creationId xmlns:a16="http://schemas.microsoft.com/office/drawing/2014/main" id="{3D36F12D-991C-C3AB-195A-639408802B1E}"/>
              </a:ext>
            </a:extLst>
          </p:cNvPr>
          <p:cNvSpPr/>
          <p:nvPr/>
        </p:nvSpPr>
        <p:spPr>
          <a:xfrm>
            <a:off x="4789949" y="4704926"/>
            <a:ext cx="762607" cy="400110"/>
          </a:xfrm>
          <a:prstGeom prst="roundRect">
            <a:avLst/>
          </a:prstGeom>
          <a:solidFill>
            <a:srgbClr val="C5E0B4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zh-TW" altLang="en-US" dirty="0">
                <a:solidFill>
                  <a:schemeClr val="tx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打</a:t>
            </a:r>
          </a:p>
        </p:txBody>
      </p:sp>
      <p:sp>
        <p:nvSpPr>
          <p:cNvPr id="24" name="圓角矩形 23">
            <a:extLst>
              <a:ext uri="{FF2B5EF4-FFF2-40B4-BE49-F238E27FC236}">
                <a16:creationId xmlns:a16="http://schemas.microsoft.com/office/drawing/2014/main" id="{F9C4B850-6736-5316-27E8-224BDE2D5098}"/>
              </a:ext>
            </a:extLst>
          </p:cNvPr>
          <p:cNvSpPr/>
          <p:nvPr/>
        </p:nvSpPr>
        <p:spPr>
          <a:xfrm>
            <a:off x="3918621" y="5380049"/>
            <a:ext cx="762607" cy="400110"/>
          </a:xfrm>
          <a:prstGeom prst="roundRect">
            <a:avLst/>
          </a:prstGeom>
          <a:solidFill>
            <a:srgbClr val="C5E0B4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zh-TW" altLang="en-US" dirty="0">
                <a:solidFill>
                  <a:schemeClr val="tx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愛</a:t>
            </a:r>
          </a:p>
        </p:txBody>
      </p:sp>
      <p:sp>
        <p:nvSpPr>
          <p:cNvPr id="25" name="圓角矩形 24">
            <a:extLst>
              <a:ext uri="{FF2B5EF4-FFF2-40B4-BE49-F238E27FC236}">
                <a16:creationId xmlns:a16="http://schemas.microsoft.com/office/drawing/2014/main" id="{3ACF3A49-048F-AE78-6A71-A1E9D9B4F2E1}"/>
              </a:ext>
            </a:extLst>
          </p:cNvPr>
          <p:cNvSpPr/>
          <p:nvPr/>
        </p:nvSpPr>
        <p:spPr>
          <a:xfrm>
            <a:off x="3047293" y="5380049"/>
            <a:ext cx="762607" cy="400110"/>
          </a:xfrm>
          <a:prstGeom prst="roundRect">
            <a:avLst/>
          </a:prstGeom>
          <a:solidFill>
            <a:srgbClr val="C5E0B4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zh-TW" altLang="en-US" dirty="0">
                <a:solidFill>
                  <a:schemeClr val="tx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我</a:t>
            </a:r>
          </a:p>
        </p:txBody>
      </p:sp>
      <p:sp>
        <p:nvSpPr>
          <p:cNvPr id="26" name="圓角矩形 25">
            <a:extLst>
              <a:ext uri="{FF2B5EF4-FFF2-40B4-BE49-F238E27FC236}">
                <a16:creationId xmlns:a16="http://schemas.microsoft.com/office/drawing/2014/main" id="{06994AEB-FEA7-34CE-82E1-71A2ADA5157E}"/>
              </a:ext>
            </a:extLst>
          </p:cNvPr>
          <p:cNvSpPr/>
          <p:nvPr/>
        </p:nvSpPr>
        <p:spPr>
          <a:xfrm>
            <a:off x="4789949" y="5380049"/>
            <a:ext cx="762607" cy="400110"/>
          </a:xfrm>
          <a:prstGeom prst="roundRect">
            <a:avLst/>
          </a:prstGeom>
          <a:solidFill>
            <a:srgbClr val="C5E0B4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zh-TW" altLang="en-US" dirty="0">
                <a:solidFill>
                  <a:schemeClr val="tx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打</a:t>
            </a:r>
          </a:p>
        </p:txBody>
      </p:sp>
      <p:sp>
        <p:nvSpPr>
          <p:cNvPr id="27" name="圓角矩形 26">
            <a:extLst>
              <a:ext uri="{FF2B5EF4-FFF2-40B4-BE49-F238E27FC236}">
                <a16:creationId xmlns:a16="http://schemas.microsoft.com/office/drawing/2014/main" id="{6640A8C5-6E5A-05F3-95A6-02C0DC2DCCF4}"/>
              </a:ext>
            </a:extLst>
          </p:cNvPr>
          <p:cNvSpPr/>
          <p:nvPr/>
        </p:nvSpPr>
        <p:spPr>
          <a:xfrm>
            <a:off x="5661277" y="5380049"/>
            <a:ext cx="762607" cy="400110"/>
          </a:xfrm>
          <a:prstGeom prst="roundRect">
            <a:avLst/>
          </a:prstGeom>
          <a:solidFill>
            <a:srgbClr val="C5E0B4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zh-TW" altLang="en-US" dirty="0">
                <a:solidFill>
                  <a:schemeClr val="tx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球</a:t>
            </a:r>
          </a:p>
        </p:txBody>
      </p:sp>
      <p:sp>
        <p:nvSpPr>
          <p:cNvPr id="32" name="文字方塊 31">
            <a:extLst>
              <a:ext uri="{FF2B5EF4-FFF2-40B4-BE49-F238E27FC236}">
                <a16:creationId xmlns:a16="http://schemas.microsoft.com/office/drawing/2014/main" id="{7D5C4109-C9EF-E6FD-4878-7783848015CB}"/>
              </a:ext>
            </a:extLst>
          </p:cNvPr>
          <p:cNvSpPr txBox="1"/>
          <p:nvPr/>
        </p:nvSpPr>
        <p:spPr>
          <a:xfrm>
            <a:off x="3365357" y="2654042"/>
            <a:ext cx="305852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sz="2000" dirty="0">
                <a:solidFill>
                  <a:srgbClr val="0070C0"/>
                </a:solidFill>
              </a:rPr>
              <a:t>Ground-truth: </a:t>
            </a:r>
            <a:r>
              <a:rPr kumimoji="1" lang="zh-TW" altLang="en-US" sz="2000" dirty="0">
                <a:solidFill>
                  <a:srgbClr val="0070C0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我愛閱讀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4" name="文字方塊 33">
                <a:extLst>
                  <a:ext uri="{FF2B5EF4-FFF2-40B4-BE49-F238E27FC236}">
                    <a16:creationId xmlns:a16="http://schemas.microsoft.com/office/drawing/2014/main" id="{92F7015E-C467-6009-B2B9-72940FCE5819}"/>
                  </a:ext>
                </a:extLst>
              </p:cNvPr>
              <p:cNvSpPr txBox="1"/>
              <p:nvPr/>
            </p:nvSpPr>
            <p:spPr>
              <a:xfrm>
                <a:off x="3047293" y="5870506"/>
                <a:ext cx="762606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TW" b="0" i="1" smtClean="0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kumimoji="1" lang="en-US" altLang="zh-TW" b="0" i="1" smtClean="0">
                          <a:latin typeface="Cambria Math" panose="02040503050406030204" pitchFamily="18" charset="0"/>
                        </a:rPr>
                        <m:t>=1</m:t>
                      </m:r>
                    </m:oMath>
                  </m:oMathPara>
                </a14:m>
                <a:endParaRPr kumimoji="1" lang="zh-TW" altLang="en-US" dirty="0"/>
              </a:p>
            </p:txBody>
          </p:sp>
        </mc:Choice>
        <mc:Fallback xmlns="">
          <p:sp>
            <p:nvSpPr>
              <p:cNvPr id="34" name="文字方塊 33">
                <a:extLst>
                  <a:ext uri="{FF2B5EF4-FFF2-40B4-BE49-F238E27FC236}">
                    <a16:creationId xmlns:a16="http://schemas.microsoft.com/office/drawing/2014/main" id="{92F7015E-C467-6009-B2B9-72940FCE581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47293" y="5870506"/>
                <a:ext cx="762606" cy="36933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" name="文字方塊 34">
                <a:extLst>
                  <a:ext uri="{FF2B5EF4-FFF2-40B4-BE49-F238E27FC236}">
                    <a16:creationId xmlns:a16="http://schemas.microsoft.com/office/drawing/2014/main" id="{C127BD35-FDC6-A39E-EDBB-C57E3164726C}"/>
                  </a:ext>
                </a:extLst>
              </p:cNvPr>
              <p:cNvSpPr txBox="1"/>
              <p:nvPr/>
            </p:nvSpPr>
            <p:spPr>
              <a:xfrm>
                <a:off x="3902681" y="5870506"/>
                <a:ext cx="762606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TW" b="0" i="1" smtClean="0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kumimoji="1" lang="en-US" altLang="zh-TW" b="0" i="1" smtClean="0">
                          <a:latin typeface="Cambria Math" panose="02040503050406030204" pitchFamily="18" charset="0"/>
                        </a:rPr>
                        <m:t>=2</m:t>
                      </m:r>
                    </m:oMath>
                  </m:oMathPara>
                </a14:m>
                <a:endParaRPr kumimoji="1" lang="zh-TW" altLang="en-US" dirty="0"/>
              </a:p>
            </p:txBody>
          </p:sp>
        </mc:Choice>
        <mc:Fallback xmlns="">
          <p:sp>
            <p:nvSpPr>
              <p:cNvPr id="35" name="文字方塊 34">
                <a:extLst>
                  <a:ext uri="{FF2B5EF4-FFF2-40B4-BE49-F238E27FC236}">
                    <a16:creationId xmlns:a16="http://schemas.microsoft.com/office/drawing/2014/main" id="{C127BD35-FDC6-A39E-EDBB-C57E3164726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02681" y="5870506"/>
                <a:ext cx="762606" cy="36933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6" name="文字方塊 35">
                <a:extLst>
                  <a:ext uri="{FF2B5EF4-FFF2-40B4-BE49-F238E27FC236}">
                    <a16:creationId xmlns:a16="http://schemas.microsoft.com/office/drawing/2014/main" id="{56B759FE-6358-226B-EF56-63A901A30174}"/>
                  </a:ext>
                </a:extLst>
              </p:cNvPr>
              <p:cNvSpPr txBox="1"/>
              <p:nvPr/>
            </p:nvSpPr>
            <p:spPr>
              <a:xfrm>
                <a:off x="4789950" y="5870506"/>
                <a:ext cx="762606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TW" b="0" i="1" smtClean="0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kumimoji="1" lang="en-US" altLang="zh-TW" b="0" i="1" smtClean="0">
                          <a:latin typeface="Cambria Math" panose="02040503050406030204" pitchFamily="18" charset="0"/>
                        </a:rPr>
                        <m:t>=3</m:t>
                      </m:r>
                    </m:oMath>
                  </m:oMathPara>
                </a14:m>
                <a:endParaRPr kumimoji="1" lang="zh-TW" altLang="en-US" dirty="0"/>
              </a:p>
            </p:txBody>
          </p:sp>
        </mc:Choice>
        <mc:Fallback xmlns="">
          <p:sp>
            <p:nvSpPr>
              <p:cNvPr id="36" name="文字方塊 35">
                <a:extLst>
                  <a:ext uri="{FF2B5EF4-FFF2-40B4-BE49-F238E27FC236}">
                    <a16:creationId xmlns:a16="http://schemas.microsoft.com/office/drawing/2014/main" id="{56B759FE-6358-226B-EF56-63A901A3017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89950" y="5870506"/>
                <a:ext cx="762606" cy="3693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7" name="文字方塊 36">
                <a:extLst>
                  <a:ext uri="{FF2B5EF4-FFF2-40B4-BE49-F238E27FC236}">
                    <a16:creationId xmlns:a16="http://schemas.microsoft.com/office/drawing/2014/main" id="{3D695283-4E8A-7634-1929-4A13E4338914}"/>
                  </a:ext>
                </a:extLst>
              </p:cNvPr>
              <p:cNvSpPr txBox="1"/>
              <p:nvPr/>
            </p:nvSpPr>
            <p:spPr>
              <a:xfrm>
                <a:off x="5661277" y="5870506"/>
                <a:ext cx="762606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TW" b="0" i="1" smtClean="0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kumimoji="1" lang="en-US" altLang="zh-TW" b="0" i="1" smtClean="0">
                          <a:latin typeface="Cambria Math" panose="02040503050406030204" pitchFamily="18" charset="0"/>
                        </a:rPr>
                        <m:t>=4</m:t>
                      </m:r>
                    </m:oMath>
                  </m:oMathPara>
                </a14:m>
                <a:endParaRPr kumimoji="1" lang="zh-TW" altLang="en-US" dirty="0"/>
              </a:p>
            </p:txBody>
          </p:sp>
        </mc:Choice>
        <mc:Fallback xmlns="">
          <p:sp>
            <p:nvSpPr>
              <p:cNvPr id="37" name="文字方塊 36">
                <a:extLst>
                  <a:ext uri="{FF2B5EF4-FFF2-40B4-BE49-F238E27FC236}">
                    <a16:creationId xmlns:a16="http://schemas.microsoft.com/office/drawing/2014/main" id="{3D695283-4E8A-7634-1929-4A13E433891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61277" y="5870506"/>
                <a:ext cx="762606" cy="36933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9" name="直線箭頭接點 38">
            <a:extLst>
              <a:ext uri="{FF2B5EF4-FFF2-40B4-BE49-F238E27FC236}">
                <a16:creationId xmlns:a16="http://schemas.microsoft.com/office/drawing/2014/main" id="{FCDA32D9-3381-4580-AAD7-33867572BF3F}"/>
              </a:ext>
            </a:extLst>
          </p:cNvPr>
          <p:cNvCxnSpPr>
            <a:cxnSpLocks/>
          </p:cNvCxnSpPr>
          <p:nvPr/>
        </p:nvCxnSpPr>
        <p:spPr>
          <a:xfrm flipH="1">
            <a:off x="5761608" y="4904981"/>
            <a:ext cx="2459115" cy="0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文字方塊 39">
            <a:extLst>
              <a:ext uri="{FF2B5EF4-FFF2-40B4-BE49-F238E27FC236}">
                <a16:creationId xmlns:a16="http://schemas.microsoft.com/office/drawing/2014/main" id="{DB64D0DE-480E-A49A-6313-2BC8361A9E47}"/>
              </a:ext>
            </a:extLst>
          </p:cNvPr>
          <p:cNvSpPr txBox="1"/>
          <p:nvPr/>
        </p:nvSpPr>
        <p:spPr>
          <a:xfrm>
            <a:off x="8429774" y="4704926"/>
            <a:ext cx="239944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sz="2000" dirty="0">
                <a:solidFill>
                  <a:srgbClr val="FF0000"/>
                </a:solidFill>
                <a:ea typeface="Microsoft JhengHei" panose="020B0604030504040204" pitchFamily="34" charset="-120"/>
              </a:rPr>
              <a:t>Mistake occurs</a:t>
            </a:r>
            <a:endParaRPr kumimoji="1" lang="zh-TW" altLang="en-US" sz="2000" dirty="0">
              <a:solidFill>
                <a:srgbClr val="FF0000"/>
              </a:solidFill>
              <a:ea typeface="Microsoft JhengHei" panose="020B0604030504040204" pitchFamily="34" charset="-120"/>
            </a:endParaRPr>
          </a:p>
        </p:txBody>
      </p:sp>
      <p:cxnSp>
        <p:nvCxnSpPr>
          <p:cNvPr id="42" name="直線箭頭接點 41">
            <a:extLst>
              <a:ext uri="{FF2B5EF4-FFF2-40B4-BE49-F238E27FC236}">
                <a16:creationId xmlns:a16="http://schemas.microsoft.com/office/drawing/2014/main" id="{1E9CC18F-C1E4-2FBA-AA1A-911993E681D3}"/>
              </a:ext>
            </a:extLst>
          </p:cNvPr>
          <p:cNvCxnSpPr>
            <a:cxnSpLocks/>
          </p:cNvCxnSpPr>
          <p:nvPr/>
        </p:nvCxnSpPr>
        <p:spPr>
          <a:xfrm flipH="1">
            <a:off x="6613864" y="5580104"/>
            <a:ext cx="1606859" cy="0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文字方塊 43">
            <a:extLst>
              <a:ext uri="{FF2B5EF4-FFF2-40B4-BE49-F238E27FC236}">
                <a16:creationId xmlns:a16="http://schemas.microsoft.com/office/drawing/2014/main" id="{B9943C79-A626-6BFE-4FFE-AC68A978DD3C}"/>
              </a:ext>
            </a:extLst>
          </p:cNvPr>
          <p:cNvSpPr txBox="1"/>
          <p:nvPr/>
        </p:nvSpPr>
        <p:spPr>
          <a:xfrm>
            <a:off x="8429774" y="5380049"/>
            <a:ext cx="299028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sz="2000" dirty="0">
                <a:solidFill>
                  <a:srgbClr val="FF0000"/>
                </a:solidFill>
                <a:ea typeface="Microsoft JhengHei" panose="020B0604030504040204" pitchFamily="34" charset="-120"/>
              </a:rPr>
              <a:t>More mistake occur</a:t>
            </a:r>
            <a:endParaRPr kumimoji="1" lang="zh-TW" altLang="en-US" sz="2000" dirty="0">
              <a:solidFill>
                <a:srgbClr val="FF0000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15237245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742DD80-FE48-260B-0473-33D8138DDD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Re-thinking Greedy Decoding</a:t>
            </a:r>
            <a:endParaRPr kumimoji="1"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9AD0BF83-DEDB-6083-2277-A51723171B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22</a:t>
            </a:fld>
            <a:endParaRPr lang="en-US"/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F2F0F3D3-C611-834E-801D-5082C6008856}"/>
              </a:ext>
            </a:extLst>
          </p:cNvPr>
          <p:cNvSpPr txBox="1"/>
          <p:nvPr/>
        </p:nvSpPr>
        <p:spPr>
          <a:xfrm>
            <a:off x="653143" y="1855809"/>
            <a:ext cx="11271837" cy="19514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en-US" altLang="zh-TW" sz="2800" dirty="0"/>
              <a:t>Greedy decoding cannot undo!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en-US" altLang="zh-TW" sz="2800" dirty="0"/>
              <a:t>Greedy decoding only provides one best choice at each time step.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en-US" altLang="zh-TW" sz="2800" dirty="0"/>
              <a:t>How about providing </a:t>
            </a:r>
            <a:r>
              <a:rPr kumimoji="1" lang="en-US" altLang="zh-TW" sz="2800" dirty="0">
                <a:solidFill>
                  <a:srgbClr val="FF0000"/>
                </a:solidFill>
              </a:rPr>
              <a:t>more than one choices </a:t>
            </a:r>
            <a:r>
              <a:rPr kumimoji="1" lang="en-US" altLang="zh-TW" sz="2800" dirty="0"/>
              <a:t>at each time step?</a:t>
            </a:r>
            <a:endParaRPr kumimoji="1" lang="zh-TW" altLang="en-US" sz="2800" dirty="0"/>
          </a:p>
        </p:txBody>
      </p:sp>
      <p:sp>
        <p:nvSpPr>
          <p:cNvPr id="3" name="向右箭號 2">
            <a:extLst>
              <a:ext uri="{FF2B5EF4-FFF2-40B4-BE49-F238E27FC236}">
                <a16:creationId xmlns:a16="http://schemas.microsoft.com/office/drawing/2014/main" id="{498648C1-20C6-C51B-AF93-3788973F1EBC}"/>
              </a:ext>
            </a:extLst>
          </p:cNvPr>
          <p:cNvSpPr/>
          <p:nvPr/>
        </p:nvSpPr>
        <p:spPr>
          <a:xfrm>
            <a:off x="1120517" y="4122690"/>
            <a:ext cx="514905" cy="301841"/>
          </a:xfrm>
          <a:prstGeom prst="rightArrow">
            <a:avLst/>
          </a:prstGeom>
          <a:solidFill>
            <a:srgbClr val="C5E0B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4D7BF6BA-C9EC-45C8-B9F6-1BF4719A46DD}"/>
              </a:ext>
            </a:extLst>
          </p:cNvPr>
          <p:cNvSpPr txBox="1"/>
          <p:nvPr/>
        </p:nvSpPr>
        <p:spPr>
          <a:xfrm>
            <a:off x="1830729" y="4042777"/>
            <a:ext cx="249279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sz="2400" b="1" dirty="0">
                <a:solidFill>
                  <a:srgbClr val="FF0000"/>
                </a:solidFill>
              </a:rPr>
              <a:t>Beam Search</a:t>
            </a:r>
            <a:endParaRPr kumimoji="1" lang="zh-TW" altLang="en-US" sz="24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0947527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80B6B308-E528-1567-412F-2BF52CB92E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dirty="0"/>
              <a:t>23</a:t>
            </a:fld>
            <a:endParaRPr lang="zh-TW" altLang="en-US"/>
          </a:p>
        </p:txBody>
      </p:sp>
      <p:sp>
        <p:nvSpPr>
          <p:cNvPr id="9" name="標題 1">
            <a:extLst>
              <a:ext uri="{FF2B5EF4-FFF2-40B4-BE49-F238E27FC236}">
                <a16:creationId xmlns:a16="http://schemas.microsoft.com/office/drawing/2014/main" id="{48A7588B-B0B2-7411-9D52-1DF0EDC274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4672" y="356088"/>
            <a:ext cx="10511008" cy="1033416"/>
          </a:xfrm>
        </p:spPr>
        <p:txBody>
          <a:bodyPr/>
          <a:lstStyle/>
          <a:p>
            <a:r>
              <a:rPr kumimoji="1" lang="en-US" altLang="zh-TW" dirty="0"/>
              <a:t>Beam Search</a:t>
            </a:r>
            <a:endParaRPr lang="zh-TW" altLang="en-US" sz="2400" dirty="0">
              <a:latin typeface="Times New Roman"/>
              <a:ea typeface="新細明體"/>
              <a:cs typeface="Calibri Light"/>
            </a:endParaRPr>
          </a:p>
        </p:txBody>
      </p:sp>
      <p:sp>
        <p:nvSpPr>
          <p:cNvPr id="20" name="文字方塊 19">
            <a:extLst>
              <a:ext uri="{FF2B5EF4-FFF2-40B4-BE49-F238E27FC236}">
                <a16:creationId xmlns:a16="http://schemas.microsoft.com/office/drawing/2014/main" id="{BE7EBF31-A0A8-6287-3981-845D5360A7C2}"/>
              </a:ext>
            </a:extLst>
          </p:cNvPr>
          <p:cNvSpPr txBox="1"/>
          <p:nvPr/>
        </p:nvSpPr>
        <p:spPr>
          <a:xfrm>
            <a:off x="695739" y="1684961"/>
            <a:ext cx="10511008" cy="33478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en-US" altLang="zh-TW" sz="2400" dirty="0"/>
              <a:t>Set the `Beam size` (or `Beam width`) = 2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en-US" altLang="zh-TW" sz="2400" dirty="0"/>
              <a:t>This means that the number of candidates will be preserved at each decoding time.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en-US" altLang="zh-TW" sz="2400" dirty="0"/>
              <a:t>Beam size is a hyperparameter for beam search decoding.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en-US" altLang="zh-TW" sz="2400" dirty="0"/>
              <a:t>At each decoding time step, a score is calculated via the following equation:</a:t>
            </a:r>
            <a:endParaRPr kumimoji="1" lang="zh-TW" altLang="en-US" sz="2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內容版面配置區 2">
                <a:extLst>
                  <a:ext uri="{FF2B5EF4-FFF2-40B4-BE49-F238E27FC236}">
                    <a16:creationId xmlns:a16="http://schemas.microsoft.com/office/drawing/2014/main" id="{802319D2-19BD-3EA0-077A-AC4370BB4BF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130139" y="4785481"/>
                <a:ext cx="3931721" cy="943492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zh-TW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TW" i="1">
                              <a:latin typeface="Cambria Math" panose="02040503050406030204" pitchFamily="18" charset="0"/>
                            </a:rPr>
                            <m:t>𝐿</m:t>
                          </m:r>
                        </m:e>
                        <m:sub>
                          <m:r>
                            <a:rPr kumimoji="1" lang="en-US" altLang="zh-TW" i="1">
                              <a:latin typeface="Cambria Math" panose="02040503050406030204" pitchFamily="18" charset="0"/>
                            </a:rPr>
                            <m:t>𝑚𝑙</m:t>
                          </m:r>
                        </m:sub>
                      </m:sSub>
                      <m:r>
                        <a:rPr kumimoji="1" lang="en-US" altLang="zh-TW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kumimoji="1" lang="en-US" altLang="zh-TW" b="0" i="1" smtClean="0">
                          <a:latin typeface="Cambria Math" panose="02040503050406030204" pitchFamily="18" charset="0"/>
                        </a:rPr>
                        <m:t>−</m:t>
                      </m:r>
                      <m:nary>
                        <m:naryPr>
                          <m:chr m:val="∑"/>
                          <m:ctrlPr>
                            <a:rPr kumimoji="1" lang="en-US" altLang="zh-TW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kumimoji="1" lang="en-US" altLang="zh-TW" i="1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kumimoji="1" lang="en-US" altLang="zh-TW" i="1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sSup>
                            <m:sSupPr>
                              <m:ctrlPr>
                                <a:rPr kumimoji="1" lang="en-US" altLang="zh-TW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kumimoji="1" lang="en-US" altLang="zh-TW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  <m:sup>
                              <m:r>
                                <a:rPr kumimoji="1" lang="en-US" altLang="zh-TW" i="1"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</m:sup>
                        <m:e>
                          <m:func>
                            <m:funcPr>
                              <m:ctrlPr>
                                <a:rPr kumimoji="1" lang="en-US" altLang="zh-TW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kumimoji="1" lang="en-US" altLang="zh-TW">
                                  <a:latin typeface="Cambria Math" panose="02040503050406030204" pitchFamily="18" charset="0"/>
                                </a:rPr>
                                <m:t>log</m:t>
                              </m:r>
                            </m:fName>
                            <m:e>
                              <m:r>
                                <a:rPr kumimoji="1" lang="en-US" altLang="zh-TW" i="1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  <m:r>
                                <a:rPr kumimoji="1" lang="en-US" altLang="zh-TW" i="1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sSubSup>
                                <m:sSubSupPr>
                                  <m:ctrlPr>
                                    <a:rPr kumimoji="1" lang="en-US" altLang="zh-TW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kumimoji="1" lang="en-US" altLang="zh-TW" i="1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kumimoji="1" lang="en-US" altLang="zh-TW" i="1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sub>
                                <m:sup>
                                  <m:r>
                                    <a:rPr kumimoji="1" lang="en-US" altLang="zh-TW" i="1">
                                      <a:latin typeface="Cambria Math" panose="02040503050406030204" pitchFamily="18" charset="0"/>
                                    </a:rPr>
                                    <m:t>∗</m:t>
                                  </m:r>
                                </m:sup>
                              </m:sSubSup>
                              <m:r>
                                <a:rPr kumimoji="1" lang="en-US" altLang="zh-TW" i="1">
                                  <a:latin typeface="Cambria Math" panose="02040503050406030204" pitchFamily="18" charset="0"/>
                                </a:rPr>
                                <m:t>|</m:t>
                              </m:r>
                              <m:sSubSup>
                                <m:sSubSupPr>
                                  <m:ctrlPr>
                                    <a:rPr kumimoji="1" lang="en-US" altLang="zh-TW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kumimoji="1" lang="en-US" altLang="zh-TW" i="1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kumimoji="1" lang="en-US" altLang="zh-TW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  <m:sup>
                                  <m:r>
                                    <a:rPr kumimoji="1" lang="en-US" altLang="zh-TW" i="1">
                                      <a:latin typeface="Cambria Math" panose="02040503050406030204" pitchFamily="18" charset="0"/>
                                    </a:rPr>
                                    <m:t>∗</m:t>
                                  </m:r>
                                </m:sup>
                              </m:sSubSup>
                              <m:r>
                                <a:rPr kumimoji="1" lang="en-US" altLang="zh-TW" i="1">
                                  <a:latin typeface="Cambria Math" panose="02040503050406030204" pitchFamily="18" charset="0"/>
                                </a:rPr>
                                <m:t>,…,</m:t>
                              </m:r>
                              <m:sSubSup>
                                <m:sSubSupPr>
                                  <m:ctrlPr>
                                    <a:rPr kumimoji="1" lang="en-US" altLang="zh-TW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kumimoji="1" lang="en-US" altLang="zh-TW" i="1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kumimoji="1" lang="en-US" altLang="zh-TW" i="1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  <m:r>
                                    <a:rPr kumimoji="1" lang="en-US" altLang="zh-TW" i="1">
                                      <a:latin typeface="Cambria Math" panose="02040503050406030204" pitchFamily="18" charset="0"/>
                                    </a:rPr>
                                    <m:t>−1</m:t>
                                  </m:r>
                                </m:sub>
                                <m:sup>
                                  <m:r>
                                    <a:rPr kumimoji="1" lang="en-US" altLang="zh-TW" i="1">
                                      <a:latin typeface="Cambria Math" panose="02040503050406030204" pitchFamily="18" charset="0"/>
                                    </a:rPr>
                                    <m:t>∗</m:t>
                                  </m:r>
                                </m:sup>
                              </m:sSubSup>
                              <m:r>
                                <a:rPr kumimoji="1" lang="en-US" altLang="zh-TW" i="1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kumimoji="1" lang="en-US" altLang="zh-TW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kumimoji="1" lang="en-US" altLang="zh-TW" i="1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</m:func>
                        </m:e>
                      </m:nary>
                    </m:oMath>
                  </m:oMathPara>
                </a14:m>
                <a:endParaRPr kumimoji="1" lang="zh-TW" altLang="en-US" sz="2400" dirty="0"/>
              </a:p>
            </p:txBody>
          </p:sp>
        </mc:Choice>
        <mc:Fallback xmlns="">
          <p:sp>
            <p:nvSpPr>
              <p:cNvPr id="21" name="內容版面配置區 2">
                <a:extLst>
                  <a:ext uri="{FF2B5EF4-FFF2-40B4-BE49-F238E27FC236}">
                    <a16:creationId xmlns:a16="http://schemas.microsoft.com/office/drawing/2014/main" id="{802319D2-19BD-3EA0-077A-AC4370BB4BF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130139" y="4785481"/>
                <a:ext cx="3931721" cy="943492"/>
              </a:xfrm>
              <a:blipFill>
                <a:blip r:embed="rId2"/>
                <a:stretch>
                  <a:fillRect l="-2258" t="-100000" b="-151316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文字方塊 1">
            <a:extLst>
              <a:ext uri="{FF2B5EF4-FFF2-40B4-BE49-F238E27FC236}">
                <a16:creationId xmlns:a16="http://schemas.microsoft.com/office/drawing/2014/main" id="{1BD62DAA-E7ED-7F31-37C7-1A4194525CE7}"/>
              </a:ext>
            </a:extLst>
          </p:cNvPr>
          <p:cNvSpPr txBox="1"/>
          <p:nvPr/>
        </p:nvSpPr>
        <p:spPr>
          <a:xfrm>
            <a:off x="6740165" y="5839764"/>
            <a:ext cx="47793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dirty="0">
                <a:solidFill>
                  <a:srgbClr val="FF0000"/>
                </a:solidFill>
              </a:rPr>
              <a:t>*</a:t>
            </a:r>
            <a:r>
              <a:rPr kumimoji="1" lang="zh-TW" altLang="en-US" dirty="0">
                <a:solidFill>
                  <a:srgbClr val="FF0000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代表 </a:t>
            </a:r>
            <a:r>
              <a:rPr kumimoji="1" lang="en-US" altLang="zh-TW" dirty="0">
                <a:solidFill>
                  <a:srgbClr val="FF0000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</a:t>
            </a:r>
            <a:r>
              <a:rPr kumimoji="1" lang="zh-TW" altLang="en-US" dirty="0">
                <a:solidFill>
                  <a:srgbClr val="FF0000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強調</a:t>
            </a:r>
            <a:r>
              <a:rPr kumimoji="1" lang="en-US" altLang="zh-TW" dirty="0">
                <a:solidFill>
                  <a:srgbClr val="FF0000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) </a:t>
            </a:r>
            <a:r>
              <a:rPr kumimoji="1" lang="zh-TW" altLang="en-US" dirty="0">
                <a:solidFill>
                  <a:srgbClr val="FF0000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當前時間點生成機率最大的選項</a:t>
            </a:r>
          </a:p>
        </p:txBody>
      </p:sp>
    </p:spTree>
    <p:extLst>
      <p:ext uri="{BB962C8B-B14F-4D97-AF65-F5344CB8AC3E}">
        <p14:creationId xmlns:p14="http://schemas.microsoft.com/office/powerpoint/2010/main" val="12434767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80B6B308-E528-1567-412F-2BF52CB92E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dirty="0"/>
              <a:t>24</a:t>
            </a:fld>
            <a:endParaRPr lang="zh-TW" altLang="en-US"/>
          </a:p>
        </p:txBody>
      </p:sp>
      <p:sp>
        <p:nvSpPr>
          <p:cNvPr id="6" name="圓角矩形 5">
            <a:extLst>
              <a:ext uri="{FF2B5EF4-FFF2-40B4-BE49-F238E27FC236}">
                <a16:creationId xmlns:a16="http://schemas.microsoft.com/office/drawing/2014/main" id="{F07E41BB-9C95-5AB2-BA09-AE6796CBB446}"/>
              </a:ext>
            </a:extLst>
          </p:cNvPr>
          <p:cNvSpPr/>
          <p:nvPr/>
        </p:nvSpPr>
        <p:spPr>
          <a:xfrm>
            <a:off x="1234362" y="3920344"/>
            <a:ext cx="613700" cy="514110"/>
          </a:xfrm>
          <a:prstGeom prst="roundRect">
            <a:avLst/>
          </a:prstGeom>
          <a:solidFill>
            <a:srgbClr val="C5E0B4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en-US" altLang="zh-TW" sz="2400" dirty="0">
                <a:solidFill>
                  <a:schemeClr val="tx1"/>
                </a:solidFill>
              </a:rPr>
              <a:t>_</a:t>
            </a:r>
            <a:endParaRPr kumimoji="1" lang="zh-TW" altLang="en-US" sz="2400" dirty="0">
              <a:solidFill>
                <a:schemeClr val="tx1"/>
              </a:solidFill>
            </a:endParaRPr>
          </a:p>
        </p:txBody>
      </p:sp>
      <p:sp>
        <p:nvSpPr>
          <p:cNvPr id="7" name="文字方塊 67">
            <a:extLst>
              <a:ext uri="{FF2B5EF4-FFF2-40B4-BE49-F238E27FC236}">
                <a16:creationId xmlns:a16="http://schemas.microsoft.com/office/drawing/2014/main" id="{B381507F-DC44-2012-7728-330509B5ABA9}"/>
              </a:ext>
            </a:extLst>
          </p:cNvPr>
          <p:cNvSpPr txBox="1"/>
          <p:nvPr/>
        </p:nvSpPr>
        <p:spPr>
          <a:xfrm>
            <a:off x="1158218" y="4472662"/>
            <a:ext cx="77862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en-US" altLang="zh-TW" sz="1600" dirty="0"/>
              <a:t>(Start)</a:t>
            </a:r>
            <a:endParaRPr kumimoji="1" lang="zh-TW" altLang="en-US" sz="1600" dirty="0"/>
          </a:p>
        </p:txBody>
      </p:sp>
      <p:sp>
        <p:nvSpPr>
          <p:cNvPr id="10" name="圓角矩形 9">
            <a:extLst>
              <a:ext uri="{FF2B5EF4-FFF2-40B4-BE49-F238E27FC236}">
                <a16:creationId xmlns:a16="http://schemas.microsoft.com/office/drawing/2014/main" id="{875E7289-05C1-D185-CD20-7A8387DC3548}"/>
              </a:ext>
            </a:extLst>
          </p:cNvPr>
          <p:cNvSpPr/>
          <p:nvPr/>
        </p:nvSpPr>
        <p:spPr>
          <a:xfrm>
            <a:off x="2397436" y="2958733"/>
            <a:ext cx="613700" cy="514110"/>
          </a:xfrm>
          <a:prstGeom prst="roundRect">
            <a:avLst/>
          </a:prstGeom>
          <a:solidFill>
            <a:srgbClr val="C5E0B4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en-US" altLang="zh-TW" sz="1600" dirty="0">
                <a:solidFill>
                  <a:schemeClr val="tx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I</a:t>
            </a:r>
            <a:endParaRPr kumimoji="1" lang="zh-TW" altLang="en-US" sz="1600" dirty="0">
              <a:solidFill>
                <a:schemeClr val="tx1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12" name="圓角矩形 11">
            <a:extLst>
              <a:ext uri="{FF2B5EF4-FFF2-40B4-BE49-F238E27FC236}">
                <a16:creationId xmlns:a16="http://schemas.microsoft.com/office/drawing/2014/main" id="{3C729BBC-BACD-B4BC-5CFD-E43E279BC56D}"/>
              </a:ext>
            </a:extLst>
          </p:cNvPr>
          <p:cNvSpPr/>
          <p:nvPr/>
        </p:nvSpPr>
        <p:spPr>
          <a:xfrm>
            <a:off x="2397436" y="5004890"/>
            <a:ext cx="613700" cy="514110"/>
          </a:xfrm>
          <a:prstGeom prst="roundRect">
            <a:avLst/>
          </a:prstGeom>
          <a:solidFill>
            <a:srgbClr val="C5E0B4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en-US" altLang="zh-TW" sz="1600" dirty="0">
                <a:solidFill>
                  <a:schemeClr val="tx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You</a:t>
            </a:r>
            <a:endParaRPr kumimoji="1" lang="zh-TW" altLang="en-US" sz="1600" dirty="0">
              <a:solidFill>
                <a:schemeClr val="tx1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cxnSp>
        <p:nvCxnSpPr>
          <p:cNvPr id="14" name="直線箭頭接點 13">
            <a:extLst>
              <a:ext uri="{FF2B5EF4-FFF2-40B4-BE49-F238E27FC236}">
                <a16:creationId xmlns:a16="http://schemas.microsoft.com/office/drawing/2014/main" id="{25A5463B-ADA9-FE38-04CD-5FE88700466F}"/>
              </a:ext>
            </a:extLst>
          </p:cNvPr>
          <p:cNvCxnSpPr>
            <a:cxnSpLocks/>
          </p:cNvCxnSpPr>
          <p:nvPr/>
        </p:nvCxnSpPr>
        <p:spPr>
          <a:xfrm flipV="1">
            <a:off x="1871612" y="3159314"/>
            <a:ext cx="467804" cy="951566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線箭頭接點 18">
            <a:extLst>
              <a:ext uri="{FF2B5EF4-FFF2-40B4-BE49-F238E27FC236}">
                <a16:creationId xmlns:a16="http://schemas.microsoft.com/office/drawing/2014/main" id="{9D3CFDC7-E5AB-77B0-FA1A-9D836D4225EE}"/>
              </a:ext>
            </a:extLst>
          </p:cNvPr>
          <p:cNvCxnSpPr>
            <a:cxnSpLocks/>
          </p:cNvCxnSpPr>
          <p:nvPr/>
        </p:nvCxnSpPr>
        <p:spPr>
          <a:xfrm rot="10800000" flipH="1" flipV="1">
            <a:off x="1871612" y="4221432"/>
            <a:ext cx="467804" cy="951566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文字方塊 21">
                <a:extLst>
                  <a:ext uri="{FF2B5EF4-FFF2-40B4-BE49-F238E27FC236}">
                    <a16:creationId xmlns:a16="http://schemas.microsoft.com/office/drawing/2014/main" id="{AE2DCFBE-6018-9076-F2D2-1DB61E6327C0}"/>
                  </a:ext>
                </a:extLst>
              </p:cNvPr>
              <p:cNvSpPr txBox="1"/>
              <p:nvPr/>
            </p:nvSpPr>
            <p:spPr>
              <a:xfrm>
                <a:off x="1455196" y="2522334"/>
                <a:ext cx="2498177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kumimoji="1" lang="en-US" altLang="zh-TW" sz="1600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kumimoji="1" lang="en-US" altLang="zh-TW" sz="1600" b="0" i="0" smtClean="0">
                              <a:latin typeface="Cambria Math" panose="02040503050406030204" pitchFamily="18" charset="0"/>
                            </a:rPr>
                            <m:t>log</m:t>
                          </m:r>
                        </m:fName>
                        <m:e>
                          <m:r>
                            <a:rPr kumimoji="1" lang="en-US" altLang="zh-TW" sz="1600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  <m:d>
                            <m:dPr>
                              <m:endChr m:val="|"/>
                              <m:ctrlPr>
                                <a:rPr kumimoji="1" lang="en-US" altLang="zh-TW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kumimoji="1" lang="en-US" altLang="zh-TW" sz="1600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m:rPr>
                                  <m:nor/>
                                </m:rPr>
                                <a:rPr kumimoji="1" lang="en-US" altLang="zh-TW" sz="1600" b="0" i="0" smtClean="0">
                                  <a:latin typeface="Cambria Math" panose="02040503050406030204" pitchFamily="18" charset="0"/>
                                </a:rPr>
                                <m:t>I</m:t>
                              </m:r>
                              <m:r>
                                <a:rPr kumimoji="1" lang="en-US" altLang="zh-TW" sz="1600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e>
                          </m:d>
                          <m:r>
                            <a:rPr kumimoji="1" lang="en-US" altLang="zh-TW" sz="16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nor/>
                            </m:rPr>
                            <a:rPr kumimoji="1" lang="en-US" altLang="zh-TW" sz="1600" b="0" i="0" smtClean="0">
                              <a:latin typeface="Cambria Math" panose="02040503050406030204" pitchFamily="18" charset="0"/>
                            </a:rPr>
                            <m:t>Start</m:t>
                          </m:r>
                          <m:r>
                            <a:rPr kumimoji="1" lang="en-US" altLang="zh-TW" sz="1600" b="0" i="1" smtClean="0">
                              <a:latin typeface="Cambria Math" panose="02040503050406030204" pitchFamily="18" charset="0"/>
                            </a:rPr>
                            <m:t> )=</m:t>
                          </m:r>
                        </m:e>
                      </m:func>
                      <m:r>
                        <a:rPr kumimoji="1" lang="en-US" altLang="zh-TW" sz="1600" b="0" i="1" smtClean="0">
                          <a:latin typeface="Cambria Math" panose="02040503050406030204" pitchFamily="18" charset="0"/>
                        </a:rPr>
                        <m:t>−0.7</m:t>
                      </m:r>
                    </m:oMath>
                  </m:oMathPara>
                </a14:m>
                <a:endParaRPr kumimoji="1" lang="zh-TW" altLang="en-US" sz="1600" dirty="0"/>
              </a:p>
            </p:txBody>
          </p:sp>
        </mc:Choice>
        <mc:Fallback xmlns="">
          <p:sp>
            <p:nvSpPr>
              <p:cNvPr id="22" name="文字方塊 21">
                <a:extLst>
                  <a:ext uri="{FF2B5EF4-FFF2-40B4-BE49-F238E27FC236}">
                    <a16:creationId xmlns:a16="http://schemas.microsoft.com/office/drawing/2014/main" id="{AE2DCFBE-6018-9076-F2D2-1DB61E6327C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55196" y="2522334"/>
                <a:ext cx="2498177" cy="338554"/>
              </a:xfrm>
              <a:prstGeom prst="rect">
                <a:avLst/>
              </a:prstGeom>
              <a:blipFill>
                <a:blip r:embed="rId3"/>
                <a:stretch>
                  <a:fillRect b="-10714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文字方塊 22">
                <a:extLst>
                  <a:ext uri="{FF2B5EF4-FFF2-40B4-BE49-F238E27FC236}">
                    <a16:creationId xmlns:a16="http://schemas.microsoft.com/office/drawing/2014/main" id="{FD3DD690-0104-A97A-2C3F-7DF0AC27AFA7}"/>
                  </a:ext>
                </a:extLst>
              </p:cNvPr>
              <p:cNvSpPr txBox="1"/>
              <p:nvPr/>
            </p:nvSpPr>
            <p:spPr>
              <a:xfrm>
                <a:off x="1097280" y="5574359"/>
                <a:ext cx="2856093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kumimoji="1" lang="en-US" altLang="zh-TW" sz="1600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kumimoji="1" lang="en-US" altLang="zh-TW" sz="1600" b="0" i="0" smtClean="0">
                              <a:latin typeface="Cambria Math" panose="02040503050406030204" pitchFamily="18" charset="0"/>
                            </a:rPr>
                            <m:t>log</m:t>
                          </m:r>
                        </m:fName>
                        <m:e>
                          <m:r>
                            <a:rPr kumimoji="1" lang="en-US" altLang="zh-TW" sz="1600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  <m:d>
                            <m:dPr>
                              <m:endChr m:val="|"/>
                              <m:ctrlPr>
                                <a:rPr kumimoji="1" lang="en-US" altLang="zh-TW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m:rPr>
                                  <m:nor/>
                                </m:rPr>
                                <a:rPr kumimoji="1" lang="en-US" altLang="zh-TW" sz="1600" b="0" i="0" smtClean="0">
                                  <a:latin typeface="Cambria Math" panose="02040503050406030204" pitchFamily="18" charset="0"/>
                                </a:rPr>
                                <m:t>You</m:t>
                              </m:r>
                            </m:e>
                          </m:d>
                          <m:r>
                            <a:rPr kumimoji="1" lang="en-US" altLang="zh-TW" sz="16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nor/>
                            </m:rPr>
                            <a:rPr kumimoji="1" lang="en-US" altLang="zh-TW" sz="1600" b="0" i="0" smtClean="0">
                              <a:latin typeface="Cambria Math" panose="02040503050406030204" pitchFamily="18" charset="0"/>
                            </a:rPr>
                            <m:t>Start</m:t>
                          </m:r>
                          <m:r>
                            <a:rPr kumimoji="1" lang="en-US" altLang="zh-TW" sz="1600" b="0" i="1" smtClean="0">
                              <a:latin typeface="Cambria Math" panose="02040503050406030204" pitchFamily="18" charset="0"/>
                            </a:rPr>
                            <m:t> )=</m:t>
                          </m:r>
                        </m:e>
                      </m:func>
                      <m:r>
                        <a:rPr kumimoji="1" lang="en-US" altLang="zh-TW" sz="1600" b="0" i="1" smtClean="0">
                          <a:latin typeface="Cambria Math" panose="02040503050406030204" pitchFamily="18" charset="0"/>
                        </a:rPr>
                        <m:t>−0.9</m:t>
                      </m:r>
                    </m:oMath>
                  </m:oMathPara>
                </a14:m>
                <a:endParaRPr kumimoji="1" lang="zh-TW" altLang="en-US" sz="1600" dirty="0"/>
              </a:p>
            </p:txBody>
          </p:sp>
        </mc:Choice>
        <mc:Fallback xmlns="">
          <p:sp>
            <p:nvSpPr>
              <p:cNvPr id="23" name="文字方塊 22">
                <a:extLst>
                  <a:ext uri="{FF2B5EF4-FFF2-40B4-BE49-F238E27FC236}">
                    <a16:creationId xmlns:a16="http://schemas.microsoft.com/office/drawing/2014/main" id="{FD3DD690-0104-A97A-2C3F-7DF0AC27AFA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97280" y="5574359"/>
                <a:ext cx="2856093" cy="338554"/>
              </a:xfrm>
              <a:prstGeom prst="rect">
                <a:avLst/>
              </a:prstGeom>
              <a:blipFill>
                <a:blip r:embed="rId4"/>
                <a:stretch>
                  <a:fillRect b="-14286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文字方塊 1">
            <a:extLst>
              <a:ext uri="{FF2B5EF4-FFF2-40B4-BE49-F238E27FC236}">
                <a16:creationId xmlns:a16="http://schemas.microsoft.com/office/drawing/2014/main" id="{593EF3DE-AA58-E22C-F731-851FE151B9AD}"/>
              </a:ext>
            </a:extLst>
          </p:cNvPr>
          <p:cNvSpPr txBox="1"/>
          <p:nvPr/>
        </p:nvSpPr>
        <p:spPr>
          <a:xfrm>
            <a:off x="4394566" y="3103511"/>
            <a:ext cx="57731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en-US" altLang="zh-TW" dirty="0"/>
              <a:t>At this decoding step, two choices are preserved.</a:t>
            </a:r>
            <a:endParaRPr kumimoji="1" lang="zh-TW" altLang="en-US" dirty="0"/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E3FC9180-E514-CE27-D31C-7082A7D3F173}"/>
              </a:ext>
            </a:extLst>
          </p:cNvPr>
          <p:cNvSpPr txBox="1"/>
          <p:nvPr/>
        </p:nvSpPr>
        <p:spPr>
          <a:xfrm>
            <a:off x="9613039" y="688130"/>
            <a:ext cx="1884594" cy="369332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dirty="0"/>
              <a:t>`Beam size` = 2</a:t>
            </a:r>
            <a:endParaRPr kumimoji="1" lang="zh-TW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標題 1">
                <a:extLst>
                  <a:ext uri="{FF2B5EF4-FFF2-40B4-BE49-F238E27FC236}">
                    <a16:creationId xmlns:a16="http://schemas.microsoft.com/office/drawing/2014/main" id="{E49465B7-E431-8B82-636A-490D3789ABAF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644672" y="356088"/>
                <a:ext cx="10511008" cy="1033416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rmAutofit/>
              </a:bodyPr>
              <a:lstStyle>
                <a:lvl1pPr marL="0" algn="l" defTabSz="914400" rtl="0" eaLnBrk="1" latinLnBrk="0" hangingPunct="1">
                  <a:lnSpc>
                    <a:spcPct val="85000"/>
                  </a:lnSpc>
                  <a:spcBef>
                    <a:spcPct val="0"/>
                  </a:spcBef>
                  <a:buNone/>
                  <a:defRPr sz="4800" kern="1200" spc="-5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r>
                  <a:rPr kumimoji="1" lang="en-US" altLang="zh-TW" dirty="0"/>
                  <a:t>Beam Search</a:t>
                </a:r>
                <a:r>
                  <a:rPr kumimoji="1" lang="zh-TW" altLang="en-US" dirty="0"/>
                  <a:t> </a:t>
                </a:r>
                <a:r>
                  <a:rPr kumimoji="1" lang="en-US" altLang="zh-TW" dirty="0"/>
                  <a:t>(</a:t>
                </a:r>
                <a14:m>
                  <m:oMath xmlns:m="http://schemas.openxmlformats.org/officeDocument/2006/math">
                    <m:r>
                      <a:rPr kumimoji="1" lang="en-US" altLang="zh-TW" b="0" i="1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kumimoji="1" lang="en-US" altLang="zh-TW" b="0" i="1" smtClean="0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kumimoji="1" lang="en-US" altLang="zh-TW" dirty="0"/>
                  <a:t>)</a:t>
                </a:r>
                <a:endParaRPr lang="zh-TW" altLang="en-US" dirty="0">
                  <a:latin typeface="Times New Roman"/>
                  <a:ea typeface="新細明體"/>
                  <a:cs typeface="Calibri Light"/>
                </a:endParaRPr>
              </a:p>
            </p:txBody>
          </p:sp>
        </mc:Choice>
        <mc:Fallback xmlns="">
          <p:sp>
            <p:nvSpPr>
              <p:cNvPr id="11" name="標題 1">
                <a:extLst>
                  <a:ext uri="{FF2B5EF4-FFF2-40B4-BE49-F238E27FC236}">
                    <a16:creationId xmlns:a16="http://schemas.microsoft.com/office/drawing/2014/main" id="{E49465B7-E431-8B82-636A-490D3789ABA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4672" y="356088"/>
                <a:ext cx="10511008" cy="1033416"/>
              </a:xfrm>
              <a:prstGeom prst="rect">
                <a:avLst/>
              </a:prstGeom>
              <a:blipFill>
                <a:blip r:embed="rId5"/>
                <a:stretch>
                  <a:fillRect l="-2654" t="-8434" b="-15663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75709990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80B6B308-E528-1567-412F-2BF52CB92E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dirty="0"/>
              <a:t>25</a:t>
            </a:fld>
            <a:endParaRPr lang="zh-TW" altLang="en-US"/>
          </a:p>
        </p:txBody>
      </p:sp>
      <p:sp>
        <p:nvSpPr>
          <p:cNvPr id="6" name="圓角矩形 5">
            <a:extLst>
              <a:ext uri="{FF2B5EF4-FFF2-40B4-BE49-F238E27FC236}">
                <a16:creationId xmlns:a16="http://schemas.microsoft.com/office/drawing/2014/main" id="{F07E41BB-9C95-5AB2-BA09-AE6796CBB446}"/>
              </a:ext>
            </a:extLst>
          </p:cNvPr>
          <p:cNvSpPr/>
          <p:nvPr/>
        </p:nvSpPr>
        <p:spPr>
          <a:xfrm>
            <a:off x="1234362" y="3920344"/>
            <a:ext cx="613700" cy="514110"/>
          </a:xfrm>
          <a:prstGeom prst="roundRect">
            <a:avLst/>
          </a:prstGeom>
          <a:solidFill>
            <a:srgbClr val="C5E0B4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en-US" altLang="zh-TW" sz="2400" dirty="0">
                <a:solidFill>
                  <a:schemeClr val="tx1"/>
                </a:solidFill>
              </a:rPr>
              <a:t>_</a:t>
            </a:r>
            <a:endParaRPr kumimoji="1" lang="zh-TW" altLang="en-US" sz="2400" dirty="0">
              <a:solidFill>
                <a:schemeClr val="tx1"/>
              </a:solidFill>
            </a:endParaRPr>
          </a:p>
        </p:txBody>
      </p:sp>
      <p:sp>
        <p:nvSpPr>
          <p:cNvPr id="7" name="文字方塊 67">
            <a:extLst>
              <a:ext uri="{FF2B5EF4-FFF2-40B4-BE49-F238E27FC236}">
                <a16:creationId xmlns:a16="http://schemas.microsoft.com/office/drawing/2014/main" id="{B381507F-DC44-2012-7728-330509B5ABA9}"/>
              </a:ext>
            </a:extLst>
          </p:cNvPr>
          <p:cNvSpPr txBox="1"/>
          <p:nvPr/>
        </p:nvSpPr>
        <p:spPr>
          <a:xfrm>
            <a:off x="1158218" y="4472662"/>
            <a:ext cx="77862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en-US" altLang="zh-TW" sz="1600" dirty="0"/>
              <a:t>(Start)</a:t>
            </a:r>
            <a:endParaRPr kumimoji="1" lang="zh-TW" altLang="en-US" sz="1600" dirty="0"/>
          </a:p>
        </p:txBody>
      </p:sp>
      <p:sp>
        <p:nvSpPr>
          <p:cNvPr id="10" name="圓角矩形 9">
            <a:extLst>
              <a:ext uri="{FF2B5EF4-FFF2-40B4-BE49-F238E27FC236}">
                <a16:creationId xmlns:a16="http://schemas.microsoft.com/office/drawing/2014/main" id="{875E7289-05C1-D185-CD20-7A8387DC3548}"/>
              </a:ext>
            </a:extLst>
          </p:cNvPr>
          <p:cNvSpPr/>
          <p:nvPr/>
        </p:nvSpPr>
        <p:spPr>
          <a:xfrm>
            <a:off x="2397436" y="2958733"/>
            <a:ext cx="613700" cy="514110"/>
          </a:xfrm>
          <a:prstGeom prst="roundRect">
            <a:avLst/>
          </a:prstGeom>
          <a:solidFill>
            <a:srgbClr val="C5E0B4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en-US" altLang="zh-TW" sz="1600" dirty="0">
                <a:solidFill>
                  <a:schemeClr val="tx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I</a:t>
            </a:r>
            <a:endParaRPr kumimoji="1" lang="zh-TW" altLang="en-US" sz="1600" dirty="0">
              <a:solidFill>
                <a:schemeClr val="tx1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12" name="圓角矩形 11">
            <a:extLst>
              <a:ext uri="{FF2B5EF4-FFF2-40B4-BE49-F238E27FC236}">
                <a16:creationId xmlns:a16="http://schemas.microsoft.com/office/drawing/2014/main" id="{3C729BBC-BACD-B4BC-5CFD-E43E279BC56D}"/>
              </a:ext>
            </a:extLst>
          </p:cNvPr>
          <p:cNvSpPr/>
          <p:nvPr/>
        </p:nvSpPr>
        <p:spPr>
          <a:xfrm>
            <a:off x="2397436" y="5004890"/>
            <a:ext cx="613700" cy="514110"/>
          </a:xfrm>
          <a:prstGeom prst="roundRect">
            <a:avLst/>
          </a:prstGeom>
          <a:solidFill>
            <a:srgbClr val="C5E0B4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en-US" altLang="zh-TW" sz="1600" dirty="0">
                <a:solidFill>
                  <a:schemeClr val="tx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You</a:t>
            </a:r>
            <a:endParaRPr kumimoji="1" lang="zh-TW" altLang="en-US" sz="1600" dirty="0">
              <a:solidFill>
                <a:schemeClr val="tx1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cxnSp>
        <p:nvCxnSpPr>
          <p:cNvPr id="14" name="直線箭頭接點 13">
            <a:extLst>
              <a:ext uri="{FF2B5EF4-FFF2-40B4-BE49-F238E27FC236}">
                <a16:creationId xmlns:a16="http://schemas.microsoft.com/office/drawing/2014/main" id="{25A5463B-ADA9-FE38-04CD-5FE88700466F}"/>
              </a:ext>
            </a:extLst>
          </p:cNvPr>
          <p:cNvCxnSpPr>
            <a:cxnSpLocks/>
          </p:cNvCxnSpPr>
          <p:nvPr/>
        </p:nvCxnSpPr>
        <p:spPr>
          <a:xfrm flipV="1">
            <a:off x="1871612" y="3159314"/>
            <a:ext cx="467804" cy="951566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線箭頭接點 18">
            <a:extLst>
              <a:ext uri="{FF2B5EF4-FFF2-40B4-BE49-F238E27FC236}">
                <a16:creationId xmlns:a16="http://schemas.microsoft.com/office/drawing/2014/main" id="{9D3CFDC7-E5AB-77B0-FA1A-9D836D4225EE}"/>
              </a:ext>
            </a:extLst>
          </p:cNvPr>
          <p:cNvCxnSpPr>
            <a:cxnSpLocks/>
          </p:cNvCxnSpPr>
          <p:nvPr/>
        </p:nvCxnSpPr>
        <p:spPr>
          <a:xfrm rot="10800000" flipH="1" flipV="1">
            <a:off x="1871612" y="4221432"/>
            <a:ext cx="467804" cy="951566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文字方塊 1">
            <a:extLst>
              <a:ext uri="{FF2B5EF4-FFF2-40B4-BE49-F238E27FC236}">
                <a16:creationId xmlns:a16="http://schemas.microsoft.com/office/drawing/2014/main" id="{593EF3DE-AA58-E22C-F731-851FE151B9AD}"/>
              </a:ext>
            </a:extLst>
          </p:cNvPr>
          <p:cNvSpPr txBox="1"/>
          <p:nvPr/>
        </p:nvSpPr>
        <p:spPr>
          <a:xfrm>
            <a:off x="4394567" y="3103511"/>
            <a:ext cx="50095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en-US" altLang="zh-TW" dirty="0"/>
              <a:t>At this decoding step, two choices are preserved.</a:t>
            </a:r>
            <a:endParaRPr kumimoji="1" lang="zh-TW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文字方塊 2">
                <a:extLst>
                  <a:ext uri="{FF2B5EF4-FFF2-40B4-BE49-F238E27FC236}">
                    <a16:creationId xmlns:a16="http://schemas.microsoft.com/office/drawing/2014/main" id="{FE666591-640D-44B3-110E-6FCBB7E3AE92}"/>
                  </a:ext>
                </a:extLst>
              </p:cNvPr>
              <p:cNvSpPr txBox="1"/>
              <p:nvPr/>
            </p:nvSpPr>
            <p:spPr>
              <a:xfrm>
                <a:off x="2397435" y="5574359"/>
                <a:ext cx="598355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TW" sz="1600" b="0" i="1" smtClean="0">
                          <a:latin typeface="Cambria Math" panose="02040503050406030204" pitchFamily="18" charset="0"/>
                        </a:rPr>
                        <m:t>−0.9</m:t>
                      </m:r>
                    </m:oMath>
                  </m:oMathPara>
                </a14:m>
                <a:endParaRPr kumimoji="1" lang="zh-TW" altLang="en-US" sz="1600" dirty="0"/>
              </a:p>
            </p:txBody>
          </p:sp>
        </mc:Choice>
        <mc:Fallback xmlns="">
          <p:sp>
            <p:nvSpPr>
              <p:cNvPr id="3" name="文字方塊 2">
                <a:extLst>
                  <a:ext uri="{FF2B5EF4-FFF2-40B4-BE49-F238E27FC236}">
                    <a16:creationId xmlns:a16="http://schemas.microsoft.com/office/drawing/2014/main" id="{FE666591-640D-44B3-110E-6FCBB7E3AE9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97435" y="5574359"/>
                <a:ext cx="598355" cy="338554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文字方塊 3">
                <a:extLst>
                  <a:ext uri="{FF2B5EF4-FFF2-40B4-BE49-F238E27FC236}">
                    <a16:creationId xmlns:a16="http://schemas.microsoft.com/office/drawing/2014/main" id="{8B037737-B366-8531-B8DC-0EE343080CF9}"/>
                  </a:ext>
                </a:extLst>
              </p:cNvPr>
              <p:cNvSpPr txBox="1"/>
              <p:nvPr/>
            </p:nvSpPr>
            <p:spPr>
              <a:xfrm>
                <a:off x="2397435" y="2625303"/>
                <a:ext cx="613701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TW" sz="1600" b="0" i="1" smtClean="0">
                          <a:latin typeface="Cambria Math" panose="02040503050406030204" pitchFamily="18" charset="0"/>
                        </a:rPr>
                        <m:t>−0.7</m:t>
                      </m:r>
                    </m:oMath>
                  </m:oMathPara>
                </a14:m>
                <a:endParaRPr kumimoji="1" lang="zh-TW" altLang="en-US" sz="1600" dirty="0"/>
              </a:p>
            </p:txBody>
          </p:sp>
        </mc:Choice>
        <mc:Fallback xmlns="">
          <p:sp>
            <p:nvSpPr>
              <p:cNvPr id="4" name="文字方塊 3">
                <a:extLst>
                  <a:ext uri="{FF2B5EF4-FFF2-40B4-BE49-F238E27FC236}">
                    <a16:creationId xmlns:a16="http://schemas.microsoft.com/office/drawing/2014/main" id="{8B037737-B366-8531-B8DC-0EE343080CF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97435" y="2625303"/>
                <a:ext cx="613701" cy="338554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6" name="標題 1">
                <a:extLst>
                  <a:ext uri="{FF2B5EF4-FFF2-40B4-BE49-F238E27FC236}">
                    <a16:creationId xmlns:a16="http://schemas.microsoft.com/office/drawing/2014/main" id="{8DD5D399-2DFE-58AF-69AD-8E65A2CCAE05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644672" y="356088"/>
                <a:ext cx="10511008" cy="1033416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rmAutofit/>
              </a:bodyPr>
              <a:lstStyle>
                <a:lvl1pPr marL="0" algn="l" defTabSz="914400" rtl="0" eaLnBrk="1" latinLnBrk="0" hangingPunct="1">
                  <a:lnSpc>
                    <a:spcPct val="85000"/>
                  </a:lnSpc>
                  <a:spcBef>
                    <a:spcPct val="0"/>
                  </a:spcBef>
                  <a:buNone/>
                  <a:defRPr sz="4800" kern="1200" spc="-5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r>
                  <a:rPr kumimoji="1" lang="en-US" altLang="zh-TW" dirty="0"/>
                  <a:t>Beam Search</a:t>
                </a:r>
                <a:r>
                  <a:rPr kumimoji="1" lang="zh-TW" altLang="en-US" dirty="0"/>
                  <a:t> </a:t>
                </a:r>
                <a:r>
                  <a:rPr kumimoji="1" lang="en-US" altLang="zh-TW" dirty="0"/>
                  <a:t>(</a:t>
                </a:r>
                <a14:m>
                  <m:oMath xmlns:m="http://schemas.openxmlformats.org/officeDocument/2006/math">
                    <m:r>
                      <a:rPr kumimoji="1" lang="en-US" altLang="zh-TW" b="0" i="1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kumimoji="1" lang="en-US" altLang="zh-TW" b="0" i="1" smtClean="0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kumimoji="1" lang="en-US" altLang="zh-TW" dirty="0"/>
                  <a:t>)</a:t>
                </a:r>
                <a:endParaRPr lang="zh-TW" altLang="en-US" dirty="0">
                  <a:latin typeface="Times New Roman"/>
                  <a:ea typeface="新細明體"/>
                  <a:cs typeface="Calibri Light"/>
                </a:endParaRPr>
              </a:p>
            </p:txBody>
          </p:sp>
        </mc:Choice>
        <mc:Fallback>
          <p:sp>
            <p:nvSpPr>
              <p:cNvPr id="16" name="標題 1">
                <a:extLst>
                  <a:ext uri="{FF2B5EF4-FFF2-40B4-BE49-F238E27FC236}">
                    <a16:creationId xmlns:a16="http://schemas.microsoft.com/office/drawing/2014/main" id="{8DD5D399-2DFE-58AF-69AD-8E65A2CCAE0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4672" y="356088"/>
                <a:ext cx="10511008" cy="1033416"/>
              </a:xfrm>
              <a:prstGeom prst="rect">
                <a:avLst/>
              </a:prstGeom>
              <a:blipFill>
                <a:blip r:embed="rId5"/>
                <a:stretch>
                  <a:fillRect l="-2654" t="-8434" b="-15663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" name="文字方塊 16">
            <a:extLst>
              <a:ext uri="{FF2B5EF4-FFF2-40B4-BE49-F238E27FC236}">
                <a16:creationId xmlns:a16="http://schemas.microsoft.com/office/drawing/2014/main" id="{DF977B78-9808-F102-7EDF-31EA78A2DE73}"/>
              </a:ext>
            </a:extLst>
          </p:cNvPr>
          <p:cNvSpPr txBox="1"/>
          <p:nvPr/>
        </p:nvSpPr>
        <p:spPr>
          <a:xfrm>
            <a:off x="9613039" y="688130"/>
            <a:ext cx="1884594" cy="369332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dirty="0"/>
              <a:t>`Beam size` = 2</a:t>
            </a:r>
            <a:endParaRPr kumimoji="1"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43122958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80B6B308-E528-1567-412F-2BF52CB92E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dirty="0"/>
              <a:t>26</a:t>
            </a:fld>
            <a:endParaRPr lang="zh-TW" altLang="en-US"/>
          </a:p>
        </p:txBody>
      </p:sp>
      <p:sp>
        <p:nvSpPr>
          <p:cNvPr id="6" name="圓角矩形 5">
            <a:extLst>
              <a:ext uri="{FF2B5EF4-FFF2-40B4-BE49-F238E27FC236}">
                <a16:creationId xmlns:a16="http://schemas.microsoft.com/office/drawing/2014/main" id="{F07E41BB-9C95-5AB2-BA09-AE6796CBB446}"/>
              </a:ext>
            </a:extLst>
          </p:cNvPr>
          <p:cNvSpPr/>
          <p:nvPr/>
        </p:nvSpPr>
        <p:spPr>
          <a:xfrm>
            <a:off x="1234362" y="3920344"/>
            <a:ext cx="613700" cy="514110"/>
          </a:xfrm>
          <a:prstGeom prst="roundRect">
            <a:avLst/>
          </a:prstGeom>
          <a:solidFill>
            <a:srgbClr val="C5E0B4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en-US" altLang="zh-TW" sz="2400" dirty="0">
                <a:solidFill>
                  <a:schemeClr val="tx1"/>
                </a:solidFill>
              </a:rPr>
              <a:t>_</a:t>
            </a:r>
            <a:endParaRPr kumimoji="1" lang="zh-TW" altLang="en-US" sz="2400" dirty="0">
              <a:solidFill>
                <a:schemeClr val="tx1"/>
              </a:solidFill>
            </a:endParaRPr>
          </a:p>
        </p:txBody>
      </p:sp>
      <p:sp>
        <p:nvSpPr>
          <p:cNvPr id="7" name="文字方塊 67">
            <a:extLst>
              <a:ext uri="{FF2B5EF4-FFF2-40B4-BE49-F238E27FC236}">
                <a16:creationId xmlns:a16="http://schemas.microsoft.com/office/drawing/2014/main" id="{B381507F-DC44-2012-7728-330509B5ABA9}"/>
              </a:ext>
            </a:extLst>
          </p:cNvPr>
          <p:cNvSpPr txBox="1"/>
          <p:nvPr/>
        </p:nvSpPr>
        <p:spPr>
          <a:xfrm>
            <a:off x="1158218" y="4472662"/>
            <a:ext cx="77862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en-US" altLang="zh-TW" sz="1600" dirty="0"/>
              <a:t>(Start)</a:t>
            </a:r>
            <a:endParaRPr kumimoji="1" lang="zh-TW" altLang="en-US" sz="1600" dirty="0"/>
          </a:p>
        </p:txBody>
      </p:sp>
      <p:sp>
        <p:nvSpPr>
          <p:cNvPr id="10" name="圓角矩形 9">
            <a:extLst>
              <a:ext uri="{FF2B5EF4-FFF2-40B4-BE49-F238E27FC236}">
                <a16:creationId xmlns:a16="http://schemas.microsoft.com/office/drawing/2014/main" id="{875E7289-05C1-D185-CD20-7A8387DC3548}"/>
              </a:ext>
            </a:extLst>
          </p:cNvPr>
          <p:cNvSpPr/>
          <p:nvPr/>
        </p:nvSpPr>
        <p:spPr>
          <a:xfrm>
            <a:off x="2397436" y="2958733"/>
            <a:ext cx="613700" cy="514110"/>
          </a:xfrm>
          <a:prstGeom prst="roundRect">
            <a:avLst/>
          </a:prstGeom>
          <a:solidFill>
            <a:srgbClr val="C5E0B4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en-US" altLang="zh-TW" sz="1600" dirty="0">
                <a:solidFill>
                  <a:schemeClr val="tx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I</a:t>
            </a:r>
            <a:endParaRPr kumimoji="1" lang="zh-TW" altLang="en-US" sz="1600" dirty="0">
              <a:solidFill>
                <a:schemeClr val="tx1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12" name="圓角矩形 11">
            <a:extLst>
              <a:ext uri="{FF2B5EF4-FFF2-40B4-BE49-F238E27FC236}">
                <a16:creationId xmlns:a16="http://schemas.microsoft.com/office/drawing/2014/main" id="{3C729BBC-BACD-B4BC-5CFD-E43E279BC56D}"/>
              </a:ext>
            </a:extLst>
          </p:cNvPr>
          <p:cNvSpPr/>
          <p:nvPr/>
        </p:nvSpPr>
        <p:spPr>
          <a:xfrm>
            <a:off x="2397436" y="5004890"/>
            <a:ext cx="613700" cy="514110"/>
          </a:xfrm>
          <a:prstGeom prst="roundRect">
            <a:avLst/>
          </a:prstGeom>
          <a:solidFill>
            <a:srgbClr val="C5E0B4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en-US" altLang="zh-TW" sz="1600" dirty="0">
                <a:solidFill>
                  <a:schemeClr val="tx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You</a:t>
            </a:r>
            <a:endParaRPr kumimoji="1" lang="zh-TW" altLang="en-US" sz="1600" dirty="0">
              <a:solidFill>
                <a:schemeClr val="tx1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cxnSp>
        <p:nvCxnSpPr>
          <p:cNvPr id="14" name="直線箭頭接點 13">
            <a:extLst>
              <a:ext uri="{FF2B5EF4-FFF2-40B4-BE49-F238E27FC236}">
                <a16:creationId xmlns:a16="http://schemas.microsoft.com/office/drawing/2014/main" id="{25A5463B-ADA9-FE38-04CD-5FE88700466F}"/>
              </a:ext>
            </a:extLst>
          </p:cNvPr>
          <p:cNvCxnSpPr>
            <a:cxnSpLocks/>
          </p:cNvCxnSpPr>
          <p:nvPr/>
        </p:nvCxnSpPr>
        <p:spPr>
          <a:xfrm flipV="1">
            <a:off x="1871612" y="3159314"/>
            <a:ext cx="467804" cy="951566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線箭頭接點 18">
            <a:extLst>
              <a:ext uri="{FF2B5EF4-FFF2-40B4-BE49-F238E27FC236}">
                <a16:creationId xmlns:a16="http://schemas.microsoft.com/office/drawing/2014/main" id="{9D3CFDC7-E5AB-77B0-FA1A-9D836D4225EE}"/>
              </a:ext>
            </a:extLst>
          </p:cNvPr>
          <p:cNvCxnSpPr>
            <a:cxnSpLocks/>
          </p:cNvCxnSpPr>
          <p:nvPr/>
        </p:nvCxnSpPr>
        <p:spPr>
          <a:xfrm rot="10800000" flipH="1" flipV="1">
            <a:off x="1871612" y="4221432"/>
            <a:ext cx="467804" cy="951566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3" name="文字方塊 22">
                <a:extLst>
                  <a:ext uri="{FF2B5EF4-FFF2-40B4-BE49-F238E27FC236}">
                    <a16:creationId xmlns:a16="http://schemas.microsoft.com/office/drawing/2014/main" id="{FD3DD690-0104-A97A-2C3F-7DF0AC27AFA7}"/>
                  </a:ext>
                </a:extLst>
              </p:cNvPr>
              <p:cNvSpPr txBox="1"/>
              <p:nvPr/>
            </p:nvSpPr>
            <p:spPr>
              <a:xfrm>
                <a:off x="2397435" y="5574359"/>
                <a:ext cx="598355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TW" sz="1600" b="0" i="1" smtClean="0">
                          <a:latin typeface="Cambria Math" panose="02040503050406030204" pitchFamily="18" charset="0"/>
                        </a:rPr>
                        <m:t>−0.9</m:t>
                      </m:r>
                    </m:oMath>
                  </m:oMathPara>
                </a14:m>
                <a:endParaRPr kumimoji="1" lang="zh-TW" altLang="en-US" sz="1600" dirty="0"/>
              </a:p>
            </p:txBody>
          </p:sp>
        </mc:Choice>
        <mc:Fallback xmlns="">
          <p:sp>
            <p:nvSpPr>
              <p:cNvPr id="23" name="文字方塊 22">
                <a:extLst>
                  <a:ext uri="{FF2B5EF4-FFF2-40B4-BE49-F238E27FC236}">
                    <a16:creationId xmlns:a16="http://schemas.microsoft.com/office/drawing/2014/main" id="{FD3DD690-0104-A97A-2C3F-7DF0AC27AFA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97435" y="5574359"/>
                <a:ext cx="598355" cy="338554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圓角矩形 2">
            <a:extLst>
              <a:ext uri="{FF2B5EF4-FFF2-40B4-BE49-F238E27FC236}">
                <a16:creationId xmlns:a16="http://schemas.microsoft.com/office/drawing/2014/main" id="{8F43250E-61CA-2FCD-5713-EEE3A86898A2}"/>
              </a:ext>
            </a:extLst>
          </p:cNvPr>
          <p:cNvSpPr/>
          <p:nvPr/>
        </p:nvSpPr>
        <p:spPr>
          <a:xfrm>
            <a:off x="3848821" y="2545579"/>
            <a:ext cx="732055" cy="514110"/>
          </a:xfrm>
          <a:prstGeom prst="roundRect">
            <a:avLst/>
          </a:prstGeom>
          <a:solidFill>
            <a:srgbClr val="C5E0B4"/>
          </a:solidFill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en-US" altLang="zh-TW" sz="1600" dirty="0">
                <a:solidFill>
                  <a:srgbClr val="FF0000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like</a:t>
            </a:r>
            <a:endParaRPr kumimoji="1" lang="zh-TW" altLang="en-US" sz="1600" dirty="0">
              <a:solidFill>
                <a:srgbClr val="FF0000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4" name="圓角矩形 3">
            <a:extLst>
              <a:ext uri="{FF2B5EF4-FFF2-40B4-BE49-F238E27FC236}">
                <a16:creationId xmlns:a16="http://schemas.microsoft.com/office/drawing/2014/main" id="{AFA1AEDB-F347-04F8-CEE1-E1D35D5B3651}"/>
              </a:ext>
            </a:extLst>
          </p:cNvPr>
          <p:cNvSpPr/>
          <p:nvPr/>
        </p:nvSpPr>
        <p:spPr>
          <a:xfrm>
            <a:off x="3848821" y="3341573"/>
            <a:ext cx="732056" cy="514110"/>
          </a:xfrm>
          <a:prstGeom prst="roundRect">
            <a:avLst/>
          </a:prstGeom>
          <a:solidFill>
            <a:srgbClr val="C5E0B4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en-US" altLang="zh-TW" sz="1600" dirty="0">
                <a:solidFill>
                  <a:schemeClr val="tx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want</a:t>
            </a:r>
            <a:endParaRPr kumimoji="1" lang="zh-TW" altLang="en-US" sz="1600" dirty="0">
              <a:solidFill>
                <a:schemeClr val="tx1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8" name="圓角矩形 7">
            <a:extLst>
              <a:ext uri="{FF2B5EF4-FFF2-40B4-BE49-F238E27FC236}">
                <a16:creationId xmlns:a16="http://schemas.microsoft.com/office/drawing/2014/main" id="{BFA3A0A1-CC3C-EC77-CEC9-146B482EBACE}"/>
              </a:ext>
            </a:extLst>
          </p:cNvPr>
          <p:cNvSpPr/>
          <p:nvPr/>
        </p:nvSpPr>
        <p:spPr>
          <a:xfrm>
            <a:off x="3848820" y="4658888"/>
            <a:ext cx="732056" cy="514110"/>
          </a:xfrm>
          <a:prstGeom prst="roundRect">
            <a:avLst/>
          </a:prstGeom>
          <a:solidFill>
            <a:srgbClr val="C5E0B4"/>
          </a:solidFill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en-US" altLang="zh-TW" sz="1600" dirty="0">
                <a:solidFill>
                  <a:srgbClr val="FF0000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want</a:t>
            </a:r>
            <a:endParaRPr kumimoji="1" lang="zh-TW" altLang="en-US" sz="1600" dirty="0">
              <a:solidFill>
                <a:srgbClr val="FF0000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13" name="圓角矩形 12">
            <a:extLst>
              <a:ext uri="{FF2B5EF4-FFF2-40B4-BE49-F238E27FC236}">
                <a16:creationId xmlns:a16="http://schemas.microsoft.com/office/drawing/2014/main" id="{820CADDD-FB1E-6DA6-D861-460F1DAB89D2}"/>
              </a:ext>
            </a:extLst>
          </p:cNvPr>
          <p:cNvSpPr/>
          <p:nvPr/>
        </p:nvSpPr>
        <p:spPr>
          <a:xfrm>
            <a:off x="3848820" y="5403253"/>
            <a:ext cx="732056" cy="514110"/>
          </a:xfrm>
          <a:prstGeom prst="roundRect">
            <a:avLst/>
          </a:prstGeom>
          <a:solidFill>
            <a:srgbClr val="C5E0B4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en-US" altLang="zh-TW" sz="1600" dirty="0">
                <a:solidFill>
                  <a:schemeClr val="tx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are</a:t>
            </a:r>
            <a:endParaRPr kumimoji="1" lang="zh-TW" altLang="en-US" sz="1600" dirty="0">
              <a:solidFill>
                <a:schemeClr val="tx1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cxnSp>
        <p:nvCxnSpPr>
          <p:cNvPr id="15" name="直線箭頭接點 14">
            <a:extLst>
              <a:ext uri="{FF2B5EF4-FFF2-40B4-BE49-F238E27FC236}">
                <a16:creationId xmlns:a16="http://schemas.microsoft.com/office/drawing/2014/main" id="{8665C6F8-C70B-8089-DEF0-F0BF0A302E1F}"/>
              </a:ext>
            </a:extLst>
          </p:cNvPr>
          <p:cNvCxnSpPr>
            <a:cxnSpLocks/>
          </p:cNvCxnSpPr>
          <p:nvPr/>
        </p:nvCxnSpPr>
        <p:spPr>
          <a:xfrm flipV="1">
            <a:off x="3069156" y="2802634"/>
            <a:ext cx="686098" cy="35668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直線箭頭接點 24">
            <a:extLst>
              <a:ext uri="{FF2B5EF4-FFF2-40B4-BE49-F238E27FC236}">
                <a16:creationId xmlns:a16="http://schemas.microsoft.com/office/drawing/2014/main" id="{7E401430-2CB0-6CDC-4D3E-E2664C968009}"/>
              </a:ext>
            </a:extLst>
          </p:cNvPr>
          <p:cNvCxnSpPr>
            <a:cxnSpLocks/>
          </p:cNvCxnSpPr>
          <p:nvPr/>
        </p:nvCxnSpPr>
        <p:spPr>
          <a:xfrm>
            <a:off x="3086929" y="3269539"/>
            <a:ext cx="686098" cy="35668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直線箭頭接點 25">
            <a:extLst>
              <a:ext uri="{FF2B5EF4-FFF2-40B4-BE49-F238E27FC236}">
                <a16:creationId xmlns:a16="http://schemas.microsoft.com/office/drawing/2014/main" id="{5BEAD4A0-45EF-EF79-2FEC-25625B419A1C}"/>
              </a:ext>
            </a:extLst>
          </p:cNvPr>
          <p:cNvCxnSpPr>
            <a:cxnSpLocks/>
          </p:cNvCxnSpPr>
          <p:nvPr/>
        </p:nvCxnSpPr>
        <p:spPr>
          <a:xfrm>
            <a:off x="3079256" y="5304719"/>
            <a:ext cx="686098" cy="35668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直線箭頭接點 26">
            <a:extLst>
              <a:ext uri="{FF2B5EF4-FFF2-40B4-BE49-F238E27FC236}">
                <a16:creationId xmlns:a16="http://schemas.microsoft.com/office/drawing/2014/main" id="{0C436EAB-E031-DBE5-6881-81A4CA5C9777}"/>
              </a:ext>
            </a:extLst>
          </p:cNvPr>
          <p:cNvCxnSpPr>
            <a:cxnSpLocks/>
          </p:cNvCxnSpPr>
          <p:nvPr/>
        </p:nvCxnSpPr>
        <p:spPr>
          <a:xfrm flipV="1">
            <a:off x="3079256" y="4890148"/>
            <a:ext cx="686098" cy="35668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8" name="文字方塊 27">
                <a:extLst>
                  <a:ext uri="{FF2B5EF4-FFF2-40B4-BE49-F238E27FC236}">
                    <a16:creationId xmlns:a16="http://schemas.microsoft.com/office/drawing/2014/main" id="{4B7D302A-69BB-3B4C-110A-358900750293}"/>
                  </a:ext>
                </a:extLst>
              </p:cNvPr>
              <p:cNvSpPr txBox="1"/>
              <p:nvPr/>
            </p:nvSpPr>
            <p:spPr>
              <a:xfrm>
                <a:off x="2804919" y="2157815"/>
                <a:ext cx="3262967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TW" sz="1600" b="0" i="1" smtClean="0">
                          <a:latin typeface="Cambria Math" panose="02040503050406030204" pitchFamily="18" charset="0"/>
                        </a:rPr>
                        <m:t>−0.7+</m:t>
                      </m:r>
                      <m:func>
                        <m:funcPr>
                          <m:ctrlPr>
                            <a:rPr kumimoji="1" lang="en-US" altLang="zh-TW" sz="1600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kumimoji="1" lang="en-US" altLang="zh-TW" sz="1600" b="0" i="0" smtClean="0">
                              <a:latin typeface="Cambria Math" panose="02040503050406030204" pitchFamily="18" charset="0"/>
                            </a:rPr>
                            <m:t>log</m:t>
                          </m:r>
                        </m:fName>
                        <m:e>
                          <m:r>
                            <a:rPr kumimoji="1" lang="en-US" altLang="zh-TW" sz="1600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  <m:d>
                            <m:dPr>
                              <m:endChr m:val="|"/>
                              <m:ctrlPr>
                                <a:rPr kumimoji="1" lang="en-US" altLang="zh-TW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kumimoji="1" lang="en-US" altLang="zh-TW" sz="1600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m:rPr>
                                  <m:nor/>
                                </m:rPr>
                                <a:rPr kumimoji="1" lang="en-US" altLang="zh-TW" sz="1600" b="0" i="0" smtClean="0">
                                  <a:latin typeface="Cambria Math" panose="02040503050406030204" pitchFamily="18" charset="0"/>
                                </a:rPr>
                                <m:t>like</m:t>
                              </m:r>
                              <m:r>
                                <a:rPr kumimoji="1" lang="en-US" altLang="zh-TW" sz="1600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e>
                          </m:d>
                          <m:r>
                            <a:rPr kumimoji="1" lang="en-US" altLang="zh-TW" sz="16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nor/>
                            </m:rPr>
                            <a:rPr kumimoji="1" lang="en-US" altLang="zh-TW" sz="1600" b="0" i="0" smtClean="0">
                              <a:latin typeface="Cambria Math" panose="02040503050406030204" pitchFamily="18" charset="0"/>
                            </a:rPr>
                            <m:t>Start</m:t>
                          </m:r>
                          <m:r>
                            <m:rPr>
                              <m:nor/>
                            </m:rPr>
                            <a:rPr kumimoji="1" lang="en-US" altLang="zh-TW" sz="1600" b="0" i="0" smtClean="0"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m:rPr>
                              <m:nor/>
                            </m:rPr>
                            <a:rPr kumimoji="1" lang="en-US" altLang="zh-TW" sz="1600" b="0" i="0" smtClean="0">
                              <a:latin typeface="Cambria Math" panose="02040503050406030204" pitchFamily="18" charset="0"/>
                            </a:rPr>
                            <m:t>I</m:t>
                          </m:r>
                          <m:r>
                            <a:rPr kumimoji="1" lang="en-US" altLang="zh-TW" sz="1600" b="0" i="1" smtClean="0">
                              <a:latin typeface="Cambria Math" panose="02040503050406030204" pitchFamily="18" charset="0"/>
                            </a:rPr>
                            <m:t>)=</m:t>
                          </m:r>
                        </m:e>
                      </m:func>
                      <m:r>
                        <a:rPr kumimoji="1" lang="en-US" altLang="zh-TW" sz="1600" b="0" i="1" smtClean="0">
                          <a:latin typeface="Cambria Math" panose="02040503050406030204" pitchFamily="18" charset="0"/>
                        </a:rPr>
                        <m:t>−1.7</m:t>
                      </m:r>
                    </m:oMath>
                  </m:oMathPara>
                </a14:m>
                <a:endParaRPr kumimoji="1" lang="zh-TW" altLang="en-US" sz="1600" dirty="0"/>
              </a:p>
            </p:txBody>
          </p:sp>
        </mc:Choice>
        <mc:Fallback xmlns="">
          <p:sp>
            <p:nvSpPr>
              <p:cNvPr id="28" name="文字方塊 27">
                <a:extLst>
                  <a:ext uri="{FF2B5EF4-FFF2-40B4-BE49-F238E27FC236}">
                    <a16:creationId xmlns:a16="http://schemas.microsoft.com/office/drawing/2014/main" id="{4B7D302A-69BB-3B4C-110A-35890075029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04919" y="2157815"/>
                <a:ext cx="3262967" cy="338554"/>
              </a:xfrm>
              <a:prstGeom prst="rect">
                <a:avLst/>
              </a:prstGeom>
              <a:blipFill>
                <a:blip r:embed="rId4"/>
                <a:stretch>
                  <a:fillRect b="-14286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文字方塊 28">
                <a:extLst>
                  <a:ext uri="{FF2B5EF4-FFF2-40B4-BE49-F238E27FC236}">
                    <a16:creationId xmlns:a16="http://schemas.microsoft.com/office/drawing/2014/main" id="{8F9CE310-A15D-4542-74A8-BF14C20D7734}"/>
                  </a:ext>
                </a:extLst>
              </p:cNvPr>
              <p:cNvSpPr txBox="1"/>
              <p:nvPr/>
            </p:nvSpPr>
            <p:spPr>
              <a:xfrm>
                <a:off x="2719156" y="3854082"/>
                <a:ext cx="3418327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TW" sz="1600" b="0" i="1" smtClean="0">
                          <a:latin typeface="Cambria Math" panose="02040503050406030204" pitchFamily="18" charset="0"/>
                        </a:rPr>
                        <m:t>−0.7+</m:t>
                      </m:r>
                      <m:func>
                        <m:funcPr>
                          <m:ctrlPr>
                            <a:rPr kumimoji="1" lang="en-US" altLang="zh-TW" sz="1600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kumimoji="1" lang="en-US" altLang="zh-TW" sz="1600" b="0" i="0" smtClean="0">
                              <a:latin typeface="Cambria Math" panose="02040503050406030204" pitchFamily="18" charset="0"/>
                            </a:rPr>
                            <m:t>log</m:t>
                          </m:r>
                        </m:fName>
                        <m:e>
                          <m:r>
                            <a:rPr kumimoji="1" lang="en-US" altLang="zh-TW" sz="1600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  <m:d>
                            <m:dPr>
                              <m:endChr m:val="|"/>
                              <m:ctrlPr>
                                <a:rPr kumimoji="1" lang="en-US" altLang="zh-TW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kumimoji="1" lang="en-US" altLang="zh-TW" sz="1600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m:rPr>
                                  <m:nor/>
                                </m:rPr>
                                <a:rPr kumimoji="1" lang="en-US" altLang="zh-TW" sz="1600" b="0" i="0" smtClean="0">
                                  <a:latin typeface="Cambria Math" panose="02040503050406030204" pitchFamily="18" charset="0"/>
                                </a:rPr>
                                <m:t>want</m:t>
                              </m:r>
                              <m:r>
                                <a:rPr kumimoji="1" lang="en-US" altLang="zh-TW" sz="1600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e>
                          </m:d>
                          <m:r>
                            <a:rPr kumimoji="1" lang="en-US" altLang="zh-TW" sz="16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nor/>
                            </m:rPr>
                            <a:rPr kumimoji="1" lang="en-US" altLang="zh-TW" sz="1600" b="0" i="0" smtClean="0">
                              <a:latin typeface="Cambria Math" panose="02040503050406030204" pitchFamily="18" charset="0"/>
                            </a:rPr>
                            <m:t>Start</m:t>
                          </m:r>
                          <m:r>
                            <m:rPr>
                              <m:nor/>
                            </m:rPr>
                            <a:rPr kumimoji="1" lang="en-US" altLang="zh-TW" sz="1600" b="0" i="0" smtClean="0"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m:rPr>
                              <m:nor/>
                            </m:rPr>
                            <a:rPr kumimoji="1" lang="en-US" altLang="zh-TW" sz="1600" b="0" i="0" smtClean="0">
                              <a:latin typeface="Cambria Math" panose="02040503050406030204" pitchFamily="18" charset="0"/>
                            </a:rPr>
                            <m:t>I</m:t>
                          </m:r>
                          <m:r>
                            <a:rPr kumimoji="1" lang="en-US" altLang="zh-TW" sz="1600" b="0" i="1" smtClean="0">
                              <a:latin typeface="Cambria Math" panose="02040503050406030204" pitchFamily="18" charset="0"/>
                            </a:rPr>
                            <m:t>)=</m:t>
                          </m:r>
                        </m:e>
                      </m:func>
                      <m:r>
                        <a:rPr kumimoji="1" lang="en-US" altLang="zh-TW" sz="1600" b="0" i="1" smtClean="0">
                          <a:latin typeface="Cambria Math" panose="02040503050406030204" pitchFamily="18" charset="0"/>
                        </a:rPr>
                        <m:t>−2.9</m:t>
                      </m:r>
                    </m:oMath>
                  </m:oMathPara>
                </a14:m>
                <a:endParaRPr kumimoji="1" lang="zh-TW" altLang="en-US" sz="1600" dirty="0"/>
              </a:p>
            </p:txBody>
          </p:sp>
        </mc:Choice>
        <mc:Fallback xmlns="">
          <p:sp>
            <p:nvSpPr>
              <p:cNvPr id="29" name="文字方塊 28">
                <a:extLst>
                  <a:ext uri="{FF2B5EF4-FFF2-40B4-BE49-F238E27FC236}">
                    <a16:creationId xmlns:a16="http://schemas.microsoft.com/office/drawing/2014/main" id="{8F9CE310-A15D-4542-74A8-BF14C20D773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19156" y="3854082"/>
                <a:ext cx="3418327" cy="338554"/>
              </a:xfrm>
              <a:prstGeom prst="rect">
                <a:avLst/>
              </a:prstGeom>
              <a:blipFill>
                <a:blip r:embed="rId5"/>
                <a:stretch>
                  <a:fillRect b="-14286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" name="文字方塊 29">
                <a:extLst>
                  <a:ext uri="{FF2B5EF4-FFF2-40B4-BE49-F238E27FC236}">
                    <a16:creationId xmlns:a16="http://schemas.microsoft.com/office/drawing/2014/main" id="{1834D209-F6BD-1B0A-BF59-E0500E0C63A1}"/>
                  </a:ext>
                </a:extLst>
              </p:cNvPr>
              <p:cNvSpPr txBox="1"/>
              <p:nvPr/>
            </p:nvSpPr>
            <p:spPr>
              <a:xfrm>
                <a:off x="2561455" y="4326912"/>
                <a:ext cx="3688425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TW" sz="1600" b="0" i="1" smtClean="0">
                          <a:latin typeface="Cambria Math" panose="02040503050406030204" pitchFamily="18" charset="0"/>
                        </a:rPr>
                        <m:t>−0.9+</m:t>
                      </m:r>
                      <m:func>
                        <m:funcPr>
                          <m:ctrlPr>
                            <a:rPr kumimoji="1" lang="en-US" altLang="zh-TW" sz="1600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kumimoji="1" lang="en-US" altLang="zh-TW" sz="1600" b="0" i="0" smtClean="0">
                              <a:latin typeface="Cambria Math" panose="02040503050406030204" pitchFamily="18" charset="0"/>
                            </a:rPr>
                            <m:t>log</m:t>
                          </m:r>
                        </m:fName>
                        <m:e>
                          <m:r>
                            <a:rPr kumimoji="1" lang="en-US" altLang="zh-TW" sz="1600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  <m:d>
                            <m:dPr>
                              <m:endChr m:val="|"/>
                              <m:ctrlPr>
                                <a:rPr kumimoji="1" lang="en-US" altLang="zh-TW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kumimoji="1" lang="en-US" altLang="zh-TW" sz="1600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m:rPr>
                                  <m:nor/>
                                </m:rPr>
                                <a:rPr kumimoji="1" lang="en-US" altLang="zh-TW" sz="1600" b="0" i="0" smtClean="0">
                                  <a:latin typeface="Cambria Math" panose="02040503050406030204" pitchFamily="18" charset="0"/>
                                </a:rPr>
                                <m:t>want</m:t>
                              </m:r>
                              <m:r>
                                <a:rPr kumimoji="1" lang="en-US" altLang="zh-TW" sz="1600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e>
                          </m:d>
                          <m:r>
                            <a:rPr kumimoji="1" lang="en-US" altLang="zh-TW" sz="16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nor/>
                            </m:rPr>
                            <a:rPr kumimoji="1" lang="en-US" altLang="zh-TW" sz="1600" b="0" i="0" smtClean="0">
                              <a:latin typeface="Cambria Math" panose="02040503050406030204" pitchFamily="18" charset="0"/>
                            </a:rPr>
                            <m:t>Start</m:t>
                          </m:r>
                          <m:r>
                            <m:rPr>
                              <m:nor/>
                            </m:rPr>
                            <a:rPr kumimoji="1" lang="en-US" altLang="zh-TW" sz="1600" b="0" i="0" smtClean="0"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m:rPr>
                              <m:nor/>
                            </m:rPr>
                            <a:rPr kumimoji="1" lang="en-US" altLang="zh-TW" sz="1600" b="0" i="0" smtClean="0">
                              <a:latin typeface="Cambria Math" panose="02040503050406030204" pitchFamily="18" charset="0"/>
                            </a:rPr>
                            <m:t>You</m:t>
                          </m:r>
                          <m:r>
                            <a:rPr kumimoji="1" lang="en-US" altLang="zh-TW" sz="1600" b="0" i="1" smtClean="0">
                              <a:latin typeface="Cambria Math" panose="02040503050406030204" pitchFamily="18" charset="0"/>
                            </a:rPr>
                            <m:t>)=</m:t>
                          </m:r>
                        </m:e>
                      </m:func>
                      <m:r>
                        <a:rPr kumimoji="1" lang="en-US" altLang="zh-TW" sz="1600" b="0" i="1" smtClean="0">
                          <a:latin typeface="Cambria Math" panose="02040503050406030204" pitchFamily="18" charset="0"/>
                        </a:rPr>
                        <m:t>−1.6</m:t>
                      </m:r>
                    </m:oMath>
                  </m:oMathPara>
                </a14:m>
                <a:endParaRPr kumimoji="1" lang="zh-TW" altLang="en-US" sz="1600" dirty="0"/>
              </a:p>
            </p:txBody>
          </p:sp>
        </mc:Choice>
        <mc:Fallback xmlns="">
          <p:sp>
            <p:nvSpPr>
              <p:cNvPr id="30" name="文字方塊 29">
                <a:extLst>
                  <a:ext uri="{FF2B5EF4-FFF2-40B4-BE49-F238E27FC236}">
                    <a16:creationId xmlns:a16="http://schemas.microsoft.com/office/drawing/2014/main" id="{1834D209-F6BD-1B0A-BF59-E0500E0C63A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61455" y="4326912"/>
                <a:ext cx="3688425" cy="338554"/>
              </a:xfrm>
              <a:prstGeom prst="rect">
                <a:avLst/>
              </a:prstGeom>
              <a:blipFill>
                <a:blip r:embed="rId6"/>
                <a:stretch>
                  <a:fillRect b="-14286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" name="文字方塊 30">
                <a:extLst>
                  <a:ext uri="{FF2B5EF4-FFF2-40B4-BE49-F238E27FC236}">
                    <a16:creationId xmlns:a16="http://schemas.microsoft.com/office/drawing/2014/main" id="{4D3DAC6B-5B92-1CFD-751E-6687CB641DB3}"/>
                  </a:ext>
                </a:extLst>
              </p:cNvPr>
              <p:cNvSpPr txBox="1"/>
              <p:nvPr/>
            </p:nvSpPr>
            <p:spPr>
              <a:xfrm>
                <a:off x="2704285" y="5926688"/>
                <a:ext cx="3545595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TW" sz="1600" b="0" i="1" smtClean="0">
                          <a:latin typeface="Cambria Math" panose="02040503050406030204" pitchFamily="18" charset="0"/>
                        </a:rPr>
                        <m:t>−0.9+</m:t>
                      </m:r>
                      <m:func>
                        <m:funcPr>
                          <m:ctrlPr>
                            <a:rPr kumimoji="1" lang="en-US" altLang="zh-TW" sz="1600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kumimoji="1" lang="en-US" altLang="zh-TW" sz="1600" b="0" i="0" smtClean="0">
                              <a:latin typeface="Cambria Math" panose="02040503050406030204" pitchFamily="18" charset="0"/>
                            </a:rPr>
                            <m:t>log</m:t>
                          </m:r>
                        </m:fName>
                        <m:e>
                          <m:r>
                            <a:rPr kumimoji="1" lang="en-US" altLang="zh-TW" sz="1600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  <m:d>
                            <m:dPr>
                              <m:endChr m:val="|"/>
                              <m:ctrlPr>
                                <a:rPr kumimoji="1" lang="en-US" altLang="zh-TW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kumimoji="1" lang="en-US" altLang="zh-TW" sz="1600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m:rPr>
                                  <m:nor/>
                                </m:rPr>
                                <a:rPr kumimoji="1" lang="en-US" altLang="zh-TW" sz="1600" b="0" i="0" smtClean="0">
                                  <a:latin typeface="Cambria Math" panose="02040503050406030204" pitchFamily="18" charset="0"/>
                                </a:rPr>
                                <m:t>are</m:t>
                              </m:r>
                              <m:r>
                                <a:rPr kumimoji="1" lang="en-US" altLang="zh-TW" sz="1600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e>
                          </m:d>
                          <m:r>
                            <a:rPr kumimoji="1" lang="en-US" altLang="zh-TW" sz="16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nor/>
                            </m:rPr>
                            <a:rPr kumimoji="1" lang="en-US" altLang="zh-TW" sz="1600" b="0" i="0" smtClean="0">
                              <a:latin typeface="Cambria Math" panose="02040503050406030204" pitchFamily="18" charset="0"/>
                            </a:rPr>
                            <m:t>Start</m:t>
                          </m:r>
                          <m:r>
                            <m:rPr>
                              <m:nor/>
                            </m:rPr>
                            <a:rPr kumimoji="1" lang="en-US" altLang="zh-TW" sz="1600" b="0" i="0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m:rPr>
                              <m:nor/>
                            </m:rPr>
                            <a:rPr kumimoji="1" lang="en-US" altLang="zh-TW" sz="1600">
                              <a:latin typeface="Cambria Math" panose="02040503050406030204" pitchFamily="18" charset="0"/>
                            </a:rPr>
                            <m:t>You</m:t>
                          </m:r>
                          <m:r>
                            <a:rPr kumimoji="1" lang="en-US" altLang="zh-TW" sz="1600" b="0" i="1" smtClean="0">
                              <a:latin typeface="Cambria Math" panose="02040503050406030204" pitchFamily="18" charset="0"/>
                            </a:rPr>
                            <m:t>)=</m:t>
                          </m:r>
                        </m:e>
                      </m:func>
                      <m:r>
                        <a:rPr kumimoji="1" lang="en-US" altLang="zh-TW" sz="1600" b="0" i="1" smtClean="0">
                          <a:latin typeface="Cambria Math" panose="02040503050406030204" pitchFamily="18" charset="0"/>
                        </a:rPr>
                        <m:t>−1.8</m:t>
                      </m:r>
                    </m:oMath>
                  </m:oMathPara>
                </a14:m>
                <a:endParaRPr kumimoji="1" lang="zh-TW" altLang="en-US" sz="1600" dirty="0"/>
              </a:p>
            </p:txBody>
          </p:sp>
        </mc:Choice>
        <mc:Fallback xmlns="">
          <p:sp>
            <p:nvSpPr>
              <p:cNvPr id="31" name="文字方塊 30">
                <a:extLst>
                  <a:ext uri="{FF2B5EF4-FFF2-40B4-BE49-F238E27FC236}">
                    <a16:creationId xmlns:a16="http://schemas.microsoft.com/office/drawing/2014/main" id="{4D3DAC6B-5B92-1CFD-751E-6687CB641DB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04285" y="5926688"/>
                <a:ext cx="3545595" cy="338554"/>
              </a:xfrm>
              <a:prstGeom prst="rect">
                <a:avLst/>
              </a:prstGeom>
              <a:blipFill>
                <a:blip r:embed="rId7"/>
                <a:stretch>
                  <a:fillRect b="-14286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2" name="矩形 31">
            <a:extLst>
              <a:ext uri="{FF2B5EF4-FFF2-40B4-BE49-F238E27FC236}">
                <a16:creationId xmlns:a16="http://schemas.microsoft.com/office/drawing/2014/main" id="{557D66AC-66C5-E8E6-F942-6EF9D8F88DBF}"/>
              </a:ext>
            </a:extLst>
          </p:cNvPr>
          <p:cNvSpPr/>
          <p:nvPr/>
        </p:nvSpPr>
        <p:spPr>
          <a:xfrm>
            <a:off x="5442012" y="2157815"/>
            <a:ext cx="625874" cy="338554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DE08495E-5497-5F7F-768C-6857A9E02AD6}"/>
              </a:ext>
            </a:extLst>
          </p:cNvPr>
          <p:cNvSpPr/>
          <p:nvPr/>
        </p:nvSpPr>
        <p:spPr>
          <a:xfrm>
            <a:off x="5609264" y="4326912"/>
            <a:ext cx="625874" cy="338554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34" name="文字方塊 33">
            <a:extLst>
              <a:ext uri="{FF2B5EF4-FFF2-40B4-BE49-F238E27FC236}">
                <a16:creationId xmlns:a16="http://schemas.microsoft.com/office/drawing/2014/main" id="{5D7364A0-368B-C8D1-78E1-286058B27B5D}"/>
              </a:ext>
            </a:extLst>
          </p:cNvPr>
          <p:cNvSpPr txBox="1"/>
          <p:nvPr/>
        </p:nvSpPr>
        <p:spPr>
          <a:xfrm>
            <a:off x="6249880" y="3151587"/>
            <a:ext cx="50095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en-US" altLang="zh-TW" dirty="0"/>
              <a:t>At this decoding step, two choices are preserved, and the other two are discarded.</a:t>
            </a:r>
            <a:endParaRPr kumimoji="1" lang="zh-TW" altLang="en-US" dirty="0"/>
          </a:p>
        </p:txBody>
      </p:sp>
      <p:sp>
        <p:nvSpPr>
          <p:cNvPr id="38" name="文字方塊 37">
            <a:extLst>
              <a:ext uri="{FF2B5EF4-FFF2-40B4-BE49-F238E27FC236}">
                <a16:creationId xmlns:a16="http://schemas.microsoft.com/office/drawing/2014/main" id="{73B2AC7A-D060-5504-26BE-3A81828FCD54}"/>
              </a:ext>
            </a:extLst>
          </p:cNvPr>
          <p:cNvSpPr txBox="1"/>
          <p:nvPr/>
        </p:nvSpPr>
        <p:spPr>
          <a:xfrm>
            <a:off x="6215959" y="2522456"/>
            <a:ext cx="538300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dirty="0">
                <a:solidFill>
                  <a:srgbClr val="FF0000"/>
                </a:solidFill>
              </a:rPr>
              <a:t>Note the loglikelihood! Being close to zero is better!</a:t>
            </a:r>
            <a:endParaRPr kumimoji="1" lang="zh-TW" altLang="en-US" dirty="0">
              <a:solidFill>
                <a:srgbClr val="FF000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9" name="文字方塊 38">
                <a:extLst>
                  <a:ext uri="{FF2B5EF4-FFF2-40B4-BE49-F238E27FC236}">
                    <a16:creationId xmlns:a16="http://schemas.microsoft.com/office/drawing/2014/main" id="{B8013F46-EE9B-D326-43F4-551E9C121D5A}"/>
                  </a:ext>
                </a:extLst>
              </p:cNvPr>
              <p:cNvSpPr txBox="1"/>
              <p:nvPr/>
            </p:nvSpPr>
            <p:spPr>
              <a:xfrm>
                <a:off x="2397435" y="2625303"/>
                <a:ext cx="613701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TW" sz="1600" b="0" i="1" smtClean="0">
                          <a:latin typeface="Cambria Math" panose="02040503050406030204" pitchFamily="18" charset="0"/>
                        </a:rPr>
                        <m:t>−0.7</m:t>
                      </m:r>
                    </m:oMath>
                  </m:oMathPara>
                </a14:m>
                <a:endParaRPr kumimoji="1" lang="zh-TW" altLang="en-US" sz="1600" dirty="0"/>
              </a:p>
            </p:txBody>
          </p:sp>
        </mc:Choice>
        <mc:Fallback xmlns="">
          <p:sp>
            <p:nvSpPr>
              <p:cNvPr id="39" name="文字方塊 38">
                <a:extLst>
                  <a:ext uri="{FF2B5EF4-FFF2-40B4-BE49-F238E27FC236}">
                    <a16:creationId xmlns:a16="http://schemas.microsoft.com/office/drawing/2014/main" id="{B8013F46-EE9B-D326-43F4-551E9C121D5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97435" y="2625303"/>
                <a:ext cx="613701" cy="338554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" name="內容版面配置區 2">
                <a:extLst>
                  <a:ext uri="{FF2B5EF4-FFF2-40B4-BE49-F238E27FC236}">
                    <a16:creationId xmlns:a16="http://schemas.microsoft.com/office/drawing/2014/main" id="{AB373E27-82BC-6944-2EB4-567B6A91879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403948" y="1474807"/>
                <a:ext cx="4821511" cy="943492"/>
              </a:xfrm>
            </p:spPr>
            <p:txBody>
              <a:bodyPr>
                <a:noAutofit/>
              </a:bodyPr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zh-TW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TW" sz="2400" i="1">
                              <a:latin typeface="Cambria Math" panose="02040503050406030204" pitchFamily="18" charset="0"/>
                            </a:rPr>
                            <m:t>𝐿</m:t>
                          </m:r>
                        </m:e>
                        <m:sub>
                          <m:r>
                            <a:rPr kumimoji="1" lang="en-US" altLang="zh-TW" sz="2400" i="1">
                              <a:latin typeface="Cambria Math" panose="02040503050406030204" pitchFamily="18" charset="0"/>
                            </a:rPr>
                            <m:t>𝑚𝑙</m:t>
                          </m:r>
                        </m:sub>
                      </m:sSub>
                      <m:r>
                        <a:rPr kumimoji="1" lang="en-US" altLang="zh-TW" sz="24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kumimoji="1" lang="en-US" altLang="zh-TW" sz="2400" b="0" i="1" smtClean="0">
                          <a:latin typeface="Cambria Math" panose="02040503050406030204" pitchFamily="18" charset="0"/>
                        </a:rPr>
                        <m:t>−</m:t>
                      </m:r>
                      <m:nary>
                        <m:naryPr>
                          <m:chr m:val="∑"/>
                          <m:ctrlPr>
                            <a:rPr kumimoji="1" lang="en-US" altLang="zh-TW" sz="240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kumimoji="1" lang="en-US" altLang="zh-TW" sz="240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kumimoji="1" lang="en-US" altLang="zh-TW" sz="2400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kumimoji="1" lang="en-US" altLang="zh-TW" sz="2400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  <m:e>
                          <m:func>
                            <m:funcPr>
                              <m:ctrlPr>
                                <a:rPr kumimoji="1" lang="en-US" altLang="zh-TW" sz="2400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kumimoji="1" lang="en-US" altLang="zh-TW" sz="2400">
                                  <a:latin typeface="Cambria Math" panose="02040503050406030204" pitchFamily="18" charset="0"/>
                                </a:rPr>
                                <m:t>log</m:t>
                              </m:r>
                            </m:fName>
                            <m:e>
                              <m:r>
                                <a:rPr kumimoji="1" lang="en-US" altLang="zh-TW" sz="2400" i="1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  <m:r>
                                <a:rPr kumimoji="1" lang="en-US" altLang="zh-TW" sz="2400" i="1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sSubSup>
                                <m:sSubSupPr>
                                  <m:ctrlPr>
                                    <a:rPr kumimoji="1" lang="en-US" altLang="zh-TW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kumimoji="1" lang="en-US" altLang="zh-TW" sz="2400" i="1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kumimoji="1" lang="en-US" altLang="zh-TW" sz="2400" i="1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sub>
                                <m:sup>
                                  <m:r>
                                    <a:rPr kumimoji="1" lang="en-US" altLang="zh-TW" sz="2400" i="1">
                                      <a:latin typeface="Cambria Math" panose="02040503050406030204" pitchFamily="18" charset="0"/>
                                    </a:rPr>
                                    <m:t>∗</m:t>
                                  </m:r>
                                </m:sup>
                              </m:sSubSup>
                              <m:r>
                                <a:rPr kumimoji="1" lang="en-US" altLang="zh-TW" sz="2400" i="1">
                                  <a:latin typeface="Cambria Math" panose="02040503050406030204" pitchFamily="18" charset="0"/>
                                </a:rPr>
                                <m:t>|</m:t>
                              </m:r>
                              <m:sSubSup>
                                <m:sSubSupPr>
                                  <m:ctrlPr>
                                    <a:rPr kumimoji="1" lang="en-US" altLang="zh-TW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kumimoji="1" lang="en-US" altLang="zh-TW" sz="2400" i="1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kumimoji="1" lang="en-US" altLang="zh-TW" sz="2400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  <m:sup>
                                  <m:r>
                                    <a:rPr kumimoji="1" lang="en-US" altLang="zh-TW" sz="2400" i="1">
                                      <a:latin typeface="Cambria Math" panose="02040503050406030204" pitchFamily="18" charset="0"/>
                                    </a:rPr>
                                    <m:t>∗</m:t>
                                  </m:r>
                                </m:sup>
                              </m:sSubSup>
                              <m:r>
                                <a:rPr kumimoji="1" lang="en-US" altLang="zh-TW" sz="2400" i="1">
                                  <a:latin typeface="Cambria Math" panose="02040503050406030204" pitchFamily="18" charset="0"/>
                                </a:rPr>
                                <m:t>,…,</m:t>
                              </m:r>
                              <m:sSubSup>
                                <m:sSubSupPr>
                                  <m:ctrlPr>
                                    <a:rPr kumimoji="1" lang="en-US" altLang="zh-TW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kumimoji="1" lang="en-US" altLang="zh-TW" sz="2400" i="1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kumimoji="1" lang="en-US" altLang="zh-TW" sz="2400" i="1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  <m:r>
                                    <a:rPr kumimoji="1" lang="en-US" altLang="zh-TW" sz="2400" i="1">
                                      <a:latin typeface="Cambria Math" panose="02040503050406030204" pitchFamily="18" charset="0"/>
                                    </a:rPr>
                                    <m:t>−1</m:t>
                                  </m:r>
                                </m:sub>
                                <m:sup>
                                  <m:r>
                                    <a:rPr kumimoji="1" lang="en-US" altLang="zh-TW" sz="2400" i="1">
                                      <a:latin typeface="Cambria Math" panose="02040503050406030204" pitchFamily="18" charset="0"/>
                                    </a:rPr>
                                    <m:t>∗</m:t>
                                  </m:r>
                                </m:sup>
                              </m:sSubSup>
                              <m:r>
                                <a:rPr kumimoji="1" lang="en-US" altLang="zh-TW" sz="2400" i="1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kumimoji="1" lang="en-US" altLang="zh-TW" sz="24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kumimoji="1" lang="en-US" altLang="zh-TW" sz="2400" i="1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</m:func>
                        </m:e>
                      </m:nary>
                    </m:oMath>
                  </m:oMathPara>
                </a14:m>
                <a:endParaRPr kumimoji="1" lang="zh-TW" altLang="en-US" sz="2800" dirty="0"/>
              </a:p>
            </p:txBody>
          </p:sp>
        </mc:Choice>
        <mc:Fallback xmlns="">
          <p:sp>
            <p:nvSpPr>
              <p:cNvPr id="2" name="內容版面配置區 2">
                <a:extLst>
                  <a:ext uri="{FF2B5EF4-FFF2-40B4-BE49-F238E27FC236}">
                    <a16:creationId xmlns:a16="http://schemas.microsoft.com/office/drawing/2014/main" id="{AB373E27-82BC-6944-2EB4-567B6A91879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403948" y="1474807"/>
                <a:ext cx="4821511" cy="943492"/>
              </a:xfrm>
              <a:blipFill>
                <a:blip r:embed="rId9"/>
                <a:stretch>
                  <a:fillRect l="-2368" t="-130667" b="-200000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文字方塊 10">
            <a:extLst>
              <a:ext uri="{FF2B5EF4-FFF2-40B4-BE49-F238E27FC236}">
                <a16:creationId xmlns:a16="http://schemas.microsoft.com/office/drawing/2014/main" id="{66F11877-D175-E343-504E-2B30B378F3C6}"/>
              </a:ext>
            </a:extLst>
          </p:cNvPr>
          <p:cNvSpPr txBox="1"/>
          <p:nvPr/>
        </p:nvSpPr>
        <p:spPr>
          <a:xfrm>
            <a:off x="9613039" y="688130"/>
            <a:ext cx="1884594" cy="369332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dirty="0"/>
              <a:t>`Beam size` = 2</a:t>
            </a:r>
            <a:endParaRPr kumimoji="1" lang="zh-TW" alt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0" name="標題 1">
                <a:extLst>
                  <a:ext uri="{FF2B5EF4-FFF2-40B4-BE49-F238E27FC236}">
                    <a16:creationId xmlns:a16="http://schemas.microsoft.com/office/drawing/2014/main" id="{C25F8EDE-A7BA-8380-3964-35605C1E52A3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644672" y="356088"/>
                <a:ext cx="10511008" cy="1033416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rmAutofit/>
              </a:bodyPr>
              <a:lstStyle>
                <a:lvl1pPr marL="0" algn="l" defTabSz="914400" rtl="0" eaLnBrk="1" latinLnBrk="0" hangingPunct="1">
                  <a:lnSpc>
                    <a:spcPct val="85000"/>
                  </a:lnSpc>
                  <a:spcBef>
                    <a:spcPct val="0"/>
                  </a:spcBef>
                  <a:buNone/>
                  <a:defRPr sz="4800" kern="1200" spc="-5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r>
                  <a:rPr kumimoji="1" lang="en-US" altLang="zh-TW" dirty="0"/>
                  <a:t>Beam Search</a:t>
                </a:r>
                <a:r>
                  <a:rPr kumimoji="1" lang="zh-TW" altLang="en-US" dirty="0"/>
                  <a:t> </a:t>
                </a:r>
                <a:r>
                  <a:rPr kumimoji="1" lang="en-US" altLang="zh-TW" dirty="0"/>
                  <a:t>(</a:t>
                </a:r>
                <a14:m>
                  <m:oMath xmlns:m="http://schemas.openxmlformats.org/officeDocument/2006/math">
                    <m:r>
                      <a:rPr kumimoji="1" lang="en-US" altLang="zh-TW" b="0" i="1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kumimoji="1" lang="en-US" altLang="zh-TW" b="0" i="1" smtClean="0">
                        <a:latin typeface="Cambria Math" panose="02040503050406030204" pitchFamily="18" charset="0"/>
                      </a:rPr>
                      <m:t>=2</m:t>
                    </m:r>
                  </m:oMath>
                </a14:m>
                <a:r>
                  <a:rPr kumimoji="1" lang="en-US" altLang="zh-TW" dirty="0"/>
                  <a:t>)</a:t>
                </a:r>
                <a:endParaRPr lang="zh-TW" altLang="en-US" dirty="0">
                  <a:latin typeface="Times New Roman"/>
                  <a:ea typeface="新細明體"/>
                  <a:cs typeface="Calibri Light"/>
                </a:endParaRPr>
              </a:p>
            </p:txBody>
          </p:sp>
        </mc:Choice>
        <mc:Fallback>
          <p:sp>
            <p:nvSpPr>
              <p:cNvPr id="20" name="標題 1">
                <a:extLst>
                  <a:ext uri="{FF2B5EF4-FFF2-40B4-BE49-F238E27FC236}">
                    <a16:creationId xmlns:a16="http://schemas.microsoft.com/office/drawing/2014/main" id="{C25F8EDE-A7BA-8380-3964-35605C1E52A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4672" y="356088"/>
                <a:ext cx="10511008" cy="1033416"/>
              </a:xfrm>
              <a:prstGeom prst="rect">
                <a:avLst/>
              </a:prstGeom>
              <a:blipFill>
                <a:blip r:embed="rId10"/>
                <a:stretch>
                  <a:fillRect l="-2654" t="-8434" b="-15663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696019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80B6B308-E528-1567-412F-2BF52CB92E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dirty="0"/>
              <a:t>27</a:t>
            </a:fld>
            <a:endParaRPr lang="zh-TW" altLang="en-US"/>
          </a:p>
        </p:txBody>
      </p:sp>
      <p:sp>
        <p:nvSpPr>
          <p:cNvPr id="6" name="圓角矩形 5">
            <a:extLst>
              <a:ext uri="{FF2B5EF4-FFF2-40B4-BE49-F238E27FC236}">
                <a16:creationId xmlns:a16="http://schemas.microsoft.com/office/drawing/2014/main" id="{F07E41BB-9C95-5AB2-BA09-AE6796CBB446}"/>
              </a:ext>
            </a:extLst>
          </p:cNvPr>
          <p:cNvSpPr/>
          <p:nvPr/>
        </p:nvSpPr>
        <p:spPr>
          <a:xfrm>
            <a:off x="1234362" y="3920344"/>
            <a:ext cx="613700" cy="514110"/>
          </a:xfrm>
          <a:prstGeom prst="roundRect">
            <a:avLst/>
          </a:prstGeom>
          <a:solidFill>
            <a:srgbClr val="C5E0B4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en-US" altLang="zh-TW" sz="2400" dirty="0">
                <a:solidFill>
                  <a:schemeClr val="tx1"/>
                </a:solidFill>
              </a:rPr>
              <a:t>_</a:t>
            </a:r>
            <a:endParaRPr kumimoji="1" lang="zh-TW" altLang="en-US" sz="2400" dirty="0">
              <a:solidFill>
                <a:schemeClr val="tx1"/>
              </a:solidFill>
            </a:endParaRPr>
          </a:p>
        </p:txBody>
      </p:sp>
      <p:sp>
        <p:nvSpPr>
          <p:cNvPr id="7" name="文字方塊 67">
            <a:extLst>
              <a:ext uri="{FF2B5EF4-FFF2-40B4-BE49-F238E27FC236}">
                <a16:creationId xmlns:a16="http://schemas.microsoft.com/office/drawing/2014/main" id="{B381507F-DC44-2012-7728-330509B5ABA9}"/>
              </a:ext>
            </a:extLst>
          </p:cNvPr>
          <p:cNvSpPr txBox="1"/>
          <p:nvPr/>
        </p:nvSpPr>
        <p:spPr>
          <a:xfrm>
            <a:off x="1158218" y="4472662"/>
            <a:ext cx="77862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en-US" altLang="zh-TW" sz="1600" dirty="0"/>
              <a:t>(Start)</a:t>
            </a:r>
            <a:endParaRPr kumimoji="1" lang="zh-TW" altLang="en-US" sz="1600" dirty="0"/>
          </a:p>
        </p:txBody>
      </p:sp>
      <p:sp>
        <p:nvSpPr>
          <p:cNvPr id="10" name="圓角矩形 9">
            <a:extLst>
              <a:ext uri="{FF2B5EF4-FFF2-40B4-BE49-F238E27FC236}">
                <a16:creationId xmlns:a16="http://schemas.microsoft.com/office/drawing/2014/main" id="{875E7289-05C1-D185-CD20-7A8387DC3548}"/>
              </a:ext>
            </a:extLst>
          </p:cNvPr>
          <p:cNvSpPr/>
          <p:nvPr/>
        </p:nvSpPr>
        <p:spPr>
          <a:xfrm>
            <a:off x="2397436" y="2958733"/>
            <a:ext cx="613700" cy="514110"/>
          </a:xfrm>
          <a:prstGeom prst="roundRect">
            <a:avLst/>
          </a:prstGeom>
          <a:solidFill>
            <a:srgbClr val="C5E0B4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en-US" altLang="zh-TW" sz="1600" dirty="0">
                <a:solidFill>
                  <a:schemeClr val="tx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I</a:t>
            </a:r>
            <a:endParaRPr kumimoji="1" lang="zh-TW" altLang="en-US" sz="1600" dirty="0">
              <a:solidFill>
                <a:schemeClr val="tx1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12" name="圓角矩形 11">
            <a:extLst>
              <a:ext uri="{FF2B5EF4-FFF2-40B4-BE49-F238E27FC236}">
                <a16:creationId xmlns:a16="http://schemas.microsoft.com/office/drawing/2014/main" id="{3C729BBC-BACD-B4BC-5CFD-E43E279BC56D}"/>
              </a:ext>
            </a:extLst>
          </p:cNvPr>
          <p:cNvSpPr/>
          <p:nvPr/>
        </p:nvSpPr>
        <p:spPr>
          <a:xfrm>
            <a:off x="2397436" y="5004890"/>
            <a:ext cx="613700" cy="514110"/>
          </a:xfrm>
          <a:prstGeom prst="roundRect">
            <a:avLst/>
          </a:prstGeom>
          <a:solidFill>
            <a:srgbClr val="C5E0B4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en-US" altLang="zh-TW" sz="1600" dirty="0">
                <a:solidFill>
                  <a:schemeClr val="tx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You</a:t>
            </a:r>
            <a:endParaRPr kumimoji="1" lang="zh-TW" altLang="en-US" sz="1600" dirty="0">
              <a:solidFill>
                <a:schemeClr val="tx1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cxnSp>
        <p:nvCxnSpPr>
          <p:cNvPr id="14" name="直線箭頭接點 13">
            <a:extLst>
              <a:ext uri="{FF2B5EF4-FFF2-40B4-BE49-F238E27FC236}">
                <a16:creationId xmlns:a16="http://schemas.microsoft.com/office/drawing/2014/main" id="{25A5463B-ADA9-FE38-04CD-5FE88700466F}"/>
              </a:ext>
            </a:extLst>
          </p:cNvPr>
          <p:cNvCxnSpPr>
            <a:cxnSpLocks/>
          </p:cNvCxnSpPr>
          <p:nvPr/>
        </p:nvCxnSpPr>
        <p:spPr>
          <a:xfrm flipV="1">
            <a:off x="1871612" y="3159314"/>
            <a:ext cx="467804" cy="951566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線箭頭接點 18">
            <a:extLst>
              <a:ext uri="{FF2B5EF4-FFF2-40B4-BE49-F238E27FC236}">
                <a16:creationId xmlns:a16="http://schemas.microsoft.com/office/drawing/2014/main" id="{9D3CFDC7-E5AB-77B0-FA1A-9D836D4225EE}"/>
              </a:ext>
            </a:extLst>
          </p:cNvPr>
          <p:cNvCxnSpPr>
            <a:cxnSpLocks/>
          </p:cNvCxnSpPr>
          <p:nvPr/>
        </p:nvCxnSpPr>
        <p:spPr>
          <a:xfrm rot="10800000" flipH="1" flipV="1">
            <a:off x="1871612" y="4221432"/>
            <a:ext cx="467804" cy="951566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文字方塊 21">
                <a:extLst>
                  <a:ext uri="{FF2B5EF4-FFF2-40B4-BE49-F238E27FC236}">
                    <a16:creationId xmlns:a16="http://schemas.microsoft.com/office/drawing/2014/main" id="{AE2DCFBE-6018-9076-F2D2-1DB61E6327C0}"/>
                  </a:ext>
                </a:extLst>
              </p:cNvPr>
              <p:cNvSpPr txBox="1"/>
              <p:nvPr/>
            </p:nvSpPr>
            <p:spPr>
              <a:xfrm>
                <a:off x="2397435" y="2625303"/>
                <a:ext cx="613701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TW" sz="1600" b="0" i="1" smtClean="0">
                          <a:latin typeface="Cambria Math" panose="02040503050406030204" pitchFamily="18" charset="0"/>
                        </a:rPr>
                        <m:t>−0.7</m:t>
                      </m:r>
                    </m:oMath>
                  </m:oMathPara>
                </a14:m>
                <a:endParaRPr kumimoji="1" lang="zh-TW" altLang="en-US" sz="1600" dirty="0"/>
              </a:p>
            </p:txBody>
          </p:sp>
        </mc:Choice>
        <mc:Fallback xmlns="">
          <p:sp>
            <p:nvSpPr>
              <p:cNvPr id="22" name="文字方塊 21">
                <a:extLst>
                  <a:ext uri="{FF2B5EF4-FFF2-40B4-BE49-F238E27FC236}">
                    <a16:creationId xmlns:a16="http://schemas.microsoft.com/office/drawing/2014/main" id="{AE2DCFBE-6018-9076-F2D2-1DB61E6327C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97435" y="2625303"/>
                <a:ext cx="613701" cy="338554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文字方塊 22">
                <a:extLst>
                  <a:ext uri="{FF2B5EF4-FFF2-40B4-BE49-F238E27FC236}">
                    <a16:creationId xmlns:a16="http://schemas.microsoft.com/office/drawing/2014/main" id="{FD3DD690-0104-A97A-2C3F-7DF0AC27AFA7}"/>
                  </a:ext>
                </a:extLst>
              </p:cNvPr>
              <p:cNvSpPr txBox="1"/>
              <p:nvPr/>
            </p:nvSpPr>
            <p:spPr>
              <a:xfrm>
                <a:off x="2397435" y="5574359"/>
                <a:ext cx="598355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TW" sz="1600" b="0" i="1" smtClean="0">
                          <a:latin typeface="Cambria Math" panose="02040503050406030204" pitchFamily="18" charset="0"/>
                        </a:rPr>
                        <m:t>−0.9</m:t>
                      </m:r>
                    </m:oMath>
                  </m:oMathPara>
                </a14:m>
                <a:endParaRPr kumimoji="1" lang="zh-TW" altLang="en-US" sz="1600" dirty="0"/>
              </a:p>
            </p:txBody>
          </p:sp>
        </mc:Choice>
        <mc:Fallback xmlns="">
          <p:sp>
            <p:nvSpPr>
              <p:cNvPr id="23" name="文字方塊 22">
                <a:extLst>
                  <a:ext uri="{FF2B5EF4-FFF2-40B4-BE49-F238E27FC236}">
                    <a16:creationId xmlns:a16="http://schemas.microsoft.com/office/drawing/2014/main" id="{FD3DD690-0104-A97A-2C3F-7DF0AC27AFA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97435" y="5574359"/>
                <a:ext cx="598355" cy="338554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圓角矩形 2">
            <a:extLst>
              <a:ext uri="{FF2B5EF4-FFF2-40B4-BE49-F238E27FC236}">
                <a16:creationId xmlns:a16="http://schemas.microsoft.com/office/drawing/2014/main" id="{8F43250E-61CA-2FCD-5713-EEE3A86898A2}"/>
              </a:ext>
            </a:extLst>
          </p:cNvPr>
          <p:cNvSpPr/>
          <p:nvPr/>
        </p:nvSpPr>
        <p:spPr>
          <a:xfrm>
            <a:off x="3848821" y="2545579"/>
            <a:ext cx="732055" cy="514110"/>
          </a:xfrm>
          <a:prstGeom prst="roundRect">
            <a:avLst/>
          </a:prstGeom>
          <a:solidFill>
            <a:srgbClr val="C5E0B4"/>
          </a:solidFill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en-US" altLang="zh-TW" sz="1600" dirty="0">
                <a:solidFill>
                  <a:srgbClr val="FF0000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like</a:t>
            </a:r>
            <a:endParaRPr kumimoji="1" lang="zh-TW" altLang="en-US" sz="1600" dirty="0">
              <a:solidFill>
                <a:srgbClr val="FF0000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4" name="圓角矩形 3">
            <a:extLst>
              <a:ext uri="{FF2B5EF4-FFF2-40B4-BE49-F238E27FC236}">
                <a16:creationId xmlns:a16="http://schemas.microsoft.com/office/drawing/2014/main" id="{AFA1AEDB-F347-04F8-CEE1-E1D35D5B3651}"/>
              </a:ext>
            </a:extLst>
          </p:cNvPr>
          <p:cNvSpPr/>
          <p:nvPr/>
        </p:nvSpPr>
        <p:spPr>
          <a:xfrm>
            <a:off x="3848821" y="3341573"/>
            <a:ext cx="732056" cy="514110"/>
          </a:xfrm>
          <a:prstGeom prst="roundRect">
            <a:avLst/>
          </a:prstGeom>
          <a:solidFill>
            <a:srgbClr val="C5E0B4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en-US" altLang="zh-TW" sz="1600" dirty="0">
                <a:solidFill>
                  <a:schemeClr val="tx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want</a:t>
            </a:r>
            <a:endParaRPr kumimoji="1" lang="zh-TW" altLang="en-US" sz="1600" dirty="0">
              <a:solidFill>
                <a:schemeClr val="tx1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8" name="圓角矩形 7">
            <a:extLst>
              <a:ext uri="{FF2B5EF4-FFF2-40B4-BE49-F238E27FC236}">
                <a16:creationId xmlns:a16="http://schemas.microsoft.com/office/drawing/2014/main" id="{BFA3A0A1-CC3C-EC77-CEC9-146B482EBACE}"/>
              </a:ext>
            </a:extLst>
          </p:cNvPr>
          <p:cNvSpPr/>
          <p:nvPr/>
        </p:nvSpPr>
        <p:spPr>
          <a:xfrm>
            <a:off x="3848820" y="4658888"/>
            <a:ext cx="732056" cy="514110"/>
          </a:xfrm>
          <a:prstGeom prst="roundRect">
            <a:avLst/>
          </a:prstGeom>
          <a:solidFill>
            <a:srgbClr val="C5E0B4"/>
          </a:solidFill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en-US" altLang="zh-TW" sz="1600" dirty="0">
                <a:solidFill>
                  <a:srgbClr val="FF0000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want</a:t>
            </a:r>
            <a:endParaRPr kumimoji="1" lang="zh-TW" altLang="en-US" sz="1600" dirty="0">
              <a:solidFill>
                <a:srgbClr val="FF0000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13" name="圓角矩形 12">
            <a:extLst>
              <a:ext uri="{FF2B5EF4-FFF2-40B4-BE49-F238E27FC236}">
                <a16:creationId xmlns:a16="http://schemas.microsoft.com/office/drawing/2014/main" id="{820CADDD-FB1E-6DA6-D861-460F1DAB89D2}"/>
              </a:ext>
            </a:extLst>
          </p:cNvPr>
          <p:cNvSpPr/>
          <p:nvPr/>
        </p:nvSpPr>
        <p:spPr>
          <a:xfrm>
            <a:off x="3848820" y="5403253"/>
            <a:ext cx="732056" cy="514110"/>
          </a:xfrm>
          <a:prstGeom prst="roundRect">
            <a:avLst/>
          </a:prstGeom>
          <a:solidFill>
            <a:srgbClr val="C5E0B4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en-US" altLang="zh-TW" sz="1600" dirty="0">
                <a:solidFill>
                  <a:schemeClr val="tx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are</a:t>
            </a:r>
            <a:endParaRPr kumimoji="1" lang="zh-TW" altLang="en-US" sz="1600" dirty="0">
              <a:solidFill>
                <a:schemeClr val="tx1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cxnSp>
        <p:nvCxnSpPr>
          <p:cNvPr id="15" name="直線箭頭接點 14">
            <a:extLst>
              <a:ext uri="{FF2B5EF4-FFF2-40B4-BE49-F238E27FC236}">
                <a16:creationId xmlns:a16="http://schemas.microsoft.com/office/drawing/2014/main" id="{8665C6F8-C70B-8089-DEF0-F0BF0A302E1F}"/>
              </a:ext>
            </a:extLst>
          </p:cNvPr>
          <p:cNvCxnSpPr>
            <a:cxnSpLocks/>
          </p:cNvCxnSpPr>
          <p:nvPr/>
        </p:nvCxnSpPr>
        <p:spPr>
          <a:xfrm flipV="1">
            <a:off x="3069156" y="2802634"/>
            <a:ext cx="686098" cy="35668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直線箭頭接點 24">
            <a:extLst>
              <a:ext uri="{FF2B5EF4-FFF2-40B4-BE49-F238E27FC236}">
                <a16:creationId xmlns:a16="http://schemas.microsoft.com/office/drawing/2014/main" id="{7E401430-2CB0-6CDC-4D3E-E2664C968009}"/>
              </a:ext>
            </a:extLst>
          </p:cNvPr>
          <p:cNvCxnSpPr>
            <a:cxnSpLocks/>
          </p:cNvCxnSpPr>
          <p:nvPr/>
        </p:nvCxnSpPr>
        <p:spPr>
          <a:xfrm>
            <a:off x="3086929" y="3269539"/>
            <a:ext cx="686098" cy="35668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直線箭頭接點 25">
            <a:extLst>
              <a:ext uri="{FF2B5EF4-FFF2-40B4-BE49-F238E27FC236}">
                <a16:creationId xmlns:a16="http://schemas.microsoft.com/office/drawing/2014/main" id="{5BEAD4A0-45EF-EF79-2FEC-25625B419A1C}"/>
              </a:ext>
            </a:extLst>
          </p:cNvPr>
          <p:cNvCxnSpPr>
            <a:cxnSpLocks/>
          </p:cNvCxnSpPr>
          <p:nvPr/>
        </p:nvCxnSpPr>
        <p:spPr>
          <a:xfrm>
            <a:off x="3079256" y="5304719"/>
            <a:ext cx="686098" cy="35668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直線箭頭接點 26">
            <a:extLst>
              <a:ext uri="{FF2B5EF4-FFF2-40B4-BE49-F238E27FC236}">
                <a16:creationId xmlns:a16="http://schemas.microsoft.com/office/drawing/2014/main" id="{0C436EAB-E031-DBE5-6881-81A4CA5C9777}"/>
              </a:ext>
            </a:extLst>
          </p:cNvPr>
          <p:cNvCxnSpPr>
            <a:cxnSpLocks/>
          </p:cNvCxnSpPr>
          <p:nvPr/>
        </p:nvCxnSpPr>
        <p:spPr>
          <a:xfrm flipV="1">
            <a:off x="3079256" y="4890148"/>
            <a:ext cx="686098" cy="35668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8" name="文字方塊 27">
                <a:extLst>
                  <a:ext uri="{FF2B5EF4-FFF2-40B4-BE49-F238E27FC236}">
                    <a16:creationId xmlns:a16="http://schemas.microsoft.com/office/drawing/2014/main" id="{4B7D302A-69BB-3B4C-110A-358900750293}"/>
                  </a:ext>
                </a:extLst>
              </p:cNvPr>
              <p:cNvSpPr txBox="1"/>
              <p:nvPr/>
            </p:nvSpPr>
            <p:spPr>
              <a:xfrm>
                <a:off x="3863381" y="2211250"/>
                <a:ext cx="613701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TW" sz="1600" b="0" i="1" smtClean="0">
                          <a:latin typeface="Cambria Math" panose="02040503050406030204" pitchFamily="18" charset="0"/>
                        </a:rPr>
                        <m:t>−1.7</m:t>
                      </m:r>
                    </m:oMath>
                  </m:oMathPara>
                </a14:m>
                <a:endParaRPr kumimoji="1" lang="zh-TW" altLang="en-US" sz="1600" dirty="0"/>
              </a:p>
            </p:txBody>
          </p:sp>
        </mc:Choice>
        <mc:Fallback xmlns="">
          <p:sp>
            <p:nvSpPr>
              <p:cNvPr id="28" name="文字方塊 27">
                <a:extLst>
                  <a:ext uri="{FF2B5EF4-FFF2-40B4-BE49-F238E27FC236}">
                    <a16:creationId xmlns:a16="http://schemas.microsoft.com/office/drawing/2014/main" id="{4B7D302A-69BB-3B4C-110A-35890075029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63381" y="2211250"/>
                <a:ext cx="613701" cy="338554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文字方塊 28">
                <a:extLst>
                  <a:ext uri="{FF2B5EF4-FFF2-40B4-BE49-F238E27FC236}">
                    <a16:creationId xmlns:a16="http://schemas.microsoft.com/office/drawing/2014/main" id="{8F9CE310-A15D-4542-74A8-BF14C20D7734}"/>
                  </a:ext>
                </a:extLst>
              </p:cNvPr>
              <p:cNvSpPr txBox="1"/>
              <p:nvPr/>
            </p:nvSpPr>
            <p:spPr>
              <a:xfrm>
                <a:off x="3885019" y="3844284"/>
                <a:ext cx="613700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TW" sz="1600" b="0" i="1" smtClean="0">
                          <a:latin typeface="Cambria Math" panose="02040503050406030204" pitchFamily="18" charset="0"/>
                        </a:rPr>
                        <m:t>−2.9</m:t>
                      </m:r>
                    </m:oMath>
                  </m:oMathPara>
                </a14:m>
                <a:endParaRPr kumimoji="1" lang="zh-TW" altLang="en-US" sz="1600" dirty="0"/>
              </a:p>
            </p:txBody>
          </p:sp>
        </mc:Choice>
        <mc:Fallback xmlns="">
          <p:sp>
            <p:nvSpPr>
              <p:cNvPr id="29" name="文字方塊 28">
                <a:extLst>
                  <a:ext uri="{FF2B5EF4-FFF2-40B4-BE49-F238E27FC236}">
                    <a16:creationId xmlns:a16="http://schemas.microsoft.com/office/drawing/2014/main" id="{8F9CE310-A15D-4542-74A8-BF14C20D773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85019" y="3844284"/>
                <a:ext cx="613700" cy="338554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" name="文字方塊 29">
                <a:extLst>
                  <a:ext uri="{FF2B5EF4-FFF2-40B4-BE49-F238E27FC236}">
                    <a16:creationId xmlns:a16="http://schemas.microsoft.com/office/drawing/2014/main" id="{1834D209-F6BD-1B0A-BF59-E0500E0C63A1}"/>
                  </a:ext>
                </a:extLst>
              </p:cNvPr>
              <p:cNvSpPr txBox="1"/>
              <p:nvPr/>
            </p:nvSpPr>
            <p:spPr>
              <a:xfrm>
                <a:off x="3862086" y="4345643"/>
                <a:ext cx="613701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TW" sz="1600" b="0" i="1" smtClean="0">
                          <a:latin typeface="Cambria Math" panose="02040503050406030204" pitchFamily="18" charset="0"/>
                        </a:rPr>
                        <m:t>−1.6</m:t>
                      </m:r>
                    </m:oMath>
                  </m:oMathPara>
                </a14:m>
                <a:endParaRPr kumimoji="1" lang="zh-TW" altLang="en-US" sz="1600" dirty="0"/>
              </a:p>
            </p:txBody>
          </p:sp>
        </mc:Choice>
        <mc:Fallback xmlns="">
          <p:sp>
            <p:nvSpPr>
              <p:cNvPr id="30" name="文字方塊 29">
                <a:extLst>
                  <a:ext uri="{FF2B5EF4-FFF2-40B4-BE49-F238E27FC236}">
                    <a16:creationId xmlns:a16="http://schemas.microsoft.com/office/drawing/2014/main" id="{1834D209-F6BD-1B0A-BF59-E0500E0C63A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62086" y="4345643"/>
                <a:ext cx="613701" cy="338554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" name="文字方塊 30">
                <a:extLst>
                  <a:ext uri="{FF2B5EF4-FFF2-40B4-BE49-F238E27FC236}">
                    <a16:creationId xmlns:a16="http://schemas.microsoft.com/office/drawing/2014/main" id="{4D3DAC6B-5B92-1CFD-751E-6687CB641DB3}"/>
                  </a:ext>
                </a:extLst>
              </p:cNvPr>
              <p:cNvSpPr txBox="1"/>
              <p:nvPr/>
            </p:nvSpPr>
            <p:spPr>
              <a:xfrm>
                <a:off x="3848820" y="5910891"/>
                <a:ext cx="686099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TW" sz="1600" b="0" i="1" smtClean="0">
                          <a:latin typeface="Cambria Math" panose="02040503050406030204" pitchFamily="18" charset="0"/>
                        </a:rPr>
                        <m:t>−1.8</m:t>
                      </m:r>
                    </m:oMath>
                  </m:oMathPara>
                </a14:m>
                <a:endParaRPr kumimoji="1" lang="zh-TW" altLang="en-US" sz="1600" dirty="0"/>
              </a:p>
            </p:txBody>
          </p:sp>
        </mc:Choice>
        <mc:Fallback xmlns="">
          <p:sp>
            <p:nvSpPr>
              <p:cNvPr id="31" name="文字方塊 30">
                <a:extLst>
                  <a:ext uri="{FF2B5EF4-FFF2-40B4-BE49-F238E27FC236}">
                    <a16:creationId xmlns:a16="http://schemas.microsoft.com/office/drawing/2014/main" id="{4D3DAC6B-5B92-1CFD-751E-6687CB641DB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48820" y="5910891"/>
                <a:ext cx="686099" cy="338554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文字方塊 10">
            <a:extLst>
              <a:ext uri="{FF2B5EF4-FFF2-40B4-BE49-F238E27FC236}">
                <a16:creationId xmlns:a16="http://schemas.microsoft.com/office/drawing/2014/main" id="{ECBB905B-FC7A-FF4B-7F9A-AA5756E3B323}"/>
              </a:ext>
            </a:extLst>
          </p:cNvPr>
          <p:cNvSpPr txBox="1"/>
          <p:nvPr/>
        </p:nvSpPr>
        <p:spPr>
          <a:xfrm>
            <a:off x="9613039" y="688130"/>
            <a:ext cx="1884594" cy="369332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dirty="0"/>
              <a:t>`Beam size` = 2</a:t>
            </a:r>
            <a:endParaRPr kumimoji="1" lang="zh-TW" alt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0" name="標題 1">
                <a:extLst>
                  <a:ext uri="{FF2B5EF4-FFF2-40B4-BE49-F238E27FC236}">
                    <a16:creationId xmlns:a16="http://schemas.microsoft.com/office/drawing/2014/main" id="{AF1BD90D-DC1E-BC70-3627-D6F1A25F3227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644672" y="356088"/>
                <a:ext cx="10511008" cy="1033416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rmAutofit/>
              </a:bodyPr>
              <a:lstStyle>
                <a:lvl1pPr marL="0" algn="l" defTabSz="914400" rtl="0" eaLnBrk="1" latinLnBrk="0" hangingPunct="1">
                  <a:lnSpc>
                    <a:spcPct val="85000"/>
                  </a:lnSpc>
                  <a:spcBef>
                    <a:spcPct val="0"/>
                  </a:spcBef>
                  <a:buNone/>
                  <a:defRPr sz="4800" kern="1200" spc="-5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r>
                  <a:rPr kumimoji="1" lang="en-US" altLang="zh-TW" dirty="0"/>
                  <a:t>Beam Search</a:t>
                </a:r>
                <a:r>
                  <a:rPr kumimoji="1" lang="zh-TW" altLang="en-US" dirty="0"/>
                  <a:t> </a:t>
                </a:r>
                <a:r>
                  <a:rPr kumimoji="1" lang="en-US" altLang="zh-TW" dirty="0"/>
                  <a:t>(</a:t>
                </a:r>
                <a14:m>
                  <m:oMath xmlns:m="http://schemas.openxmlformats.org/officeDocument/2006/math">
                    <m:r>
                      <a:rPr kumimoji="1" lang="en-US" altLang="zh-TW" b="0" i="1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kumimoji="1" lang="en-US" altLang="zh-TW" b="0" i="1" smtClean="0">
                        <a:latin typeface="Cambria Math" panose="02040503050406030204" pitchFamily="18" charset="0"/>
                      </a:rPr>
                      <m:t>=2</m:t>
                    </m:r>
                  </m:oMath>
                </a14:m>
                <a:r>
                  <a:rPr kumimoji="1" lang="en-US" altLang="zh-TW" dirty="0"/>
                  <a:t>)</a:t>
                </a:r>
                <a:endParaRPr lang="zh-TW" altLang="en-US" dirty="0">
                  <a:latin typeface="Times New Roman"/>
                  <a:ea typeface="新細明體"/>
                  <a:cs typeface="Calibri Light"/>
                </a:endParaRPr>
              </a:p>
            </p:txBody>
          </p:sp>
        </mc:Choice>
        <mc:Fallback>
          <p:sp>
            <p:nvSpPr>
              <p:cNvPr id="20" name="標題 1">
                <a:extLst>
                  <a:ext uri="{FF2B5EF4-FFF2-40B4-BE49-F238E27FC236}">
                    <a16:creationId xmlns:a16="http://schemas.microsoft.com/office/drawing/2014/main" id="{AF1BD90D-DC1E-BC70-3627-D6F1A25F322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4672" y="356088"/>
                <a:ext cx="10511008" cy="1033416"/>
              </a:xfrm>
              <a:prstGeom prst="rect">
                <a:avLst/>
              </a:prstGeom>
              <a:blipFill>
                <a:blip r:embed="rId9"/>
                <a:stretch>
                  <a:fillRect l="-2654" t="-8434" b="-15663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3273756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80B6B308-E528-1567-412F-2BF52CB92E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dirty="0"/>
              <a:t>28</a:t>
            </a:fld>
            <a:endParaRPr lang="zh-TW" altLang="en-US"/>
          </a:p>
        </p:txBody>
      </p:sp>
      <p:sp>
        <p:nvSpPr>
          <p:cNvPr id="6" name="圓角矩形 5">
            <a:extLst>
              <a:ext uri="{FF2B5EF4-FFF2-40B4-BE49-F238E27FC236}">
                <a16:creationId xmlns:a16="http://schemas.microsoft.com/office/drawing/2014/main" id="{F07E41BB-9C95-5AB2-BA09-AE6796CBB446}"/>
              </a:ext>
            </a:extLst>
          </p:cNvPr>
          <p:cNvSpPr/>
          <p:nvPr/>
        </p:nvSpPr>
        <p:spPr>
          <a:xfrm>
            <a:off x="1234362" y="3920344"/>
            <a:ext cx="613700" cy="514110"/>
          </a:xfrm>
          <a:prstGeom prst="roundRect">
            <a:avLst/>
          </a:prstGeom>
          <a:solidFill>
            <a:srgbClr val="C5E0B4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en-US" altLang="zh-TW" sz="2400" dirty="0">
                <a:solidFill>
                  <a:schemeClr val="tx1"/>
                </a:solidFill>
              </a:rPr>
              <a:t>_</a:t>
            </a:r>
            <a:endParaRPr kumimoji="1" lang="zh-TW" altLang="en-US" sz="2400" dirty="0">
              <a:solidFill>
                <a:schemeClr val="tx1"/>
              </a:solidFill>
            </a:endParaRPr>
          </a:p>
        </p:txBody>
      </p:sp>
      <p:sp>
        <p:nvSpPr>
          <p:cNvPr id="7" name="文字方塊 67">
            <a:extLst>
              <a:ext uri="{FF2B5EF4-FFF2-40B4-BE49-F238E27FC236}">
                <a16:creationId xmlns:a16="http://schemas.microsoft.com/office/drawing/2014/main" id="{B381507F-DC44-2012-7728-330509B5ABA9}"/>
              </a:ext>
            </a:extLst>
          </p:cNvPr>
          <p:cNvSpPr txBox="1"/>
          <p:nvPr/>
        </p:nvSpPr>
        <p:spPr>
          <a:xfrm>
            <a:off x="1158218" y="4472662"/>
            <a:ext cx="77862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en-US" altLang="zh-TW" sz="1600" dirty="0"/>
              <a:t>(Start)</a:t>
            </a:r>
            <a:endParaRPr kumimoji="1" lang="zh-TW" altLang="en-US" sz="1600" dirty="0"/>
          </a:p>
        </p:txBody>
      </p:sp>
      <p:sp>
        <p:nvSpPr>
          <p:cNvPr id="10" name="圓角矩形 9">
            <a:extLst>
              <a:ext uri="{FF2B5EF4-FFF2-40B4-BE49-F238E27FC236}">
                <a16:creationId xmlns:a16="http://schemas.microsoft.com/office/drawing/2014/main" id="{875E7289-05C1-D185-CD20-7A8387DC3548}"/>
              </a:ext>
            </a:extLst>
          </p:cNvPr>
          <p:cNvSpPr/>
          <p:nvPr/>
        </p:nvSpPr>
        <p:spPr>
          <a:xfrm>
            <a:off x="2397436" y="2958733"/>
            <a:ext cx="613700" cy="514110"/>
          </a:xfrm>
          <a:prstGeom prst="roundRect">
            <a:avLst/>
          </a:prstGeom>
          <a:solidFill>
            <a:srgbClr val="C5E0B4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en-US" altLang="zh-TW" sz="1600" dirty="0">
                <a:solidFill>
                  <a:schemeClr val="tx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I</a:t>
            </a:r>
            <a:endParaRPr kumimoji="1" lang="zh-TW" altLang="en-US" sz="1600" dirty="0">
              <a:solidFill>
                <a:schemeClr val="tx1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12" name="圓角矩形 11">
            <a:extLst>
              <a:ext uri="{FF2B5EF4-FFF2-40B4-BE49-F238E27FC236}">
                <a16:creationId xmlns:a16="http://schemas.microsoft.com/office/drawing/2014/main" id="{3C729BBC-BACD-B4BC-5CFD-E43E279BC56D}"/>
              </a:ext>
            </a:extLst>
          </p:cNvPr>
          <p:cNvSpPr/>
          <p:nvPr/>
        </p:nvSpPr>
        <p:spPr>
          <a:xfrm>
            <a:off x="2397436" y="5004890"/>
            <a:ext cx="613700" cy="514110"/>
          </a:xfrm>
          <a:prstGeom prst="roundRect">
            <a:avLst/>
          </a:prstGeom>
          <a:solidFill>
            <a:srgbClr val="C5E0B4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en-US" altLang="zh-TW" sz="1600" dirty="0">
                <a:solidFill>
                  <a:schemeClr val="tx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You</a:t>
            </a:r>
            <a:endParaRPr kumimoji="1" lang="zh-TW" altLang="en-US" sz="1600" dirty="0">
              <a:solidFill>
                <a:schemeClr val="tx1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cxnSp>
        <p:nvCxnSpPr>
          <p:cNvPr id="14" name="直線箭頭接點 13">
            <a:extLst>
              <a:ext uri="{FF2B5EF4-FFF2-40B4-BE49-F238E27FC236}">
                <a16:creationId xmlns:a16="http://schemas.microsoft.com/office/drawing/2014/main" id="{25A5463B-ADA9-FE38-04CD-5FE88700466F}"/>
              </a:ext>
            </a:extLst>
          </p:cNvPr>
          <p:cNvCxnSpPr>
            <a:cxnSpLocks/>
          </p:cNvCxnSpPr>
          <p:nvPr/>
        </p:nvCxnSpPr>
        <p:spPr>
          <a:xfrm flipV="1">
            <a:off x="1871612" y="3159314"/>
            <a:ext cx="467804" cy="951566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線箭頭接點 18">
            <a:extLst>
              <a:ext uri="{FF2B5EF4-FFF2-40B4-BE49-F238E27FC236}">
                <a16:creationId xmlns:a16="http://schemas.microsoft.com/office/drawing/2014/main" id="{9D3CFDC7-E5AB-77B0-FA1A-9D836D4225EE}"/>
              </a:ext>
            </a:extLst>
          </p:cNvPr>
          <p:cNvCxnSpPr>
            <a:cxnSpLocks/>
          </p:cNvCxnSpPr>
          <p:nvPr/>
        </p:nvCxnSpPr>
        <p:spPr>
          <a:xfrm rot="10800000" flipH="1" flipV="1">
            <a:off x="1871612" y="4221432"/>
            <a:ext cx="467804" cy="951566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文字方塊 21">
                <a:extLst>
                  <a:ext uri="{FF2B5EF4-FFF2-40B4-BE49-F238E27FC236}">
                    <a16:creationId xmlns:a16="http://schemas.microsoft.com/office/drawing/2014/main" id="{AE2DCFBE-6018-9076-F2D2-1DB61E6327C0}"/>
                  </a:ext>
                </a:extLst>
              </p:cNvPr>
              <p:cNvSpPr txBox="1"/>
              <p:nvPr/>
            </p:nvSpPr>
            <p:spPr>
              <a:xfrm>
                <a:off x="2397435" y="2625303"/>
                <a:ext cx="613701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TW" sz="1600" b="0" i="1" smtClean="0">
                          <a:latin typeface="Cambria Math" panose="02040503050406030204" pitchFamily="18" charset="0"/>
                        </a:rPr>
                        <m:t>−0.7</m:t>
                      </m:r>
                    </m:oMath>
                  </m:oMathPara>
                </a14:m>
                <a:endParaRPr kumimoji="1" lang="zh-TW" altLang="en-US" sz="1600" dirty="0"/>
              </a:p>
            </p:txBody>
          </p:sp>
        </mc:Choice>
        <mc:Fallback xmlns="">
          <p:sp>
            <p:nvSpPr>
              <p:cNvPr id="22" name="文字方塊 21">
                <a:extLst>
                  <a:ext uri="{FF2B5EF4-FFF2-40B4-BE49-F238E27FC236}">
                    <a16:creationId xmlns:a16="http://schemas.microsoft.com/office/drawing/2014/main" id="{AE2DCFBE-6018-9076-F2D2-1DB61E6327C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97435" y="2625303"/>
                <a:ext cx="613701" cy="338554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文字方塊 22">
                <a:extLst>
                  <a:ext uri="{FF2B5EF4-FFF2-40B4-BE49-F238E27FC236}">
                    <a16:creationId xmlns:a16="http://schemas.microsoft.com/office/drawing/2014/main" id="{FD3DD690-0104-A97A-2C3F-7DF0AC27AFA7}"/>
                  </a:ext>
                </a:extLst>
              </p:cNvPr>
              <p:cNvSpPr txBox="1"/>
              <p:nvPr/>
            </p:nvSpPr>
            <p:spPr>
              <a:xfrm>
                <a:off x="2397435" y="5574359"/>
                <a:ext cx="598355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TW" sz="1600" b="0" i="1" smtClean="0">
                          <a:latin typeface="Cambria Math" panose="02040503050406030204" pitchFamily="18" charset="0"/>
                        </a:rPr>
                        <m:t>−0.9</m:t>
                      </m:r>
                    </m:oMath>
                  </m:oMathPara>
                </a14:m>
                <a:endParaRPr kumimoji="1" lang="zh-TW" altLang="en-US" sz="1600" dirty="0"/>
              </a:p>
            </p:txBody>
          </p:sp>
        </mc:Choice>
        <mc:Fallback xmlns="">
          <p:sp>
            <p:nvSpPr>
              <p:cNvPr id="23" name="文字方塊 22">
                <a:extLst>
                  <a:ext uri="{FF2B5EF4-FFF2-40B4-BE49-F238E27FC236}">
                    <a16:creationId xmlns:a16="http://schemas.microsoft.com/office/drawing/2014/main" id="{FD3DD690-0104-A97A-2C3F-7DF0AC27AFA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97435" y="5574359"/>
                <a:ext cx="598355" cy="338554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圓角矩形 2">
            <a:extLst>
              <a:ext uri="{FF2B5EF4-FFF2-40B4-BE49-F238E27FC236}">
                <a16:creationId xmlns:a16="http://schemas.microsoft.com/office/drawing/2014/main" id="{8F43250E-61CA-2FCD-5713-EEE3A86898A2}"/>
              </a:ext>
            </a:extLst>
          </p:cNvPr>
          <p:cNvSpPr/>
          <p:nvPr/>
        </p:nvSpPr>
        <p:spPr>
          <a:xfrm>
            <a:off x="3848821" y="2545579"/>
            <a:ext cx="732055" cy="514110"/>
          </a:xfrm>
          <a:prstGeom prst="roundRect">
            <a:avLst/>
          </a:prstGeom>
          <a:solidFill>
            <a:srgbClr val="C5E0B4"/>
          </a:solidFill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en-US" altLang="zh-TW" sz="1600" dirty="0">
                <a:solidFill>
                  <a:srgbClr val="FF0000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like</a:t>
            </a:r>
            <a:endParaRPr kumimoji="1" lang="zh-TW" altLang="en-US" sz="1600" dirty="0">
              <a:solidFill>
                <a:srgbClr val="FF0000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4" name="圓角矩形 3">
            <a:extLst>
              <a:ext uri="{FF2B5EF4-FFF2-40B4-BE49-F238E27FC236}">
                <a16:creationId xmlns:a16="http://schemas.microsoft.com/office/drawing/2014/main" id="{AFA1AEDB-F347-04F8-CEE1-E1D35D5B3651}"/>
              </a:ext>
            </a:extLst>
          </p:cNvPr>
          <p:cNvSpPr/>
          <p:nvPr/>
        </p:nvSpPr>
        <p:spPr>
          <a:xfrm>
            <a:off x="3848821" y="3341573"/>
            <a:ext cx="732056" cy="514110"/>
          </a:xfrm>
          <a:prstGeom prst="roundRect">
            <a:avLst/>
          </a:prstGeom>
          <a:solidFill>
            <a:srgbClr val="C5E0B4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en-US" altLang="zh-TW" sz="1600" dirty="0">
                <a:solidFill>
                  <a:schemeClr val="tx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want</a:t>
            </a:r>
            <a:endParaRPr kumimoji="1" lang="zh-TW" altLang="en-US" sz="1600" dirty="0">
              <a:solidFill>
                <a:schemeClr val="tx1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8" name="圓角矩形 7">
            <a:extLst>
              <a:ext uri="{FF2B5EF4-FFF2-40B4-BE49-F238E27FC236}">
                <a16:creationId xmlns:a16="http://schemas.microsoft.com/office/drawing/2014/main" id="{BFA3A0A1-CC3C-EC77-CEC9-146B482EBACE}"/>
              </a:ext>
            </a:extLst>
          </p:cNvPr>
          <p:cNvSpPr/>
          <p:nvPr/>
        </p:nvSpPr>
        <p:spPr>
          <a:xfrm>
            <a:off x="3848820" y="4658888"/>
            <a:ext cx="732056" cy="514110"/>
          </a:xfrm>
          <a:prstGeom prst="roundRect">
            <a:avLst/>
          </a:prstGeom>
          <a:solidFill>
            <a:srgbClr val="C5E0B4"/>
          </a:solidFill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en-US" altLang="zh-TW" sz="1600" dirty="0">
                <a:solidFill>
                  <a:srgbClr val="FF0000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want</a:t>
            </a:r>
            <a:endParaRPr kumimoji="1" lang="zh-TW" altLang="en-US" sz="1600" dirty="0">
              <a:solidFill>
                <a:srgbClr val="FF0000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13" name="圓角矩形 12">
            <a:extLst>
              <a:ext uri="{FF2B5EF4-FFF2-40B4-BE49-F238E27FC236}">
                <a16:creationId xmlns:a16="http://schemas.microsoft.com/office/drawing/2014/main" id="{820CADDD-FB1E-6DA6-D861-460F1DAB89D2}"/>
              </a:ext>
            </a:extLst>
          </p:cNvPr>
          <p:cNvSpPr/>
          <p:nvPr/>
        </p:nvSpPr>
        <p:spPr>
          <a:xfrm>
            <a:off x="3848820" y="5403253"/>
            <a:ext cx="732056" cy="514110"/>
          </a:xfrm>
          <a:prstGeom prst="roundRect">
            <a:avLst/>
          </a:prstGeom>
          <a:solidFill>
            <a:srgbClr val="C5E0B4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en-US" altLang="zh-TW" sz="1600" dirty="0">
                <a:solidFill>
                  <a:schemeClr val="tx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are</a:t>
            </a:r>
            <a:endParaRPr kumimoji="1" lang="zh-TW" altLang="en-US" sz="1600" dirty="0">
              <a:solidFill>
                <a:schemeClr val="tx1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cxnSp>
        <p:nvCxnSpPr>
          <p:cNvPr id="15" name="直線箭頭接點 14">
            <a:extLst>
              <a:ext uri="{FF2B5EF4-FFF2-40B4-BE49-F238E27FC236}">
                <a16:creationId xmlns:a16="http://schemas.microsoft.com/office/drawing/2014/main" id="{8665C6F8-C70B-8089-DEF0-F0BF0A302E1F}"/>
              </a:ext>
            </a:extLst>
          </p:cNvPr>
          <p:cNvCxnSpPr>
            <a:cxnSpLocks/>
          </p:cNvCxnSpPr>
          <p:nvPr/>
        </p:nvCxnSpPr>
        <p:spPr>
          <a:xfrm flipV="1">
            <a:off x="3069156" y="2802634"/>
            <a:ext cx="686098" cy="35668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直線箭頭接點 24">
            <a:extLst>
              <a:ext uri="{FF2B5EF4-FFF2-40B4-BE49-F238E27FC236}">
                <a16:creationId xmlns:a16="http://schemas.microsoft.com/office/drawing/2014/main" id="{7E401430-2CB0-6CDC-4D3E-E2664C968009}"/>
              </a:ext>
            </a:extLst>
          </p:cNvPr>
          <p:cNvCxnSpPr>
            <a:cxnSpLocks/>
          </p:cNvCxnSpPr>
          <p:nvPr/>
        </p:nvCxnSpPr>
        <p:spPr>
          <a:xfrm>
            <a:off x="3086929" y="3269539"/>
            <a:ext cx="686098" cy="35668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直線箭頭接點 25">
            <a:extLst>
              <a:ext uri="{FF2B5EF4-FFF2-40B4-BE49-F238E27FC236}">
                <a16:creationId xmlns:a16="http://schemas.microsoft.com/office/drawing/2014/main" id="{5BEAD4A0-45EF-EF79-2FEC-25625B419A1C}"/>
              </a:ext>
            </a:extLst>
          </p:cNvPr>
          <p:cNvCxnSpPr>
            <a:cxnSpLocks/>
          </p:cNvCxnSpPr>
          <p:nvPr/>
        </p:nvCxnSpPr>
        <p:spPr>
          <a:xfrm>
            <a:off x="3079256" y="5304719"/>
            <a:ext cx="686098" cy="35668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直線箭頭接點 26">
            <a:extLst>
              <a:ext uri="{FF2B5EF4-FFF2-40B4-BE49-F238E27FC236}">
                <a16:creationId xmlns:a16="http://schemas.microsoft.com/office/drawing/2014/main" id="{0C436EAB-E031-DBE5-6881-81A4CA5C9777}"/>
              </a:ext>
            </a:extLst>
          </p:cNvPr>
          <p:cNvCxnSpPr>
            <a:cxnSpLocks/>
          </p:cNvCxnSpPr>
          <p:nvPr/>
        </p:nvCxnSpPr>
        <p:spPr>
          <a:xfrm flipV="1">
            <a:off x="3079256" y="4890148"/>
            <a:ext cx="686098" cy="35668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8" name="文字方塊 27">
                <a:extLst>
                  <a:ext uri="{FF2B5EF4-FFF2-40B4-BE49-F238E27FC236}">
                    <a16:creationId xmlns:a16="http://schemas.microsoft.com/office/drawing/2014/main" id="{4B7D302A-69BB-3B4C-110A-358900750293}"/>
                  </a:ext>
                </a:extLst>
              </p:cNvPr>
              <p:cNvSpPr txBox="1"/>
              <p:nvPr/>
            </p:nvSpPr>
            <p:spPr>
              <a:xfrm>
                <a:off x="3863381" y="2211250"/>
                <a:ext cx="613701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TW" sz="1600" b="0" i="1" smtClean="0">
                          <a:latin typeface="Cambria Math" panose="02040503050406030204" pitchFamily="18" charset="0"/>
                        </a:rPr>
                        <m:t>−1.7</m:t>
                      </m:r>
                    </m:oMath>
                  </m:oMathPara>
                </a14:m>
                <a:endParaRPr kumimoji="1" lang="zh-TW" altLang="en-US" sz="1600" dirty="0"/>
              </a:p>
            </p:txBody>
          </p:sp>
        </mc:Choice>
        <mc:Fallback xmlns="">
          <p:sp>
            <p:nvSpPr>
              <p:cNvPr id="28" name="文字方塊 27">
                <a:extLst>
                  <a:ext uri="{FF2B5EF4-FFF2-40B4-BE49-F238E27FC236}">
                    <a16:creationId xmlns:a16="http://schemas.microsoft.com/office/drawing/2014/main" id="{4B7D302A-69BB-3B4C-110A-35890075029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63381" y="2211250"/>
                <a:ext cx="613701" cy="338554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文字方塊 28">
                <a:extLst>
                  <a:ext uri="{FF2B5EF4-FFF2-40B4-BE49-F238E27FC236}">
                    <a16:creationId xmlns:a16="http://schemas.microsoft.com/office/drawing/2014/main" id="{8F9CE310-A15D-4542-74A8-BF14C20D7734}"/>
                  </a:ext>
                </a:extLst>
              </p:cNvPr>
              <p:cNvSpPr txBox="1"/>
              <p:nvPr/>
            </p:nvSpPr>
            <p:spPr>
              <a:xfrm>
                <a:off x="3885019" y="3844284"/>
                <a:ext cx="613700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TW" sz="1600" b="0" i="1" smtClean="0">
                          <a:latin typeface="Cambria Math" panose="02040503050406030204" pitchFamily="18" charset="0"/>
                        </a:rPr>
                        <m:t>−2.9</m:t>
                      </m:r>
                    </m:oMath>
                  </m:oMathPara>
                </a14:m>
                <a:endParaRPr kumimoji="1" lang="zh-TW" altLang="en-US" sz="1600" dirty="0"/>
              </a:p>
            </p:txBody>
          </p:sp>
        </mc:Choice>
        <mc:Fallback xmlns="">
          <p:sp>
            <p:nvSpPr>
              <p:cNvPr id="29" name="文字方塊 28">
                <a:extLst>
                  <a:ext uri="{FF2B5EF4-FFF2-40B4-BE49-F238E27FC236}">
                    <a16:creationId xmlns:a16="http://schemas.microsoft.com/office/drawing/2014/main" id="{8F9CE310-A15D-4542-74A8-BF14C20D773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85019" y="3844284"/>
                <a:ext cx="613700" cy="338554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" name="文字方塊 29">
                <a:extLst>
                  <a:ext uri="{FF2B5EF4-FFF2-40B4-BE49-F238E27FC236}">
                    <a16:creationId xmlns:a16="http://schemas.microsoft.com/office/drawing/2014/main" id="{1834D209-F6BD-1B0A-BF59-E0500E0C63A1}"/>
                  </a:ext>
                </a:extLst>
              </p:cNvPr>
              <p:cNvSpPr txBox="1"/>
              <p:nvPr/>
            </p:nvSpPr>
            <p:spPr>
              <a:xfrm>
                <a:off x="3862086" y="4345643"/>
                <a:ext cx="613701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TW" sz="1600" b="0" i="1" smtClean="0">
                          <a:latin typeface="Cambria Math" panose="02040503050406030204" pitchFamily="18" charset="0"/>
                        </a:rPr>
                        <m:t>−1.6</m:t>
                      </m:r>
                    </m:oMath>
                  </m:oMathPara>
                </a14:m>
                <a:endParaRPr kumimoji="1" lang="zh-TW" altLang="en-US" sz="1600" dirty="0"/>
              </a:p>
            </p:txBody>
          </p:sp>
        </mc:Choice>
        <mc:Fallback xmlns="">
          <p:sp>
            <p:nvSpPr>
              <p:cNvPr id="30" name="文字方塊 29">
                <a:extLst>
                  <a:ext uri="{FF2B5EF4-FFF2-40B4-BE49-F238E27FC236}">
                    <a16:creationId xmlns:a16="http://schemas.microsoft.com/office/drawing/2014/main" id="{1834D209-F6BD-1B0A-BF59-E0500E0C63A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62086" y="4345643"/>
                <a:ext cx="613701" cy="338554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" name="文字方塊 30">
                <a:extLst>
                  <a:ext uri="{FF2B5EF4-FFF2-40B4-BE49-F238E27FC236}">
                    <a16:creationId xmlns:a16="http://schemas.microsoft.com/office/drawing/2014/main" id="{4D3DAC6B-5B92-1CFD-751E-6687CB641DB3}"/>
                  </a:ext>
                </a:extLst>
              </p:cNvPr>
              <p:cNvSpPr txBox="1"/>
              <p:nvPr/>
            </p:nvSpPr>
            <p:spPr>
              <a:xfrm>
                <a:off x="3848820" y="5910891"/>
                <a:ext cx="686099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TW" sz="1600" b="0" i="1" smtClean="0">
                          <a:latin typeface="Cambria Math" panose="02040503050406030204" pitchFamily="18" charset="0"/>
                        </a:rPr>
                        <m:t>−1.8</m:t>
                      </m:r>
                    </m:oMath>
                  </m:oMathPara>
                </a14:m>
                <a:endParaRPr kumimoji="1" lang="zh-TW" altLang="en-US" sz="1600" dirty="0"/>
              </a:p>
            </p:txBody>
          </p:sp>
        </mc:Choice>
        <mc:Fallback xmlns="">
          <p:sp>
            <p:nvSpPr>
              <p:cNvPr id="31" name="文字方塊 30">
                <a:extLst>
                  <a:ext uri="{FF2B5EF4-FFF2-40B4-BE49-F238E27FC236}">
                    <a16:creationId xmlns:a16="http://schemas.microsoft.com/office/drawing/2014/main" id="{4D3DAC6B-5B92-1CFD-751E-6687CB641DB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48820" y="5910891"/>
                <a:ext cx="686099" cy="338554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" name="圓角矩形 17">
            <a:extLst>
              <a:ext uri="{FF2B5EF4-FFF2-40B4-BE49-F238E27FC236}">
                <a16:creationId xmlns:a16="http://schemas.microsoft.com/office/drawing/2014/main" id="{601EF68D-AB15-2BE7-FB27-3732E7DC8DC8}"/>
              </a:ext>
            </a:extLst>
          </p:cNvPr>
          <p:cNvSpPr/>
          <p:nvPr/>
        </p:nvSpPr>
        <p:spPr>
          <a:xfrm>
            <a:off x="5426258" y="2144666"/>
            <a:ext cx="732055" cy="514110"/>
          </a:xfrm>
          <a:prstGeom prst="roundRect">
            <a:avLst/>
          </a:prstGeom>
          <a:solidFill>
            <a:srgbClr val="C5E0B4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en-US" altLang="zh-TW" sz="1600" dirty="0">
                <a:solidFill>
                  <a:schemeClr val="tx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to</a:t>
            </a:r>
            <a:endParaRPr kumimoji="1" lang="zh-TW" altLang="en-US" sz="1600" dirty="0">
              <a:solidFill>
                <a:schemeClr val="tx1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24" name="圓角矩形 23">
            <a:extLst>
              <a:ext uri="{FF2B5EF4-FFF2-40B4-BE49-F238E27FC236}">
                <a16:creationId xmlns:a16="http://schemas.microsoft.com/office/drawing/2014/main" id="{0CBAD8EE-42E2-E1A6-D756-AFEE80F6B6C3}"/>
              </a:ext>
            </a:extLst>
          </p:cNvPr>
          <p:cNvSpPr/>
          <p:nvPr/>
        </p:nvSpPr>
        <p:spPr>
          <a:xfrm>
            <a:off x="5426258" y="2940660"/>
            <a:ext cx="732056" cy="514110"/>
          </a:xfrm>
          <a:prstGeom prst="roundRect">
            <a:avLst/>
          </a:prstGeom>
          <a:solidFill>
            <a:srgbClr val="C5E0B4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en-US" altLang="zh-TW" sz="1300" dirty="0">
                <a:solidFill>
                  <a:schemeClr val="tx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books</a:t>
            </a:r>
            <a:endParaRPr kumimoji="1" lang="zh-TW" altLang="en-US" sz="1300" dirty="0">
              <a:solidFill>
                <a:schemeClr val="tx1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cxnSp>
        <p:nvCxnSpPr>
          <p:cNvPr id="35" name="直線箭頭接點 34">
            <a:extLst>
              <a:ext uri="{FF2B5EF4-FFF2-40B4-BE49-F238E27FC236}">
                <a16:creationId xmlns:a16="http://schemas.microsoft.com/office/drawing/2014/main" id="{46E46508-67A3-47D1-F2E4-593015865BD2}"/>
              </a:ext>
            </a:extLst>
          </p:cNvPr>
          <p:cNvCxnSpPr>
            <a:cxnSpLocks/>
          </p:cNvCxnSpPr>
          <p:nvPr/>
        </p:nvCxnSpPr>
        <p:spPr>
          <a:xfrm flipV="1">
            <a:off x="4646593" y="2401721"/>
            <a:ext cx="686098" cy="35668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直線箭頭接點 35">
            <a:extLst>
              <a:ext uri="{FF2B5EF4-FFF2-40B4-BE49-F238E27FC236}">
                <a16:creationId xmlns:a16="http://schemas.microsoft.com/office/drawing/2014/main" id="{454CD8D4-70BA-C50F-4173-C4EFAF415F32}"/>
              </a:ext>
            </a:extLst>
          </p:cNvPr>
          <p:cNvCxnSpPr>
            <a:cxnSpLocks/>
          </p:cNvCxnSpPr>
          <p:nvPr/>
        </p:nvCxnSpPr>
        <p:spPr>
          <a:xfrm>
            <a:off x="4664366" y="2868626"/>
            <a:ext cx="686098" cy="35668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7" name="文字方塊 36">
                <a:extLst>
                  <a:ext uri="{FF2B5EF4-FFF2-40B4-BE49-F238E27FC236}">
                    <a16:creationId xmlns:a16="http://schemas.microsoft.com/office/drawing/2014/main" id="{5B72CF1E-2455-77B2-4E63-0388B571BA45}"/>
                  </a:ext>
                </a:extLst>
              </p:cNvPr>
              <p:cNvSpPr txBox="1"/>
              <p:nvPr/>
            </p:nvSpPr>
            <p:spPr>
              <a:xfrm>
                <a:off x="6234106" y="2241507"/>
                <a:ext cx="3546848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TW" sz="1600" b="0" i="1" smtClean="0">
                          <a:latin typeface="Cambria Math" panose="02040503050406030204" pitchFamily="18" charset="0"/>
                        </a:rPr>
                        <m:t>−1.7+</m:t>
                      </m:r>
                      <m:func>
                        <m:funcPr>
                          <m:ctrlPr>
                            <a:rPr kumimoji="1" lang="en-US" altLang="zh-TW" sz="1600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kumimoji="1" lang="en-US" altLang="zh-TW" sz="1600" b="0" i="0" smtClean="0">
                              <a:latin typeface="Cambria Math" panose="02040503050406030204" pitchFamily="18" charset="0"/>
                            </a:rPr>
                            <m:t>log</m:t>
                          </m:r>
                        </m:fName>
                        <m:e>
                          <m:r>
                            <a:rPr kumimoji="1" lang="en-US" altLang="zh-TW" sz="1600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  <m:d>
                            <m:dPr>
                              <m:endChr m:val="|"/>
                              <m:ctrlPr>
                                <a:rPr kumimoji="1" lang="en-US" altLang="zh-TW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kumimoji="1" lang="en-US" altLang="zh-TW" sz="1600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m:rPr>
                                  <m:nor/>
                                </m:rPr>
                                <a:rPr kumimoji="1" lang="en-US" altLang="zh-TW" sz="1600" b="0" i="0" smtClean="0">
                                  <a:latin typeface="Cambria Math" panose="02040503050406030204" pitchFamily="18" charset="0"/>
                                </a:rPr>
                                <m:t>to</m:t>
                              </m:r>
                              <m:r>
                                <a:rPr kumimoji="1" lang="en-US" altLang="zh-TW" sz="1600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e>
                          </m:d>
                          <m:r>
                            <a:rPr kumimoji="1" lang="en-US" altLang="zh-TW" sz="16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nor/>
                            </m:rPr>
                            <a:rPr kumimoji="1" lang="en-US" altLang="zh-TW" sz="1600" b="0" i="0" smtClean="0">
                              <a:latin typeface="Cambria Math" panose="02040503050406030204" pitchFamily="18" charset="0"/>
                            </a:rPr>
                            <m:t>Start</m:t>
                          </m:r>
                          <m:r>
                            <m:rPr>
                              <m:nor/>
                            </m:rPr>
                            <a:rPr kumimoji="1" lang="en-US" altLang="zh-TW" sz="1600" b="0" i="0" smtClean="0"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m:rPr>
                              <m:nor/>
                            </m:rPr>
                            <a:rPr kumimoji="1" lang="en-US" altLang="zh-TW" sz="1600" b="0" i="0" smtClean="0">
                              <a:latin typeface="Cambria Math" panose="02040503050406030204" pitchFamily="18" charset="0"/>
                            </a:rPr>
                            <m:t>I</m:t>
                          </m:r>
                          <m:r>
                            <m:rPr>
                              <m:nor/>
                            </m:rPr>
                            <a:rPr kumimoji="1" lang="en-US" altLang="zh-TW" sz="1600" b="0" i="0" smtClean="0"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m:rPr>
                              <m:nor/>
                            </m:rPr>
                            <a:rPr kumimoji="1" lang="en-US" altLang="zh-TW" sz="1600" b="0" i="0" smtClean="0">
                              <a:latin typeface="Cambria Math" panose="02040503050406030204" pitchFamily="18" charset="0"/>
                            </a:rPr>
                            <m:t>like</m:t>
                          </m:r>
                          <m:r>
                            <a:rPr kumimoji="1" lang="en-US" altLang="zh-TW" sz="1600" b="0" i="1" smtClean="0">
                              <a:latin typeface="Cambria Math" panose="02040503050406030204" pitchFamily="18" charset="0"/>
                            </a:rPr>
                            <m:t>)=</m:t>
                          </m:r>
                        </m:e>
                      </m:func>
                      <m:r>
                        <a:rPr kumimoji="1" lang="en-US" altLang="zh-TW" sz="1600" b="0" i="1" smtClean="0">
                          <a:latin typeface="Cambria Math" panose="02040503050406030204" pitchFamily="18" charset="0"/>
                        </a:rPr>
                        <m:t>−2.8</m:t>
                      </m:r>
                    </m:oMath>
                  </m:oMathPara>
                </a14:m>
                <a:endParaRPr kumimoji="1" lang="zh-TW" altLang="en-US" sz="1600" dirty="0"/>
              </a:p>
            </p:txBody>
          </p:sp>
        </mc:Choice>
        <mc:Fallback xmlns="">
          <p:sp>
            <p:nvSpPr>
              <p:cNvPr id="37" name="文字方塊 36">
                <a:extLst>
                  <a:ext uri="{FF2B5EF4-FFF2-40B4-BE49-F238E27FC236}">
                    <a16:creationId xmlns:a16="http://schemas.microsoft.com/office/drawing/2014/main" id="{5B72CF1E-2455-77B2-4E63-0388B571BA4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34106" y="2241507"/>
                <a:ext cx="3546848" cy="338554"/>
              </a:xfrm>
              <a:prstGeom prst="rect">
                <a:avLst/>
              </a:prstGeom>
              <a:blipFill>
                <a:blip r:embed="rId9"/>
                <a:stretch>
                  <a:fillRect b="-10714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8" name="文字方塊 37">
                <a:extLst>
                  <a:ext uri="{FF2B5EF4-FFF2-40B4-BE49-F238E27FC236}">
                    <a16:creationId xmlns:a16="http://schemas.microsoft.com/office/drawing/2014/main" id="{75DED9B6-F0F3-1533-17C3-AE4E8F2376DC}"/>
                  </a:ext>
                </a:extLst>
              </p:cNvPr>
              <p:cNvSpPr txBox="1"/>
              <p:nvPr/>
            </p:nvSpPr>
            <p:spPr>
              <a:xfrm>
                <a:off x="6234105" y="3046511"/>
                <a:ext cx="3895315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TW" sz="1600" b="0" i="1" smtClean="0">
                          <a:latin typeface="Cambria Math" panose="02040503050406030204" pitchFamily="18" charset="0"/>
                        </a:rPr>
                        <m:t>−1.7+</m:t>
                      </m:r>
                      <m:func>
                        <m:funcPr>
                          <m:ctrlPr>
                            <a:rPr kumimoji="1" lang="en-US" altLang="zh-TW" sz="1600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kumimoji="1" lang="en-US" altLang="zh-TW" sz="1600" b="0" i="0" smtClean="0">
                              <a:latin typeface="Cambria Math" panose="02040503050406030204" pitchFamily="18" charset="0"/>
                            </a:rPr>
                            <m:t>log</m:t>
                          </m:r>
                        </m:fName>
                        <m:e>
                          <m:r>
                            <a:rPr kumimoji="1" lang="en-US" altLang="zh-TW" sz="1600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  <m:d>
                            <m:dPr>
                              <m:endChr m:val="|"/>
                              <m:ctrlPr>
                                <a:rPr kumimoji="1" lang="en-US" altLang="zh-TW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kumimoji="1" lang="en-US" altLang="zh-TW" sz="1600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m:rPr>
                                  <m:nor/>
                                </m:rPr>
                                <a:rPr kumimoji="1" lang="en-US" altLang="zh-TW" sz="1600" b="0" i="0" smtClean="0">
                                  <a:latin typeface="Cambria Math" panose="02040503050406030204" pitchFamily="18" charset="0"/>
                                </a:rPr>
                                <m:t>books</m:t>
                              </m:r>
                              <m:r>
                                <a:rPr kumimoji="1" lang="en-US" altLang="zh-TW" sz="1600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e>
                          </m:d>
                          <m:r>
                            <a:rPr kumimoji="1" lang="en-US" altLang="zh-TW" sz="16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nor/>
                            </m:rPr>
                            <a:rPr kumimoji="1" lang="en-US" altLang="zh-TW" sz="1600" b="0" i="0" smtClean="0">
                              <a:latin typeface="Cambria Math" panose="02040503050406030204" pitchFamily="18" charset="0"/>
                            </a:rPr>
                            <m:t>Start</m:t>
                          </m:r>
                          <m:r>
                            <m:rPr>
                              <m:nor/>
                            </m:rPr>
                            <a:rPr kumimoji="1" lang="en-US" altLang="zh-TW" sz="1600" b="0" i="0" smtClean="0"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m:rPr>
                              <m:nor/>
                            </m:rPr>
                            <a:rPr kumimoji="1" lang="en-US" altLang="zh-TW" sz="1600" b="0" i="0" smtClean="0">
                              <a:latin typeface="Cambria Math" panose="02040503050406030204" pitchFamily="18" charset="0"/>
                            </a:rPr>
                            <m:t>I</m:t>
                          </m:r>
                          <m:r>
                            <m:rPr>
                              <m:nor/>
                            </m:rPr>
                            <a:rPr kumimoji="1" lang="en-US" altLang="zh-TW" sz="1600" b="0" i="0" smtClean="0"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m:rPr>
                              <m:nor/>
                            </m:rPr>
                            <a:rPr kumimoji="1" lang="en-US" altLang="zh-TW" sz="1600">
                              <a:latin typeface="Cambria Math" panose="02040503050406030204" pitchFamily="18" charset="0"/>
                            </a:rPr>
                            <m:t>like</m:t>
                          </m:r>
                          <m:r>
                            <a:rPr kumimoji="1" lang="en-US" altLang="zh-TW" sz="1600" b="0" i="1" smtClean="0">
                              <a:latin typeface="Cambria Math" panose="02040503050406030204" pitchFamily="18" charset="0"/>
                            </a:rPr>
                            <m:t>)=</m:t>
                          </m:r>
                        </m:e>
                      </m:func>
                      <m:r>
                        <a:rPr kumimoji="1" lang="en-US" altLang="zh-TW" sz="1600" b="0" i="1" smtClean="0">
                          <a:latin typeface="Cambria Math" panose="02040503050406030204" pitchFamily="18" charset="0"/>
                        </a:rPr>
                        <m:t>−2.</m:t>
                      </m:r>
                      <m:r>
                        <a:rPr kumimoji="1" lang="en-US" altLang="zh-TW" sz="1600" b="0" i="0" smtClean="0">
                          <a:latin typeface="Cambria Math" panose="02040503050406030204" pitchFamily="18" charset="0"/>
                        </a:rPr>
                        <m:t>5</m:t>
                      </m:r>
                    </m:oMath>
                  </m:oMathPara>
                </a14:m>
                <a:endParaRPr kumimoji="1" lang="zh-TW" altLang="en-US" sz="1600" dirty="0"/>
              </a:p>
            </p:txBody>
          </p:sp>
        </mc:Choice>
        <mc:Fallback xmlns="">
          <p:sp>
            <p:nvSpPr>
              <p:cNvPr id="38" name="文字方塊 37">
                <a:extLst>
                  <a:ext uri="{FF2B5EF4-FFF2-40B4-BE49-F238E27FC236}">
                    <a16:creationId xmlns:a16="http://schemas.microsoft.com/office/drawing/2014/main" id="{75DED9B6-F0F3-1533-17C3-AE4E8F2376D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34105" y="3046511"/>
                <a:ext cx="3895315" cy="338554"/>
              </a:xfrm>
              <a:prstGeom prst="rect">
                <a:avLst/>
              </a:prstGeom>
              <a:blipFill>
                <a:blip r:embed="rId10"/>
                <a:stretch>
                  <a:fillRect b="-14815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9" name="圓角矩形 38">
            <a:extLst>
              <a:ext uri="{FF2B5EF4-FFF2-40B4-BE49-F238E27FC236}">
                <a16:creationId xmlns:a16="http://schemas.microsoft.com/office/drawing/2014/main" id="{8D37F53C-38B0-72B7-761E-CCE30BD3F6A2}"/>
              </a:ext>
            </a:extLst>
          </p:cNvPr>
          <p:cNvSpPr/>
          <p:nvPr/>
        </p:nvSpPr>
        <p:spPr>
          <a:xfrm>
            <a:off x="5444007" y="4253284"/>
            <a:ext cx="732055" cy="514110"/>
          </a:xfrm>
          <a:prstGeom prst="roundRect">
            <a:avLst/>
          </a:prstGeom>
          <a:solidFill>
            <a:srgbClr val="C5E0B4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en-US" altLang="zh-TW" sz="1600" dirty="0">
                <a:solidFill>
                  <a:schemeClr val="tx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to</a:t>
            </a:r>
            <a:endParaRPr kumimoji="1" lang="zh-TW" altLang="en-US" sz="1600" dirty="0">
              <a:solidFill>
                <a:schemeClr val="tx1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40" name="圓角矩形 39">
            <a:extLst>
              <a:ext uri="{FF2B5EF4-FFF2-40B4-BE49-F238E27FC236}">
                <a16:creationId xmlns:a16="http://schemas.microsoft.com/office/drawing/2014/main" id="{A3DAE183-4DB4-FB98-30FA-C42FE80C7E5C}"/>
              </a:ext>
            </a:extLst>
          </p:cNvPr>
          <p:cNvSpPr/>
          <p:nvPr/>
        </p:nvSpPr>
        <p:spPr>
          <a:xfrm>
            <a:off x="5444007" y="5049278"/>
            <a:ext cx="732056" cy="514110"/>
          </a:xfrm>
          <a:prstGeom prst="roundRect">
            <a:avLst/>
          </a:prstGeom>
          <a:solidFill>
            <a:srgbClr val="C5E0B4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en-US" altLang="zh-TW" sz="1600" dirty="0">
                <a:solidFill>
                  <a:schemeClr val="tx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tea</a:t>
            </a:r>
            <a:endParaRPr kumimoji="1" lang="zh-TW" altLang="en-US" sz="1600" dirty="0">
              <a:solidFill>
                <a:schemeClr val="tx1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cxnSp>
        <p:nvCxnSpPr>
          <p:cNvPr id="41" name="直線箭頭接點 40">
            <a:extLst>
              <a:ext uri="{FF2B5EF4-FFF2-40B4-BE49-F238E27FC236}">
                <a16:creationId xmlns:a16="http://schemas.microsoft.com/office/drawing/2014/main" id="{02DB8DA1-DF6A-7639-0750-34AB62672E0C}"/>
              </a:ext>
            </a:extLst>
          </p:cNvPr>
          <p:cNvCxnSpPr>
            <a:cxnSpLocks/>
          </p:cNvCxnSpPr>
          <p:nvPr/>
        </p:nvCxnSpPr>
        <p:spPr>
          <a:xfrm flipV="1">
            <a:off x="4664342" y="4510339"/>
            <a:ext cx="686098" cy="35668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直線箭頭接點 41">
            <a:extLst>
              <a:ext uri="{FF2B5EF4-FFF2-40B4-BE49-F238E27FC236}">
                <a16:creationId xmlns:a16="http://schemas.microsoft.com/office/drawing/2014/main" id="{C5EC476E-EC31-2D86-E6B2-EBF1955BF1E5}"/>
              </a:ext>
            </a:extLst>
          </p:cNvPr>
          <p:cNvCxnSpPr>
            <a:cxnSpLocks/>
          </p:cNvCxnSpPr>
          <p:nvPr/>
        </p:nvCxnSpPr>
        <p:spPr>
          <a:xfrm>
            <a:off x="4682115" y="4977244"/>
            <a:ext cx="686098" cy="35668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3" name="文字方塊 42">
                <a:extLst>
                  <a:ext uri="{FF2B5EF4-FFF2-40B4-BE49-F238E27FC236}">
                    <a16:creationId xmlns:a16="http://schemas.microsoft.com/office/drawing/2014/main" id="{9322DFDD-EFF0-7244-F30C-F19809A79EB8}"/>
                  </a:ext>
                </a:extLst>
              </p:cNvPr>
              <p:cNvSpPr txBox="1"/>
              <p:nvPr/>
            </p:nvSpPr>
            <p:spPr>
              <a:xfrm>
                <a:off x="6251854" y="4350125"/>
                <a:ext cx="3895315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TW" sz="1600" b="0" i="1" smtClean="0">
                          <a:latin typeface="Cambria Math" panose="02040503050406030204" pitchFamily="18" charset="0"/>
                        </a:rPr>
                        <m:t>−1.6+</m:t>
                      </m:r>
                      <m:func>
                        <m:funcPr>
                          <m:ctrlPr>
                            <a:rPr kumimoji="1" lang="en-US" altLang="zh-TW" sz="1600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kumimoji="1" lang="en-US" altLang="zh-TW" sz="1600" b="0" i="0" smtClean="0">
                              <a:latin typeface="Cambria Math" panose="02040503050406030204" pitchFamily="18" charset="0"/>
                            </a:rPr>
                            <m:t>log</m:t>
                          </m:r>
                        </m:fName>
                        <m:e>
                          <m:r>
                            <a:rPr kumimoji="1" lang="en-US" altLang="zh-TW" sz="1600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  <m:d>
                            <m:dPr>
                              <m:endChr m:val="|"/>
                              <m:ctrlPr>
                                <a:rPr kumimoji="1" lang="en-US" altLang="zh-TW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kumimoji="1" lang="en-US" altLang="zh-TW" sz="1600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m:rPr>
                                  <m:nor/>
                                </m:rPr>
                                <a:rPr kumimoji="1" lang="en-US" altLang="zh-TW" sz="1600" b="0" i="0" smtClean="0">
                                  <a:latin typeface="Cambria Math" panose="02040503050406030204" pitchFamily="18" charset="0"/>
                                </a:rPr>
                                <m:t>to</m:t>
                              </m:r>
                              <m:r>
                                <a:rPr kumimoji="1" lang="en-US" altLang="zh-TW" sz="1600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e>
                          </m:d>
                          <m:r>
                            <a:rPr kumimoji="1" lang="en-US" altLang="zh-TW" sz="16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nor/>
                            </m:rPr>
                            <a:rPr kumimoji="1" lang="en-US" altLang="zh-TW" sz="1600" b="0" i="0" smtClean="0">
                              <a:latin typeface="Cambria Math" panose="02040503050406030204" pitchFamily="18" charset="0"/>
                            </a:rPr>
                            <m:t>Start</m:t>
                          </m:r>
                          <m:r>
                            <m:rPr>
                              <m:nor/>
                            </m:rPr>
                            <a:rPr kumimoji="1" lang="en-US" altLang="zh-TW" sz="1600" b="0" i="0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m:rPr>
                              <m:nor/>
                            </m:rPr>
                            <a:rPr kumimoji="1" lang="en-US" altLang="zh-TW" sz="1600">
                              <a:latin typeface="Cambria Math" panose="02040503050406030204" pitchFamily="18" charset="0"/>
                            </a:rPr>
                            <m:t>You</m:t>
                          </m:r>
                          <m:r>
                            <m:rPr>
                              <m:nor/>
                            </m:rPr>
                            <a:rPr kumimoji="1" lang="en-US" altLang="zh-TW" sz="1600"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m:rPr>
                              <m:nor/>
                            </m:rPr>
                            <a:rPr kumimoji="1" lang="en-US" altLang="zh-TW" sz="1600">
                              <a:latin typeface="Cambria Math" panose="02040503050406030204" pitchFamily="18" charset="0"/>
                            </a:rPr>
                            <m:t>want</m:t>
                          </m:r>
                          <m:r>
                            <a:rPr kumimoji="1" lang="en-US" altLang="zh-TW" sz="1600" b="0" i="1" smtClean="0">
                              <a:latin typeface="Cambria Math" panose="02040503050406030204" pitchFamily="18" charset="0"/>
                            </a:rPr>
                            <m:t>)=</m:t>
                          </m:r>
                        </m:e>
                      </m:func>
                      <m:r>
                        <a:rPr kumimoji="1" lang="en-US" altLang="zh-TW" sz="1600" b="0" i="1" smtClean="0">
                          <a:latin typeface="Cambria Math" panose="02040503050406030204" pitchFamily="18" charset="0"/>
                        </a:rPr>
                        <m:t>−2.9</m:t>
                      </m:r>
                    </m:oMath>
                  </m:oMathPara>
                </a14:m>
                <a:endParaRPr kumimoji="1" lang="zh-TW" altLang="en-US" sz="1600" dirty="0"/>
              </a:p>
            </p:txBody>
          </p:sp>
        </mc:Choice>
        <mc:Fallback xmlns="">
          <p:sp>
            <p:nvSpPr>
              <p:cNvPr id="43" name="文字方塊 42">
                <a:extLst>
                  <a:ext uri="{FF2B5EF4-FFF2-40B4-BE49-F238E27FC236}">
                    <a16:creationId xmlns:a16="http://schemas.microsoft.com/office/drawing/2014/main" id="{9322DFDD-EFF0-7244-F30C-F19809A79EB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51854" y="4350125"/>
                <a:ext cx="3895315" cy="338554"/>
              </a:xfrm>
              <a:prstGeom prst="rect">
                <a:avLst/>
              </a:prstGeom>
              <a:blipFill>
                <a:blip r:embed="rId11"/>
                <a:stretch>
                  <a:fillRect b="-10714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4" name="文字方塊 43">
                <a:extLst>
                  <a:ext uri="{FF2B5EF4-FFF2-40B4-BE49-F238E27FC236}">
                    <a16:creationId xmlns:a16="http://schemas.microsoft.com/office/drawing/2014/main" id="{08361A65-0546-D0FE-B2EE-A1BC12C81851}"/>
                  </a:ext>
                </a:extLst>
              </p:cNvPr>
              <p:cNvSpPr txBox="1"/>
              <p:nvPr/>
            </p:nvSpPr>
            <p:spPr>
              <a:xfrm>
                <a:off x="6251855" y="5155129"/>
                <a:ext cx="3992976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TW" sz="1600" b="0" i="1" smtClean="0">
                          <a:latin typeface="Cambria Math" panose="02040503050406030204" pitchFamily="18" charset="0"/>
                        </a:rPr>
                        <m:t>−1.7+</m:t>
                      </m:r>
                      <m:func>
                        <m:funcPr>
                          <m:ctrlPr>
                            <a:rPr kumimoji="1" lang="en-US" altLang="zh-TW" sz="1600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kumimoji="1" lang="en-US" altLang="zh-TW" sz="1600" b="0" i="0" smtClean="0">
                              <a:latin typeface="Cambria Math" panose="02040503050406030204" pitchFamily="18" charset="0"/>
                            </a:rPr>
                            <m:t>log</m:t>
                          </m:r>
                        </m:fName>
                        <m:e>
                          <m:r>
                            <a:rPr kumimoji="1" lang="en-US" altLang="zh-TW" sz="1600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  <m:d>
                            <m:dPr>
                              <m:endChr m:val="|"/>
                              <m:ctrlPr>
                                <a:rPr kumimoji="1" lang="en-US" altLang="zh-TW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kumimoji="1" lang="en-US" altLang="zh-TW" sz="1600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m:rPr>
                                  <m:nor/>
                                </m:rPr>
                                <a:rPr kumimoji="1" lang="en-US" altLang="zh-TW" sz="1600" b="0" i="0" smtClean="0">
                                  <a:latin typeface="Cambria Math" panose="02040503050406030204" pitchFamily="18" charset="0"/>
                                </a:rPr>
                                <m:t>tea</m:t>
                              </m:r>
                              <m:r>
                                <a:rPr kumimoji="1" lang="en-US" altLang="zh-TW" sz="1600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e>
                          </m:d>
                          <m:r>
                            <a:rPr kumimoji="1" lang="en-US" altLang="zh-TW" sz="16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nor/>
                            </m:rPr>
                            <a:rPr kumimoji="1" lang="en-US" altLang="zh-TW" sz="1600" b="0" i="0" smtClean="0">
                              <a:latin typeface="Cambria Math" panose="02040503050406030204" pitchFamily="18" charset="0"/>
                            </a:rPr>
                            <m:t>Start</m:t>
                          </m:r>
                          <m:r>
                            <m:rPr>
                              <m:nor/>
                            </m:rPr>
                            <a:rPr kumimoji="1" lang="en-US" altLang="zh-TW" sz="1600" b="0" i="0" smtClean="0"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m:rPr>
                              <m:nor/>
                            </m:rPr>
                            <a:rPr kumimoji="1" lang="en-US" altLang="zh-TW" sz="1600" b="0" i="0" smtClean="0">
                              <a:latin typeface="Cambria Math" panose="02040503050406030204" pitchFamily="18" charset="0"/>
                            </a:rPr>
                            <m:t>You</m:t>
                          </m:r>
                          <m:r>
                            <m:rPr>
                              <m:nor/>
                            </m:rPr>
                            <a:rPr kumimoji="1" lang="en-US" altLang="zh-TW" sz="1600" b="0" i="0" smtClean="0"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m:rPr>
                              <m:nor/>
                            </m:rPr>
                            <a:rPr kumimoji="1" lang="en-US" altLang="zh-TW" sz="1600" b="0" i="0" smtClean="0">
                              <a:latin typeface="Cambria Math" panose="02040503050406030204" pitchFamily="18" charset="0"/>
                            </a:rPr>
                            <m:t>want</m:t>
                          </m:r>
                          <m:r>
                            <a:rPr kumimoji="1" lang="en-US" altLang="zh-TW" sz="1600" b="0" i="1" smtClean="0">
                              <a:latin typeface="Cambria Math" panose="02040503050406030204" pitchFamily="18" charset="0"/>
                            </a:rPr>
                            <m:t>)=</m:t>
                          </m:r>
                        </m:e>
                      </m:func>
                      <m:r>
                        <a:rPr kumimoji="1" lang="en-US" altLang="zh-TW" sz="1600" b="0" i="1" smtClean="0">
                          <a:latin typeface="Cambria Math" panose="02040503050406030204" pitchFamily="18" charset="0"/>
                        </a:rPr>
                        <m:t>−3.8</m:t>
                      </m:r>
                    </m:oMath>
                  </m:oMathPara>
                </a14:m>
                <a:endParaRPr kumimoji="1" lang="zh-TW" altLang="en-US" sz="1600" dirty="0"/>
              </a:p>
            </p:txBody>
          </p:sp>
        </mc:Choice>
        <mc:Fallback xmlns="">
          <p:sp>
            <p:nvSpPr>
              <p:cNvPr id="44" name="文字方塊 43">
                <a:extLst>
                  <a:ext uri="{FF2B5EF4-FFF2-40B4-BE49-F238E27FC236}">
                    <a16:creationId xmlns:a16="http://schemas.microsoft.com/office/drawing/2014/main" id="{08361A65-0546-D0FE-B2EE-A1BC12C8185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51855" y="5155129"/>
                <a:ext cx="3992976" cy="338554"/>
              </a:xfrm>
              <a:prstGeom prst="rect">
                <a:avLst/>
              </a:prstGeom>
              <a:blipFill>
                <a:blip r:embed="rId12"/>
                <a:stretch>
                  <a:fillRect b="-14815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文字方塊 1">
            <a:extLst>
              <a:ext uri="{FF2B5EF4-FFF2-40B4-BE49-F238E27FC236}">
                <a16:creationId xmlns:a16="http://schemas.microsoft.com/office/drawing/2014/main" id="{9E1335C0-5E66-386A-B6E2-CE8C113BD861}"/>
              </a:ext>
            </a:extLst>
          </p:cNvPr>
          <p:cNvSpPr txBox="1"/>
          <p:nvPr/>
        </p:nvSpPr>
        <p:spPr>
          <a:xfrm>
            <a:off x="9613039" y="688130"/>
            <a:ext cx="1884594" cy="369332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dirty="0"/>
              <a:t>`Beam size` = 2</a:t>
            </a:r>
            <a:endParaRPr kumimoji="1" lang="zh-TW" alt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0" name="標題 1">
                <a:extLst>
                  <a:ext uri="{FF2B5EF4-FFF2-40B4-BE49-F238E27FC236}">
                    <a16:creationId xmlns:a16="http://schemas.microsoft.com/office/drawing/2014/main" id="{C09FC3F4-83F3-F87E-465C-FB9654880163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644672" y="356088"/>
                <a:ext cx="10511008" cy="1033416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rmAutofit/>
              </a:bodyPr>
              <a:lstStyle>
                <a:lvl1pPr marL="0" algn="l" defTabSz="914400" rtl="0" eaLnBrk="1" latinLnBrk="0" hangingPunct="1">
                  <a:lnSpc>
                    <a:spcPct val="85000"/>
                  </a:lnSpc>
                  <a:spcBef>
                    <a:spcPct val="0"/>
                  </a:spcBef>
                  <a:buNone/>
                  <a:defRPr sz="4800" kern="1200" spc="-5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r>
                  <a:rPr kumimoji="1" lang="en-US" altLang="zh-TW" dirty="0"/>
                  <a:t>Beam Search</a:t>
                </a:r>
                <a:r>
                  <a:rPr kumimoji="1" lang="zh-TW" altLang="en-US" dirty="0"/>
                  <a:t> </a:t>
                </a:r>
                <a:r>
                  <a:rPr kumimoji="1" lang="en-US" altLang="zh-TW" dirty="0"/>
                  <a:t>(</a:t>
                </a:r>
                <a14:m>
                  <m:oMath xmlns:m="http://schemas.openxmlformats.org/officeDocument/2006/math">
                    <m:r>
                      <a:rPr kumimoji="1" lang="en-US" altLang="zh-TW" b="0" i="1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kumimoji="1" lang="en-US" altLang="zh-TW" b="0" i="1" smtClean="0">
                        <a:latin typeface="Cambria Math" panose="02040503050406030204" pitchFamily="18" charset="0"/>
                      </a:rPr>
                      <m:t>=3</m:t>
                    </m:r>
                  </m:oMath>
                </a14:m>
                <a:r>
                  <a:rPr kumimoji="1" lang="en-US" altLang="zh-TW" dirty="0"/>
                  <a:t>)</a:t>
                </a:r>
                <a:endParaRPr lang="zh-TW" altLang="en-US" dirty="0">
                  <a:latin typeface="Times New Roman"/>
                  <a:ea typeface="新細明體"/>
                  <a:cs typeface="Calibri Light"/>
                </a:endParaRPr>
              </a:p>
            </p:txBody>
          </p:sp>
        </mc:Choice>
        <mc:Fallback>
          <p:sp>
            <p:nvSpPr>
              <p:cNvPr id="20" name="標題 1">
                <a:extLst>
                  <a:ext uri="{FF2B5EF4-FFF2-40B4-BE49-F238E27FC236}">
                    <a16:creationId xmlns:a16="http://schemas.microsoft.com/office/drawing/2014/main" id="{C09FC3F4-83F3-F87E-465C-FB965488016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4672" y="356088"/>
                <a:ext cx="10511008" cy="1033416"/>
              </a:xfrm>
              <a:prstGeom prst="rect">
                <a:avLst/>
              </a:prstGeom>
              <a:blipFill>
                <a:blip r:embed="rId13"/>
                <a:stretch>
                  <a:fillRect l="-2654" t="-8434" b="-15663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22490910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80B6B308-E528-1567-412F-2BF52CB92E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dirty="0"/>
              <a:t>29</a:t>
            </a:fld>
            <a:endParaRPr lang="zh-TW" altLang="en-US"/>
          </a:p>
        </p:txBody>
      </p:sp>
      <p:sp>
        <p:nvSpPr>
          <p:cNvPr id="6" name="圓角矩形 5">
            <a:extLst>
              <a:ext uri="{FF2B5EF4-FFF2-40B4-BE49-F238E27FC236}">
                <a16:creationId xmlns:a16="http://schemas.microsoft.com/office/drawing/2014/main" id="{F07E41BB-9C95-5AB2-BA09-AE6796CBB446}"/>
              </a:ext>
            </a:extLst>
          </p:cNvPr>
          <p:cNvSpPr/>
          <p:nvPr/>
        </p:nvSpPr>
        <p:spPr>
          <a:xfrm>
            <a:off x="1234362" y="3920344"/>
            <a:ext cx="613700" cy="514110"/>
          </a:xfrm>
          <a:prstGeom prst="roundRect">
            <a:avLst/>
          </a:prstGeom>
          <a:solidFill>
            <a:srgbClr val="C5E0B4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en-US" altLang="zh-TW" sz="2400" dirty="0">
                <a:solidFill>
                  <a:schemeClr val="tx1"/>
                </a:solidFill>
              </a:rPr>
              <a:t>_</a:t>
            </a:r>
            <a:endParaRPr kumimoji="1" lang="zh-TW" altLang="en-US" sz="2400" dirty="0">
              <a:solidFill>
                <a:schemeClr val="tx1"/>
              </a:solidFill>
            </a:endParaRPr>
          </a:p>
        </p:txBody>
      </p:sp>
      <p:sp>
        <p:nvSpPr>
          <p:cNvPr id="7" name="文字方塊 67">
            <a:extLst>
              <a:ext uri="{FF2B5EF4-FFF2-40B4-BE49-F238E27FC236}">
                <a16:creationId xmlns:a16="http://schemas.microsoft.com/office/drawing/2014/main" id="{B381507F-DC44-2012-7728-330509B5ABA9}"/>
              </a:ext>
            </a:extLst>
          </p:cNvPr>
          <p:cNvSpPr txBox="1"/>
          <p:nvPr/>
        </p:nvSpPr>
        <p:spPr>
          <a:xfrm>
            <a:off x="1158218" y="4472662"/>
            <a:ext cx="77862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en-US" altLang="zh-TW" sz="1600" dirty="0"/>
              <a:t>(Start)</a:t>
            </a:r>
            <a:endParaRPr kumimoji="1" lang="zh-TW" altLang="en-US" sz="1600" dirty="0"/>
          </a:p>
        </p:txBody>
      </p:sp>
      <p:sp>
        <p:nvSpPr>
          <p:cNvPr id="10" name="圓角矩形 9">
            <a:extLst>
              <a:ext uri="{FF2B5EF4-FFF2-40B4-BE49-F238E27FC236}">
                <a16:creationId xmlns:a16="http://schemas.microsoft.com/office/drawing/2014/main" id="{875E7289-05C1-D185-CD20-7A8387DC3548}"/>
              </a:ext>
            </a:extLst>
          </p:cNvPr>
          <p:cNvSpPr/>
          <p:nvPr/>
        </p:nvSpPr>
        <p:spPr>
          <a:xfrm>
            <a:off x="2397436" y="2958733"/>
            <a:ext cx="613700" cy="514110"/>
          </a:xfrm>
          <a:prstGeom prst="roundRect">
            <a:avLst/>
          </a:prstGeom>
          <a:solidFill>
            <a:srgbClr val="C5E0B4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en-US" altLang="zh-TW" sz="1600" dirty="0">
                <a:solidFill>
                  <a:schemeClr val="tx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I</a:t>
            </a:r>
            <a:endParaRPr kumimoji="1" lang="zh-TW" altLang="en-US" sz="1600" dirty="0">
              <a:solidFill>
                <a:schemeClr val="tx1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12" name="圓角矩形 11">
            <a:extLst>
              <a:ext uri="{FF2B5EF4-FFF2-40B4-BE49-F238E27FC236}">
                <a16:creationId xmlns:a16="http://schemas.microsoft.com/office/drawing/2014/main" id="{3C729BBC-BACD-B4BC-5CFD-E43E279BC56D}"/>
              </a:ext>
            </a:extLst>
          </p:cNvPr>
          <p:cNvSpPr/>
          <p:nvPr/>
        </p:nvSpPr>
        <p:spPr>
          <a:xfrm>
            <a:off x="2397436" y="5004890"/>
            <a:ext cx="613700" cy="514110"/>
          </a:xfrm>
          <a:prstGeom prst="roundRect">
            <a:avLst/>
          </a:prstGeom>
          <a:solidFill>
            <a:srgbClr val="C5E0B4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en-US" altLang="zh-TW" sz="1600" dirty="0">
                <a:solidFill>
                  <a:schemeClr val="tx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You</a:t>
            </a:r>
            <a:endParaRPr kumimoji="1" lang="zh-TW" altLang="en-US" sz="1600" dirty="0">
              <a:solidFill>
                <a:schemeClr val="tx1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cxnSp>
        <p:nvCxnSpPr>
          <p:cNvPr id="14" name="直線箭頭接點 13">
            <a:extLst>
              <a:ext uri="{FF2B5EF4-FFF2-40B4-BE49-F238E27FC236}">
                <a16:creationId xmlns:a16="http://schemas.microsoft.com/office/drawing/2014/main" id="{25A5463B-ADA9-FE38-04CD-5FE88700466F}"/>
              </a:ext>
            </a:extLst>
          </p:cNvPr>
          <p:cNvCxnSpPr>
            <a:cxnSpLocks/>
          </p:cNvCxnSpPr>
          <p:nvPr/>
        </p:nvCxnSpPr>
        <p:spPr>
          <a:xfrm flipV="1">
            <a:off x="1871612" y="3159314"/>
            <a:ext cx="467804" cy="951566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線箭頭接點 18">
            <a:extLst>
              <a:ext uri="{FF2B5EF4-FFF2-40B4-BE49-F238E27FC236}">
                <a16:creationId xmlns:a16="http://schemas.microsoft.com/office/drawing/2014/main" id="{9D3CFDC7-E5AB-77B0-FA1A-9D836D4225EE}"/>
              </a:ext>
            </a:extLst>
          </p:cNvPr>
          <p:cNvCxnSpPr>
            <a:cxnSpLocks/>
          </p:cNvCxnSpPr>
          <p:nvPr/>
        </p:nvCxnSpPr>
        <p:spPr>
          <a:xfrm rot="10800000" flipH="1" flipV="1">
            <a:off x="1871612" y="4221432"/>
            <a:ext cx="467804" cy="951566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文字方塊 21">
                <a:extLst>
                  <a:ext uri="{FF2B5EF4-FFF2-40B4-BE49-F238E27FC236}">
                    <a16:creationId xmlns:a16="http://schemas.microsoft.com/office/drawing/2014/main" id="{AE2DCFBE-6018-9076-F2D2-1DB61E6327C0}"/>
                  </a:ext>
                </a:extLst>
              </p:cNvPr>
              <p:cNvSpPr txBox="1"/>
              <p:nvPr/>
            </p:nvSpPr>
            <p:spPr>
              <a:xfrm>
                <a:off x="2397435" y="2625303"/>
                <a:ext cx="613701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TW" sz="1600" b="0" i="1" smtClean="0">
                          <a:latin typeface="Cambria Math" panose="02040503050406030204" pitchFamily="18" charset="0"/>
                        </a:rPr>
                        <m:t>−0.7</m:t>
                      </m:r>
                    </m:oMath>
                  </m:oMathPara>
                </a14:m>
                <a:endParaRPr kumimoji="1" lang="zh-TW" altLang="en-US" sz="1600" dirty="0"/>
              </a:p>
            </p:txBody>
          </p:sp>
        </mc:Choice>
        <mc:Fallback xmlns="">
          <p:sp>
            <p:nvSpPr>
              <p:cNvPr id="22" name="文字方塊 21">
                <a:extLst>
                  <a:ext uri="{FF2B5EF4-FFF2-40B4-BE49-F238E27FC236}">
                    <a16:creationId xmlns:a16="http://schemas.microsoft.com/office/drawing/2014/main" id="{AE2DCFBE-6018-9076-F2D2-1DB61E6327C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97435" y="2625303"/>
                <a:ext cx="613701" cy="338554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文字方塊 22">
                <a:extLst>
                  <a:ext uri="{FF2B5EF4-FFF2-40B4-BE49-F238E27FC236}">
                    <a16:creationId xmlns:a16="http://schemas.microsoft.com/office/drawing/2014/main" id="{FD3DD690-0104-A97A-2C3F-7DF0AC27AFA7}"/>
                  </a:ext>
                </a:extLst>
              </p:cNvPr>
              <p:cNvSpPr txBox="1"/>
              <p:nvPr/>
            </p:nvSpPr>
            <p:spPr>
              <a:xfrm>
                <a:off x="2397435" y="5574359"/>
                <a:ext cx="598355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TW" sz="1600" b="0" i="1" smtClean="0">
                          <a:latin typeface="Cambria Math" panose="02040503050406030204" pitchFamily="18" charset="0"/>
                        </a:rPr>
                        <m:t>−0.9</m:t>
                      </m:r>
                    </m:oMath>
                  </m:oMathPara>
                </a14:m>
                <a:endParaRPr kumimoji="1" lang="zh-TW" altLang="en-US" sz="1600" dirty="0"/>
              </a:p>
            </p:txBody>
          </p:sp>
        </mc:Choice>
        <mc:Fallback xmlns="">
          <p:sp>
            <p:nvSpPr>
              <p:cNvPr id="23" name="文字方塊 22">
                <a:extLst>
                  <a:ext uri="{FF2B5EF4-FFF2-40B4-BE49-F238E27FC236}">
                    <a16:creationId xmlns:a16="http://schemas.microsoft.com/office/drawing/2014/main" id="{FD3DD690-0104-A97A-2C3F-7DF0AC27AFA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97435" y="5574359"/>
                <a:ext cx="598355" cy="338554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圓角矩形 2">
            <a:extLst>
              <a:ext uri="{FF2B5EF4-FFF2-40B4-BE49-F238E27FC236}">
                <a16:creationId xmlns:a16="http://schemas.microsoft.com/office/drawing/2014/main" id="{8F43250E-61CA-2FCD-5713-EEE3A86898A2}"/>
              </a:ext>
            </a:extLst>
          </p:cNvPr>
          <p:cNvSpPr/>
          <p:nvPr/>
        </p:nvSpPr>
        <p:spPr>
          <a:xfrm>
            <a:off x="3848821" y="2545579"/>
            <a:ext cx="732055" cy="514110"/>
          </a:xfrm>
          <a:prstGeom prst="roundRect">
            <a:avLst/>
          </a:prstGeom>
          <a:solidFill>
            <a:srgbClr val="C5E0B4"/>
          </a:solidFill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en-US" altLang="zh-TW" sz="1600" dirty="0">
                <a:solidFill>
                  <a:srgbClr val="FF0000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like</a:t>
            </a:r>
            <a:endParaRPr kumimoji="1" lang="zh-TW" altLang="en-US" sz="1600" dirty="0">
              <a:solidFill>
                <a:srgbClr val="FF0000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4" name="圓角矩形 3">
            <a:extLst>
              <a:ext uri="{FF2B5EF4-FFF2-40B4-BE49-F238E27FC236}">
                <a16:creationId xmlns:a16="http://schemas.microsoft.com/office/drawing/2014/main" id="{AFA1AEDB-F347-04F8-CEE1-E1D35D5B3651}"/>
              </a:ext>
            </a:extLst>
          </p:cNvPr>
          <p:cNvSpPr/>
          <p:nvPr/>
        </p:nvSpPr>
        <p:spPr>
          <a:xfrm>
            <a:off x="3848821" y="3341573"/>
            <a:ext cx="732056" cy="514110"/>
          </a:xfrm>
          <a:prstGeom prst="roundRect">
            <a:avLst/>
          </a:prstGeom>
          <a:solidFill>
            <a:srgbClr val="C5E0B4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en-US" altLang="zh-TW" sz="1600" dirty="0">
                <a:solidFill>
                  <a:schemeClr val="tx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want</a:t>
            </a:r>
            <a:endParaRPr kumimoji="1" lang="zh-TW" altLang="en-US" sz="1600" dirty="0">
              <a:solidFill>
                <a:schemeClr val="tx1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8" name="圓角矩形 7">
            <a:extLst>
              <a:ext uri="{FF2B5EF4-FFF2-40B4-BE49-F238E27FC236}">
                <a16:creationId xmlns:a16="http://schemas.microsoft.com/office/drawing/2014/main" id="{BFA3A0A1-CC3C-EC77-CEC9-146B482EBACE}"/>
              </a:ext>
            </a:extLst>
          </p:cNvPr>
          <p:cNvSpPr/>
          <p:nvPr/>
        </p:nvSpPr>
        <p:spPr>
          <a:xfrm>
            <a:off x="3848820" y="4658888"/>
            <a:ext cx="732056" cy="514110"/>
          </a:xfrm>
          <a:prstGeom prst="roundRect">
            <a:avLst/>
          </a:prstGeom>
          <a:solidFill>
            <a:srgbClr val="C5E0B4"/>
          </a:solidFill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en-US" altLang="zh-TW" sz="1600" dirty="0">
                <a:solidFill>
                  <a:srgbClr val="FF0000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want</a:t>
            </a:r>
            <a:endParaRPr kumimoji="1" lang="zh-TW" altLang="en-US" sz="1600" dirty="0">
              <a:solidFill>
                <a:srgbClr val="FF0000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13" name="圓角矩形 12">
            <a:extLst>
              <a:ext uri="{FF2B5EF4-FFF2-40B4-BE49-F238E27FC236}">
                <a16:creationId xmlns:a16="http://schemas.microsoft.com/office/drawing/2014/main" id="{820CADDD-FB1E-6DA6-D861-460F1DAB89D2}"/>
              </a:ext>
            </a:extLst>
          </p:cNvPr>
          <p:cNvSpPr/>
          <p:nvPr/>
        </p:nvSpPr>
        <p:spPr>
          <a:xfrm>
            <a:off x="3848820" y="5403253"/>
            <a:ext cx="732056" cy="514110"/>
          </a:xfrm>
          <a:prstGeom prst="roundRect">
            <a:avLst/>
          </a:prstGeom>
          <a:solidFill>
            <a:srgbClr val="C5E0B4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en-US" altLang="zh-TW" sz="1600" dirty="0">
                <a:solidFill>
                  <a:schemeClr val="tx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are</a:t>
            </a:r>
            <a:endParaRPr kumimoji="1" lang="zh-TW" altLang="en-US" sz="1600" dirty="0">
              <a:solidFill>
                <a:schemeClr val="tx1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cxnSp>
        <p:nvCxnSpPr>
          <p:cNvPr id="15" name="直線箭頭接點 14">
            <a:extLst>
              <a:ext uri="{FF2B5EF4-FFF2-40B4-BE49-F238E27FC236}">
                <a16:creationId xmlns:a16="http://schemas.microsoft.com/office/drawing/2014/main" id="{8665C6F8-C70B-8089-DEF0-F0BF0A302E1F}"/>
              </a:ext>
            </a:extLst>
          </p:cNvPr>
          <p:cNvCxnSpPr>
            <a:cxnSpLocks/>
          </p:cNvCxnSpPr>
          <p:nvPr/>
        </p:nvCxnSpPr>
        <p:spPr>
          <a:xfrm flipV="1">
            <a:off x="3069156" y="2802634"/>
            <a:ext cx="686098" cy="35668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直線箭頭接點 24">
            <a:extLst>
              <a:ext uri="{FF2B5EF4-FFF2-40B4-BE49-F238E27FC236}">
                <a16:creationId xmlns:a16="http://schemas.microsoft.com/office/drawing/2014/main" id="{7E401430-2CB0-6CDC-4D3E-E2664C968009}"/>
              </a:ext>
            </a:extLst>
          </p:cNvPr>
          <p:cNvCxnSpPr>
            <a:cxnSpLocks/>
          </p:cNvCxnSpPr>
          <p:nvPr/>
        </p:nvCxnSpPr>
        <p:spPr>
          <a:xfrm>
            <a:off x="3086929" y="3269539"/>
            <a:ext cx="686098" cy="35668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直線箭頭接點 25">
            <a:extLst>
              <a:ext uri="{FF2B5EF4-FFF2-40B4-BE49-F238E27FC236}">
                <a16:creationId xmlns:a16="http://schemas.microsoft.com/office/drawing/2014/main" id="{5BEAD4A0-45EF-EF79-2FEC-25625B419A1C}"/>
              </a:ext>
            </a:extLst>
          </p:cNvPr>
          <p:cNvCxnSpPr>
            <a:cxnSpLocks/>
          </p:cNvCxnSpPr>
          <p:nvPr/>
        </p:nvCxnSpPr>
        <p:spPr>
          <a:xfrm>
            <a:off x="3079256" y="5304719"/>
            <a:ext cx="686098" cy="35668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直線箭頭接點 26">
            <a:extLst>
              <a:ext uri="{FF2B5EF4-FFF2-40B4-BE49-F238E27FC236}">
                <a16:creationId xmlns:a16="http://schemas.microsoft.com/office/drawing/2014/main" id="{0C436EAB-E031-DBE5-6881-81A4CA5C9777}"/>
              </a:ext>
            </a:extLst>
          </p:cNvPr>
          <p:cNvCxnSpPr>
            <a:cxnSpLocks/>
          </p:cNvCxnSpPr>
          <p:nvPr/>
        </p:nvCxnSpPr>
        <p:spPr>
          <a:xfrm flipV="1">
            <a:off x="3079256" y="4890148"/>
            <a:ext cx="686098" cy="35668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8" name="文字方塊 27">
                <a:extLst>
                  <a:ext uri="{FF2B5EF4-FFF2-40B4-BE49-F238E27FC236}">
                    <a16:creationId xmlns:a16="http://schemas.microsoft.com/office/drawing/2014/main" id="{4B7D302A-69BB-3B4C-110A-358900750293}"/>
                  </a:ext>
                </a:extLst>
              </p:cNvPr>
              <p:cNvSpPr txBox="1"/>
              <p:nvPr/>
            </p:nvSpPr>
            <p:spPr>
              <a:xfrm>
                <a:off x="3863381" y="2211250"/>
                <a:ext cx="613701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TW" sz="1600" b="0" i="1" smtClean="0">
                          <a:latin typeface="Cambria Math" panose="02040503050406030204" pitchFamily="18" charset="0"/>
                        </a:rPr>
                        <m:t>−1.7</m:t>
                      </m:r>
                    </m:oMath>
                  </m:oMathPara>
                </a14:m>
                <a:endParaRPr kumimoji="1" lang="zh-TW" altLang="en-US" sz="1600" dirty="0"/>
              </a:p>
            </p:txBody>
          </p:sp>
        </mc:Choice>
        <mc:Fallback xmlns="">
          <p:sp>
            <p:nvSpPr>
              <p:cNvPr id="28" name="文字方塊 27">
                <a:extLst>
                  <a:ext uri="{FF2B5EF4-FFF2-40B4-BE49-F238E27FC236}">
                    <a16:creationId xmlns:a16="http://schemas.microsoft.com/office/drawing/2014/main" id="{4B7D302A-69BB-3B4C-110A-35890075029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63381" y="2211250"/>
                <a:ext cx="613701" cy="338554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文字方塊 28">
                <a:extLst>
                  <a:ext uri="{FF2B5EF4-FFF2-40B4-BE49-F238E27FC236}">
                    <a16:creationId xmlns:a16="http://schemas.microsoft.com/office/drawing/2014/main" id="{8F9CE310-A15D-4542-74A8-BF14C20D7734}"/>
                  </a:ext>
                </a:extLst>
              </p:cNvPr>
              <p:cNvSpPr txBox="1"/>
              <p:nvPr/>
            </p:nvSpPr>
            <p:spPr>
              <a:xfrm>
                <a:off x="3885019" y="3844284"/>
                <a:ext cx="613700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TW" sz="1600" b="0" i="1" smtClean="0">
                          <a:latin typeface="Cambria Math" panose="02040503050406030204" pitchFamily="18" charset="0"/>
                        </a:rPr>
                        <m:t>−2.9</m:t>
                      </m:r>
                    </m:oMath>
                  </m:oMathPara>
                </a14:m>
                <a:endParaRPr kumimoji="1" lang="zh-TW" altLang="en-US" sz="1600" dirty="0"/>
              </a:p>
            </p:txBody>
          </p:sp>
        </mc:Choice>
        <mc:Fallback xmlns="">
          <p:sp>
            <p:nvSpPr>
              <p:cNvPr id="29" name="文字方塊 28">
                <a:extLst>
                  <a:ext uri="{FF2B5EF4-FFF2-40B4-BE49-F238E27FC236}">
                    <a16:creationId xmlns:a16="http://schemas.microsoft.com/office/drawing/2014/main" id="{8F9CE310-A15D-4542-74A8-BF14C20D773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85019" y="3844284"/>
                <a:ext cx="613700" cy="338554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" name="文字方塊 29">
                <a:extLst>
                  <a:ext uri="{FF2B5EF4-FFF2-40B4-BE49-F238E27FC236}">
                    <a16:creationId xmlns:a16="http://schemas.microsoft.com/office/drawing/2014/main" id="{1834D209-F6BD-1B0A-BF59-E0500E0C63A1}"/>
                  </a:ext>
                </a:extLst>
              </p:cNvPr>
              <p:cNvSpPr txBox="1"/>
              <p:nvPr/>
            </p:nvSpPr>
            <p:spPr>
              <a:xfrm>
                <a:off x="3862086" y="4345643"/>
                <a:ext cx="613701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TW" sz="1600" b="0" i="1" smtClean="0">
                          <a:latin typeface="Cambria Math" panose="02040503050406030204" pitchFamily="18" charset="0"/>
                        </a:rPr>
                        <m:t>−1.6</m:t>
                      </m:r>
                    </m:oMath>
                  </m:oMathPara>
                </a14:m>
                <a:endParaRPr kumimoji="1" lang="zh-TW" altLang="en-US" sz="1600" dirty="0"/>
              </a:p>
            </p:txBody>
          </p:sp>
        </mc:Choice>
        <mc:Fallback xmlns="">
          <p:sp>
            <p:nvSpPr>
              <p:cNvPr id="30" name="文字方塊 29">
                <a:extLst>
                  <a:ext uri="{FF2B5EF4-FFF2-40B4-BE49-F238E27FC236}">
                    <a16:creationId xmlns:a16="http://schemas.microsoft.com/office/drawing/2014/main" id="{1834D209-F6BD-1B0A-BF59-E0500E0C63A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62086" y="4345643"/>
                <a:ext cx="613701" cy="338554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" name="文字方塊 30">
                <a:extLst>
                  <a:ext uri="{FF2B5EF4-FFF2-40B4-BE49-F238E27FC236}">
                    <a16:creationId xmlns:a16="http://schemas.microsoft.com/office/drawing/2014/main" id="{4D3DAC6B-5B92-1CFD-751E-6687CB641DB3}"/>
                  </a:ext>
                </a:extLst>
              </p:cNvPr>
              <p:cNvSpPr txBox="1"/>
              <p:nvPr/>
            </p:nvSpPr>
            <p:spPr>
              <a:xfrm>
                <a:off x="3848820" y="5910891"/>
                <a:ext cx="686099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TW" sz="1600" b="0" i="1" smtClean="0">
                          <a:latin typeface="Cambria Math" panose="02040503050406030204" pitchFamily="18" charset="0"/>
                        </a:rPr>
                        <m:t>−1.8</m:t>
                      </m:r>
                    </m:oMath>
                  </m:oMathPara>
                </a14:m>
                <a:endParaRPr kumimoji="1" lang="zh-TW" altLang="en-US" sz="1600" dirty="0"/>
              </a:p>
            </p:txBody>
          </p:sp>
        </mc:Choice>
        <mc:Fallback xmlns="">
          <p:sp>
            <p:nvSpPr>
              <p:cNvPr id="31" name="文字方塊 30">
                <a:extLst>
                  <a:ext uri="{FF2B5EF4-FFF2-40B4-BE49-F238E27FC236}">
                    <a16:creationId xmlns:a16="http://schemas.microsoft.com/office/drawing/2014/main" id="{4D3DAC6B-5B92-1CFD-751E-6687CB641DB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48820" y="5910891"/>
                <a:ext cx="686099" cy="338554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" name="圓角矩形 17">
            <a:extLst>
              <a:ext uri="{FF2B5EF4-FFF2-40B4-BE49-F238E27FC236}">
                <a16:creationId xmlns:a16="http://schemas.microsoft.com/office/drawing/2014/main" id="{601EF68D-AB15-2BE7-FB27-3732E7DC8DC8}"/>
              </a:ext>
            </a:extLst>
          </p:cNvPr>
          <p:cNvSpPr/>
          <p:nvPr/>
        </p:nvSpPr>
        <p:spPr>
          <a:xfrm>
            <a:off x="5426258" y="2144666"/>
            <a:ext cx="732055" cy="514110"/>
          </a:xfrm>
          <a:prstGeom prst="roundRect">
            <a:avLst/>
          </a:prstGeom>
          <a:solidFill>
            <a:srgbClr val="C5E0B4"/>
          </a:solidFill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en-US" altLang="zh-TW" sz="1600" dirty="0">
                <a:solidFill>
                  <a:srgbClr val="FF0000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to</a:t>
            </a:r>
            <a:endParaRPr kumimoji="1" lang="zh-TW" altLang="en-US" sz="1600" dirty="0">
              <a:solidFill>
                <a:srgbClr val="FF0000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24" name="圓角矩形 23">
            <a:extLst>
              <a:ext uri="{FF2B5EF4-FFF2-40B4-BE49-F238E27FC236}">
                <a16:creationId xmlns:a16="http://schemas.microsoft.com/office/drawing/2014/main" id="{0CBAD8EE-42E2-E1A6-D756-AFEE80F6B6C3}"/>
              </a:ext>
            </a:extLst>
          </p:cNvPr>
          <p:cNvSpPr/>
          <p:nvPr/>
        </p:nvSpPr>
        <p:spPr>
          <a:xfrm>
            <a:off x="5426258" y="2940660"/>
            <a:ext cx="732056" cy="514110"/>
          </a:xfrm>
          <a:prstGeom prst="roundRect">
            <a:avLst/>
          </a:prstGeom>
          <a:solidFill>
            <a:srgbClr val="C5E0B4"/>
          </a:solidFill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en-US" altLang="zh-TW" sz="1300" dirty="0">
                <a:solidFill>
                  <a:srgbClr val="FF0000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books</a:t>
            </a:r>
            <a:endParaRPr kumimoji="1" lang="zh-TW" altLang="en-US" sz="1300" dirty="0">
              <a:solidFill>
                <a:srgbClr val="FF0000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cxnSp>
        <p:nvCxnSpPr>
          <p:cNvPr id="35" name="直線箭頭接點 34">
            <a:extLst>
              <a:ext uri="{FF2B5EF4-FFF2-40B4-BE49-F238E27FC236}">
                <a16:creationId xmlns:a16="http://schemas.microsoft.com/office/drawing/2014/main" id="{46E46508-67A3-47D1-F2E4-593015865BD2}"/>
              </a:ext>
            </a:extLst>
          </p:cNvPr>
          <p:cNvCxnSpPr>
            <a:cxnSpLocks/>
          </p:cNvCxnSpPr>
          <p:nvPr/>
        </p:nvCxnSpPr>
        <p:spPr>
          <a:xfrm flipV="1">
            <a:off x="4646593" y="2401721"/>
            <a:ext cx="686098" cy="35668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直線箭頭接點 35">
            <a:extLst>
              <a:ext uri="{FF2B5EF4-FFF2-40B4-BE49-F238E27FC236}">
                <a16:creationId xmlns:a16="http://schemas.microsoft.com/office/drawing/2014/main" id="{454CD8D4-70BA-C50F-4173-C4EFAF415F32}"/>
              </a:ext>
            </a:extLst>
          </p:cNvPr>
          <p:cNvCxnSpPr>
            <a:cxnSpLocks/>
          </p:cNvCxnSpPr>
          <p:nvPr/>
        </p:nvCxnSpPr>
        <p:spPr>
          <a:xfrm>
            <a:off x="4664366" y="2868626"/>
            <a:ext cx="686098" cy="35668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7" name="文字方塊 36">
                <a:extLst>
                  <a:ext uri="{FF2B5EF4-FFF2-40B4-BE49-F238E27FC236}">
                    <a16:creationId xmlns:a16="http://schemas.microsoft.com/office/drawing/2014/main" id="{5B72CF1E-2455-77B2-4E63-0388B571BA45}"/>
                  </a:ext>
                </a:extLst>
              </p:cNvPr>
              <p:cNvSpPr txBox="1"/>
              <p:nvPr/>
            </p:nvSpPr>
            <p:spPr>
              <a:xfrm>
                <a:off x="6234106" y="2241507"/>
                <a:ext cx="3546848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TW" sz="1600" b="0" i="1" smtClean="0">
                          <a:latin typeface="Cambria Math" panose="02040503050406030204" pitchFamily="18" charset="0"/>
                        </a:rPr>
                        <m:t>−1.7+</m:t>
                      </m:r>
                      <m:func>
                        <m:funcPr>
                          <m:ctrlPr>
                            <a:rPr kumimoji="1" lang="en-US" altLang="zh-TW" sz="1600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kumimoji="1" lang="en-US" altLang="zh-TW" sz="1600" b="0" i="0" smtClean="0">
                              <a:latin typeface="Cambria Math" panose="02040503050406030204" pitchFamily="18" charset="0"/>
                            </a:rPr>
                            <m:t>log</m:t>
                          </m:r>
                        </m:fName>
                        <m:e>
                          <m:r>
                            <a:rPr kumimoji="1" lang="en-US" altLang="zh-TW" sz="1600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  <m:d>
                            <m:dPr>
                              <m:endChr m:val="|"/>
                              <m:ctrlPr>
                                <a:rPr kumimoji="1" lang="en-US" altLang="zh-TW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kumimoji="1" lang="en-US" altLang="zh-TW" sz="1600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m:rPr>
                                  <m:nor/>
                                </m:rPr>
                                <a:rPr kumimoji="1" lang="en-US" altLang="zh-TW" sz="1600" b="0" i="0" smtClean="0">
                                  <a:latin typeface="Cambria Math" panose="02040503050406030204" pitchFamily="18" charset="0"/>
                                </a:rPr>
                                <m:t>to</m:t>
                              </m:r>
                              <m:r>
                                <a:rPr kumimoji="1" lang="en-US" altLang="zh-TW" sz="1600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e>
                          </m:d>
                          <m:r>
                            <a:rPr kumimoji="1" lang="en-US" altLang="zh-TW" sz="16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nor/>
                            </m:rPr>
                            <a:rPr kumimoji="1" lang="en-US" altLang="zh-TW" sz="1600" b="0" i="0" smtClean="0">
                              <a:latin typeface="Cambria Math" panose="02040503050406030204" pitchFamily="18" charset="0"/>
                            </a:rPr>
                            <m:t>Start</m:t>
                          </m:r>
                          <m:r>
                            <m:rPr>
                              <m:nor/>
                            </m:rPr>
                            <a:rPr kumimoji="1" lang="en-US" altLang="zh-TW" sz="1600" b="0" i="0" smtClean="0"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m:rPr>
                              <m:nor/>
                            </m:rPr>
                            <a:rPr kumimoji="1" lang="en-US" altLang="zh-TW" sz="1600" b="0" i="0" smtClean="0">
                              <a:latin typeface="Cambria Math" panose="02040503050406030204" pitchFamily="18" charset="0"/>
                            </a:rPr>
                            <m:t>I</m:t>
                          </m:r>
                          <m:r>
                            <m:rPr>
                              <m:nor/>
                            </m:rPr>
                            <a:rPr kumimoji="1" lang="en-US" altLang="zh-TW" sz="1600" b="0" i="0" smtClean="0"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m:rPr>
                              <m:nor/>
                            </m:rPr>
                            <a:rPr kumimoji="1" lang="en-US" altLang="zh-TW" sz="1600" b="0" i="0" smtClean="0">
                              <a:latin typeface="Cambria Math" panose="02040503050406030204" pitchFamily="18" charset="0"/>
                            </a:rPr>
                            <m:t>like</m:t>
                          </m:r>
                          <m:r>
                            <a:rPr kumimoji="1" lang="en-US" altLang="zh-TW" sz="1600" b="0" i="1" smtClean="0">
                              <a:latin typeface="Cambria Math" panose="02040503050406030204" pitchFamily="18" charset="0"/>
                            </a:rPr>
                            <m:t>)=</m:t>
                          </m:r>
                        </m:e>
                      </m:func>
                      <m:r>
                        <a:rPr kumimoji="1" lang="en-US" altLang="zh-TW" sz="1600" b="0" i="1" smtClean="0">
                          <a:latin typeface="Cambria Math" panose="02040503050406030204" pitchFamily="18" charset="0"/>
                        </a:rPr>
                        <m:t>−2.8</m:t>
                      </m:r>
                    </m:oMath>
                  </m:oMathPara>
                </a14:m>
                <a:endParaRPr kumimoji="1" lang="zh-TW" altLang="en-US" sz="1600" dirty="0"/>
              </a:p>
            </p:txBody>
          </p:sp>
        </mc:Choice>
        <mc:Fallback xmlns="">
          <p:sp>
            <p:nvSpPr>
              <p:cNvPr id="37" name="文字方塊 36">
                <a:extLst>
                  <a:ext uri="{FF2B5EF4-FFF2-40B4-BE49-F238E27FC236}">
                    <a16:creationId xmlns:a16="http://schemas.microsoft.com/office/drawing/2014/main" id="{5B72CF1E-2455-77B2-4E63-0388B571BA4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34106" y="2241507"/>
                <a:ext cx="3546848" cy="338554"/>
              </a:xfrm>
              <a:prstGeom prst="rect">
                <a:avLst/>
              </a:prstGeom>
              <a:blipFill>
                <a:blip r:embed="rId9"/>
                <a:stretch>
                  <a:fillRect b="-10714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8" name="文字方塊 37">
                <a:extLst>
                  <a:ext uri="{FF2B5EF4-FFF2-40B4-BE49-F238E27FC236}">
                    <a16:creationId xmlns:a16="http://schemas.microsoft.com/office/drawing/2014/main" id="{75DED9B6-F0F3-1533-17C3-AE4E8F2376DC}"/>
                  </a:ext>
                </a:extLst>
              </p:cNvPr>
              <p:cNvSpPr txBox="1"/>
              <p:nvPr/>
            </p:nvSpPr>
            <p:spPr>
              <a:xfrm>
                <a:off x="6234105" y="3046511"/>
                <a:ext cx="3895315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TW" sz="1600" b="0" i="1" smtClean="0">
                          <a:latin typeface="Cambria Math" panose="02040503050406030204" pitchFamily="18" charset="0"/>
                        </a:rPr>
                        <m:t>−1.7+</m:t>
                      </m:r>
                      <m:func>
                        <m:funcPr>
                          <m:ctrlPr>
                            <a:rPr kumimoji="1" lang="en-US" altLang="zh-TW" sz="1600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kumimoji="1" lang="en-US" altLang="zh-TW" sz="1600" b="0" i="0" smtClean="0">
                              <a:latin typeface="Cambria Math" panose="02040503050406030204" pitchFamily="18" charset="0"/>
                            </a:rPr>
                            <m:t>log</m:t>
                          </m:r>
                        </m:fName>
                        <m:e>
                          <m:r>
                            <a:rPr kumimoji="1" lang="en-US" altLang="zh-TW" sz="1600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  <m:d>
                            <m:dPr>
                              <m:endChr m:val="|"/>
                              <m:ctrlPr>
                                <a:rPr kumimoji="1" lang="en-US" altLang="zh-TW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kumimoji="1" lang="en-US" altLang="zh-TW" sz="1600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m:rPr>
                                  <m:nor/>
                                </m:rPr>
                                <a:rPr kumimoji="1" lang="en-US" altLang="zh-TW" sz="1600" b="0" i="0" smtClean="0">
                                  <a:latin typeface="Cambria Math" panose="02040503050406030204" pitchFamily="18" charset="0"/>
                                </a:rPr>
                                <m:t>books</m:t>
                              </m:r>
                              <m:r>
                                <a:rPr kumimoji="1" lang="en-US" altLang="zh-TW" sz="1600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e>
                          </m:d>
                          <m:r>
                            <a:rPr kumimoji="1" lang="en-US" altLang="zh-TW" sz="16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nor/>
                            </m:rPr>
                            <a:rPr kumimoji="1" lang="en-US" altLang="zh-TW" sz="1600" b="0" i="0" smtClean="0">
                              <a:latin typeface="Cambria Math" panose="02040503050406030204" pitchFamily="18" charset="0"/>
                            </a:rPr>
                            <m:t>Start</m:t>
                          </m:r>
                          <m:r>
                            <m:rPr>
                              <m:nor/>
                            </m:rPr>
                            <a:rPr kumimoji="1" lang="en-US" altLang="zh-TW" sz="1600" b="0" i="0" smtClean="0"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m:rPr>
                              <m:nor/>
                            </m:rPr>
                            <a:rPr kumimoji="1" lang="en-US" altLang="zh-TW" sz="1600" b="0" i="0" smtClean="0">
                              <a:latin typeface="Cambria Math" panose="02040503050406030204" pitchFamily="18" charset="0"/>
                            </a:rPr>
                            <m:t>I</m:t>
                          </m:r>
                          <m:r>
                            <m:rPr>
                              <m:nor/>
                            </m:rPr>
                            <a:rPr kumimoji="1" lang="en-US" altLang="zh-TW" sz="1600" b="0" i="0" smtClean="0"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m:rPr>
                              <m:nor/>
                            </m:rPr>
                            <a:rPr kumimoji="1" lang="en-US" altLang="zh-TW" sz="1600">
                              <a:latin typeface="Cambria Math" panose="02040503050406030204" pitchFamily="18" charset="0"/>
                            </a:rPr>
                            <m:t>like</m:t>
                          </m:r>
                          <m:r>
                            <a:rPr kumimoji="1" lang="en-US" altLang="zh-TW" sz="1600" b="0" i="1" smtClean="0">
                              <a:latin typeface="Cambria Math" panose="02040503050406030204" pitchFamily="18" charset="0"/>
                            </a:rPr>
                            <m:t>)=</m:t>
                          </m:r>
                        </m:e>
                      </m:func>
                      <m:r>
                        <a:rPr kumimoji="1" lang="en-US" altLang="zh-TW" sz="1600" b="0" i="1" smtClean="0">
                          <a:latin typeface="Cambria Math" panose="02040503050406030204" pitchFamily="18" charset="0"/>
                        </a:rPr>
                        <m:t>−2.</m:t>
                      </m:r>
                      <m:r>
                        <a:rPr kumimoji="1" lang="en-US" altLang="zh-TW" sz="1600" b="0" i="0" smtClean="0">
                          <a:latin typeface="Cambria Math" panose="02040503050406030204" pitchFamily="18" charset="0"/>
                        </a:rPr>
                        <m:t>5</m:t>
                      </m:r>
                    </m:oMath>
                  </m:oMathPara>
                </a14:m>
                <a:endParaRPr kumimoji="1" lang="zh-TW" altLang="en-US" sz="1600" dirty="0"/>
              </a:p>
            </p:txBody>
          </p:sp>
        </mc:Choice>
        <mc:Fallback xmlns="">
          <p:sp>
            <p:nvSpPr>
              <p:cNvPr id="38" name="文字方塊 37">
                <a:extLst>
                  <a:ext uri="{FF2B5EF4-FFF2-40B4-BE49-F238E27FC236}">
                    <a16:creationId xmlns:a16="http://schemas.microsoft.com/office/drawing/2014/main" id="{75DED9B6-F0F3-1533-17C3-AE4E8F2376D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34105" y="3046511"/>
                <a:ext cx="3895315" cy="338554"/>
              </a:xfrm>
              <a:prstGeom prst="rect">
                <a:avLst/>
              </a:prstGeom>
              <a:blipFill>
                <a:blip r:embed="rId10"/>
                <a:stretch>
                  <a:fillRect b="-14815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9" name="圓角矩形 38">
            <a:extLst>
              <a:ext uri="{FF2B5EF4-FFF2-40B4-BE49-F238E27FC236}">
                <a16:creationId xmlns:a16="http://schemas.microsoft.com/office/drawing/2014/main" id="{8D37F53C-38B0-72B7-761E-CCE30BD3F6A2}"/>
              </a:ext>
            </a:extLst>
          </p:cNvPr>
          <p:cNvSpPr/>
          <p:nvPr/>
        </p:nvSpPr>
        <p:spPr>
          <a:xfrm>
            <a:off x="5444007" y="4253284"/>
            <a:ext cx="732055" cy="514110"/>
          </a:xfrm>
          <a:prstGeom prst="roundRect">
            <a:avLst/>
          </a:prstGeom>
          <a:solidFill>
            <a:srgbClr val="C5E0B4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en-US" altLang="zh-TW" sz="1600" dirty="0">
                <a:solidFill>
                  <a:schemeClr val="tx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to</a:t>
            </a:r>
            <a:endParaRPr kumimoji="1" lang="zh-TW" altLang="en-US" sz="1600" dirty="0">
              <a:solidFill>
                <a:schemeClr val="tx1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40" name="圓角矩形 39">
            <a:extLst>
              <a:ext uri="{FF2B5EF4-FFF2-40B4-BE49-F238E27FC236}">
                <a16:creationId xmlns:a16="http://schemas.microsoft.com/office/drawing/2014/main" id="{A3DAE183-4DB4-FB98-30FA-C42FE80C7E5C}"/>
              </a:ext>
            </a:extLst>
          </p:cNvPr>
          <p:cNvSpPr/>
          <p:nvPr/>
        </p:nvSpPr>
        <p:spPr>
          <a:xfrm>
            <a:off x="5444007" y="5049278"/>
            <a:ext cx="732056" cy="514110"/>
          </a:xfrm>
          <a:prstGeom prst="roundRect">
            <a:avLst/>
          </a:prstGeom>
          <a:solidFill>
            <a:srgbClr val="C5E0B4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en-US" altLang="zh-TW" sz="1600" dirty="0">
                <a:solidFill>
                  <a:schemeClr val="tx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tea</a:t>
            </a:r>
            <a:endParaRPr kumimoji="1" lang="zh-TW" altLang="en-US" sz="1600" dirty="0">
              <a:solidFill>
                <a:schemeClr val="tx1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cxnSp>
        <p:nvCxnSpPr>
          <p:cNvPr id="41" name="直線箭頭接點 40">
            <a:extLst>
              <a:ext uri="{FF2B5EF4-FFF2-40B4-BE49-F238E27FC236}">
                <a16:creationId xmlns:a16="http://schemas.microsoft.com/office/drawing/2014/main" id="{02DB8DA1-DF6A-7639-0750-34AB62672E0C}"/>
              </a:ext>
            </a:extLst>
          </p:cNvPr>
          <p:cNvCxnSpPr>
            <a:cxnSpLocks/>
          </p:cNvCxnSpPr>
          <p:nvPr/>
        </p:nvCxnSpPr>
        <p:spPr>
          <a:xfrm flipV="1">
            <a:off x="4664342" y="4510339"/>
            <a:ext cx="686098" cy="35668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直線箭頭接點 41">
            <a:extLst>
              <a:ext uri="{FF2B5EF4-FFF2-40B4-BE49-F238E27FC236}">
                <a16:creationId xmlns:a16="http://schemas.microsoft.com/office/drawing/2014/main" id="{C5EC476E-EC31-2D86-E6B2-EBF1955BF1E5}"/>
              </a:ext>
            </a:extLst>
          </p:cNvPr>
          <p:cNvCxnSpPr>
            <a:cxnSpLocks/>
          </p:cNvCxnSpPr>
          <p:nvPr/>
        </p:nvCxnSpPr>
        <p:spPr>
          <a:xfrm>
            <a:off x="4682115" y="4977244"/>
            <a:ext cx="686098" cy="35668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3" name="文字方塊 42">
                <a:extLst>
                  <a:ext uri="{FF2B5EF4-FFF2-40B4-BE49-F238E27FC236}">
                    <a16:creationId xmlns:a16="http://schemas.microsoft.com/office/drawing/2014/main" id="{9322DFDD-EFF0-7244-F30C-F19809A79EB8}"/>
                  </a:ext>
                </a:extLst>
              </p:cNvPr>
              <p:cNvSpPr txBox="1"/>
              <p:nvPr/>
            </p:nvSpPr>
            <p:spPr>
              <a:xfrm>
                <a:off x="6251854" y="4350125"/>
                <a:ext cx="3895315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TW" sz="1600" b="0" i="1" smtClean="0">
                          <a:latin typeface="Cambria Math" panose="02040503050406030204" pitchFamily="18" charset="0"/>
                        </a:rPr>
                        <m:t>−1.6+</m:t>
                      </m:r>
                      <m:func>
                        <m:funcPr>
                          <m:ctrlPr>
                            <a:rPr kumimoji="1" lang="en-US" altLang="zh-TW" sz="1600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kumimoji="1" lang="en-US" altLang="zh-TW" sz="1600" b="0" i="0" smtClean="0">
                              <a:latin typeface="Cambria Math" panose="02040503050406030204" pitchFamily="18" charset="0"/>
                            </a:rPr>
                            <m:t>log</m:t>
                          </m:r>
                        </m:fName>
                        <m:e>
                          <m:r>
                            <a:rPr kumimoji="1" lang="en-US" altLang="zh-TW" sz="1600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  <m:d>
                            <m:dPr>
                              <m:endChr m:val="|"/>
                              <m:ctrlPr>
                                <a:rPr kumimoji="1" lang="en-US" altLang="zh-TW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kumimoji="1" lang="en-US" altLang="zh-TW" sz="1600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m:rPr>
                                  <m:nor/>
                                </m:rPr>
                                <a:rPr kumimoji="1" lang="en-US" altLang="zh-TW" sz="1600" b="0" i="0" smtClean="0">
                                  <a:latin typeface="Cambria Math" panose="02040503050406030204" pitchFamily="18" charset="0"/>
                                </a:rPr>
                                <m:t>to</m:t>
                              </m:r>
                              <m:r>
                                <a:rPr kumimoji="1" lang="en-US" altLang="zh-TW" sz="1600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e>
                          </m:d>
                          <m:r>
                            <a:rPr kumimoji="1" lang="en-US" altLang="zh-TW" sz="16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nor/>
                            </m:rPr>
                            <a:rPr kumimoji="1" lang="en-US" altLang="zh-TW" sz="1600" b="0" i="0" smtClean="0">
                              <a:latin typeface="Cambria Math" panose="02040503050406030204" pitchFamily="18" charset="0"/>
                            </a:rPr>
                            <m:t>Start</m:t>
                          </m:r>
                          <m:r>
                            <m:rPr>
                              <m:nor/>
                            </m:rPr>
                            <a:rPr kumimoji="1" lang="en-US" altLang="zh-TW" sz="1600" b="0" i="0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m:rPr>
                              <m:nor/>
                            </m:rPr>
                            <a:rPr kumimoji="1" lang="en-US" altLang="zh-TW" sz="1600">
                              <a:latin typeface="Cambria Math" panose="02040503050406030204" pitchFamily="18" charset="0"/>
                            </a:rPr>
                            <m:t>You</m:t>
                          </m:r>
                          <m:r>
                            <m:rPr>
                              <m:nor/>
                            </m:rPr>
                            <a:rPr kumimoji="1" lang="en-US" altLang="zh-TW" sz="1600"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m:rPr>
                              <m:nor/>
                            </m:rPr>
                            <a:rPr kumimoji="1" lang="en-US" altLang="zh-TW" sz="1600">
                              <a:latin typeface="Cambria Math" panose="02040503050406030204" pitchFamily="18" charset="0"/>
                            </a:rPr>
                            <m:t>want</m:t>
                          </m:r>
                          <m:r>
                            <a:rPr kumimoji="1" lang="en-US" altLang="zh-TW" sz="1600" b="0" i="1" smtClean="0">
                              <a:latin typeface="Cambria Math" panose="02040503050406030204" pitchFamily="18" charset="0"/>
                            </a:rPr>
                            <m:t>)=</m:t>
                          </m:r>
                        </m:e>
                      </m:func>
                      <m:r>
                        <a:rPr kumimoji="1" lang="en-US" altLang="zh-TW" sz="1600" b="0" i="1" smtClean="0">
                          <a:latin typeface="Cambria Math" panose="02040503050406030204" pitchFamily="18" charset="0"/>
                        </a:rPr>
                        <m:t>−2.9</m:t>
                      </m:r>
                    </m:oMath>
                  </m:oMathPara>
                </a14:m>
                <a:endParaRPr kumimoji="1" lang="zh-TW" altLang="en-US" sz="1600" dirty="0"/>
              </a:p>
            </p:txBody>
          </p:sp>
        </mc:Choice>
        <mc:Fallback xmlns="">
          <p:sp>
            <p:nvSpPr>
              <p:cNvPr id="43" name="文字方塊 42">
                <a:extLst>
                  <a:ext uri="{FF2B5EF4-FFF2-40B4-BE49-F238E27FC236}">
                    <a16:creationId xmlns:a16="http://schemas.microsoft.com/office/drawing/2014/main" id="{9322DFDD-EFF0-7244-F30C-F19809A79EB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51854" y="4350125"/>
                <a:ext cx="3895315" cy="338554"/>
              </a:xfrm>
              <a:prstGeom prst="rect">
                <a:avLst/>
              </a:prstGeom>
              <a:blipFill>
                <a:blip r:embed="rId11"/>
                <a:stretch>
                  <a:fillRect b="-10714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4" name="文字方塊 43">
                <a:extLst>
                  <a:ext uri="{FF2B5EF4-FFF2-40B4-BE49-F238E27FC236}">
                    <a16:creationId xmlns:a16="http://schemas.microsoft.com/office/drawing/2014/main" id="{08361A65-0546-D0FE-B2EE-A1BC12C81851}"/>
                  </a:ext>
                </a:extLst>
              </p:cNvPr>
              <p:cNvSpPr txBox="1"/>
              <p:nvPr/>
            </p:nvSpPr>
            <p:spPr>
              <a:xfrm>
                <a:off x="6251855" y="5155129"/>
                <a:ext cx="3992976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TW" sz="1600" b="0" i="1" smtClean="0">
                          <a:latin typeface="Cambria Math" panose="02040503050406030204" pitchFamily="18" charset="0"/>
                        </a:rPr>
                        <m:t>−1.7+</m:t>
                      </m:r>
                      <m:func>
                        <m:funcPr>
                          <m:ctrlPr>
                            <a:rPr kumimoji="1" lang="en-US" altLang="zh-TW" sz="1600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kumimoji="1" lang="en-US" altLang="zh-TW" sz="1600" b="0" i="0" smtClean="0">
                              <a:latin typeface="Cambria Math" panose="02040503050406030204" pitchFamily="18" charset="0"/>
                            </a:rPr>
                            <m:t>log</m:t>
                          </m:r>
                        </m:fName>
                        <m:e>
                          <m:r>
                            <a:rPr kumimoji="1" lang="en-US" altLang="zh-TW" sz="1600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  <m:d>
                            <m:dPr>
                              <m:endChr m:val="|"/>
                              <m:ctrlPr>
                                <a:rPr kumimoji="1" lang="en-US" altLang="zh-TW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kumimoji="1" lang="en-US" altLang="zh-TW" sz="1600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m:rPr>
                                  <m:nor/>
                                </m:rPr>
                                <a:rPr kumimoji="1" lang="en-US" altLang="zh-TW" sz="1600" b="0" i="0" smtClean="0">
                                  <a:latin typeface="Cambria Math" panose="02040503050406030204" pitchFamily="18" charset="0"/>
                                </a:rPr>
                                <m:t>tea</m:t>
                              </m:r>
                              <m:r>
                                <a:rPr kumimoji="1" lang="en-US" altLang="zh-TW" sz="1600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e>
                          </m:d>
                          <m:r>
                            <a:rPr kumimoji="1" lang="en-US" altLang="zh-TW" sz="16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nor/>
                            </m:rPr>
                            <a:rPr kumimoji="1" lang="en-US" altLang="zh-TW" sz="1600" b="0" i="0" smtClean="0">
                              <a:latin typeface="Cambria Math" panose="02040503050406030204" pitchFamily="18" charset="0"/>
                            </a:rPr>
                            <m:t>Start</m:t>
                          </m:r>
                          <m:r>
                            <m:rPr>
                              <m:nor/>
                            </m:rPr>
                            <a:rPr kumimoji="1" lang="en-US" altLang="zh-TW" sz="1600" b="0" i="0" smtClean="0"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m:rPr>
                              <m:nor/>
                            </m:rPr>
                            <a:rPr kumimoji="1" lang="en-US" altLang="zh-TW" sz="1600" b="0" i="0" smtClean="0">
                              <a:latin typeface="Cambria Math" panose="02040503050406030204" pitchFamily="18" charset="0"/>
                            </a:rPr>
                            <m:t>You</m:t>
                          </m:r>
                          <m:r>
                            <m:rPr>
                              <m:nor/>
                            </m:rPr>
                            <a:rPr kumimoji="1" lang="en-US" altLang="zh-TW" sz="1600" b="0" i="0" smtClean="0"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m:rPr>
                              <m:nor/>
                            </m:rPr>
                            <a:rPr kumimoji="1" lang="en-US" altLang="zh-TW" sz="1600" b="0" i="0" smtClean="0">
                              <a:latin typeface="Cambria Math" panose="02040503050406030204" pitchFamily="18" charset="0"/>
                            </a:rPr>
                            <m:t>want</m:t>
                          </m:r>
                          <m:r>
                            <a:rPr kumimoji="1" lang="en-US" altLang="zh-TW" sz="1600" b="0" i="1" smtClean="0">
                              <a:latin typeface="Cambria Math" panose="02040503050406030204" pitchFamily="18" charset="0"/>
                            </a:rPr>
                            <m:t>)=</m:t>
                          </m:r>
                        </m:e>
                      </m:func>
                      <m:r>
                        <a:rPr kumimoji="1" lang="en-US" altLang="zh-TW" sz="1600" b="0" i="1" smtClean="0">
                          <a:latin typeface="Cambria Math" panose="02040503050406030204" pitchFamily="18" charset="0"/>
                        </a:rPr>
                        <m:t>−3.8</m:t>
                      </m:r>
                    </m:oMath>
                  </m:oMathPara>
                </a14:m>
                <a:endParaRPr kumimoji="1" lang="zh-TW" altLang="en-US" sz="1600" dirty="0"/>
              </a:p>
            </p:txBody>
          </p:sp>
        </mc:Choice>
        <mc:Fallback xmlns="">
          <p:sp>
            <p:nvSpPr>
              <p:cNvPr id="44" name="文字方塊 43">
                <a:extLst>
                  <a:ext uri="{FF2B5EF4-FFF2-40B4-BE49-F238E27FC236}">
                    <a16:creationId xmlns:a16="http://schemas.microsoft.com/office/drawing/2014/main" id="{08361A65-0546-D0FE-B2EE-A1BC12C8185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51855" y="5155129"/>
                <a:ext cx="3992976" cy="338554"/>
              </a:xfrm>
              <a:prstGeom prst="rect">
                <a:avLst/>
              </a:prstGeom>
              <a:blipFill>
                <a:blip r:embed="rId12"/>
                <a:stretch>
                  <a:fillRect b="-14815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5" name="矩形 44">
            <a:extLst>
              <a:ext uri="{FF2B5EF4-FFF2-40B4-BE49-F238E27FC236}">
                <a16:creationId xmlns:a16="http://schemas.microsoft.com/office/drawing/2014/main" id="{EC8EDF1D-007A-919F-5362-53979139DABC}"/>
              </a:ext>
            </a:extLst>
          </p:cNvPr>
          <p:cNvSpPr/>
          <p:nvPr/>
        </p:nvSpPr>
        <p:spPr>
          <a:xfrm>
            <a:off x="9155080" y="2241507"/>
            <a:ext cx="625874" cy="338554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46" name="矩形 45">
            <a:extLst>
              <a:ext uri="{FF2B5EF4-FFF2-40B4-BE49-F238E27FC236}">
                <a16:creationId xmlns:a16="http://schemas.microsoft.com/office/drawing/2014/main" id="{0DB3BAD5-49DB-2E48-3EFC-BD6C4C38E1C4}"/>
              </a:ext>
            </a:extLst>
          </p:cNvPr>
          <p:cNvSpPr/>
          <p:nvPr/>
        </p:nvSpPr>
        <p:spPr>
          <a:xfrm>
            <a:off x="9468017" y="3037861"/>
            <a:ext cx="625874" cy="338554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11" name="文字方塊 10">
            <a:extLst>
              <a:ext uri="{FF2B5EF4-FFF2-40B4-BE49-F238E27FC236}">
                <a16:creationId xmlns:a16="http://schemas.microsoft.com/office/drawing/2014/main" id="{A353DD63-C0EB-EDA5-897A-06CC743E666F}"/>
              </a:ext>
            </a:extLst>
          </p:cNvPr>
          <p:cNvSpPr txBox="1"/>
          <p:nvPr/>
        </p:nvSpPr>
        <p:spPr>
          <a:xfrm>
            <a:off x="9613039" y="688130"/>
            <a:ext cx="1884594" cy="369332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dirty="0"/>
              <a:t>`Beam size` = 2</a:t>
            </a:r>
            <a:endParaRPr kumimoji="1" lang="zh-TW" alt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1" name="標題 1">
                <a:extLst>
                  <a:ext uri="{FF2B5EF4-FFF2-40B4-BE49-F238E27FC236}">
                    <a16:creationId xmlns:a16="http://schemas.microsoft.com/office/drawing/2014/main" id="{ECB098DF-7BA5-3B26-9405-3974CC505CF7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644672" y="356088"/>
                <a:ext cx="10511008" cy="1033416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rmAutofit/>
              </a:bodyPr>
              <a:lstStyle>
                <a:lvl1pPr marL="0" algn="l" defTabSz="914400" rtl="0" eaLnBrk="1" latinLnBrk="0" hangingPunct="1">
                  <a:lnSpc>
                    <a:spcPct val="85000"/>
                  </a:lnSpc>
                  <a:spcBef>
                    <a:spcPct val="0"/>
                  </a:spcBef>
                  <a:buNone/>
                  <a:defRPr sz="4800" kern="1200" spc="-5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r>
                  <a:rPr kumimoji="1" lang="en-US" altLang="zh-TW" dirty="0"/>
                  <a:t>Beam Search</a:t>
                </a:r>
                <a:r>
                  <a:rPr kumimoji="1" lang="zh-TW" altLang="en-US" dirty="0"/>
                  <a:t> </a:t>
                </a:r>
                <a:r>
                  <a:rPr kumimoji="1" lang="en-US" altLang="zh-TW" dirty="0"/>
                  <a:t>(</a:t>
                </a:r>
                <a14:m>
                  <m:oMath xmlns:m="http://schemas.openxmlformats.org/officeDocument/2006/math">
                    <m:r>
                      <a:rPr kumimoji="1" lang="en-US" altLang="zh-TW" b="0" i="1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kumimoji="1" lang="en-US" altLang="zh-TW" b="0" i="1" smtClean="0">
                        <a:latin typeface="Cambria Math" panose="02040503050406030204" pitchFamily="18" charset="0"/>
                      </a:rPr>
                      <m:t>=3</m:t>
                    </m:r>
                  </m:oMath>
                </a14:m>
                <a:r>
                  <a:rPr kumimoji="1" lang="en-US" altLang="zh-TW" dirty="0"/>
                  <a:t>)</a:t>
                </a:r>
                <a:endParaRPr lang="zh-TW" altLang="en-US" dirty="0">
                  <a:latin typeface="Times New Roman"/>
                  <a:ea typeface="新細明體"/>
                  <a:cs typeface="Calibri Light"/>
                </a:endParaRPr>
              </a:p>
            </p:txBody>
          </p:sp>
        </mc:Choice>
        <mc:Fallback>
          <p:sp>
            <p:nvSpPr>
              <p:cNvPr id="21" name="標題 1">
                <a:extLst>
                  <a:ext uri="{FF2B5EF4-FFF2-40B4-BE49-F238E27FC236}">
                    <a16:creationId xmlns:a16="http://schemas.microsoft.com/office/drawing/2014/main" id="{ECB098DF-7BA5-3B26-9405-3974CC505CF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4672" y="356088"/>
                <a:ext cx="10511008" cy="1033416"/>
              </a:xfrm>
              <a:prstGeom prst="rect">
                <a:avLst/>
              </a:prstGeom>
              <a:blipFill>
                <a:blip r:embed="rId13"/>
                <a:stretch>
                  <a:fillRect l="-2654" t="-8434" b="-15663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8643441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80B6B308-E528-1567-412F-2BF52CB92E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dirty="0"/>
              <a:t>30</a:t>
            </a:fld>
            <a:endParaRPr lang="zh-TW" altLang="en-US"/>
          </a:p>
        </p:txBody>
      </p:sp>
      <p:sp>
        <p:nvSpPr>
          <p:cNvPr id="6" name="圓角矩形 5">
            <a:extLst>
              <a:ext uri="{FF2B5EF4-FFF2-40B4-BE49-F238E27FC236}">
                <a16:creationId xmlns:a16="http://schemas.microsoft.com/office/drawing/2014/main" id="{F07E41BB-9C95-5AB2-BA09-AE6796CBB446}"/>
              </a:ext>
            </a:extLst>
          </p:cNvPr>
          <p:cNvSpPr/>
          <p:nvPr/>
        </p:nvSpPr>
        <p:spPr>
          <a:xfrm>
            <a:off x="1234362" y="3920344"/>
            <a:ext cx="613700" cy="514110"/>
          </a:xfrm>
          <a:prstGeom prst="roundRect">
            <a:avLst/>
          </a:prstGeom>
          <a:solidFill>
            <a:srgbClr val="C5E0B4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en-US" altLang="zh-TW" sz="2400" dirty="0">
                <a:solidFill>
                  <a:schemeClr val="tx1"/>
                </a:solidFill>
              </a:rPr>
              <a:t>_</a:t>
            </a:r>
            <a:endParaRPr kumimoji="1" lang="zh-TW" altLang="en-US" sz="2400" dirty="0">
              <a:solidFill>
                <a:schemeClr val="tx1"/>
              </a:solidFill>
            </a:endParaRPr>
          </a:p>
        </p:txBody>
      </p:sp>
      <p:sp>
        <p:nvSpPr>
          <p:cNvPr id="7" name="文字方塊 67">
            <a:extLst>
              <a:ext uri="{FF2B5EF4-FFF2-40B4-BE49-F238E27FC236}">
                <a16:creationId xmlns:a16="http://schemas.microsoft.com/office/drawing/2014/main" id="{B381507F-DC44-2012-7728-330509B5ABA9}"/>
              </a:ext>
            </a:extLst>
          </p:cNvPr>
          <p:cNvSpPr txBox="1"/>
          <p:nvPr/>
        </p:nvSpPr>
        <p:spPr>
          <a:xfrm>
            <a:off x="1158218" y="4472662"/>
            <a:ext cx="77862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en-US" altLang="zh-TW" sz="1600" dirty="0"/>
              <a:t>(Start)</a:t>
            </a:r>
            <a:endParaRPr kumimoji="1" lang="zh-TW" altLang="en-US" sz="1600" dirty="0"/>
          </a:p>
        </p:txBody>
      </p:sp>
      <p:sp>
        <p:nvSpPr>
          <p:cNvPr id="10" name="圓角矩形 9">
            <a:extLst>
              <a:ext uri="{FF2B5EF4-FFF2-40B4-BE49-F238E27FC236}">
                <a16:creationId xmlns:a16="http://schemas.microsoft.com/office/drawing/2014/main" id="{875E7289-05C1-D185-CD20-7A8387DC3548}"/>
              </a:ext>
            </a:extLst>
          </p:cNvPr>
          <p:cNvSpPr/>
          <p:nvPr/>
        </p:nvSpPr>
        <p:spPr>
          <a:xfrm>
            <a:off x="2397436" y="2958733"/>
            <a:ext cx="613700" cy="514110"/>
          </a:xfrm>
          <a:prstGeom prst="roundRect">
            <a:avLst/>
          </a:prstGeom>
          <a:solidFill>
            <a:srgbClr val="C5E0B4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en-US" altLang="zh-TW" sz="1600" dirty="0">
                <a:solidFill>
                  <a:schemeClr val="tx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I</a:t>
            </a:r>
            <a:endParaRPr kumimoji="1" lang="zh-TW" altLang="en-US" sz="1600" dirty="0">
              <a:solidFill>
                <a:schemeClr val="tx1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12" name="圓角矩形 11">
            <a:extLst>
              <a:ext uri="{FF2B5EF4-FFF2-40B4-BE49-F238E27FC236}">
                <a16:creationId xmlns:a16="http://schemas.microsoft.com/office/drawing/2014/main" id="{3C729BBC-BACD-B4BC-5CFD-E43E279BC56D}"/>
              </a:ext>
            </a:extLst>
          </p:cNvPr>
          <p:cNvSpPr/>
          <p:nvPr/>
        </p:nvSpPr>
        <p:spPr>
          <a:xfrm>
            <a:off x="2397436" y="5004890"/>
            <a:ext cx="613700" cy="514110"/>
          </a:xfrm>
          <a:prstGeom prst="roundRect">
            <a:avLst/>
          </a:prstGeom>
          <a:solidFill>
            <a:srgbClr val="C5E0B4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en-US" altLang="zh-TW" sz="1600" dirty="0">
                <a:solidFill>
                  <a:schemeClr val="tx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You</a:t>
            </a:r>
            <a:endParaRPr kumimoji="1" lang="zh-TW" altLang="en-US" sz="1600" dirty="0">
              <a:solidFill>
                <a:schemeClr val="tx1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cxnSp>
        <p:nvCxnSpPr>
          <p:cNvPr id="14" name="直線箭頭接點 13">
            <a:extLst>
              <a:ext uri="{FF2B5EF4-FFF2-40B4-BE49-F238E27FC236}">
                <a16:creationId xmlns:a16="http://schemas.microsoft.com/office/drawing/2014/main" id="{25A5463B-ADA9-FE38-04CD-5FE88700466F}"/>
              </a:ext>
            </a:extLst>
          </p:cNvPr>
          <p:cNvCxnSpPr>
            <a:cxnSpLocks/>
          </p:cNvCxnSpPr>
          <p:nvPr/>
        </p:nvCxnSpPr>
        <p:spPr>
          <a:xfrm flipV="1">
            <a:off x="1871612" y="3159314"/>
            <a:ext cx="467804" cy="951566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線箭頭接點 18">
            <a:extLst>
              <a:ext uri="{FF2B5EF4-FFF2-40B4-BE49-F238E27FC236}">
                <a16:creationId xmlns:a16="http://schemas.microsoft.com/office/drawing/2014/main" id="{9D3CFDC7-E5AB-77B0-FA1A-9D836D4225EE}"/>
              </a:ext>
            </a:extLst>
          </p:cNvPr>
          <p:cNvCxnSpPr>
            <a:cxnSpLocks/>
          </p:cNvCxnSpPr>
          <p:nvPr/>
        </p:nvCxnSpPr>
        <p:spPr>
          <a:xfrm rot="10800000" flipH="1" flipV="1">
            <a:off x="1871612" y="4221432"/>
            <a:ext cx="467804" cy="951566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文字方塊 21">
                <a:extLst>
                  <a:ext uri="{FF2B5EF4-FFF2-40B4-BE49-F238E27FC236}">
                    <a16:creationId xmlns:a16="http://schemas.microsoft.com/office/drawing/2014/main" id="{AE2DCFBE-6018-9076-F2D2-1DB61E6327C0}"/>
                  </a:ext>
                </a:extLst>
              </p:cNvPr>
              <p:cNvSpPr txBox="1"/>
              <p:nvPr/>
            </p:nvSpPr>
            <p:spPr>
              <a:xfrm>
                <a:off x="2397435" y="2625303"/>
                <a:ext cx="613701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TW" sz="1600" b="0" i="1" smtClean="0">
                          <a:latin typeface="Cambria Math" panose="02040503050406030204" pitchFamily="18" charset="0"/>
                        </a:rPr>
                        <m:t>−0.7</m:t>
                      </m:r>
                    </m:oMath>
                  </m:oMathPara>
                </a14:m>
                <a:endParaRPr kumimoji="1" lang="zh-TW" altLang="en-US" sz="1600" dirty="0"/>
              </a:p>
            </p:txBody>
          </p:sp>
        </mc:Choice>
        <mc:Fallback xmlns="">
          <p:sp>
            <p:nvSpPr>
              <p:cNvPr id="22" name="文字方塊 21">
                <a:extLst>
                  <a:ext uri="{FF2B5EF4-FFF2-40B4-BE49-F238E27FC236}">
                    <a16:creationId xmlns:a16="http://schemas.microsoft.com/office/drawing/2014/main" id="{AE2DCFBE-6018-9076-F2D2-1DB61E6327C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97435" y="2625303"/>
                <a:ext cx="613701" cy="338554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文字方塊 22">
                <a:extLst>
                  <a:ext uri="{FF2B5EF4-FFF2-40B4-BE49-F238E27FC236}">
                    <a16:creationId xmlns:a16="http://schemas.microsoft.com/office/drawing/2014/main" id="{FD3DD690-0104-A97A-2C3F-7DF0AC27AFA7}"/>
                  </a:ext>
                </a:extLst>
              </p:cNvPr>
              <p:cNvSpPr txBox="1"/>
              <p:nvPr/>
            </p:nvSpPr>
            <p:spPr>
              <a:xfrm>
                <a:off x="2397435" y="5574359"/>
                <a:ext cx="598355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TW" sz="1600" b="0" i="1" smtClean="0">
                          <a:latin typeface="Cambria Math" panose="02040503050406030204" pitchFamily="18" charset="0"/>
                        </a:rPr>
                        <m:t>−0.9</m:t>
                      </m:r>
                    </m:oMath>
                  </m:oMathPara>
                </a14:m>
                <a:endParaRPr kumimoji="1" lang="zh-TW" altLang="en-US" sz="1600" dirty="0"/>
              </a:p>
            </p:txBody>
          </p:sp>
        </mc:Choice>
        <mc:Fallback xmlns="">
          <p:sp>
            <p:nvSpPr>
              <p:cNvPr id="23" name="文字方塊 22">
                <a:extLst>
                  <a:ext uri="{FF2B5EF4-FFF2-40B4-BE49-F238E27FC236}">
                    <a16:creationId xmlns:a16="http://schemas.microsoft.com/office/drawing/2014/main" id="{FD3DD690-0104-A97A-2C3F-7DF0AC27AFA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97435" y="5574359"/>
                <a:ext cx="598355" cy="338554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圓角矩形 2">
            <a:extLst>
              <a:ext uri="{FF2B5EF4-FFF2-40B4-BE49-F238E27FC236}">
                <a16:creationId xmlns:a16="http://schemas.microsoft.com/office/drawing/2014/main" id="{8F43250E-61CA-2FCD-5713-EEE3A86898A2}"/>
              </a:ext>
            </a:extLst>
          </p:cNvPr>
          <p:cNvSpPr/>
          <p:nvPr/>
        </p:nvSpPr>
        <p:spPr>
          <a:xfrm>
            <a:off x="3848821" y="2545579"/>
            <a:ext cx="732055" cy="514110"/>
          </a:xfrm>
          <a:prstGeom prst="roundRect">
            <a:avLst/>
          </a:prstGeom>
          <a:solidFill>
            <a:srgbClr val="C5E0B4"/>
          </a:solidFill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en-US" altLang="zh-TW" sz="1600" dirty="0">
                <a:solidFill>
                  <a:srgbClr val="FF0000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like</a:t>
            </a:r>
            <a:endParaRPr kumimoji="1" lang="zh-TW" altLang="en-US" sz="1600" dirty="0">
              <a:solidFill>
                <a:srgbClr val="FF0000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4" name="圓角矩形 3">
            <a:extLst>
              <a:ext uri="{FF2B5EF4-FFF2-40B4-BE49-F238E27FC236}">
                <a16:creationId xmlns:a16="http://schemas.microsoft.com/office/drawing/2014/main" id="{AFA1AEDB-F347-04F8-CEE1-E1D35D5B3651}"/>
              </a:ext>
            </a:extLst>
          </p:cNvPr>
          <p:cNvSpPr/>
          <p:nvPr/>
        </p:nvSpPr>
        <p:spPr>
          <a:xfrm>
            <a:off x="3848821" y="3341573"/>
            <a:ext cx="732056" cy="514110"/>
          </a:xfrm>
          <a:prstGeom prst="roundRect">
            <a:avLst/>
          </a:prstGeom>
          <a:solidFill>
            <a:srgbClr val="C5E0B4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en-US" altLang="zh-TW" sz="1600" dirty="0">
                <a:solidFill>
                  <a:schemeClr val="tx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want</a:t>
            </a:r>
            <a:endParaRPr kumimoji="1" lang="zh-TW" altLang="en-US" sz="1600" dirty="0">
              <a:solidFill>
                <a:schemeClr val="tx1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8" name="圓角矩形 7">
            <a:extLst>
              <a:ext uri="{FF2B5EF4-FFF2-40B4-BE49-F238E27FC236}">
                <a16:creationId xmlns:a16="http://schemas.microsoft.com/office/drawing/2014/main" id="{BFA3A0A1-CC3C-EC77-CEC9-146B482EBACE}"/>
              </a:ext>
            </a:extLst>
          </p:cNvPr>
          <p:cNvSpPr/>
          <p:nvPr/>
        </p:nvSpPr>
        <p:spPr>
          <a:xfrm>
            <a:off x="3848820" y="4658888"/>
            <a:ext cx="732056" cy="514110"/>
          </a:xfrm>
          <a:prstGeom prst="roundRect">
            <a:avLst/>
          </a:prstGeom>
          <a:solidFill>
            <a:srgbClr val="C5E0B4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en-US" altLang="zh-TW" sz="1600" dirty="0">
                <a:solidFill>
                  <a:schemeClr val="tx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want</a:t>
            </a:r>
            <a:endParaRPr kumimoji="1" lang="zh-TW" altLang="en-US" sz="1600" dirty="0">
              <a:solidFill>
                <a:schemeClr val="tx1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13" name="圓角矩形 12">
            <a:extLst>
              <a:ext uri="{FF2B5EF4-FFF2-40B4-BE49-F238E27FC236}">
                <a16:creationId xmlns:a16="http://schemas.microsoft.com/office/drawing/2014/main" id="{820CADDD-FB1E-6DA6-D861-460F1DAB89D2}"/>
              </a:ext>
            </a:extLst>
          </p:cNvPr>
          <p:cNvSpPr/>
          <p:nvPr/>
        </p:nvSpPr>
        <p:spPr>
          <a:xfrm>
            <a:off x="3848820" y="5403253"/>
            <a:ext cx="732056" cy="514110"/>
          </a:xfrm>
          <a:prstGeom prst="roundRect">
            <a:avLst/>
          </a:prstGeom>
          <a:solidFill>
            <a:srgbClr val="C5E0B4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en-US" altLang="zh-TW" sz="1600" dirty="0">
                <a:solidFill>
                  <a:schemeClr val="tx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are</a:t>
            </a:r>
            <a:endParaRPr kumimoji="1" lang="zh-TW" altLang="en-US" sz="1600" dirty="0">
              <a:solidFill>
                <a:schemeClr val="tx1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cxnSp>
        <p:nvCxnSpPr>
          <p:cNvPr id="15" name="直線箭頭接點 14">
            <a:extLst>
              <a:ext uri="{FF2B5EF4-FFF2-40B4-BE49-F238E27FC236}">
                <a16:creationId xmlns:a16="http://schemas.microsoft.com/office/drawing/2014/main" id="{8665C6F8-C70B-8089-DEF0-F0BF0A302E1F}"/>
              </a:ext>
            </a:extLst>
          </p:cNvPr>
          <p:cNvCxnSpPr>
            <a:cxnSpLocks/>
          </p:cNvCxnSpPr>
          <p:nvPr/>
        </p:nvCxnSpPr>
        <p:spPr>
          <a:xfrm flipV="1">
            <a:off x="3069156" y="2802634"/>
            <a:ext cx="686098" cy="35668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直線箭頭接點 24">
            <a:extLst>
              <a:ext uri="{FF2B5EF4-FFF2-40B4-BE49-F238E27FC236}">
                <a16:creationId xmlns:a16="http://schemas.microsoft.com/office/drawing/2014/main" id="{7E401430-2CB0-6CDC-4D3E-E2664C968009}"/>
              </a:ext>
            </a:extLst>
          </p:cNvPr>
          <p:cNvCxnSpPr>
            <a:cxnSpLocks/>
          </p:cNvCxnSpPr>
          <p:nvPr/>
        </p:nvCxnSpPr>
        <p:spPr>
          <a:xfrm>
            <a:off x="3086929" y="3269539"/>
            <a:ext cx="686098" cy="35668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直線箭頭接點 25">
            <a:extLst>
              <a:ext uri="{FF2B5EF4-FFF2-40B4-BE49-F238E27FC236}">
                <a16:creationId xmlns:a16="http://schemas.microsoft.com/office/drawing/2014/main" id="{5BEAD4A0-45EF-EF79-2FEC-25625B419A1C}"/>
              </a:ext>
            </a:extLst>
          </p:cNvPr>
          <p:cNvCxnSpPr>
            <a:cxnSpLocks/>
          </p:cNvCxnSpPr>
          <p:nvPr/>
        </p:nvCxnSpPr>
        <p:spPr>
          <a:xfrm>
            <a:off x="3079256" y="5304719"/>
            <a:ext cx="686098" cy="35668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直線箭頭接點 26">
            <a:extLst>
              <a:ext uri="{FF2B5EF4-FFF2-40B4-BE49-F238E27FC236}">
                <a16:creationId xmlns:a16="http://schemas.microsoft.com/office/drawing/2014/main" id="{0C436EAB-E031-DBE5-6881-81A4CA5C9777}"/>
              </a:ext>
            </a:extLst>
          </p:cNvPr>
          <p:cNvCxnSpPr>
            <a:cxnSpLocks/>
          </p:cNvCxnSpPr>
          <p:nvPr/>
        </p:nvCxnSpPr>
        <p:spPr>
          <a:xfrm flipV="1">
            <a:off x="3079256" y="4890148"/>
            <a:ext cx="686098" cy="35668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8" name="文字方塊 27">
                <a:extLst>
                  <a:ext uri="{FF2B5EF4-FFF2-40B4-BE49-F238E27FC236}">
                    <a16:creationId xmlns:a16="http://schemas.microsoft.com/office/drawing/2014/main" id="{4B7D302A-69BB-3B4C-110A-358900750293}"/>
                  </a:ext>
                </a:extLst>
              </p:cNvPr>
              <p:cNvSpPr txBox="1"/>
              <p:nvPr/>
            </p:nvSpPr>
            <p:spPr>
              <a:xfrm>
                <a:off x="3885019" y="2211250"/>
                <a:ext cx="613701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TW" sz="1600" b="0" i="1" smtClean="0">
                          <a:latin typeface="Cambria Math" panose="02040503050406030204" pitchFamily="18" charset="0"/>
                        </a:rPr>
                        <m:t>−1.7</m:t>
                      </m:r>
                    </m:oMath>
                  </m:oMathPara>
                </a14:m>
                <a:endParaRPr kumimoji="1" lang="zh-TW" altLang="en-US" sz="1600" dirty="0"/>
              </a:p>
            </p:txBody>
          </p:sp>
        </mc:Choice>
        <mc:Fallback xmlns="">
          <p:sp>
            <p:nvSpPr>
              <p:cNvPr id="28" name="文字方塊 27">
                <a:extLst>
                  <a:ext uri="{FF2B5EF4-FFF2-40B4-BE49-F238E27FC236}">
                    <a16:creationId xmlns:a16="http://schemas.microsoft.com/office/drawing/2014/main" id="{4B7D302A-69BB-3B4C-110A-35890075029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85019" y="2211250"/>
                <a:ext cx="613701" cy="338554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文字方塊 28">
                <a:extLst>
                  <a:ext uri="{FF2B5EF4-FFF2-40B4-BE49-F238E27FC236}">
                    <a16:creationId xmlns:a16="http://schemas.microsoft.com/office/drawing/2014/main" id="{8F9CE310-A15D-4542-74A8-BF14C20D7734}"/>
                  </a:ext>
                </a:extLst>
              </p:cNvPr>
              <p:cNvSpPr txBox="1"/>
              <p:nvPr/>
            </p:nvSpPr>
            <p:spPr>
              <a:xfrm>
                <a:off x="3885019" y="3844284"/>
                <a:ext cx="613700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TW" sz="1600" b="0" i="1" smtClean="0">
                          <a:latin typeface="Cambria Math" panose="02040503050406030204" pitchFamily="18" charset="0"/>
                        </a:rPr>
                        <m:t>−2.9</m:t>
                      </m:r>
                    </m:oMath>
                  </m:oMathPara>
                </a14:m>
                <a:endParaRPr kumimoji="1" lang="zh-TW" altLang="en-US" sz="1600" dirty="0"/>
              </a:p>
            </p:txBody>
          </p:sp>
        </mc:Choice>
        <mc:Fallback xmlns="">
          <p:sp>
            <p:nvSpPr>
              <p:cNvPr id="29" name="文字方塊 28">
                <a:extLst>
                  <a:ext uri="{FF2B5EF4-FFF2-40B4-BE49-F238E27FC236}">
                    <a16:creationId xmlns:a16="http://schemas.microsoft.com/office/drawing/2014/main" id="{8F9CE310-A15D-4542-74A8-BF14C20D773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85019" y="3844284"/>
                <a:ext cx="613700" cy="338554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" name="文字方塊 29">
                <a:extLst>
                  <a:ext uri="{FF2B5EF4-FFF2-40B4-BE49-F238E27FC236}">
                    <a16:creationId xmlns:a16="http://schemas.microsoft.com/office/drawing/2014/main" id="{1834D209-F6BD-1B0A-BF59-E0500E0C63A1}"/>
                  </a:ext>
                </a:extLst>
              </p:cNvPr>
              <p:cNvSpPr txBox="1"/>
              <p:nvPr/>
            </p:nvSpPr>
            <p:spPr>
              <a:xfrm>
                <a:off x="3885019" y="4345643"/>
                <a:ext cx="613701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TW" sz="1600" b="0" i="1" smtClean="0">
                          <a:latin typeface="Cambria Math" panose="02040503050406030204" pitchFamily="18" charset="0"/>
                        </a:rPr>
                        <m:t>−1.6</m:t>
                      </m:r>
                    </m:oMath>
                  </m:oMathPara>
                </a14:m>
                <a:endParaRPr kumimoji="1" lang="zh-TW" altLang="en-US" sz="1600" dirty="0"/>
              </a:p>
            </p:txBody>
          </p:sp>
        </mc:Choice>
        <mc:Fallback xmlns="">
          <p:sp>
            <p:nvSpPr>
              <p:cNvPr id="30" name="文字方塊 29">
                <a:extLst>
                  <a:ext uri="{FF2B5EF4-FFF2-40B4-BE49-F238E27FC236}">
                    <a16:creationId xmlns:a16="http://schemas.microsoft.com/office/drawing/2014/main" id="{1834D209-F6BD-1B0A-BF59-E0500E0C63A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85019" y="4345643"/>
                <a:ext cx="613701" cy="338554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" name="文字方塊 30">
                <a:extLst>
                  <a:ext uri="{FF2B5EF4-FFF2-40B4-BE49-F238E27FC236}">
                    <a16:creationId xmlns:a16="http://schemas.microsoft.com/office/drawing/2014/main" id="{4D3DAC6B-5B92-1CFD-751E-6687CB641DB3}"/>
                  </a:ext>
                </a:extLst>
              </p:cNvPr>
              <p:cNvSpPr txBox="1"/>
              <p:nvPr/>
            </p:nvSpPr>
            <p:spPr>
              <a:xfrm>
                <a:off x="3848820" y="5910891"/>
                <a:ext cx="686099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TW" sz="1600" b="0" i="1" smtClean="0">
                          <a:latin typeface="Cambria Math" panose="02040503050406030204" pitchFamily="18" charset="0"/>
                        </a:rPr>
                        <m:t>−1.8</m:t>
                      </m:r>
                    </m:oMath>
                  </m:oMathPara>
                </a14:m>
                <a:endParaRPr kumimoji="1" lang="zh-TW" altLang="en-US" sz="1600" dirty="0"/>
              </a:p>
            </p:txBody>
          </p:sp>
        </mc:Choice>
        <mc:Fallback xmlns="">
          <p:sp>
            <p:nvSpPr>
              <p:cNvPr id="31" name="文字方塊 30">
                <a:extLst>
                  <a:ext uri="{FF2B5EF4-FFF2-40B4-BE49-F238E27FC236}">
                    <a16:creationId xmlns:a16="http://schemas.microsoft.com/office/drawing/2014/main" id="{4D3DAC6B-5B92-1CFD-751E-6687CB641DB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48820" y="5910891"/>
                <a:ext cx="686099" cy="338554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" name="圓角矩形 17">
            <a:extLst>
              <a:ext uri="{FF2B5EF4-FFF2-40B4-BE49-F238E27FC236}">
                <a16:creationId xmlns:a16="http://schemas.microsoft.com/office/drawing/2014/main" id="{601EF68D-AB15-2BE7-FB27-3732E7DC8DC8}"/>
              </a:ext>
            </a:extLst>
          </p:cNvPr>
          <p:cNvSpPr/>
          <p:nvPr/>
        </p:nvSpPr>
        <p:spPr>
          <a:xfrm>
            <a:off x="5426258" y="2144666"/>
            <a:ext cx="732055" cy="514110"/>
          </a:xfrm>
          <a:prstGeom prst="roundRect">
            <a:avLst/>
          </a:prstGeom>
          <a:solidFill>
            <a:srgbClr val="C5E0B4"/>
          </a:solidFill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en-US" altLang="zh-TW" sz="1600" dirty="0">
                <a:solidFill>
                  <a:srgbClr val="FF0000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to</a:t>
            </a:r>
            <a:endParaRPr kumimoji="1" lang="zh-TW" altLang="en-US" sz="1600" dirty="0">
              <a:solidFill>
                <a:srgbClr val="FF0000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24" name="圓角矩形 23">
            <a:extLst>
              <a:ext uri="{FF2B5EF4-FFF2-40B4-BE49-F238E27FC236}">
                <a16:creationId xmlns:a16="http://schemas.microsoft.com/office/drawing/2014/main" id="{0CBAD8EE-42E2-E1A6-D756-AFEE80F6B6C3}"/>
              </a:ext>
            </a:extLst>
          </p:cNvPr>
          <p:cNvSpPr/>
          <p:nvPr/>
        </p:nvSpPr>
        <p:spPr>
          <a:xfrm>
            <a:off x="5426258" y="2940660"/>
            <a:ext cx="732056" cy="514110"/>
          </a:xfrm>
          <a:prstGeom prst="roundRect">
            <a:avLst/>
          </a:prstGeom>
          <a:solidFill>
            <a:srgbClr val="C5E0B4"/>
          </a:solidFill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en-US" altLang="zh-TW" sz="1300" dirty="0">
                <a:solidFill>
                  <a:srgbClr val="FF0000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books</a:t>
            </a:r>
            <a:endParaRPr kumimoji="1" lang="zh-TW" altLang="en-US" sz="1300" dirty="0">
              <a:solidFill>
                <a:srgbClr val="FF0000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cxnSp>
        <p:nvCxnSpPr>
          <p:cNvPr id="35" name="直線箭頭接點 34">
            <a:extLst>
              <a:ext uri="{FF2B5EF4-FFF2-40B4-BE49-F238E27FC236}">
                <a16:creationId xmlns:a16="http://schemas.microsoft.com/office/drawing/2014/main" id="{46E46508-67A3-47D1-F2E4-593015865BD2}"/>
              </a:ext>
            </a:extLst>
          </p:cNvPr>
          <p:cNvCxnSpPr>
            <a:cxnSpLocks/>
          </p:cNvCxnSpPr>
          <p:nvPr/>
        </p:nvCxnSpPr>
        <p:spPr>
          <a:xfrm flipV="1">
            <a:off x="4646593" y="2401721"/>
            <a:ext cx="686098" cy="35668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直線箭頭接點 35">
            <a:extLst>
              <a:ext uri="{FF2B5EF4-FFF2-40B4-BE49-F238E27FC236}">
                <a16:creationId xmlns:a16="http://schemas.microsoft.com/office/drawing/2014/main" id="{454CD8D4-70BA-C50F-4173-C4EFAF415F32}"/>
              </a:ext>
            </a:extLst>
          </p:cNvPr>
          <p:cNvCxnSpPr>
            <a:cxnSpLocks/>
          </p:cNvCxnSpPr>
          <p:nvPr/>
        </p:nvCxnSpPr>
        <p:spPr>
          <a:xfrm>
            <a:off x="4664366" y="2868626"/>
            <a:ext cx="686098" cy="35668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7" name="文字方塊 36">
                <a:extLst>
                  <a:ext uri="{FF2B5EF4-FFF2-40B4-BE49-F238E27FC236}">
                    <a16:creationId xmlns:a16="http://schemas.microsoft.com/office/drawing/2014/main" id="{5B72CF1E-2455-77B2-4E63-0388B571BA45}"/>
                  </a:ext>
                </a:extLst>
              </p:cNvPr>
              <p:cNvSpPr txBox="1"/>
              <p:nvPr/>
            </p:nvSpPr>
            <p:spPr>
              <a:xfrm>
                <a:off x="5518071" y="1789852"/>
                <a:ext cx="530678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TW" sz="1600" b="0" i="1" smtClean="0">
                          <a:latin typeface="Cambria Math" panose="02040503050406030204" pitchFamily="18" charset="0"/>
                        </a:rPr>
                        <m:t>−2.8</m:t>
                      </m:r>
                    </m:oMath>
                  </m:oMathPara>
                </a14:m>
                <a:endParaRPr kumimoji="1" lang="zh-TW" altLang="en-US" sz="1600" dirty="0"/>
              </a:p>
            </p:txBody>
          </p:sp>
        </mc:Choice>
        <mc:Fallback xmlns="">
          <p:sp>
            <p:nvSpPr>
              <p:cNvPr id="37" name="文字方塊 36">
                <a:extLst>
                  <a:ext uri="{FF2B5EF4-FFF2-40B4-BE49-F238E27FC236}">
                    <a16:creationId xmlns:a16="http://schemas.microsoft.com/office/drawing/2014/main" id="{5B72CF1E-2455-77B2-4E63-0388B571BA4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18071" y="1789852"/>
                <a:ext cx="530678" cy="338554"/>
              </a:xfrm>
              <a:prstGeom prst="rect">
                <a:avLst/>
              </a:prstGeom>
              <a:blipFill>
                <a:blip r:embed="rId9"/>
                <a:stretch>
                  <a:fillRect r="-9302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8" name="文字方塊 37">
                <a:extLst>
                  <a:ext uri="{FF2B5EF4-FFF2-40B4-BE49-F238E27FC236}">
                    <a16:creationId xmlns:a16="http://schemas.microsoft.com/office/drawing/2014/main" id="{75DED9B6-F0F3-1533-17C3-AE4E8F2376DC}"/>
                  </a:ext>
                </a:extLst>
              </p:cNvPr>
              <p:cNvSpPr txBox="1"/>
              <p:nvPr/>
            </p:nvSpPr>
            <p:spPr>
              <a:xfrm>
                <a:off x="5500315" y="3428408"/>
                <a:ext cx="566190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TW" sz="1600" b="0" i="1" smtClean="0">
                          <a:latin typeface="Cambria Math" panose="02040503050406030204" pitchFamily="18" charset="0"/>
                        </a:rPr>
                        <m:t>−2.</m:t>
                      </m:r>
                      <m:r>
                        <a:rPr kumimoji="1" lang="en-US" altLang="zh-TW" sz="1600" b="0" i="0" smtClean="0">
                          <a:latin typeface="Cambria Math" panose="02040503050406030204" pitchFamily="18" charset="0"/>
                        </a:rPr>
                        <m:t>5</m:t>
                      </m:r>
                    </m:oMath>
                  </m:oMathPara>
                </a14:m>
                <a:endParaRPr kumimoji="1" lang="zh-TW" altLang="en-US" sz="1600" dirty="0"/>
              </a:p>
            </p:txBody>
          </p:sp>
        </mc:Choice>
        <mc:Fallback xmlns="">
          <p:sp>
            <p:nvSpPr>
              <p:cNvPr id="38" name="文字方塊 37">
                <a:extLst>
                  <a:ext uri="{FF2B5EF4-FFF2-40B4-BE49-F238E27FC236}">
                    <a16:creationId xmlns:a16="http://schemas.microsoft.com/office/drawing/2014/main" id="{75DED9B6-F0F3-1533-17C3-AE4E8F2376D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00315" y="3428408"/>
                <a:ext cx="566190" cy="338554"/>
              </a:xfrm>
              <a:prstGeom prst="rect">
                <a:avLst/>
              </a:prstGeom>
              <a:blipFill>
                <a:blip r:embed="rId10"/>
                <a:stretch>
                  <a:fillRect r="-4348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9" name="圓角矩形 38">
            <a:extLst>
              <a:ext uri="{FF2B5EF4-FFF2-40B4-BE49-F238E27FC236}">
                <a16:creationId xmlns:a16="http://schemas.microsoft.com/office/drawing/2014/main" id="{8D37F53C-38B0-72B7-761E-CCE30BD3F6A2}"/>
              </a:ext>
            </a:extLst>
          </p:cNvPr>
          <p:cNvSpPr/>
          <p:nvPr/>
        </p:nvSpPr>
        <p:spPr>
          <a:xfrm>
            <a:off x="5444007" y="4253284"/>
            <a:ext cx="732055" cy="514110"/>
          </a:xfrm>
          <a:prstGeom prst="roundRect">
            <a:avLst/>
          </a:prstGeom>
          <a:solidFill>
            <a:srgbClr val="C5E0B4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en-US" altLang="zh-TW" sz="1600" dirty="0">
                <a:solidFill>
                  <a:schemeClr val="tx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to</a:t>
            </a:r>
            <a:endParaRPr kumimoji="1" lang="zh-TW" altLang="en-US" sz="1600" dirty="0">
              <a:solidFill>
                <a:schemeClr val="tx1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40" name="圓角矩形 39">
            <a:extLst>
              <a:ext uri="{FF2B5EF4-FFF2-40B4-BE49-F238E27FC236}">
                <a16:creationId xmlns:a16="http://schemas.microsoft.com/office/drawing/2014/main" id="{A3DAE183-4DB4-FB98-30FA-C42FE80C7E5C}"/>
              </a:ext>
            </a:extLst>
          </p:cNvPr>
          <p:cNvSpPr/>
          <p:nvPr/>
        </p:nvSpPr>
        <p:spPr>
          <a:xfrm>
            <a:off x="5444007" y="5049278"/>
            <a:ext cx="732056" cy="514110"/>
          </a:xfrm>
          <a:prstGeom prst="roundRect">
            <a:avLst/>
          </a:prstGeom>
          <a:solidFill>
            <a:srgbClr val="C5E0B4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en-US" altLang="zh-TW" sz="1600" dirty="0">
                <a:solidFill>
                  <a:schemeClr val="tx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tea</a:t>
            </a:r>
            <a:endParaRPr kumimoji="1" lang="zh-TW" altLang="en-US" sz="1600" dirty="0">
              <a:solidFill>
                <a:schemeClr val="tx1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cxnSp>
        <p:nvCxnSpPr>
          <p:cNvPr id="41" name="直線箭頭接點 40">
            <a:extLst>
              <a:ext uri="{FF2B5EF4-FFF2-40B4-BE49-F238E27FC236}">
                <a16:creationId xmlns:a16="http://schemas.microsoft.com/office/drawing/2014/main" id="{02DB8DA1-DF6A-7639-0750-34AB62672E0C}"/>
              </a:ext>
            </a:extLst>
          </p:cNvPr>
          <p:cNvCxnSpPr>
            <a:cxnSpLocks/>
          </p:cNvCxnSpPr>
          <p:nvPr/>
        </p:nvCxnSpPr>
        <p:spPr>
          <a:xfrm flipV="1">
            <a:off x="4664342" y="4510339"/>
            <a:ext cx="686098" cy="35668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直線箭頭接點 41">
            <a:extLst>
              <a:ext uri="{FF2B5EF4-FFF2-40B4-BE49-F238E27FC236}">
                <a16:creationId xmlns:a16="http://schemas.microsoft.com/office/drawing/2014/main" id="{C5EC476E-EC31-2D86-E6B2-EBF1955BF1E5}"/>
              </a:ext>
            </a:extLst>
          </p:cNvPr>
          <p:cNvCxnSpPr>
            <a:cxnSpLocks/>
          </p:cNvCxnSpPr>
          <p:nvPr/>
        </p:nvCxnSpPr>
        <p:spPr>
          <a:xfrm>
            <a:off x="4682115" y="4977244"/>
            <a:ext cx="686098" cy="35668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3" name="文字方塊 42">
                <a:extLst>
                  <a:ext uri="{FF2B5EF4-FFF2-40B4-BE49-F238E27FC236}">
                    <a16:creationId xmlns:a16="http://schemas.microsoft.com/office/drawing/2014/main" id="{9322DFDD-EFF0-7244-F30C-F19809A79EB8}"/>
                  </a:ext>
                </a:extLst>
              </p:cNvPr>
              <p:cNvSpPr txBox="1"/>
              <p:nvPr/>
            </p:nvSpPr>
            <p:spPr>
              <a:xfrm>
                <a:off x="5495873" y="3926009"/>
                <a:ext cx="575074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TW" sz="1600" b="0" i="1" smtClean="0">
                          <a:latin typeface="Cambria Math" panose="02040503050406030204" pitchFamily="18" charset="0"/>
                        </a:rPr>
                        <m:t>−2.9</m:t>
                      </m:r>
                    </m:oMath>
                  </m:oMathPara>
                </a14:m>
                <a:endParaRPr kumimoji="1" lang="zh-TW" altLang="en-US" sz="1600" dirty="0"/>
              </a:p>
            </p:txBody>
          </p:sp>
        </mc:Choice>
        <mc:Fallback xmlns="">
          <p:sp>
            <p:nvSpPr>
              <p:cNvPr id="43" name="文字方塊 42">
                <a:extLst>
                  <a:ext uri="{FF2B5EF4-FFF2-40B4-BE49-F238E27FC236}">
                    <a16:creationId xmlns:a16="http://schemas.microsoft.com/office/drawing/2014/main" id="{9322DFDD-EFF0-7244-F30C-F19809A79EB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95873" y="3926009"/>
                <a:ext cx="575074" cy="338554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4" name="文字方塊 43">
                <a:extLst>
                  <a:ext uri="{FF2B5EF4-FFF2-40B4-BE49-F238E27FC236}">
                    <a16:creationId xmlns:a16="http://schemas.microsoft.com/office/drawing/2014/main" id="{08361A65-0546-D0FE-B2EE-A1BC12C81851}"/>
                  </a:ext>
                </a:extLst>
              </p:cNvPr>
              <p:cNvSpPr txBox="1"/>
              <p:nvPr/>
            </p:nvSpPr>
            <p:spPr>
              <a:xfrm>
                <a:off x="5509190" y="5559395"/>
                <a:ext cx="548440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TW" sz="1600" b="0" i="1" smtClean="0">
                          <a:latin typeface="Cambria Math" panose="02040503050406030204" pitchFamily="18" charset="0"/>
                        </a:rPr>
                        <m:t>−3.8</m:t>
                      </m:r>
                    </m:oMath>
                  </m:oMathPara>
                </a14:m>
                <a:endParaRPr kumimoji="1" lang="zh-TW" altLang="en-US" sz="1600" dirty="0"/>
              </a:p>
            </p:txBody>
          </p:sp>
        </mc:Choice>
        <mc:Fallback xmlns="">
          <p:sp>
            <p:nvSpPr>
              <p:cNvPr id="44" name="文字方塊 43">
                <a:extLst>
                  <a:ext uri="{FF2B5EF4-FFF2-40B4-BE49-F238E27FC236}">
                    <a16:creationId xmlns:a16="http://schemas.microsoft.com/office/drawing/2014/main" id="{08361A65-0546-D0FE-B2EE-A1BC12C8185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09190" y="5559395"/>
                <a:ext cx="548440" cy="338554"/>
              </a:xfrm>
              <a:prstGeom prst="rect">
                <a:avLst/>
              </a:prstGeom>
              <a:blipFill>
                <a:blip r:embed="rId12"/>
                <a:stretch>
                  <a:fillRect r="-4444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文字方塊 1">
            <a:extLst>
              <a:ext uri="{FF2B5EF4-FFF2-40B4-BE49-F238E27FC236}">
                <a16:creationId xmlns:a16="http://schemas.microsoft.com/office/drawing/2014/main" id="{0CE24D57-A050-2354-4BA3-EE2CD3A6F689}"/>
              </a:ext>
            </a:extLst>
          </p:cNvPr>
          <p:cNvSpPr txBox="1"/>
          <p:nvPr/>
        </p:nvSpPr>
        <p:spPr>
          <a:xfrm>
            <a:off x="9613039" y="688130"/>
            <a:ext cx="1884594" cy="369332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dirty="0"/>
              <a:t>`Beam size` = 2</a:t>
            </a:r>
            <a:endParaRPr kumimoji="1" lang="zh-TW" alt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0" name="標題 1">
                <a:extLst>
                  <a:ext uri="{FF2B5EF4-FFF2-40B4-BE49-F238E27FC236}">
                    <a16:creationId xmlns:a16="http://schemas.microsoft.com/office/drawing/2014/main" id="{671419E5-2C47-7C77-D26A-85BE962714F7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644672" y="356088"/>
                <a:ext cx="10511008" cy="1033416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rmAutofit/>
              </a:bodyPr>
              <a:lstStyle>
                <a:lvl1pPr marL="0" algn="l" defTabSz="914400" rtl="0" eaLnBrk="1" latinLnBrk="0" hangingPunct="1">
                  <a:lnSpc>
                    <a:spcPct val="85000"/>
                  </a:lnSpc>
                  <a:spcBef>
                    <a:spcPct val="0"/>
                  </a:spcBef>
                  <a:buNone/>
                  <a:defRPr sz="4800" kern="1200" spc="-5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r>
                  <a:rPr kumimoji="1" lang="en-US" altLang="zh-TW" dirty="0"/>
                  <a:t>Beam Search</a:t>
                </a:r>
                <a:r>
                  <a:rPr kumimoji="1" lang="zh-TW" altLang="en-US" dirty="0"/>
                  <a:t> </a:t>
                </a:r>
                <a:r>
                  <a:rPr kumimoji="1" lang="en-US" altLang="zh-TW" dirty="0"/>
                  <a:t>(</a:t>
                </a:r>
                <a14:m>
                  <m:oMath xmlns:m="http://schemas.openxmlformats.org/officeDocument/2006/math">
                    <m:r>
                      <a:rPr kumimoji="1" lang="en-US" altLang="zh-TW" b="0" i="1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kumimoji="1" lang="en-US" altLang="zh-TW" b="0" i="1" smtClean="0">
                        <a:latin typeface="Cambria Math" panose="02040503050406030204" pitchFamily="18" charset="0"/>
                      </a:rPr>
                      <m:t>=3</m:t>
                    </m:r>
                  </m:oMath>
                </a14:m>
                <a:r>
                  <a:rPr kumimoji="1" lang="en-US" altLang="zh-TW" dirty="0"/>
                  <a:t>)</a:t>
                </a:r>
                <a:endParaRPr lang="zh-TW" altLang="en-US" dirty="0">
                  <a:latin typeface="Times New Roman"/>
                  <a:ea typeface="新細明體"/>
                  <a:cs typeface="Calibri Light"/>
                </a:endParaRPr>
              </a:p>
            </p:txBody>
          </p:sp>
        </mc:Choice>
        <mc:Fallback>
          <p:sp>
            <p:nvSpPr>
              <p:cNvPr id="20" name="標題 1">
                <a:extLst>
                  <a:ext uri="{FF2B5EF4-FFF2-40B4-BE49-F238E27FC236}">
                    <a16:creationId xmlns:a16="http://schemas.microsoft.com/office/drawing/2014/main" id="{671419E5-2C47-7C77-D26A-85BE962714F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4672" y="356088"/>
                <a:ext cx="10511008" cy="1033416"/>
              </a:xfrm>
              <a:prstGeom prst="rect">
                <a:avLst/>
              </a:prstGeom>
              <a:blipFill>
                <a:blip r:embed="rId13"/>
                <a:stretch>
                  <a:fillRect l="-2654" t="-8434" b="-15663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42793641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80B6B308-E528-1567-412F-2BF52CB92E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dirty="0"/>
              <a:t>31</a:t>
            </a:fld>
            <a:endParaRPr lang="zh-TW" altLang="en-US"/>
          </a:p>
        </p:txBody>
      </p:sp>
      <p:sp>
        <p:nvSpPr>
          <p:cNvPr id="6" name="圓角矩形 5">
            <a:extLst>
              <a:ext uri="{FF2B5EF4-FFF2-40B4-BE49-F238E27FC236}">
                <a16:creationId xmlns:a16="http://schemas.microsoft.com/office/drawing/2014/main" id="{F07E41BB-9C95-5AB2-BA09-AE6796CBB446}"/>
              </a:ext>
            </a:extLst>
          </p:cNvPr>
          <p:cNvSpPr/>
          <p:nvPr/>
        </p:nvSpPr>
        <p:spPr>
          <a:xfrm>
            <a:off x="1234362" y="3920344"/>
            <a:ext cx="613700" cy="514110"/>
          </a:xfrm>
          <a:prstGeom prst="roundRect">
            <a:avLst/>
          </a:prstGeom>
          <a:solidFill>
            <a:srgbClr val="C5E0B4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en-US" altLang="zh-TW" sz="2400" dirty="0">
                <a:solidFill>
                  <a:schemeClr val="tx1"/>
                </a:solidFill>
              </a:rPr>
              <a:t>_</a:t>
            </a:r>
            <a:endParaRPr kumimoji="1" lang="zh-TW" altLang="en-US" sz="2400" dirty="0">
              <a:solidFill>
                <a:schemeClr val="tx1"/>
              </a:solidFill>
            </a:endParaRPr>
          </a:p>
        </p:txBody>
      </p:sp>
      <p:sp>
        <p:nvSpPr>
          <p:cNvPr id="7" name="文字方塊 67">
            <a:extLst>
              <a:ext uri="{FF2B5EF4-FFF2-40B4-BE49-F238E27FC236}">
                <a16:creationId xmlns:a16="http://schemas.microsoft.com/office/drawing/2014/main" id="{B381507F-DC44-2012-7728-330509B5ABA9}"/>
              </a:ext>
            </a:extLst>
          </p:cNvPr>
          <p:cNvSpPr txBox="1"/>
          <p:nvPr/>
        </p:nvSpPr>
        <p:spPr>
          <a:xfrm>
            <a:off x="1158218" y="4472662"/>
            <a:ext cx="77862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en-US" altLang="zh-TW" sz="1600" dirty="0"/>
              <a:t>(Start)</a:t>
            </a:r>
            <a:endParaRPr kumimoji="1" lang="zh-TW" altLang="en-US" sz="1600" dirty="0"/>
          </a:p>
        </p:txBody>
      </p:sp>
      <p:sp>
        <p:nvSpPr>
          <p:cNvPr id="10" name="圓角矩形 9">
            <a:extLst>
              <a:ext uri="{FF2B5EF4-FFF2-40B4-BE49-F238E27FC236}">
                <a16:creationId xmlns:a16="http://schemas.microsoft.com/office/drawing/2014/main" id="{875E7289-05C1-D185-CD20-7A8387DC3548}"/>
              </a:ext>
            </a:extLst>
          </p:cNvPr>
          <p:cNvSpPr/>
          <p:nvPr/>
        </p:nvSpPr>
        <p:spPr>
          <a:xfrm>
            <a:off x="2397436" y="2958733"/>
            <a:ext cx="613700" cy="514110"/>
          </a:xfrm>
          <a:prstGeom prst="roundRect">
            <a:avLst/>
          </a:prstGeom>
          <a:solidFill>
            <a:srgbClr val="C5E0B4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en-US" altLang="zh-TW" sz="1600" dirty="0">
                <a:solidFill>
                  <a:schemeClr val="tx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I</a:t>
            </a:r>
            <a:endParaRPr kumimoji="1" lang="zh-TW" altLang="en-US" sz="1600" dirty="0">
              <a:solidFill>
                <a:schemeClr val="tx1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12" name="圓角矩形 11">
            <a:extLst>
              <a:ext uri="{FF2B5EF4-FFF2-40B4-BE49-F238E27FC236}">
                <a16:creationId xmlns:a16="http://schemas.microsoft.com/office/drawing/2014/main" id="{3C729BBC-BACD-B4BC-5CFD-E43E279BC56D}"/>
              </a:ext>
            </a:extLst>
          </p:cNvPr>
          <p:cNvSpPr/>
          <p:nvPr/>
        </p:nvSpPr>
        <p:spPr>
          <a:xfrm>
            <a:off x="2397436" y="5004890"/>
            <a:ext cx="613700" cy="514110"/>
          </a:xfrm>
          <a:prstGeom prst="roundRect">
            <a:avLst/>
          </a:prstGeom>
          <a:solidFill>
            <a:srgbClr val="C5E0B4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en-US" altLang="zh-TW" sz="1600" dirty="0">
                <a:solidFill>
                  <a:schemeClr val="tx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You</a:t>
            </a:r>
            <a:endParaRPr kumimoji="1" lang="zh-TW" altLang="en-US" sz="1600" dirty="0">
              <a:solidFill>
                <a:schemeClr val="tx1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cxnSp>
        <p:nvCxnSpPr>
          <p:cNvPr id="14" name="直線箭頭接點 13">
            <a:extLst>
              <a:ext uri="{FF2B5EF4-FFF2-40B4-BE49-F238E27FC236}">
                <a16:creationId xmlns:a16="http://schemas.microsoft.com/office/drawing/2014/main" id="{25A5463B-ADA9-FE38-04CD-5FE88700466F}"/>
              </a:ext>
            </a:extLst>
          </p:cNvPr>
          <p:cNvCxnSpPr>
            <a:cxnSpLocks/>
          </p:cNvCxnSpPr>
          <p:nvPr/>
        </p:nvCxnSpPr>
        <p:spPr>
          <a:xfrm flipV="1">
            <a:off x="1871612" y="3159314"/>
            <a:ext cx="467804" cy="951566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線箭頭接點 18">
            <a:extLst>
              <a:ext uri="{FF2B5EF4-FFF2-40B4-BE49-F238E27FC236}">
                <a16:creationId xmlns:a16="http://schemas.microsoft.com/office/drawing/2014/main" id="{9D3CFDC7-E5AB-77B0-FA1A-9D836D4225EE}"/>
              </a:ext>
            </a:extLst>
          </p:cNvPr>
          <p:cNvCxnSpPr>
            <a:cxnSpLocks/>
          </p:cNvCxnSpPr>
          <p:nvPr/>
        </p:nvCxnSpPr>
        <p:spPr>
          <a:xfrm rot="10800000" flipH="1" flipV="1">
            <a:off x="1871612" y="4221432"/>
            <a:ext cx="467804" cy="951566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文字方塊 21">
                <a:extLst>
                  <a:ext uri="{FF2B5EF4-FFF2-40B4-BE49-F238E27FC236}">
                    <a16:creationId xmlns:a16="http://schemas.microsoft.com/office/drawing/2014/main" id="{AE2DCFBE-6018-9076-F2D2-1DB61E6327C0}"/>
                  </a:ext>
                </a:extLst>
              </p:cNvPr>
              <p:cNvSpPr txBox="1"/>
              <p:nvPr/>
            </p:nvSpPr>
            <p:spPr>
              <a:xfrm>
                <a:off x="2397435" y="2625303"/>
                <a:ext cx="613701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TW" sz="1600" b="0" i="1" smtClean="0">
                          <a:latin typeface="Cambria Math" panose="02040503050406030204" pitchFamily="18" charset="0"/>
                        </a:rPr>
                        <m:t>−0.7</m:t>
                      </m:r>
                    </m:oMath>
                  </m:oMathPara>
                </a14:m>
                <a:endParaRPr kumimoji="1" lang="zh-TW" altLang="en-US" sz="1600" dirty="0"/>
              </a:p>
            </p:txBody>
          </p:sp>
        </mc:Choice>
        <mc:Fallback xmlns="">
          <p:sp>
            <p:nvSpPr>
              <p:cNvPr id="22" name="文字方塊 21">
                <a:extLst>
                  <a:ext uri="{FF2B5EF4-FFF2-40B4-BE49-F238E27FC236}">
                    <a16:creationId xmlns:a16="http://schemas.microsoft.com/office/drawing/2014/main" id="{AE2DCFBE-6018-9076-F2D2-1DB61E6327C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97435" y="2625303"/>
                <a:ext cx="613701" cy="338554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文字方塊 22">
                <a:extLst>
                  <a:ext uri="{FF2B5EF4-FFF2-40B4-BE49-F238E27FC236}">
                    <a16:creationId xmlns:a16="http://schemas.microsoft.com/office/drawing/2014/main" id="{FD3DD690-0104-A97A-2C3F-7DF0AC27AFA7}"/>
                  </a:ext>
                </a:extLst>
              </p:cNvPr>
              <p:cNvSpPr txBox="1"/>
              <p:nvPr/>
            </p:nvSpPr>
            <p:spPr>
              <a:xfrm>
                <a:off x="2397435" y="5574359"/>
                <a:ext cx="598355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TW" sz="1600" b="0" i="1" smtClean="0">
                          <a:latin typeface="Cambria Math" panose="02040503050406030204" pitchFamily="18" charset="0"/>
                        </a:rPr>
                        <m:t>−0.9</m:t>
                      </m:r>
                    </m:oMath>
                  </m:oMathPara>
                </a14:m>
                <a:endParaRPr kumimoji="1" lang="zh-TW" altLang="en-US" sz="1600" dirty="0"/>
              </a:p>
            </p:txBody>
          </p:sp>
        </mc:Choice>
        <mc:Fallback xmlns="">
          <p:sp>
            <p:nvSpPr>
              <p:cNvPr id="23" name="文字方塊 22">
                <a:extLst>
                  <a:ext uri="{FF2B5EF4-FFF2-40B4-BE49-F238E27FC236}">
                    <a16:creationId xmlns:a16="http://schemas.microsoft.com/office/drawing/2014/main" id="{FD3DD690-0104-A97A-2C3F-7DF0AC27AFA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97435" y="5574359"/>
                <a:ext cx="598355" cy="338554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圓角矩形 2">
            <a:extLst>
              <a:ext uri="{FF2B5EF4-FFF2-40B4-BE49-F238E27FC236}">
                <a16:creationId xmlns:a16="http://schemas.microsoft.com/office/drawing/2014/main" id="{8F43250E-61CA-2FCD-5713-EEE3A86898A2}"/>
              </a:ext>
            </a:extLst>
          </p:cNvPr>
          <p:cNvSpPr/>
          <p:nvPr/>
        </p:nvSpPr>
        <p:spPr>
          <a:xfrm>
            <a:off x="3848821" y="2545579"/>
            <a:ext cx="732055" cy="514110"/>
          </a:xfrm>
          <a:prstGeom prst="roundRect">
            <a:avLst/>
          </a:prstGeom>
          <a:solidFill>
            <a:srgbClr val="C5E0B4"/>
          </a:solidFill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en-US" altLang="zh-TW" sz="1600" dirty="0">
                <a:solidFill>
                  <a:srgbClr val="FF0000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like</a:t>
            </a:r>
            <a:endParaRPr kumimoji="1" lang="zh-TW" altLang="en-US" sz="1600" dirty="0">
              <a:solidFill>
                <a:srgbClr val="FF0000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4" name="圓角矩形 3">
            <a:extLst>
              <a:ext uri="{FF2B5EF4-FFF2-40B4-BE49-F238E27FC236}">
                <a16:creationId xmlns:a16="http://schemas.microsoft.com/office/drawing/2014/main" id="{AFA1AEDB-F347-04F8-CEE1-E1D35D5B3651}"/>
              </a:ext>
            </a:extLst>
          </p:cNvPr>
          <p:cNvSpPr/>
          <p:nvPr/>
        </p:nvSpPr>
        <p:spPr>
          <a:xfrm>
            <a:off x="3848821" y="3341573"/>
            <a:ext cx="732056" cy="514110"/>
          </a:xfrm>
          <a:prstGeom prst="roundRect">
            <a:avLst/>
          </a:prstGeom>
          <a:solidFill>
            <a:srgbClr val="C5E0B4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en-US" altLang="zh-TW" sz="1600" dirty="0">
                <a:solidFill>
                  <a:schemeClr val="tx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want</a:t>
            </a:r>
            <a:endParaRPr kumimoji="1" lang="zh-TW" altLang="en-US" sz="1600" dirty="0">
              <a:solidFill>
                <a:schemeClr val="tx1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8" name="圓角矩形 7">
            <a:extLst>
              <a:ext uri="{FF2B5EF4-FFF2-40B4-BE49-F238E27FC236}">
                <a16:creationId xmlns:a16="http://schemas.microsoft.com/office/drawing/2014/main" id="{BFA3A0A1-CC3C-EC77-CEC9-146B482EBACE}"/>
              </a:ext>
            </a:extLst>
          </p:cNvPr>
          <p:cNvSpPr/>
          <p:nvPr/>
        </p:nvSpPr>
        <p:spPr>
          <a:xfrm>
            <a:off x="3848820" y="4658888"/>
            <a:ext cx="732056" cy="514110"/>
          </a:xfrm>
          <a:prstGeom prst="roundRect">
            <a:avLst/>
          </a:prstGeom>
          <a:solidFill>
            <a:srgbClr val="C5E0B4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en-US" altLang="zh-TW" sz="1600" dirty="0">
                <a:solidFill>
                  <a:schemeClr val="tx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want</a:t>
            </a:r>
            <a:endParaRPr kumimoji="1" lang="zh-TW" altLang="en-US" sz="1600" dirty="0">
              <a:solidFill>
                <a:schemeClr val="tx1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13" name="圓角矩形 12">
            <a:extLst>
              <a:ext uri="{FF2B5EF4-FFF2-40B4-BE49-F238E27FC236}">
                <a16:creationId xmlns:a16="http://schemas.microsoft.com/office/drawing/2014/main" id="{820CADDD-FB1E-6DA6-D861-460F1DAB89D2}"/>
              </a:ext>
            </a:extLst>
          </p:cNvPr>
          <p:cNvSpPr/>
          <p:nvPr/>
        </p:nvSpPr>
        <p:spPr>
          <a:xfrm>
            <a:off x="3848820" y="5403253"/>
            <a:ext cx="732056" cy="514110"/>
          </a:xfrm>
          <a:prstGeom prst="roundRect">
            <a:avLst/>
          </a:prstGeom>
          <a:solidFill>
            <a:srgbClr val="C5E0B4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en-US" altLang="zh-TW" sz="1600" dirty="0">
                <a:solidFill>
                  <a:schemeClr val="tx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are</a:t>
            </a:r>
            <a:endParaRPr kumimoji="1" lang="zh-TW" altLang="en-US" sz="1600" dirty="0">
              <a:solidFill>
                <a:schemeClr val="tx1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cxnSp>
        <p:nvCxnSpPr>
          <p:cNvPr id="15" name="直線箭頭接點 14">
            <a:extLst>
              <a:ext uri="{FF2B5EF4-FFF2-40B4-BE49-F238E27FC236}">
                <a16:creationId xmlns:a16="http://schemas.microsoft.com/office/drawing/2014/main" id="{8665C6F8-C70B-8089-DEF0-F0BF0A302E1F}"/>
              </a:ext>
            </a:extLst>
          </p:cNvPr>
          <p:cNvCxnSpPr>
            <a:cxnSpLocks/>
          </p:cNvCxnSpPr>
          <p:nvPr/>
        </p:nvCxnSpPr>
        <p:spPr>
          <a:xfrm flipV="1">
            <a:off x="3069156" y="2802634"/>
            <a:ext cx="686098" cy="35668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直線箭頭接點 24">
            <a:extLst>
              <a:ext uri="{FF2B5EF4-FFF2-40B4-BE49-F238E27FC236}">
                <a16:creationId xmlns:a16="http://schemas.microsoft.com/office/drawing/2014/main" id="{7E401430-2CB0-6CDC-4D3E-E2664C968009}"/>
              </a:ext>
            </a:extLst>
          </p:cNvPr>
          <p:cNvCxnSpPr>
            <a:cxnSpLocks/>
          </p:cNvCxnSpPr>
          <p:nvPr/>
        </p:nvCxnSpPr>
        <p:spPr>
          <a:xfrm>
            <a:off x="3086929" y="3269539"/>
            <a:ext cx="686098" cy="35668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直線箭頭接點 25">
            <a:extLst>
              <a:ext uri="{FF2B5EF4-FFF2-40B4-BE49-F238E27FC236}">
                <a16:creationId xmlns:a16="http://schemas.microsoft.com/office/drawing/2014/main" id="{5BEAD4A0-45EF-EF79-2FEC-25625B419A1C}"/>
              </a:ext>
            </a:extLst>
          </p:cNvPr>
          <p:cNvCxnSpPr>
            <a:cxnSpLocks/>
          </p:cNvCxnSpPr>
          <p:nvPr/>
        </p:nvCxnSpPr>
        <p:spPr>
          <a:xfrm>
            <a:off x="3079256" y="5304719"/>
            <a:ext cx="686098" cy="35668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直線箭頭接點 26">
            <a:extLst>
              <a:ext uri="{FF2B5EF4-FFF2-40B4-BE49-F238E27FC236}">
                <a16:creationId xmlns:a16="http://schemas.microsoft.com/office/drawing/2014/main" id="{0C436EAB-E031-DBE5-6881-81A4CA5C9777}"/>
              </a:ext>
            </a:extLst>
          </p:cNvPr>
          <p:cNvCxnSpPr>
            <a:cxnSpLocks/>
          </p:cNvCxnSpPr>
          <p:nvPr/>
        </p:nvCxnSpPr>
        <p:spPr>
          <a:xfrm flipV="1">
            <a:off x="3079256" y="4890148"/>
            <a:ext cx="686098" cy="35668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8" name="文字方塊 27">
                <a:extLst>
                  <a:ext uri="{FF2B5EF4-FFF2-40B4-BE49-F238E27FC236}">
                    <a16:creationId xmlns:a16="http://schemas.microsoft.com/office/drawing/2014/main" id="{4B7D302A-69BB-3B4C-110A-358900750293}"/>
                  </a:ext>
                </a:extLst>
              </p:cNvPr>
              <p:cNvSpPr txBox="1"/>
              <p:nvPr/>
            </p:nvSpPr>
            <p:spPr>
              <a:xfrm>
                <a:off x="3885019" y="2211250"/>
                <a:ext cx="613701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TW" sz="1600" b="0" i="1" smtClean="0">
                          <a:latin typeface="Cambria Math" panose="02040503050406030204" pitchFamily="18" charset="0"/>
                        </a:rPr>
                        <m:t>−1.7</m:t>
                      </m:r>
                    </m:oMath>
                  </m:oMathPara>
                </a14:m>
                <a:endParaRPr kumimoji="1" lang="zh-TW" altLang="en-US" sz="1600" dirty="0"/>
              </a:p>
            </p:txBody>
          </p:sp>
        </mc:Choice>
        <mc:Fallback xmlns="">
          <p:sp>
            <p:nvSpPr>
              <p:cNvPr id="28" name="文字方塊 27">
                <a:extLst>
                  <a:ext uri="{FF2B5EF4-FFF2-40B4-BE49-F238E27FC236}">
                    <a16:creationId xmlns:a16="http://schemas.microsoft.com/office/drawing/2014/main" id="{4B7D302A-69BB-3B4C-110A-35890075029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85019" y="2211250"/>
                <a:ext cx="613701" cy="338554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文字方塊 28">
                <a:extLst>
                  <a:ext uri="{FF2B5EF4-FFF2-40B4-BE49-F238E27FC236}">
                    <a16:creationId xmlns:a16="http://schemas.microsoft.com/office/drawing/2014/main" id="{8F9CE310-A15D-4542-74A8-BF14C20D7734}"/>
                  </a:ext>
                </a:extLst>
              </p:cNvPr>
              <p:cNvSpPr txBox="1"/>
              <p:nvPr/>
            </p:nvSpPr>
            <p:spPr>
              <a:xfrm>
                <a:off x="3885019" y="3844284"/>
                <a:ext cx="613700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TW" sz="1600" b="0" i="1" smtClean="0">
                          <a:latin typeface="Cambria Math" panose="02040503050406030204" pitchFamily="18" charset="0"/>
                        </a:rPr>
                        <m:t>−2.9</m:t>
                      </m:r>
                    </m:oMath>
                  </m:oMathPara>
                </a14:m>
                <a:endParaRPr kumimoji="1" lang="zh-TW" altLang="en-US" sz="1600" dirty="0"/>
              </a:p>
            </p:txBody>
          </p:sp>
        </mc:Choice>
        <mc:Fallback xmlns="">
          <p:sp>
            <p:nvSpPr>
              <p:cNvPr id="29" name="文字方塊 28">
                <a:extLst>
                  <a:ext uri="{FF2B5EF4-FFF2-40B4-BE49-F238E27FC236}">
                    <a16:creationId xmlns:a16="http://schemas.microsoft.com/office/drawing/2014/main" id="{8F9CE310-A15D-4542-74A8-BF14C20D773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85019" y="3844284"/>
                <a:ext cx="613700" cy="338554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" name="文字方塊 29">
                <a:extLst>
                  <a:ext uri="{FF2B5EF4-FFF2-40B4-BE49-F238E27FC236}">
                    <a16:creationId xmlns:a16="http://schemas.microsoft.com/office/drawing/2014/main" id="{1834D209-F6BD-1B0A-BF59-E0500E0C63A1}"/>
                  </a:ext>
                </a:extLst>
              </p:cNvPr>
              <p:cNvSpPr txBox="1"/>
              <p:nvPr/>
            </p:nvSpPr>
            <p:spPr>
              <a:xfrm>
                <a:off x="3885019" y="4345643"/>
                <a:ext cx="613701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TW" sz="1600" b="0" i="1" smtClean="0">
                          <a:latin typeface="Cambria Math" panose="02040503050406030204" pitchFamily="18" charset="0"/>
                        </a:rPr>
                        <m:t>−1.6</m:t>
                      </m:r>
                    </m:oMath>
                  </m:oMathPara>
                </a14:m>
                <a:endParaRPr kumimoji="1" lang="zh-TW" altLang="en-US" sz="1600" dirty="0"/>
              </a:p>
            </p:txBody>
          </p:sp>
        </mc:Choice>
        <mc:Fallback xmlns="">
          <p:sp>
            <p:nvSpPr>
              <p:cNvPr id="30" name="文字方塊 29">
                <a:extLst>
                  <a:ext uri="{FF2B5EF4-FFF2-40B4-BE49-F238E27FC236}">
                    <a16:creationId xmlns:a16="http://schemas.microsoft.com/office/drawing/2014/main" id="{1834D209-F6BD-1B0A-BF59-E0500E0C63A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85019" y="4345643"/>
                <a:ext cx="613701" cy="338554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" name="文字方塊 30">
                <a:extLst>
                  <a:ext uri="{FF2B5EF4-FFF2-40B4-BE49-F238E27FC236}">
                    <a16:creationId xmlns:a16="http://schemas.microsoft.com/office/drawing/2014/main" id="{4D3DAC6B-5B92-1CFD-751E-6687CB641DB3}"/>
                  </a:ext>
                </a:extLst>
              </p:cNvPr>
              <p:cNvSpPr txBox="1"/>
              <p:nvPr/>
            </p:nvSpPr>
            <p:spPr>
              <a:xfrm>
                <a:off x="3848820" y="5910891"/>
                <a:ext cx="686099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TW" sz="1600" b="0" i="1" smtClean="0">
                          <a:latin typeface="Cambria Math" panose="02040503050406030204" pitchFamily="18" charset="0"/>
                        </a:rPr>
                        <m:t>−1.8</m:t>
                      </m:r>
                    </m:oMath>
                  </m:oMathPara>
                </a14:m>
                <a:endParaRPr kumimoji="1" lang="zh-TW" altLang="en-US" sz="1600" dirty="0"/>
              </a:p>
            </p:txBody>
          </p:sp>
        </mc:Choice>
        <mc:Fallback xmlns="">
          <p:sp>
            <p:nvSpPr>
              <p:cNvPr id="31" name="文字方塊 30">
                <a:extLst>
                  <a:ext uri="{FF2B5EF4-FFF2-40B4-BE49-F238E27FC236}">
                    <a16:creationId xmlns:a16="http://schemas.microsoft.com/office/drawing/2014/main" id="{4D3DAC6B-5B92-1CFD-751E-6687CB641DB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48820" y="5910891"/>
                <a:ext cx="686099" cy="338554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" name="圓角矩形 17">
            <a:extLst>
              <a:ext uri="{FF2B5EF4-FFF2-40B4-BE49-F238E27FC236}">
                <a16:creationId xmlns:a16="http://schemas.microsoft.com/office/drawing/2014/main" id="{601EF68D-AB15-2BE7-FB27-3732E7DC8DC8}"/>
              </a:ext>
            </a:extLst>
          </p:cNvPr>
          <p:cNvSpPr/>
          <p:nvPr/>
        </p:nvSpPr>
        <p:spPr>
          <a:xfrm>
            <a:off x="5426258" y="2144666"/>
            <a:ext cx="732055" cy="514110"/>
          </a:xfrm>
          <a:prstGeom prst="roundRect">
            <a:avLst/>
          </a:prstGeom>
          <a:solidFill>
            <a:srgbClr val="C5E0B4"/>
          </a:solidFill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en-US" altLang="zh-TW" sz="1600" dirty="0">
                <a:solidFill>
                  <a:srgbClr val="FF0000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to</a:t>
            </a:r>
            <a:endParaRPr kumimoji="1" lang="zh-TW" altLang="en-US" sz="1600" dirty="0">
              <a:solidFill>
                <a:srgbClr val="FF0000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24" name="圓角矩形 23">
            <a:extLst>
              <a:ext uri="{FF2B5EF4-FFF2-40B4-BE49-F238E27FC236}">
                <a16:creationId xmlns:a16="http://schemas.microsoft.com/office/drawing/2014/main" id="{0CBAD8EE-42E2-E1A6-D756-AFEE80F6B6C3}"/>
              </a:ext>
            </a:extLst>
          </p:cNvPr>
          <p:cNvSpPr/>
          <p:nvPr/>
        </p:nvSpPr>
        <p:spPr>
          <a:xfrm>
            <a:off x="5426258" y="2940660"/>
            <a:ext cx="732056" cy="514110"/>
          </a:xfrm>
          <a:prstGeom prst="roundRect">
            <a:avLst/>
          </a:prstGeom>
          <a:solidFill>
            <a:srgbClr val="C5E0B4"/>
          </a:solidFill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en-US" altLang="zh-TW" sz="1300" dirty="0">
                <a:solidFill>
                  <a:srgbClr val="FF0000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books</a:t>
            </a:r>
            <a:endParaRPr kumimoji="1" lang="zh-TW" altLang="en-US" sz="1300" dirty="0">
              <a:solidFill>
                <a:srgbClr val="FF0000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cxnSp>
        <p:nvCxnSpPr>
          <p:cNvPr id="35" name="直線箭頭接點 34">
            <a:extLst>
              <a:ext uri="{FF2B5EF4-FFF2-40B4-BE49-F238E27FC236}">
                <a16:creationId xmlns:a16="http://schemas.microsoft.com/office/drawing/2014/main" id="{46E46508-67A3-47D1-F2E4-593015865BD2}"/>
              </a:ext>
            </a:extLst>
          </p:cNvPr>
          <p:cNvCxnSpPr>
            <a:cxnSpLocks/>
          </p:cNvCxnSpPr>
          <p:nvPr/>
        </p:nvCxnSpPr>
        <p:spPr>
          <a:xfrm flipV="1">
            <a:off x="4646593" y="2401721"/>
            <a:ext cx="686098" cy="35668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直線箭頭接點 35">
            <a:extLst>
              <a:ext uri="{FF2B5EF4-FFF2-40B4-BE49-F238E27FC236}">
                <a16:creationId xmlns:a16="http://schemas.microsoft.com/office/drawing/2014/main" id="{454CD8D4-70BA-C50F-4173-C4EFAF415F32}"/>
              </a:ext>
            </a:extLst>
          </p:cNvPr>
          <p:cNvCxnSpPr>
            <a:cxnSpLocks/>
          </p:cNvCxnSpPr>
          <p:nvPr/>
        </p:nvCxnSpPr>
        <p:spPr>
          <a:xfrm>
            <a:off x="4664366" y="2868626"/>
            <a:ext cx="686098" cy="35668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7" name="文字方塊 36">
                <a:extLst>
                  <a:ext uri="{FF2B5EF4-FFF2-40B4-BE49-F238E27FC236}">
                    <a16:creationId xmlns:a16="http://schemas.microsoft.com/office/drawing/2014/main" id="{5B72CF1E-2455-77B2-4E63-0388B571BA45}"/>
                  </a:ext>
                </a:extLst>
              </p:cNvPr>
              <p:cNvSpPr txBox="1"/>
              <p:nvPr/>
            </p:nvSpPr>
            <p:spPr>
              <a:xfrm>
                <a:off x="5518071" y="1789852"/>
                <a:ext cx="530678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TW" sz="1600" b="0" i="1" smtClean="0">
                          <a:latin typeface="Cambria Math" panose="02040503050406030204" pitchFamily="18" charset="0"/>
                        </a:rPr>
                        <m:t>−2.8</m:t>
                      </m:r>
                    </m:oMath>
                  </m:oMathPara>
                </a14:m>
                <a:endParaRPr kumimoji="1" lang="zh-TW" altLang="en-US" sz="1600" dirty="0"/>
              </a:p>
            </p:txBody>
          </p:sp>
        </mc:Choice>
        <mc:Fallback xmlns="">
          <p:sp>
            <p:nvSpPr>
              <p:cNvPr id="37" name="文字方塊 36">
                <a:extLst>
                  <a:ext uri="{FF2B5EF4-FFF2-40B4-BE49-F238E27FC236}">
                    <a16:creationId xmlns:a16="http://schemas.microsoft.com/office/drawing/2014/main" id="{5B72CF1E-2455-77B2-4E63-0388B571BA4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18071" y="1789852"/>
                <a:ext cx="530678" cy="338554"/>
              </a:xfrm>
              <a:prstGeom prst="rect">
                <a:avLst/>
              </a:prstGeom>
              <a:blipFill>
                <a:blip r:embed="rId9"/>
                <a:stretch>
                  <a:fillRect r="-9302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8" name="文字方塊 37">
                <a:extLst>
                  <a:ext uri="{FF2B5EF4-FFF2-40B4-BE49-F238E27FC236}">
                    <a16:creationId xmlns:a16="http://schemas.microsoft.com/office/drawing/2014/main" id="{75DED9B6-F0F3-1533-17C3-AE4E8F2376DC}"/>
                  </a:ext>
                </a:extLst>
              </p:cNvPr>
              <p:cNvSpPr txBox="1"/>
              <p:nvPr/>
            </p:nvSpPr>
            <p:spPr>
              <a:xfrm>
                <a:off x="5500315" y="3428408"/>
                <a:ext cx="566190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TW" sz="1600" b="0" i="1" smtClean="0">
                          <a:latin typeface="Cambria Math" panose="02040503050406030204" pitchFamily="18" charset="0"/>
                        </a:rPr>
                        <m:t>−2.</m:t>
                      </m:r>
                      <m:r>
                        <a:rPr kumimoji="1" lang="en-US" altLang="zh-TW" sz="1600" b="0" i="0" smtClean="0">
                          <a:latin typeface="Cambria Math" panose="02040503050406030204" pitchFamily="18" charset="0"/>
                        </a:rPr>
                        <m:t>5</m:t>
                      </m:r>
                    </m:oMath>
                  </m:oMathPara>
                </a14:m>
                <a:endParaRPr kumimoji="1" lang="zh-TW" altLang="en-US" sz="1600" dirty="0"/>
              </a:p>
            </p:txBody>
          </p:sp>
        </mc:Choice>
        <mc:Fallback xmlns="">
          <p:sp>
            <p:nvSpPr>
              <p:cNvPr id="38" name="文字方塊 37">
                <a:extLst>
                  <a:ext uri="{FF2B5EF4-FFF2-40B4-BE49-F238E27FC236}">
                    <a16:creationId xmlns:a16="http://schemas.microsoft.com/office/drawing/2014/main" id="{75DED9B6-F0F3-1533-17C3-AE4E8F2376D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00315" y="3428408"/>
                <a:ext cx="566190" cy="338554"/>
              </a:xfrm>
              <a:prstGeom prst="rect">
                <a:avLst/>
              </a:prstGeom>
              <a:blipFill>
                <a:blip r:embed="rId10"/>
                <a:stretch>
                  <a:fillRect r="-4348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9" name="圓角矩形 38">
            <a:extLst>
              <a:ext uri="{FF2B5EF4-FFF2-40B4-BE49-F238E27FC236}">
                <a16:creationId xmlns:a16="http://schemas.microsoft.com/office/drawing/2014/main" id="{8D37F53C-38B0-72B7-761E-CCE30BD3F6A2}"/>
              </a:ext>
            </a:extLst>
          </p:cNvPr>
          <p:cNvSpPr/>
          <p:nvPr/>
        </p:nvSpPr>
        <p:spPr>
          <a:xfrm>
            <a:off x="5444007" y="4253284"/>
            <a:ext cx="732055" cy="514110"/>
          </a:xfrm>
          <a:prstGeom prst="roundRect">
            <a:avLst/>
          </a:prstGeom>
          <a:solidFill>
            <a:srgbClr val="C5E0B4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en-US" altLang="zh-TW" sz="1600" dirty="0">
                <a:solidFill>
                  <a:schemeClr val="tx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to</a:t>
            </a:r>
            <a:endParaRPr kumimoji="1" lang="zh-TW" altLang="en-US" sz="1600" dirty="0">
              <a:solidFill>
                <a:schemeClr val="tx1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40" name="圓角矩形 39">
            <a:extLst>
              <a:ext uri="{FF2B5EF4-FFF2-40B4-BE49-F238E27FC236}">
                <a16:creationId xmlns:a16="http://schemas.microsoft.com/office/drawing/2014/main" id="{A3DAE183-4DB4-FB98-30FA-C42FE80C7E5C}"/>
              </a:ext>
            </a:extLst>
          </p:cNvPr>
          <p:cNvSpPr/>
          <p:nvPr/>
        </p:nvSpPr>
        <p:spPr>
          <a:xfrm>
            <a:off x="5444007" y="5049278"/>
            <a:ext cx="732056" cy="514110"/>
          </a:xfrm>
          <a:prstGeom prst="roundRect">
            <a:avLst/>
          </a:prstGeom>
          <a:solidFill>
            <a:srgbClr val="C5E0B4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en-US" altLang="zh-TW" sz="1600" dirty="0">
                <a:solidFill>
                  <a:schemeClr val="tx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tea</a:t>
            </a:r>
            <a:endParaRPr kumimoji="1" lang="zh-TW" altLang="en-US" sz="1600" dirty="0">
              <a:solidFill>
                <a:schemeClr val="tx1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cxnSp>
        <p:nvCxnSpPr>
          <p:cNvPr id="41" name="直線箭頭接點 40">
            <a:extLst>
              <a:ext uri="{FF2B5EF4-FFF2-40B4-BE49-F238E27FC236}">
                <a16:creationId xmlns:a16="http://schemas.microsoft.com/office/drawing/2014/main" id="{02DB8DA1-DF6A-7639-0750-34AB62672E0C}"/>
              </a:ext>
            </a:extLst>
          </p:cNvPr>
          <p:cNvCxnSpPr>
            <a:cxnSpLocks/>
          </p:cNvCxnSpPr>
          <p:nvPr/>
        </p:nvCxnSpPr>
        <p:spPr>
          <a:xfrm flipV="1">
            <a:off x="4664342" y="4510339"/>
            <a:ext cx="686098" cy="35668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直線箭頭接點 41">
            <a:extLst>
              <a:ext uri="{FF2B5EF4-FFF2-40B4-BE49-F238E27FC236}">
                <a16:creationId xmlns:a16="http://schemas.microsoft.com/office/drawing/2014/main" id="{C5EC476E-EC31-2D86-E6B2-EBF1955BF1E5}"/>
              </a:ext>
            </a:extLst>
          </p:cNvPr>
          <p:cNvCxnSpPr>
            <a:cxnSpLocks/>
          </p:cNvCxnSpPr>
          <p:nvPr/>
        </p:nvCxnSpPr>
        <p:spPr>
          <a:xfrm>
            <a:off x="4682115" y="4977244"/>
            <a:ext cx="686098" cy="35668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3" name="文字方塊 42">
                <a:extLst>
                  <a:ext uri="{FF2B5EF4-FFF2-40B4-BE49-F238E27FC236}">
                    <a16:creationId xmlns:a16="http://schemas.microsoft.com/office/drawing/2014/main" id="{9322DFDD-EFF0-7244-F30C-F19809A79EB8}"/>
                  </a:ext>
                </a:extLst>
              </p:cNvPr>
              <p:cNvSpPr txBox="1"/>
              <p:nvPr/>
            </p:nvSpPr>
            <p:spPr>
              <a:xfrm>
                <a:off x="5495873" y="3926009"/>
                <a:ext cx="575074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TW" sz="1600" b="0" i="1" smtClean="0">
                          <a:latin typeface="Cambria Math" panose="02040503050406030204" pitchFamily="18" charset="0"/>
                        </a:rPr>
                        <m:t>−2.9</m:t>
                      </m:r>
                    </m:oMath>
                  </m:oMathPara>
                </a14:m>
                <a:endParaRPr kumimoji="1" lang="zh-TW" altLang="en-US" sz="1600" dirty="0"/>
              </a:p>
            </p:txBody>
          </p:sp>
        </mc:Choice>
        <mc:Fallback xmlns="">
          <p:sp>
            <p:nvSpPr>
              <p:cNvPr id="43" name="文字方塊 42">
                <a:extLst>
                  <a:ext uri="{FF2B5EF4-FFF2-40B4-BE49-F238E27FC236}">
                    <a16:creationId xmlns:a16="http://schemas.microsoft.com/office/drawing/2014/main" id="{9322DFDD-EFF0-7244-F30C-F19809A79EB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95873" y="3926009"/>
                <a:ext cx="575074" cy="338554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4" name="文字方塊 43">
                <a:extLst>
                  <a:ext uri="{FF2B5EF4-FFF2-40B4-BE49-F238E27FC236}">
                    <a16:creationId xmlns:a16="http://schemas.microsoft.com/office/drawing/2014/main" id="{08361A65-0546-D0FE-B2EE-A1BC12C81851}"/>
                  </a:ext>
                </a:extLst>
              </p:cNvPr>
              <p:cNvSpPr txBox="1"/>
              <p:nvPr/>
            </p:nvSpPr>
            <p:spPr>
              <a:xfrm>
                <a:off x="5509190" y="5559395"/>
                <a:ext cx="548440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TW" sz="1600" b="0" i="1" smtClean="0">
                          <a:latin typeface="Cambria Math" panose="02040503050406030204" pitchFamily="18" charset="0"/>
                        </a:rPr>
                        <m:t>−3.8</m:t>
                      </m:r>
                    </m:oMath>
                  </m:oMathPara>
                </a14:m>
                <a:endParaRPr kumimoji="1" lang="zh-TW" altLang="en-US" sz="1600" dirty="0"/>
              </a:p>
            </p:txBody>
          </p:sp>
        </mc:Choice>
        <mc:Fallback xmlns="">
          <p:sp>
            <p:nvSpPr>
              <p:cNvPr id="44" name="文字方塊 43">
                <a:extLst>
                  <a:ext uri="{FF2B5EF4-FFF2-40B4-BE49-F238E27FC236}">
                    <a16:creationId xmlns:a16="http://schemas.microsoft.com/office/drawing/2014/main" id="{08361A65-0546-D0FE-B2EE-A1BC12C8185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09190" y="5559395"/>
                <a:ext cx="548440" cy="338554"/>
              </a:xfrm>
              <a:prstGeom prst="rect">
                <a:avLst/>
              </a:prstGeom>
              <a:blipFill>
                <a:blip r:embed="rId12"/>
                <a:stretch>
                  <a:fillRect r="-4444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圓角矩形 1">
            <a:extLst>
              <a:ext uri="{FF2B5EF4-FFF2-40B4-BE49-F238E27FC236}">
                <a16:creationId xmlns:a16="http://schemas.microsoft.com/office/drawing/2014/main" id="{FCC80EAE-A748-DD7C-9D1D-B90050229D28}"/>
              </a:ext>
            </a:extLst>
          </p:cNvPr>
          <p:cNvSpPr/>
          <p:nvPr/>
        </p:nvSpPr>
        <p:spPr>
          <a:xfrm>
            <a:off x="6959306" y="2544320"/>
            <a:ext cx="810689" cy="514110"/>
          </a:xfrm>
          <a:prstGeom prst="roundRect">
            <a:avLst/>
          </a:prstGeom>
          <a:solidFill>
            <a:srgbClr val="C5E0B4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en-US" altLang="zh-TW" sz="1600" dirty="0">
                <a:solidFill>
                  <a:schemeClr val="tx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watch</a:t>
            </a:r>
            <a:endParaRPr kumimoji="1" lang="zh-TW" altLang="en-US" sz="1600" dirty="0">
              <a:solidFill>
                <a:schemeClr val="tx1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16" name="圓角矩形 15">
            <a:extLst>
              <a:ext uri="{FF2B5EF4-FFF2-40B4-BE49-F238E27FC236}">
                <a16:creationId xmlns:a16="http://schemas.microsoft.com/office/drawing/2014/main" id="{624AFD73-A0D9-AE22-080A-91A4FC5F408D}"/>
              </a:ext>
            </a:extLst>
          </p:cNvPr>
          <p:cNvSpPr/>
          <p:nvPr/>
        </p:nvSpPr>
        <p:spPr>
          <a:xfrm>
            <a:off x="6959308" y="1747929"/>
            <a:ext cx="810689" cy="514110"/>
          </a:xfrm>
          <a:prstGeom prst="roundRect">
            <a:avLst/>
          </a:prstGeom>
          <a:solidFill>
            <a:srgbClr val="C5E0B4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en-US" altLang="zh-TW" sz="1600" dirty="0">
                <a:solidFill>
                  <a:schemeClr val="tx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read</a:t>
            </a:r>
            <a:endParaRPr kumimoji="1" lang="zh-TW" altLang="en-US" sz="1600" dirty="0">
              <a:solidFill>
                <a:schemeClr val="tx1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20" name="圓角矩形 19">
            <a:extLst>
              <a:ext uri="{FF2B5EF4-FFF2-40B4-BE49-F238E27FC236}">
                <a16:creationId xmlns:a16="http://schemas.microsoft.com/office/drawing/2014/main" id="{4F17797E-F2DB-5ADF-02FE-E0226F7ACE16}"/>
              </a:ext>
            </a:extLst>
          </p:cNvPr>
          <p:cNvSpPr/>
          <p:nvPr/>
        </p:nvSpPr>
        <p:spPr>
          <a:xfrm>
            <a:off x="6959307" y="3652720"/>
            <a:ext cx="810689" cy="514110"/>
          </a:xfrm>
          <a:prstGeom prst="roundRect">
            <a:avLst/>
          </a:prstGeom>
          <a:solidFill>
            <a:srgbClr val="C5E0B4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en-US" altLang="zh-TW" sz="1600" dirty="0">
                <a:solidFill>
                  <a:schemeClr val="tx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and</a:t>
            </a:r>
            <a:endParaRPr kumimoji="1" lang="zh-TW" altLang="en-US" sz="1600" dirty="0">
              <a:solidFill>
                <a:schemeClr val="tx1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21" name="圓角矩形 20">
            <a:extLst>
              <a:ext uri="{FF2B5EF4-FFF2-40B4-BE49-F238E27FC236}">
                <a16:creationId xmlns:a16="http://schemas.microsoft.com/office/drawing/2014/main" id="{3B819ECA-E0CE-0C5D-FF83-5E3EE687278A}"/>
              </a:ext>
            </a:extLst>
          </p:cNvPr>
          <p:cNvSpPr/>
          <p:nvPr/>
        </p:nvSpPr>
        <p:spPr>
          <a:xfrm>
            <a:off x="6959307" y="4451194"/>
            <a:ext cx="810689" cy="514110"/>
          </a:xfrm>
          <a:prstGeom prst="roundRect">
            <a:avLst/>
          </a:prstGeom>
          <a:solidFill>
            <a:srgbClr val="C5E0B4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en-US" altLang="zh-TW" sz="1600" dirty="0">
                <a:solidFill>
                  <a:schemeClr val="tx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party</a:t>
            </a:r>
            <a:endParaRPr kumimoji="1" lang="zh-TW" altLang="en-US" sz="1600" dirty="0">
              <a:solidFill>
                <a:schemeClr val="tx1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cxnSp>
        <p:nvCxnSpPr>
          <p:cNvPr id="32" name="直線箭頭接點 31">
            <a:extLst>
              <a:ext uri="{FF2B5EF4-FFF2-40B4-BE49-F238E27FC236}">
                <a16:creationId xmlns:a16="http://schemas.microsoft.com/office/drawing/2014/main" id="{FFD04519-C5EE-5166-1A97-1250B554FDCF}"/>
              </a:ext>
            </a:extLst>
          </p:cNvPr>
          <p:cNvCxnSpPr>
            <a:cxnSpLocks/>
          </p:cNvCxnSpPr>
          <p:nvPr/>
        </p:nvCxnSpPr>
        <p:spPr>
          <a:xfrm flipV="1">
            <a:off x="6251880" y="1957795"/>
            <a:ext cx="635929" cy="41489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直線箭頭接點 33">
            <a:extLst>
              <a:ext uri="{FF2B5EF4-FFF2-40B4-BE49-F238E27FC236}">
                <a16:creationId xmlns:a16="http://schemas.microsoft.com/office/drawing/2014/main" id="{6E11CB0D-D77D-45B7-25D6-C3B2C6965F47}"/>
              </a:ext>
            </a:extLst>
          </p:cNvPr>
          <p:cNvCxnSpPr>
            <a:cxnSpLocks/>
          </p:cNvCxnSpPr>
          <p:nvPr/>
        </p:nvCxnSpPr>
        <p:spPr>
          <a:xfrm>
            <a:off x="6259576" y="2420845"/>
            <a:ext cx="628233" cy="462307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直線箭頭接點 47">
            <a:extLst>
              <a:ext uri="{FF2B5EF4-FFF2-40B4-BE49-F238E27FC236}">
                <a16:creationId xmlns:a16="http://schemas.microsoft.com/office/drawing/2014/main" id="{56F25780-7D26-D5A3-3618-1135CB12AAC1}"/>
              </a:ext>
            </a:extLst>
          </p:cNvPr>
          <p:cNvCxnSpPr>
            <a:cxnSpLocks/>
          </p:cNvCxnSpPr>
          <p:nvPr/>
        </p:nvCxnSpPr>
        <p:spPr>
          <a:xfrm>
            <a:off x="6251879" y="3215471"/>
            <a:ext cx="625270" cy="694304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直線箭頭接點 49">
            <a:extLst>
              <a:ext uri="{FF2B5EF4-FFF2-40B4-BE49-F238E27FC236}">
                <a16:creationId xmlns:a16="http://schemas.microsoft.com/office/drawing/2014/main" id="{70EA67BC-FF40-CF85-BF93-26350692CB6F}"/>
              </a:ext>
            </a:extLst>
          </p:cNvPr>
          <p:cNvCxnSpPr>
            <a:cxnSpLocks/>
          </p:cNvCxnSpPr>
          <p:nvPr/>
        </p:nvCxnSpPr>
        <p:spPr>
          <a:xfrm>
            <a:off x="6246934" y="3268249"/>
            <a:ext cx="630215" cy="1499145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2" name="文字方塊 51">
                <a:extLst>
                  <a:ext uri="{FF2B5EF4-FFF2-40B4-BE49-F238E27FC236}">
                    <a16:creationId xmlns:a16="http://schemas.microsoft.com/office/drawing/2014/main" id="{EC0517B7-256E-F152-381C-CE5B518C49B6}"/>
                  </a:ext>
                </a:extLst>
              </p:cNvPr>
              <p:cNvSpPr txBox="1"/>
              <p:nvPr/>
            </p:nvSpPr>
            <p:spPr>
              <a:xfrm>
                <a:off x="6990563" y="1422320"/>
                <a:ext cx="643283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TW" sz="1600" b="0" i="1" smtClean="0">
                          <a:latin typeface="Cambria Math" panose="02040503050406030204" pitchFamily="18" charset="0"/>
                        </a:rPr>
                        <m:t>−4.1</m:t>
                      </m:r>
                    </m:oMath>
                  </m:oMathPara>
                </a14:m>
                <a:endParaRPr kumimoji="1" lang="zh-TW" altLang="en-US" sz="1600" dirty="0"/>
              </a:p>
            </p:txBody>
          </p:sp>
        </mc:Choice>
        <mc:Fallback xmlns="">
          <p:sp>
            <p:nvSpPr>
              <p:cNvPr id="52" name="文字方塊 51">
                <a:extLst>
                  <a:ext uri="{FF2B5EF4-FFF2-40B4-BE49-F238E27FC236}">
                    <a16:creationId xmlns:a16="http://schemas.microsoft.com/office/drawing/2014/main" id="{EC0517B7-256E-F152-381C-CE5B518C49B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90563" y="1422320"/>
                <a:ext cx="643283" cy="338554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3" name="文字方塊 52">
                <a:extLst>
                  <a:ext uri="{FF2B5EF4-FFF2-40B4-BE49-F238E27FC236}">
                    <a16:creationId xmlns:a16="http://schemas.microsoft.com/office/drawing/2014/main" id="{6F906C2F-5027-8893-C1EC-DB34E9C0E2C2}"/>
                  </a:ext>
                </a:extLst>
              </p:cNvPr>
              <p:cNvSpPr txBox="1"/>
              <p:nvPr/>
            </p:nvSpPr>
            <p:spPr>
              <a:xfrm>
                <a:off x="7034878" y="3014097"/>
                <a:ext cx="530678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TW" sz="1600" b="0" i="1" smtClean="0">
                          <a:latin typeface="Cambria Math" panose="02040503050406030204" pitchFamily="18" charset="0"/>
                        </a:rPr>
                        <m:t>−3.2</m:t>
                      </m:r>
                    </m:oMath>
                  </m:oMathPara>
                </a14:m>
                <a:endParaRPr kumimoji="1" lang="zh-TW" altLang="en-US" sz="1600" dirty="0"/>
              </a:p>
            </p:txBody>
          </p:sp>
        </mc:Choice>
        <mc:Fallback xmlns="">
          <p:sp>
            <p:nvSpPr>
              <p:cNvPr id="53" name="文字方塊 52">
                <a:extLst>
                  <a:ext uri="{FF2B5EF4-FFF2-40B4-BE49-F238E27FC236}">
                    <a16:creationId xmlns:a16="http://schemas.microsoft.com/office/drawing/2014/main" id="{6F906C2F-5027-8893-C1EC-DB34E9C0E2C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34878" y="3014097"/>
                <a:ext cx="530678" cy="338554"/>
              </a:xfrm>
              <a:prstGeom prst="rect">
                <a:avLst/>
              </a:prstGeom>
              <a:blipFill>
                <a:blip r:embed="rId14"/>
                <a:stretch>
                  <a:fillRect r="-9302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4" name="文字方塊 53">
                <a:extLst>
                  <a:ext uri="{FF2B5EF4-FFF2-40B4-BE49-F238E27FC236}">
                    <a16:creationId xmlns:a16="http://schemas.microsoft.com/office/drawing/2014/main" id="{16676045-5672-AA81-F226-84FF0BBA8EFB}"/>
                  </a:ext>
                </a:extLst>
              </p:cNvPr>
              <p:cNvSpPr txBox="1"/>
              <p:nvPr/>
            </p:nvSpPr>
            <p:spPr>
              <a:xfrm>
                <a:off x="7034878" y="3380849"/>
                <a:ext cx="530678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TW" sz="1600" b="0" i="1" smtClean="0">
                          <a:latin typeface="Cambria Math" panose="02040503050406030204" pitchFamily="18" charset="0"/>
                        </a:rPr>
                        <m:t>−3.3</m:t>
                      </m:r>
                    </m:oMath>
                  </m:oMathPara>
                </a14:m>
                <a:endParaRPr kumimoji="1" lang="zh-TW" altLang="en-US" sz="1600" dirty="0"/>
              </a:p>
            </p:txBody>
          </p:sp>
        </mc:Choice>
        <mc:Fallback xmlns="">
          <p:sp>
            <p:nvSpPr>
              <p:cNvPr id="54" name="文字方塊 53">
                <a:extLst>
                  <a:ext uri="{FF2B5EF4-FFF2-40B4-BE49-F238E27FC236}">
                    <a16:creationId xmlns:a16="http://schemas.microsoft.com/office/drawing/2014/main" id="{16676045-5672-AA81-F226-84FF0BBA8EF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34878" y="3380849"/>
                <a:ext cx="530678" cy="338554"/>
              </a:xfrm>
              <a:prstGeom prst="rect">
                <a:avLst/>
              </a:prstGeom>
              <a:blipFill>
                <a:blip r:embed="rId15"/>
                <a:stretch>
                  <a:fillRect r="-9302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7" name="文字方塊 56">
                <a:extLst>
                  <a:ext uri="{FF2B5EF4-FFF2-40B4-BE49-F238E27FC236}">
                    <a16:creationId xmlns:a16="http://schemas.microsoft.com/office/drawing/2014/main" id="{F9C59B25-2255-0ACF-CE91-AC14A5AC8D46}"/>
                  </a:ext>
                </a:extLst>
              </p:cNvPr>
              <p:cNvSpPr txBox="1"/>
              <p:nvPr/>
            </p:nvSpPr>
            <p:spPr>
              <a:xfrm>
                <a:off x="7046866" y="4946362"/>
                <a:ext cx="530678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TW" sz="1600" b="0" i="1" smtClean="0">
                          <a:latin typeface="Cambria Math" panose="02040503050406030204" pitchFamily="18" charset="0"/>
                        </a:rPr>
                        <m:t>−3.5</m:t>
                      </m:r>
                    </m:oMath>
                  </m:oMathPara>
                </a14:m>
                <a:endParaRPr kumimoji="1" lang="zh-TW" altLang="en-US" sz="1600" dirty="0"/>
              </a:p>
            </p:txBody>
          </p:sp>
        </mc:Choice>
        <mc:Fallback xmlns="">
          <p:sp>
            <p:nvSpPr>
              <p:cNvPr id="57" name="文字方塊 56">
                <a:extLst>
                  <a:ext uri="{FF2B5EF4-FFF2-40B4-BE49-F238E27FC236}">
                    <a16:creationId xmlns:a16="http://schemas.microsoft.com/office/drawing/2014/main" id="{F9C59B25-2255-0ACF-CE91-AC14A5AC8D4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46866" y="4946362"/>
                <a:ext cx="530678" cy="338554"/>
              </a:xfrm>
              <a:prstGeom prst="rect">
                <a:avLst/>
              </a:prstGeom>
              <a:blipFill>
                <a:blip r:embed="rId16"/>
                <a:stretch>
                  <a:fillRect r="-9302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文字方塊 10">
            <a:extLst>
              <a:ext uri="{FF2B5EF4-FFF2-40B4-BE49-F238E27FC236}">
                <a16:creationId xmlns:a16="http://schemas.microsoft.com/office/drawing/2014/main" id="{92636311-1205-C5E4-22C8-3BA6DEC8E420}"/>
              </a:ext>
            </a:extLst>
          </p:cNvPr>
          <p:cNvSpPr txBox="1"/>
          <p:nvPr/>
        </p:nvSpPr>
        <p:spPr>
          <a:xfrm>
            <a:off x="9613039" y="688130"/>
            <a:ext cx="1884594" cy="369332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dirty="0"/>
              <a:t>`Beam size` = 2</a:t>
            </a:r>
            <a:endParaRPr kumimoji="1" lang="zh-TW" alt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7" name="標題 1">
                <a:extLst>
                  <a:ext uri="{FF2B5EF4-FFF2-40B4-BE49-F238E27FC236}">
                    <a16:creationId xmlns:a16="http://schemas.microsoft.com/office/drawing/2014/main" id="{E51BB45E-9724-6E4D-56F3-B22C2FA102B0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644672" y="356088"/>
                <a:ext cx="10511008" cy="1033416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rmAutofit/>
              </a:bodyPr>
              <a:lstStyle>
                <a:lvl1pPr marL="0" algn="l" defTabSz="914400" rtl="0" eaLnBrk="1" latinLnBrk="0" hangingPunct="1">
                  <a:lnSpc>
                    <a:spcPct val="85000"/>
                  </a:lnSpc>
                  <a:spcBef>
                    <a:spcPct val="0"/>
                  </a:spcBef>
                  <a:buNone/>
                  <a:defRPr sz="4800" kern="1200" spc="-5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r>
                  <a:rPr kumimoji="1" lang="en-US" altLang="zh-TW" dirty="0"/>
                  <a:t>Beam Search</a:t>
                </a:r>
                <a:r>
                  <a:rPr kumimoji="1" lang="zh-TW" altLang="en-US" dirty="0"/>
                  <a:t> </a:t>
                </a:r>
                <a:r>
                  <a:rPr kumimoji="1" lang="en-US" altLang="zh-TW" dirty="0"/>
                  <a:t>(</a:t>
                </a:r>
                <a14:m>
                  <m:oMath xmlns:m="http://schemas.openxmlformats.org/officeDocument/2006/math">
                    <m:r>
                      <a:rPr kumimoji="1" lang="en-US" altLang="zh-TW" b="0" i="1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kumimoji="1" lang="en-US" altLang="zh-TW" b="0" i="1" smtClean="0">
                        <a:latin typeface="Cambria Math" panose="02040503050406030204" pitchFamily="18" charset="0"/>
                      </a:rPr>
                      <m:t>=4</m:t>
                    </m:r>
                  </m:oMath>
                </a14:m>
                <a:r>
                  <a:rPr kumimoji="1" lang="en-US" altLang="zh-TW" dirty="0"/>
                  <a:t>)</a:t>
                </a:r>
                <a:endParaRPr lang="zh-TW" altLang="en-US" dirty="0">
                  <a:latin typeface="Times New Roman"/>
                  <a:ea typeface="新細明體"/>
                  <a:cs typeface="Calibri Light"/>
                </a:endParaRPr>
              </a:p>
            </p:txBody>
          </p:sp>
        </mc:Choice>
        <mc:Fallback>
          <p:sp>
            <p:nvSpPr>
              <p:cNvPr id="47" name="標題 1">
                <a:extLst>
                  <a:ext uri="{FF2B5EF4-FFF2-40B4-BE49-F238E27FC236}">
                    <a16:creationId xmlns:a16="http://schemas.microsoft.com/office/drawing/2014/main" id="{E51BB45E-9724-6E4D-56F3-B22C2FA102B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4672" y="356088"/>
                <a:ext cx="10511008" cy="1033416"/>
              </a:xfrm>
              <a:prstGeom prst="rect">
                <a:avLst/>
              </a:prstGeom>
              <a:blipFill>
                <a:blip r:embed="rId17"/>
                <a:stretch>
                  <a:fillRect l="-2654" t="-8434" b="-15663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23267858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80B6B308-E528-1567-412F-2BF52CB92E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dirty="0"/>
              <a:t>32</a:t>
            </a:fld>
            <a:endParaRPr lang="zh-TW" altLang="en-US"/>
          </a:p>
        </p:txBody>
      </p:sp>
      <p:sp>
        <p:nvSpPr>
          <p:cNvPr id="6" name="圓角矩形 5">
            <a:extLst>
              <a:ext uri="{FF2B5EF4-FFF2-40B4-BE49-F238E27FC236}">
                <a16:creationId xmlns:a16="http://schemas.microsoft.com/office/drawing/2014/main" id="{F07E41BB-9C95-5AB2-BA09-AE6796CBB446}"/>
              </a:ext>
            </a:extLst>
          </p:cNvPr>
          <p:cNvSpPr/>
          <p:nvPr/>
        </p:nvSpPr>
        <p:spPr>
          <a:xfrm>
            <a:off x="1234362" y="3920344"/>
            <a:ext cx="613700" cy="514110"/>
          </a:xfrm>
          <a:prstGeom prst="roundRect">
            <a:avLst/>
          </a:prstGeom>
          <a:solidFill>
            <a:srgbClr val="C5E0B4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en-US" altLang="zh-TW" sz="2400" dirty="0">
                <a:solidFill>
                  <a:schemeClr val="tx1"/>
                </a:solidFill>
              </a:rPr>
              <a:t>_</a:t>
            </a:r>
            <a:endParaRPr kumimoji="1" lang="zh-TW" altLang="en-US" sz="2400" dirty="0">
              <a:solidFill>
                <a:schemeClr val="tx1"/>
              </a:solidFill>
            </a:endParaRPr>
          </a:p>
        </p:txBody>
      </p:sp>
      <p:sp>
        <p:nvSpPr>
          <p:cNvPr id="7" name="文字方塊 67">
            <a:extLst>
              <a:ext uri="{FF2B5EF4-FFF2-40B4-BE49-F238E27FC236}">
                <a16:creationId xmlns:a16="http://schemas.microsoft.com/office/drawing/2014/main" id="{B381507F-DC44-2012-7728-330509B5ABA9}"/>
              </a:ext>
            </a:extLst>
          </p:cNvPr>
          <p:cNvSpPr txBox="1"/>
          <p:nvPr/>
        </p:nvSpPr>
        <p:spPr>
          <a:xfrm>
            <a:off x="1158218" y="4472662"/>
            <a:ext cx="77862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en-US" altLang="zh-TW" sz="1600" dirty="0"/>
              <a:t>(Start)</a:t>
            </a:r>
            <a:endParaRPr kumimoji="1" lang="zh-TW" altLang="en-US" sz="1600" dirty="0"/>
          </a:p>
        </p:txBody>
      </p:sp>
      <p:sp>
        <p:nvSpPr>
          <p:cNvPr id="10" name="圓角矩形 9">
            <a:extLst>
              <a:ext uri="{FF2B5EF4-FFF2-40B4-BE49-F238E27FC236}">
                <a16:creationId xmlns:a16="http://schemas.microsoft.com/office/drawing/2014/main" id="{875E7289-05C1-D185-CD20-7A8387DC3548}"/>
              </a:ext>
            </a:extLst>
          </p:cNvPr>
          <p:cNvSpPr/>
          <p:nvPr/>
        </p:nvSpPr>
        <p:spPr>
          <a:xfrm>
            <a:off x="2397436" y="2958733"/>
            <a:ext cx="613700" cy="514110"/>
          </a:xfrm>
          <a:prstGeom prst="roundRect">
            <a:avLst/>
          </a:prstGeom>
          <a:solidFill>
            <a:srgbClr val="C5E0B4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en-US" altLang="zh-TW" sz="1600" dirty="0">
                <a:solidFill>
                  <a:schemeClr val="tx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I</a:t>
            </a:r>
            <a:endParaRPr kumimoji="1" lang="zh-TW" altLang="en-US" sz="1600" dirty="0">
              <a:solidFill>
                <a:schemeClr val="tx1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12" name="圓角矩形 11">
            <a:extLst>
              <a:ext uri="{FF2B5EF4-FFF2-40B4-BE49-F238E27FC236}">
                <a16:creationId xmlns:a16="http://schemas.microsoft.com/office/drawing/2014/main" id="{3C729BBC-BACD-B4BC-5CFD-E43E279BC56D}"/>
              </a:ext>
            </a:extLst>
          </p:cNvPr>
          <p:cNvSpPr/>
          <p:nvPr/>
        </p:nvSpPr>
        <p:spPr>
          <a:xfrm>
            <a:off x="2397436" y="5004890"/>
            <a:ext cx="613700" cy="514110"/>
          </a:xfrm>
          <a:prstGeom prst="roundRect">
            <a:avLst/>
          </a:prstGeom>
          <a:solidFill>
            <a:srgbClr val="C5E0B4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en-US" altLang="zh-TW" sz="1600" dirty="0">
                <a:solidFill>
                  <a:schemeClr val="tx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You</a:t>
            </a:r>
            <a:endParaRPr kumimoji="1" lang="zh-TW" altLang="en-US" sz="1600" dirty="0">
              <a:solidFill>
                <a:schemeClr val="tx1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cxnSp>
        <p:nvCxnSpPr>
          <p:cNvPr id="14" name="直線箭頭接點 13">
            <a:extLst>
              <a:ext uri="{FF2B5EF4-FFF2-40B4-BE49-F238E27FC236}">
                <a16:creationId xmlns:a16="http://schemas.microsoft.com/office/drawing/2014/main" id="{25A5463B-ADA9-FE38-04CD-5FE88700466F}"/>
              </a:ext>
            </a:extLst>
          </p:cNvPr>
          <p:cNvCxnSpPr>
            <a:cxnSpLocks/>
          </p:cNvCxnSpPr>
          <p:nvPr/>
        </p:nvCxnSpPr>
        <p:spPr>
          <a:xfrm flipV="1">
            <a:off x="1871612" y="3159314"/>
            <a:ext cx="467804" cy="951566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線箭頭接點 18">
            <a:extLst>
              <a:ext uri="{FF2B5EF4-FFF2-40B4-BE49-F238E27FC236}">
                <a16:creationId xmlns:a16="http://schemas.microsoft.com/office/drawing/2014/main" id="{9D3CFDC7-E5AB-77B0-FA1A-9D836D4225EE}"/>
              </a:ext>
            </a:extLst>
          </p:cNvPr>
          <p:cNvCxnSpPr>
            <a:cxnSpLocks/>
          </p:cNvCxnSpPr>
          <p:nvPr/>
        </p:nvCxnSpPr>
        <p:spPr>
          <a:xfrm rot="10800000" flipH="1" flipV="1">
            <a:off x="1871612" y="4221432"/>
            <a:ext cx="467804" cy="951566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文字方塊 21">
                <a:extLst>
                  <a:ext uri="{FF2B5EF4-FFF2-40B4-BE49-F238E27FC236}">
                    <a16:creationId xmlns:a16="http://schemas.microsoft.com/office/drawing/2014/main" id="{AE2DCFBE-6018-9076-F2D2-1DB61E6327C0}"/>
                  </a:ext>
                </a:extLst>
              </p:cNvPr>
              <p:cNvSpPr txBox="1"/>
              <p:nvPr/>
            </p:nvSpPr>
            <p:spPr>
              <a:xfrm>
                <a:off x="2397435" y="2625303"/>
                <a:ext cx="613701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TW" sz="1600" b="0" i="1" smtClean="0">
                          <a:latin typeface="Cambria Math" panose="02040503050406030204" pitchFamily="18" charset="0"/>
                        </a:rPr>
                        <m:t>−0.7</m:t>
                      </m:r>
                    </m:oMath>
                  </m:oMathPara>
                </a14:m>
                <a:endParaRPr kumimoji="1" lang="zh-TW" altLang="en-US" sz="1600" dirty="0"/>
              </a:p>
            </p:txBody>
          </p:sp>
        </mc:Choice>
        <mc:Fallback xmlns="">
          <p:sp>
            <p:nvSpPr>
              <p:cNvPr id="22" name="文字方塊 21">
                <a:extLst>
                  <a:ext uri="{FF2B5EF4-FFF2-40B4-BE49-F238E27FC236}">
                    <a16:creationId xmlns:a16="http://schemas.microsoft.com/office/drawing/2014/main" id="{AE2DCFBE-6018-9076-F2D2-1DB61E6327C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97435" y="2625303"/>
                <a:ext cx="613701" cy="338554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文字方塊 22">
                <a:extLst>
                  <a:ext uri="{FF2B5EF4-FFF2-40B4-BE49-F238E27FC236}">
                    <a16:creationId xmlns:a16="http://schemas.microsoft.com/office/drawing/2014/main" id="{FD3DD690-0104-A97A-2C3F-7DF0AC27AFA7}"/>
                  </a:ext>
                </a:extLst>
              </p:cNvPr>
              <p:cNvSpPr txBox="1"/>
              <p:nvPr/>
            </p:nvSpPr>
            <p:spPr>
              <a:xfrm>
                <a:off x="2397435" y="5574359"/>
                <a:ext cx="598355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TW" sz="1600" b="0" i="1" smtClean="0">
                          <a:latin typeface="Cambria Math" panose="02040503050406030204" pitchFamily="18" charset="0"/>
                        </a:rPr>
                        <m:t>−0.9</m:t>
                      </m:r>
                    </m:oMath>
                  </m:oMathPara>
                </a14:m>
                <a:endParaRPr kumimoji="1" lang="zh-TW" altLang="en-US" sz="1600" dirty="0"/>
              </a:p>
            </p:txBody>
          </p:sp>
        </mc:Choice>
        <mc:Fallback xmlns="">
          <p:sp>
            <p:nvSpPr>
              <p:cNvPr id="23" name="文字方塊 22">
                <a:extLst>
                  <a:ext uri="{FF2B5EF4-FFF2-40B4-BE49-F238E27FC236}">
                    <a16:creationId xmlns:a16="http://schemas.microsoft.com/office/drawing/2014/main" id="{FD3DD690-0104-A97A-2C3F-7DF0AC27AFA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97435" y="5574359"/>
                <a:ext cx="598355" cy="338554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圓角矩形 2">
            <a:extLst>
              <a:ext uri="{FF2B5EF4-FFF2-40B4-BE49-F238E27FC236}">
                <a16:creationId xmlns:a16="http://schemas.microsoft.com/office/drawing/2014/main" id="{8F43250E-61CA-2FCD-5713-EEE3A86898A2}"/>
              </a:ext>
            </a:extLst>
          </p:cNvPr>
          <p:cNvSpPr/>
          <p:nvPr/>
        </p:nvSpPr>
        <p:spPr>
          <a:xfrm>
            <a:off x="3848821" y="2545579"/>
            <a:ext cx="732055" cy="514110"/>
          </a:xfrm>
          <a:prstGeom prst="roundRect">
            <a:avLst/>
          </a:prstGeom>
          <a:solidFill>
            <a:srgbClr val="C5E0B4"/>
          </a:solidFill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en-US" altLang="zh-TW" sz="1600" dirty="0">
                <a:solidFill>
                  <a:srgbClr val="FF0000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like</a:t>
            </a:r>
            <a:endParaRPr kumimoji="1" lang="zh-TW" altLang="en-US" sz="1600" dirty="0">
              <a:solidFill>
                <a:srgbClr val="FF0000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4" name="圓角矩形 3">
            <a:extLst>
              <a:ext uri="{FF2B5EF4-FFF2-40B4-BE49-F238E27FC236}">
                <a16:creationId xmlns:a16="http://schemas.microsoft.com/office/drawing/2014/main" id="{AFA1AEDB-F347-04F8-CEE1-E1D35D5B3651}"/>
              </a:ext>
            </a:extLst>
          </p:cNvPr>
          <p:cNvSpPr/>
          <p:nvPr/>
        </p:nvSpPr>
        <p:spPr>
          <a:xfrm>
            <a:off x="3848821" y="3341573"/>
            <a:ext cx="732056" cy="514110"/>
          </a:xfrm>
          <a:prstGeom prst="roundRect">
            <a:avLst/>
          </a:prstGeom>
          <a:solidFill>
            <a:srgbClr val="C5E0B4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en-US" altLang="zh-TW" sz="1600" dirty="0">
                <a:solidFill>
                  <a:schemeClr val="tx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want</a:t>
            </a:r>
            <a:endParaRPr kumimoji="1" lang="zh-TW" altLang="en-US" sz="1600" dirty="0">
              <a:solidFill>
                <a:schemeClr val="tx1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8" name="圓角矩形 7">
            <a:extLst>
              <a:ext uri="{FF2B5EF4-FFF2-40B4-BE49-F238E27FC236}">
                <a16:creationId xmlns:a16="http://schemas.microsoft.com/office/drawing/2014/main" id="{BFA3A0A1-CC3C-EC77-CEC9-146B482EBACE}"/>
              </a:ext>
            </a:extLst>
          </p:cNvPr>
          <p:cNvSpPr/>
          <p:nvPr/>
        </p:nvSpPr>
        <p:spPr>
          <a:xfrm>
            <a:off x="3848820" y="4658888"/>
            <a:ext cx="732056" cy="514110"/>
          </a:xfrm>
          <a:prstGeom prst="roundRect">
            <a:avLst/>
          </a:prstGeom>
          <a:solidFill>
            <a:srgbClr val="C5E0B4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en-US" altLang="zh-TW" sz="1600" dirty="0">
                <a:solidFill>
                  <a:schemeClr val="tx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want</a:t>
            </a:r>
            <a:endParaRPr kumimoji="1" lang="zh-TW" altLang="en-US" sz="1600" dirty="0">
              <a:solidFill>
                <a:schemeClr val="tx1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13" name="圓角矩形 12">
            <a:extLst>
              <a:ext uri="{FF2B5EF4-FFF2-40B4-BE49-F238E27FC236}">
                <a16:creationId xmlns:a16="http://schemas.microsoft.com/office/drawing/2014/main" id="{820CADDD-FB1E-6DA6-D861-460F1DAB89D2}"/>
              </a:ext>
            </a:extLst>
          </p:cNvPr>
          <p:cNvSpPr/>
          <p:nvPr/>
        </p:nvSpPr>
        <p:spPr>
          <a:xfrm>
            <a:off x="3848820" y="5403253"/>
            <a:ext cx="732056" cy="514110"/>
          </a:xfrm>
          <a:prstGeom prst="roundRect">
            <a:avLst/>
          </a:prstGeom>
          <a:solidFill>
            <a:srgbClr val="C5E0B4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en-US" altLang="zh-TW" sz="1600" dirty="0">
                <a:solidFill>
                  <a:schemeClr val="tx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are</a:t>
            </a:r>
            <a:endParaRPr kumimoji="1" lang="zh-TW" altLang="en-US" sz="1600" dirty="0">
              <a:solidFill>
                <a:schemeClr val="tx1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cxnSp>
        <p:nvCxnSpPr>
          <p:cNvPr id="15" name="直線箭頭接點 14">
            <a:extLst>
              <a:ext uri="{FF2B5EF4-FFF2-40B4-BE49-F238E27FC236}">
                <a16:creationId xmlns:a16="http://schemas.microsoft.com/office/drawing/2014/main" id="{8665C6F8-C70B-8089-DEF0-F0BF0A302E1F}"/>
              </a:ext>
            </a:extLst>
          </p:cNvPr>
          <p:cNvCxnSpPr>
            <a:cxnSpLocks/>
          </p:cNvCxnSpPr>
          <p:nvPr/>
        </p:nvCxnSpPr>
        <p:spPr>
          <a:xfrm flipV="1">
            <a:off x="3069156" y="2802634"/>
            <a:ext cx="686098" cy="35668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直線箭頭接點 24">
            <a:extLst>
              <a:ext uri="{FF2B5EF4-FFF2-40B4-BE49-F238E27FC236}">
                <a16:creationId xmlns:a16="http://schemas.microsoft.com/office/drawing/2014/main" id="{7E401430-2CB0-6CDC-4D3E-E2664C968009}"/>
              </a:ext>
            </a:extLst>
          </p:cNvPr>
          <p:cNvCxnSpPr>
            <a:cxnSpLocks/>
          </p:cNvCxnSpPr>
          <p:nvPr/>
        </p:nvCxnSpPr>
        <p:spPr>
          <a:xfrm>
            <a:off x="3086929" y="3269539"/>
            <a:ext cx="686098" cy="35668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直線箭頭接點 25">
            <a:extLst>
              <a:ext uri="{FF2B5EF4-FFF2-40B4-BE49-F238E27FC236}">
                <a16:creationId xmlns:a16="http://schemas.microsoft.com/office/drawing/2014/main" id="{5BEAD4A0-45EF-EF79-2FEC-25625B419A1C}"/>
              </a:ext>
            </a:extLst>
          </p:cNvPr>
          <p:cNvCxnSpPr>
            <a:cxnSpLocks/>
          </p:cNvCxnSpPr>
          <p:nvPr/>
        </p:nvCxnSpPr>
        <p:spPr>
          <a:xfrm>
            <a:off x="3079256" y="5304719"/>
            <a:ext cx="686098" cy="35668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直線箭頭接點 26">
            <a:extLst>
              <a:ext uri="{FF2B5EF4-FFF2-40B4-BE49-F238E27FC236}">
                <a16:creationId xmlns:a16="http://schemas.microsoft.com/office/drawing/2014/main" id="{0C436EAB-E031-DBE5-6881-81A4CA5C9777}"/>
              </a:ext>
            </a:extLst>
          </p:cNvPr>
          <p:cNvCxnSpPr>
            <a:cxnSpLocks/>
          </p:cNvCxnSpPr>
          <p:nvPr/>
        </p:nvCxnSpPr>
        <p:spPr>
          <a:xfrm flipV="1">
            <a:off x="3079256" y="4890148"/>
            <a:ext cx="686098" cy="35668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8" name="文字方塊 27">
                <a:extLst>
                  <a:ext uri="{FF2B5EF4-FFF2-40B4-BE49-F238E27FC236}">
                    <a16:creationId xmlns:a16="http://schemas.microsoft.com/office/drawing/2014/main" id="{4B7D302A-69BB-3B4C-110A-358900750293}"/>
                  </a:ext>
                </a:extLst>
              </p:cNvPr>
              <p:cNvSpPr txBox="1"/>
              <p:nvPr/>
            </p:nvSpPr>
            <p:spPr>
              <a:xfrm>
                <a:off x="3885019" y="2211250"/>
                <a:ext cx="613701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TW" sz="1600" b="0" i="1" smtClean="0">
                          <a:latin typeface="Cambria Math" panose="02040503050406030204" pitchFamily="18" charset="0"/>
                        </a:rPr>
                        <m:t>−1.7</m:t>
                      </m:r>
                    </m:oMath>
                  </m:oMathPara>
                </a14:m>
                <a:endParaRPr kumimoji="1" lang="zh-TW" altLang="en-US" sz="1600" dirty="0"/>
              </a:p>
            </p:txBody>
          </p:sp>
        </mc:Choice>
        <mc:Fallback xmlns="">
          <p:sp>
            <p:nvSpPr>
              <p:cNvPr id="28" name="文字方塊 27">
                <a:extLst>
                  <a:ext uri="{FF2B5EF4-FFF2-40B4-BE49-F238E27FC236}">
                    <a16:creationId xmlns:a16="http://schemas.microsoft.com/office/drawing/2014/main" id="{4B7D302A-69BB-3B4C-110A-35890075029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85019" y="2211250"/>
                <a:ext cx="613701" cy="338554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文字方塊 28">
                <a:extLst>
                  <a:ext uri="{FF2B5EF4-FFF2-40B4-BE49-F238E27FC236}">
                    <a16:creationId xmlns:a16="http://schemas.microsoft.com/office/drawing/2014/main" id="{8F9CE310-A15D-4542-74A8-BF14C20D7734}"/>
                  </a:ext>
                </a:extLst>
              </p:cNvPr>
              <p:cNvSpPr txBox="1"/>
              <p:nvPr/>
            </p:nvSpPr>
            <p:spPr>
              <a:xfrm>
                <a:off x="3885019" y="3844284"/>
                <a:ext cx="613700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TW" sz="1600" b="0" i="1" smtClean="0">
                          <a:latin typeface="Cambria Math" panose="02040503050406030204" pitchFamily="18" charset="0"/>
                        </a:rPr>
                        <m:t>−2.9</m:t>
                      </m:r>
                    </m:oMath>
                  </m:oMathPara>
                </a14:m>
                <a:endParaRPr kumimoji="1" lang="zh-TW" altLang="en-US" sz="1600" dirty="0"/>
              </a:p>
            </p:txBody>
          </p:sp>
        </mc:Choice>
        <mc:Fallback xmlns="">
          <p:sp>
            <p:nvSpPr>
              <p:cNvPr id="29" name="文字方塊 28">
                <a:extLst>
                  <a:ext uri="{FF2B5EF4-FFF2-40B4-BE49-F238E27FC236}">
                    <a16:creationId xmlns:a16="http://schemas.microsoft.com/office/drawing/2014/main" id="{8F9CE310-A15D-4542-74A8-BF14C20D773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85019" y="3844284"/>
                <a:ext cx="613700" cy="338554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" name="文字方塊 29">
                <a:extLst>
                  <a:ext uri="{FF2B5EF4-FFF2-40B4-BE49-F238E27FC236}">
                    <a16:creationId xmlns:a16="http://schemas.microsoft.com/office/drawing/2014/main" id="{1834D209-F6BD-1B0A-BF59-E0500E0C63A1}"/>
                  </a:ext>
                </a:extLst>
              </p:cNvPr>
              <p:cNvSpPr txBox="1"/>
              <p:nvPr/>
            </p:nvSpPr>
            <p:spPr>
              <a:xfrm>
                <a:off x="3885019" y="4345643"/>
                <a:ext cx="613701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TW" sz="1600" b="0" i="1" smtClean="0">
                          <a:latin typeface="Cambria Math" panose="02040503050406030204" pitchFamily="18" charset="0"/>
                        </a:rPr>
                        <m:t>−1.6</m:t>
                      </m:r>
                    </m:oMath>
                  </m:oMathPara>
                </a14:m>
                <a:endParaRPr kumimoji="1" lang="zh-TW" altLang="en-US" sz="1600" dirty="0"/>
              </a:p>
            </p:txBody>
          </p:sp>
        </mc:Choice>
        <mc:Fallback xmlns="">
          <p:sp>
            <p:nvSpPr>
              <p:cNvPr id="30" name="文字方塊 29">
                <a:extLst>
                  <a:ext uri="{FF2B5EF4-FFF2-40B4-BE49-F238E27FC236}">
                    <a16:creationId xmlns:a16="http://schemas.microsoft.com/office/drawing/2014/main" id="{1834D209-F6BD-1B0A-BF59-E0500E0C63A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85019" y="4345643"/>
                <a:ext cx="613701" cy="338554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" name="文字方塊 30">
                <a:extLst>
                  <a:ext uri="{FF2B5EF4-FFF2-40B4-BE49-F238E27FC236}">
                    <a16:creationId xmlns:a16="http://schemas.microsoft.com/office/drawing/2014/main" id="{4D3DAC6B-5B92-1CFD-751E-6687CB641DB3}"/>
                  </a:ext>
                </a:extLst>
              </p:cNvPr>
              <p:cNvSpPr txBox="1"/>
              <p:nvPr/>
            </p:nvSpPr>
            <p:spPr>
              <a:xfrm>
                <a:off x="3848820" y="5910891"/>
                <a:ext cx="686099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TW" sz="1600" b="0" i="1" smtClean="0">
                          <a:latin typeface="Cambria Math" panose="02040503050406030204" pitchFamily="18" charset="0"/>
                        </a:rPr>
                        <m:t>−1.8</m:t>
                      </m:r>
                    </m:oMath>
                  </m:oMathPara>
                </a14:m>
                <a:endParaRPr kumimoji="1" lang="zh-TW" altLang="en-US" sz="1600" dirty="0"/>
              </a:p>
            </p:txBody>
          </p:sp>
        </mc:Choice>
        <mc:Fallback xmlns="">
          <p:sp>
            <p:nvSpPr>
              <p:cNvPr id="31" name="文字方塊 30">
                <a:extLst>
                  <a:ext uri="{FF2B5EF4-FFF2-40B4-BE49-F238E27FC236}">
                    <a16:creationId xmlns:a16="http://schemas.microsoft.com/office/drawing/2014/main" id="{4D3DAC6B-5B92-1CFD-751E-6687CB641DB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48820" y="5910891"/>
                <a:ext cx="686099" cy="338554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" name="圓角矩形 17">
            <a:extLst>
              <a:ext uri="{FF2B5EF4-FFF2-40B4-BE49-F238E27FC236}">
                <a16:creationId xmlns:a16="http://schemas.microsoft.com/office/drawing/2014/main" id="{601EF68D-AB15-2BE7-FB27-3732E7DC8DC8}"/>
              </a:ext>
            </a:extLst>
          </p:cNvPr>
          <p:cNvSpPr/>
          <p:nvPr/>
        </p:nvSpPr>
        <p:spPr>
          <a:xfrm>
            <a:off x="5426258" y="2144666"/>
            <a:ext cx="732055" cy="514110"/>
          </a:xfrm>
          <a:prstGeom prst="roundRect">
            <a:avLst/>
          </a:prstGeom>
          <a:solidFill>
            <a:srgbClr val="C5E0B4"/>
          </a:solidFill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en-US" altLang="zh-TW" sz="1600" dirty="0">
                <a:solidFill>
                  <a:srgbClr val="FF0000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to</a:t>
            </a:r>
            <a:endParaRPr kumimoji="1" lang="zh-TW" altLang="en-US" sz="1600" dirty="0">
              <a:solidFill>
                <a:srgbClr val="FF0000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24" name="圓角矩形 23">
            <a:extLst>
              <a:ext uri="{FF2B5EF4-FFF2-40B4-BE49-F238E27FC236}">
                <a16:creationId xmlns:a16="http://schemas.microsoft.com/office/drawing/2014/main" id="{0CBAD8EE-42E2-E1A6-D756-AFEE80F6B6C3}"/>
              </a:ext>
            </a:extLst>
          </p:cNvPr>
          <p:cNvSpPr/>
          <p:nvPr/>
        </p:nvSpPr>
        <p:spPr>
          <a:xfrm>
            <a:off x="5426258" y="2940660"/>
            <a:ext cx="732056" cy="514110"/>
          </a:xfrm>
          <a:prstGeom prst="roundRect">
            <a:avLst/>
          </a:prstGeom>
          <a:solidFill>
            <a:srgbClr val="C5E0B4"/>
          </a:solidFill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en-US" altLang="zh-TW" sz="1300" dirty="0">
                <a:solidFill>
                  <a:srgbClr val="FF0000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books</a:t>
            </a:r>
            <a:endParaRPr kumimoji="1" lang="zh-TW" altLang="en-US" sz="1300" dirty="0">
              <a:solidFill>
                <a:srgbClr val="FF0000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cxnSp>
        <p:nvCxnSpPr>
          <p:cNvPr id="35" name="直線箭頭接點 34">
            <a:extLst>
              <a:ext uri="{FF2B5EF4-FFF2-40B4-BE49-F238E27FC236}">
                <a16:creationId xmlns:a16="http://schemas.microsoft.com/office/drawing/2014/main" id="{46E46508-67A3-47D1-F2E4-593015865BD2}"/>
              </a:ext>
            </a:extLst>
          </p:cNvPr>
          <p:cNvCxnSpPr>
            <a:cxnSpLocks/>
          </p:cNvCxnSpPr>
          <p:nvPr/>
        </p:nvCxnSpPr>
        <p:spPr>
          <a:xfrm flipV="1">
            <a:off x="4646593" y="2401721"/>
            <a:ext cx="686098" cy="35668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直線箭頭接點 35">
            <a:extLst>
              <a:ext uri="{FF2B5EF4-FFF2-40B4-BE49-F238E27FC236}">
                <a16:creationId xmlns:a16="http://schemas.microsoft.com/office/drawing/2014/main" id="{454CD8D4-70BA-C50F-4173-C4EFAF415F32}"/>
              </a:ext>
            </a:extLst>
          </p:cNvPr>
          <p:cNvCxnSpPr>
            <a:cxnSpLocks/>
          </p:cNvCxnSpPr>
          <p:nvPr/>
        </p:nvCxnSpPr>
        <p:spPr>
          <a:xfrm>
            <a:off x="4664366" y="2868626"/>
            <a:ext cx="686098" cy="35668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7" name="文字方塊 36">
                <a:extLst>
                  <a:ext uri="{FF2B5EF4-FFF2-40B4-BE49-F238E27FC236}">
                    <a16:creationId xmlns:a16="http://schemas.microsoft.com/office/drawing/2014/main" id="{5B72CF1E-2455-77B2-4E63-0388B571BA45}"/>
                  </a:ext>
                </a:extLst>
              </p:cNvPr>
              <p:cNvSpPr txBox="1"/>
              <p:nvPr/>
            </p:nvSpPr>
            <p:spPr>
              <a:xfrm>
                <a:off x="5518071" y="1789852"/>
                <a:ext cx="530678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TW" sz="1600" b="0" i="1" smtClean="0">
                          <a:latin typeface="Cambria Math" panose="02040503050406030204" pitchFamily="18" charset="0"/>
                        </a:rPr>
                        <m:t>−2.8</m:t>
                      </m:r>
                    </m:oMath>
                  </m:oMathPara>
                </a14:m>
                <a:endParaRPr kumimoji="1" lang="zh-TW" altLang="en-US" sz="1600" dirty="0"/>
              </a:p>
            </p:txBody>
          </p:sp>
        </mc:Choice>
        <mc:Fallback xmlns="">
          <p:sp>
            <p:nvSpPr>
              <p:cNvPr id="37" name="文字方塊 36">
                <a:extLst>
                  <a:ext uri="{FF2B5EF4-FFF2-40B4-BE49-F238E27FC236}">
                    <a16:creationId xmlns:a16="http://schemas.microsoft.com/office/drawing/2014/main" id="{5B72CF1E-2455-77B2-4E63-0388B571BA4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18071" y="1789852"/>
                <a:ext cx="530678" cy="338554"/>
              </a:xfrm>
              <a:prstGeom prst="rect">
                <a:avLst/>
              </a:prstGeom>
              <a:blipFill>
                <a:blip r:embed="rId9"/>
                <a:stretch>
                  <a:fillRect r="-9302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8" name="文字方塊 37">
                <a:extLst>
                  <a:ext uri="{FF2B5EF4-FFF2-40B4-BE49-F238E27FC236}">
                    <a16:creationId xmlns:a16="http://schemas.microsoft.com/office/drawing/2014/main" id="{75DED9B6-F0F3-1533-17C3-AE4E8F2376DC}"/>
                  </a:ext>
                </a:extLst>
              </p:cNvPr>
              <p:cNvSpPr txBox="1"/>
              <p:nvPr/>
            </p:nvSpPr>
            <p:spPr>
              <a:xfrm>
                <a:off x="5500315" y="3428408"/>
                <a:ext cx="566190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TW" sz="1600" b="0" i="1" smtClean="0">
                          <a:latin typeface="Cambria Math" panose="02040503050406030204" pitchFamily="18" charset="0"/>
                        </a:rPr>
                        <m:t>−2.</m:t>
                      </m:r>
                      <m:r>
                        <a:rPr kumimoji="1" lang="en-US" altLang="zh-TW" sz="1600" b="0" i="0" smtClean="0">
                          <a:latin typeface="Cambria Math" panose="02040503050406030204" pitchFamily="18" charset="0"/>
                        </a:rPr>
                        <m:t>5</m:t>
                      </m:r>
                    </m:oMath>
                  </m:oMathPara>
                </a14:m>
                <a:endParaRPr kumimoji="1" lang="zh-TW" altLang="en-US" sz="1600" dirty="0"/>
              </a:p>
            </p:txBody>
          </p:sp>
        </mc:Choice>
        <mc:Fallback xmlns="">
          <p:sp>
            <p:nvSpPr>
              <p:cNvPr id="38" name="文字方塊 37">
                <a:extLst>
                  <a:ext uri="{FF2B5EF4-FFF2-40B4-BE49-F238E27FC236}">
                    <a16:creationId xmlns:a16="http://schemas.microsoft.com/office/drawing/2014/main" id="{75DED9B6-F0F3-1533-17C3-AE4E8F2376D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00315" y="3428408"/>
                <a:ext cx="566190" cy="338554"/>
              </a:xfrm>
              <a:prstGeom prst="rect">
                <a:avLst/>
              </a:prstGeom>
              <a:blipFill>
                <a:blip r:embed="rId10"/>
                <a:stretch>
                  <a:fillRect r="-4348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9" name="圓角矩形 38">
            <a:extLst>
              <a:ext uri="{FF2B5EF4-FFF2-40B4-BE49-F238E27FC236}">
                <a16:creationId xmlns:a16="http://schemas.microsoft.com/office/drawing/2014/main" id="{8D37F53C-38B0-72B7-761E-CCE30BD3F6A2}"/>
              </a:ext>
            </a:extLst>
          </p:cNvPr>
          <p:cNvSpPr/>
          <p:nvPr/>
        </p:nvSpPr>
        <p:spPr>
          <a:xfrm>
            <a:off x="5444007" y="4253284"/>
            <a:ext cx="732055" cy="514110"/>
          </a:xfrm>
          <a:prstGeom prst="roundRect">
            <a:avLst/>
          </a:prstGeom>
          <a:solidFill>
            <a:srgbClr val="C5E0B4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en-US" altLang="zh-TW" sz="1600" dirty="0">
                <a:solidFill>
                  <a:schemeClr val="tx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to</a:t>
            </a:r>
            <a:endParaRPr kumimoji="1" lang="zh-TW" altLang="en-US" sz="1600" dirty="0">
              <a:solidFill>
                <a:schemeClr val="tx1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40" name="圓角矩形 39">
            <a:extLst>
              <a:ext uri="{FF2B5EF4-FFF2-40B4-BE49-F238E27FC236}">
                <a16:creationId xmlns:a16="http://schemas.microsoft.com/office/drawing/2014/main" id="{A3DAE183-4DB4-FB98-30FA-C42FE80C7E5C}"/>
              </a:ext>
            </a:extLst>
          </p:cNvPr>
          <p:cNvSpPr/>
          <p:nvPr/>
        </p:nvSpPr>
        <p:spPr>
          <a:xfrm>
            <a:off x="5444007" y="5049278"/>
            <a:ext cx="732056" cy="514110"/>
          </a:xfrm>
          <a:prstGeom prst="roundRect">
            <a:avLst/>
          </a:prstGeom>
          <a:solidFill>
            <a:srgbClr val="C5E0B4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en-US" altLang="zh-TW" sz="1600" dirty="0">
                <a:solidFill>
                  <a:schemeClr val="tx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tea</a:t>
            </a:r>
            <a:endParaRPr kumimoji="1" lang="zh-TW" altLang="en-US" sz="1600" dirty="0">
              <a:solidFill>
                <a:schemeClr val="tx1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cxnSp>
        <p:nvCxnSpPr>
          <p:cNvPr id="41" name="直線箭頭接點 40">
            <a:extLst>
              <a:ext uri="{FF2B5EF4-FFF2-40B4-BE49-F238E27FC236}">
                <a16:creationId xmlns:a16="http://schemas.microsoft.com/office/drawing/2014/main" id="{02DB8DA1-DF6A-7639-0750-34AB62672E0C}"/>
              </a:ext>
            </a:extLst>
          </p:cNvPr>
          <p:cNvCxnSpPr>
            <a:cxnSpLocks/>
          </p:cNvCxnSpPr>
          <p:nvPr/>
        </p:nvCxnSpPr>
        <p:spPr>
          <a:xfrm flipV="1">
            <a:off x="4664342" y="4510339"/>
            <a:ext cx="686098" cy="35668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直線箭頭接點 41">
            <a:extLst>
              <a:ext uri="{FF2B5EF4-FFF2-40B4-BE49-F238E27FC236}">
                <a16:creationId xmlns:a16="http://schemas.microsoft.com/office/drawing/2014/main" id="{C5EC476E-EC31-2D86-E6B2-EBF1955BF1E5}"/>
              </a:ext>
            </a:extLst>
          </p:cNvPr>
          <p:cNvCxnSpPr>
            <a:cxnSpLocks/>
          </p:cNvCxnSpPr>
          <p:nvPr/>
        </p:nvCxnSpPr>
        <p:spPr>
          <a:xfrm>
            <a:off x="4682115" y="4977244"/>
            <a:ext cx="686098" cy="35668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3" name="文字方塊 42">
                <a:extLst>
                  <a:ext uri="{FF2B5EF4-FFF2-40B4-BE49-F238E27FC236}">
                    <a16:creationId xmlns:a16="http://schemas.microsoft.com/office/drawing/2014/main" id="{9322DFDD-EFF0-7244-F30C-F19809A79EB8}"/>
                  </a:ext>
                </a:extLst>
              </p:cNvPr>
              <p:cNvSpPr txBox="1"/>
              <p:nvPr/>
            </p:nvSpPr>
            <p:spPr>
              <a:xfrm>
                <a:off x="5495873" y="3926009"/>
                <a:ext cx="575074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TW" sz="1600" b="0" i="1" smtClean="0">
                          <a:latin typeface="Cambria Math" panose="02040503050406030204" pitchFamily="18" charset="0"/>
                        </a:rPr>
                        <m:t>−2.9</m:t>
                      </m:r>
                    </m:oMath>
                  </m:oMathPara>
                </a14:m>
                <a:endParaRPr kumimoji="1" lang="zh-TW" altLang="en-US" sz="1600" dirty="0"/>
              </a:p>
            </p:txBody>
          </p:sp>
        </mc:Choice>
        <mc:Fallback xmlns="">
          <p:sp>
            <p:nvSpPr>
              <p:cNvPr id="43" name="文字方塊 42">
                <a:extLst>
                  <a:ext uri="{FF2B5EF4-FFF2-40B4-BE49-F238E27FC236}">
                    <a16:creationId xmlns:a16="http://schemas.microsoft.com/office/drawing/2014/main" id="{9322DFDD-EFF0-7244-F30C-F19809A79EB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95873" y="3926009"/>
                <a:ext cx="575074" cy="338554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4" name="文字方塊 43">
                <a:extLst>
                  <a:ext uri="{FF2B5EF4-FFF2-40B4-BE49-F238E27FC236}">
                    <a16:creationId xmlns:a16="http://schemas.microsoft.com/office/drawing/2014/main" id="{08361A65-0546-D0FE-B2EE-A1BC12C81851}"/>
                  </a:ext>
                </a:extLst>
              </p:cNvPr>
              <p:cNvSpPr txBox="1"/>
              <p:nvPr/>
            </p:nvSpPr>
            <p:spPr>
              <a:xfrm>
                <a:off x="5509190" y="5559395"/>
                <a:ext cx="548440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TW" sz="1600" b="0" i="1" smtClean="0">
                          <a:latin typeface="Cambria Math" panose="02040503050406030204" pitchFamily="18" charset="0"/>
                        </a:rPr>
                        <m:t>−3.8</m:t>
                      </m:r>
                    </m:oMath>
                  </m:oMathPara>
                </a14:m>
                <a:endParaRPr kumimoji="1" lang="zh-TW" altLang="en-US" sz="1600" dirty="0"/>
              </a:p>
            </p:txBody>
          </p:sp>
        </mc:Choice>
        <mc:Fallback xmlns="">
          <p:sp>
            <p:nvSpPr>
              <p:cNvPr id="44" name="文字方塊 43">
                <a:extLst>
                  <a:ext uri="{FF2B5EF4-FFF2-40B4-BE49-F238E27FC236}">
                    <a16:creationId xmlns:a16="http://schemas.microsoft.com/office/drawing/2014/main" id="{08361A65-0546-D0FE-B2EE-A1BC12C8185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09190" y="5559395"/>
                <a:ext cx="548440" cy="338554"/>
              </a:xfrm>
              <a:prstGeom prst="rect">
                <a:avLst/>
              </a:prstGeom>
              <a:blipFill>
                <a:blip r:embed="rId12"/>
                <a:stretch>
                  <a:fillRect r="-4444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圓角矩形 1">
            <a:extLst>
              <a:ext uri="{FF2B5EF4-FFF2-40B4-BE49-F238E27FC236}">
                <a16:creationId xmlns:a16="http://schemas.microsoft.com/office/drawing/2014/main" id="{FCC80EAE-A748-DD7C-9D1D-B90050229D28}"/>
              </a:ext>
            </a:extLst>
          </p:cNvPr>
          <p:cNvSpPr/>
          <p:nvPr/>
        </p:nvSpPr>
        <p:spPr>
          <a:xfrm>
            <a:off x="6959306" y="2544320"/>
            <a:ext cx="810689" cy="514110"/>
          </a:xfrm>
          <a:prstGeom prst="roundRect">
            <a:avLst/>
          </a:prstGeom>
          <a:solidFill>
            <a:srgbClr val="C5E0B4"/>
          </a:solidFill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en-US" altLang="zh-TW" sz="1600" dirty="0">
                <a:solidFill>
                  <a:srgbClr val="FF0000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watch</a:t>
            </a:r>
            <a:endParaRPr kumimoji="1" lang="zh-TW" altLang="en-US" sz="1600" dirty="0">
              <a:solidFill>
                <a:srgbClr val="FF0000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16" name="圓角矩形 15">
            <a:extLst>
              <a:ext uri="{FF2B5EF4-FFF2-40B4-BE49-F238E27FC236}">
                <a16:creationId xmlns:a16="http://schemas.microsoft.com/office/drawing/2014/main" id="{624AFD73-A0D9-AE22-080A-91A4FC5F408D}"/>
              </a:ext>
            </a:extLst>
          </p:cNvPr>
          <p:cNvSpPr/>
          <p:nvPr/>
        </p:nvSpPr>
        <p:spPr>
          <a:xfrm>
            <a:off x="6959308" y="1747929"/>
            <a:ext cx="810689" cy="514110"/>
          </a:xfrm>
          <a:prstGeom prst="roundRect">
            <a:avLst/>
          </a:prstGeom>
          <a:solidFill>
            <a:srgbClr val="C5E0B4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en-US" altLang="zh-TW" sz="1600" dirty="0">
                <a:solidFill>
                  <a:schemeClr val="tx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read</a:t>
            </a:r>
            <a:endParaRPr kumimoji="1" lang="zh-TW" altLang="en-US" sz="1600" dirty="0">
              <a:solidFill>
                <a:schemeClr val="tx1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20" name="圓角矩形 19">
            <a:extLst>
              <a:ext uri="{FF2B5EF4-FFF2-40B4-BE49-F238E27FC236}">
                <a16:creationId xmlns:a16="http://schemas.microsoft.com/office/drawing/2014/main" id="{4F17797E-F2DB-5ADF-02FE-E0226F7ACE16}"/>
              </a:ext>
            </a:extLst>
          </p:cNvPr>
          <p:cNvSpPr/>
          <p:nvPr/>
        </p:nvSpPr>
        <p:spPr>
          <a:xfrm>
            <a:off x="6959307" y="3652720"/>
            <a:ext cx="810689" cy="514110"/>
          </a:xfrm>
          <a:prstGeom prst="roundRect">
            <a:avLst/>
          </a:prstGeom>
          <a:solidFill>
            <a:srgbClr val="C5E0B4"/>
          </a:solidFill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en-US" altLang="zh-TW" sz="1600" dirty="0">
                <a:solidFill>
                  <a:srgbClr val="FF0000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and</a:t>
            </a:r>
            <a:endParaRPr kumimoji="1" lang="zh-TW" altLang="en-US" sz="1600" dirty="0">
              <a:solidFill>
                <a:srgbClr val="FF0000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21" name="圓角矩形 20">
            <a:extLst>
              <a:ext uri="{FF2B5EF4-FFF2-40B4-BE49-F238E27FC236}">
                <a16:creationId xmlns:a16="http://schemas.microsoft.com/office/drawing/2014/main" id="{3B819ECA-E0CE-0C5D-FF83-5E3EE687278A}"/>
              </a:ext>
            </a:extLst>
          </p:cNvPr>
          <p:cNvSpPr/>
          <p:nvPr/>
        </p:nvSpPr>
        <p:spPr>
          <a:xfrm>
            <a:off x="6959307" y="4451194"/>
            <a:ext cx="810689" cy="514110"/>
          </a:xfrm>
          <a:prstGeom prst="roundRect">
            <a:avLst/>
          </a:prstGeom>
          <a:solidFill>
            <a:srgbClr val="C5E0B4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en-US" altLang="zh-TW" sz="1600" dirty="0">
                <a:solidFill>
                  <a:schemeClr val="tx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party</a:t>
            </a:r>
            <a:endParaRPr kumimoji="1" lang="zh-TW" altLang="en-US" sz="1600" dirty="0">
              <a:solidFill>
                <a:schemeClr val="tx1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cxnSp>
        <p:nvCxnSpPr>
          <p:cNvPr id="32" name="直線箭頭接點 31">
            <a:extLst>
              <a:ext uri="{FF2B5EF4-FFF2-40B4-BE49-F238E27FC236}">
                <a16:creationId xmlns:a16="http://schemas.microsoft.com/office/drawing/2014/main" id="{FFD04519-C5EE-5166-1A97-1250B554FDCF}"/>
              </a:ext>
            </a:extLst>
          </p:cNvPr>
          <p:cNvCxnSpPr>
            <a:cxnSpLocks/>
          </p:cNvCxnSpPr>
          <p:nvPr/>
        </p:nvCxnSpPr>
        <p:spPr>
          <a:xfrm flipV="1">
            <a:off x="6251880" y="1957795"/>
            <a:ext cx="635929" cy="41489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直線箭頭接點 33">
            <a:extLst>
              <a:ext uri="{FF2B5EF4-FFF2-40B4-BE49-F238E27FC236}">
                <a16:creationId xmlns:a16="http://schemas.microsoft.com/office/drawing/2014/main" id="{6E11CB0D-D77D-45B7-25D6-C3B2C6965F47}"/>
              </a:ext>
            </a:extLst>
          </p:cNvPr>
          <p:cNvCxnSpPr>
            <a:cxnSpLocks/>
          </p:cNvCxnSpPr>
          <p:nvPr/>
        </p:nvCxnSpPr>
        <p:spPr>
          <a:xfrm>
            <a:off x="6259576" y="2420845"/>
            <a:ext cx="628233" cy="462307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直線箭頭接點 47">
            <a:extLst>
              <a:ext uri="{FF2B5EF4-FFF2-40B4-BE49-F238E27FC236}">
                <a16:creationId xmlns:a16="http://schemas.microsoft.com/office/drawing/2014/main" id="{56F25780-7D26-D5A3-3618-1135CB12AAC1}"/>
              </a:ext>
            </a:extLst>
          </p:cNvPr>
          <p:cNvCxnSpPr>
            <a:cxnSpLocks/>
          </p:cNvCxnSpPr>
          <p:nvPr/>
        </p:nvCxnSpPr>
        <p:spPr>
          <a:xfrm>
            <a:off x="6251879" y="3215471"/>
            <a:ext cx="625270" cy="694304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直線箭頭接點 49">
            <a:extLst>
              <a:ext uri="{FF2B5EF4-FFF2-40B4-BE49-F238E27FC236}">
                <a16:creationId xmlns:a16="http://schemas.microsoft.com/office/drawing/2014/main" id="{70EA67BC-FF40-CF85-BF93-26350692CB6F}"/>
              </a:ext>
            </a:extLst>
          </p:cNvPr>
          <p:cNvCxnSpPr>
            <a:cxnSpLocks/>
          </p:cNvCxnSpPr>
          <p:nvPr/>
        </p:nvCxnSpPr>
        <p:spPr>
          <a:xfrm>
            <a:off x="6246934" y="3268249"/>
            <a:ext cx="630215" cy="1499145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2" name="文字方塊 51">
                <a:extLst>
                  <a:ext uri="{FF2B5EF4-FFF2-40B4-BE49-F238E27FC236}">
                    <a16:creationId xmlns:a16="http://schemas.microsoft.com/office/drawing/2014/main" id="{EC0517B7-256E-F152-381C-CE5B518C49B6}"/>
                  </a:ext>
                </a:extLst>
              </p:cNvPr>
              <p:cNvSpPr txBox="1"/>
              <p:nvPr/>
            </p:nvSpPr>
            <p:spPr>
              <a:xfrm>
                <a:off x="6990563" y="1422320"/>
                <a:ext cx="643283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TW" sz="1600" b="0" i="1" smtClean="0">
                          <a:latin typeface="Cambria Math" panose="02040503050406030204" pitchFamily="18" charset="0"/>
                        </a:rPr>
                        <m:t>−4.1</m:t>
                      </m:r>
                    </m:oMath>
                  </m:oMathPara>
                </a14:m>
                <a:endParaRPr kumimoji="1" lang="zh-TW" altLang="en-US" sz="1600" dirty="0"/>
              </a:p>
            </p:txBody>
          </p:sp>
        </mc:Choice>
        <mc:Fallback xmlns="">
          <p:sp>
            <p:nvSpPr>
              <p:cNvPr id="52" name="文字方塊 51">
                <a:extLst>
                  <a:ext uri="{FF2B5EF4-FFF2-40B4-BE49-F238E27FC236}">
                    <a16:creationId xmlns:a16="http://schemas.microsoft.com/office/drawing/2014/main" id="{EC0517B7-256E-F152-381C-CE5B518C49B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90563" y="1422320"/>
                <a:ext cx="643283" cy="338554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3" name="文字方塊 52">
                <a:extLst>
                  <a:ext uri="{FF2B5EF4-FFF2-40B4-BE49-F238E27FC236}">
                    <a16:creationId xmlns:a16="http://schemas.microsoft.com/office/drawing/2014/main" id="{6F906C2F-5027-8893-C1EC-DB34E9C0E2C2}"/>
                  </a:ext>
                </a:extLst>
              </p:cNvPr>
              <p:cNvSpPr txBox="1"/>
              <p:nvPr/>
            </p:nvSpPr>
            <p:spPr>
              <a:xfrm>
                <a:off x="7034878" y="3014097"/>
                <a:ext cx="530678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TW" sz="1600" b="0" i="1" smtClean="0">
                          <a:latin typeface="Cambria Math" panose="02040503050406030204" pitchFamily="18" charset="0"/>
                        </a:rPr>
                        <m:t>−3.2</m:t>
                      </m:r>
                    </m:oMath>
                  </m:oMathPara>
                </a14:m>
                <a:endParaRPr kumimoji="1" lang="zh-TW" altLang="en-US" sz="1600" dirty="0"/>
              </a:p>
            </p:txBody>
          </p:sp>
        </mc:Choice>
        <mc:Fallback xmlns="">
          <p:sp>
            <p:nvSpPr>
              <p:cNvPr id="53" name="文字方塊 52">
                <a:extLst>
                  <a:ext uri="{FF2B5EF4-FFF2-40B4-BE49-F238E27FC236}">
                    <a16:creationId xmlns:a16="http://schemas.microsoft.com/office/drawing/2014/main" id="{6F906C2F-5027-8893-C1EC-DB34E9C0E2C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34878" y="3014097"/>
                <a:ext cx="530678" cy="338554"/>
              </a:xfrm>
              <a:prstGeom prst="rect">
                <a:avLst/>
              </a:prstGeom>
              <a:blipFill>
                <a:blip r:embed="rId14"/>
                <a:stretch>
                  <a:fillRect r="-9302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4" name="文字方塊 53">
                <a:extLst>
                  <a:ext uri="{FF2B5EF4-FFF2-40B4-BE49-F238E27FC236}">
                    <a16:creationId xmlns:a16="http://schemas.microsoft.com/office/drawing/2014/main" id="{16676045-5672-AA81-F226-84FF0BBA8EFB}"/>
                  </a:ext>
                </a:extLst>
              </p:cNvPr>
              <p:cNvSpPr txBox="1"/>
              <p:nvPr/>
            </p:nvSpPr>
            <p:spPr>
              <a:xfrm>
                <a:off x="7034878" y="3380849"/>
                <a:ext cx="530678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TW" sz="1600" b="0" i="1" smtClean="0">
                          <a:latin typeface="Cambria Math" panose="02040503050406030204" pitchFamily="18" charset="0"/>
                        </a:rPr>
                        <m:t>−3.3</m:t>
                      </m:r>
                    </m:oMath>
                  </m:oMathPara>
                </a14:m>
                <a:endParaRPr kumimoji="1" lang="zh-TW" altLang="en-US" sz="1600" dirty="0"/>
              </a:p>
            </p:txBody>
          </p:sp>
        </mc:Choice>
        <mc:Fallback xmlns="">
          <p:sp>
            <p:nvSpPr>
              <p:cNvPr id="54" name="文字方塊 53">
                <a:extLst>
                  <a:ext uri="{FF2B5EF4-FFF2-40B4-BE49-F238E27FC236}">
                    <a16:creationId xmlns:a16="http://schemas.microsoft.com/office/drawing/2014/main" id="{16676045-5672-AA81-F226-84FF0BBA8EF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34878" y="3380849"/>
                <a:ext cx="530678" cy="338554"/>
              </a:xfrm>
              <a:prstGeom prst="rect">
                <a:avLst/>
              </a:prstGeom>
              <a:blipFill>
                <a:blip r:embed="rId15"/>
                <a:stretch>
                  <a:fillRect r="-9302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7" name="文字方塊 56">
                <a:extLst>
                  <a:ext uri="{FF2B5EF4-FFF2-40B4-BE49-F238E27FC236}">
                    <a16:creationId xmlns:a16="http://schemas.microsoft.com/office/drawing/2014/main" id="{F9C59B25-2255-0ACF-CE91-AC14A5AC8D46}"/>
                  </a:ext>
                </a:extLst>
              </p:cNvPr>
              <p:cNvSpPr txBox="1"/>
              <p:nvPr/>
            </p:nvSpPr>
            <p:spPr>
              <a:xfrm>
                <a:off x="7046866" y="4946362"/>
                <a:ext cx="530678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TW" sz="1600" b="0" i="1" smtClean="0">
                          <a:latin typeface="Cambria Math" panose="02040503050406030204" pitchFamily="18" charset="0"/>
                        </a:rPr>
                        <m:t>−3.5</m:t>
                      </m:r>
                    </m:oMath>
                  </m:oMathPara>
                </a14:m>
                <a:endParaRPr kumimoji="1" lang="zh-TW" altLang="en-US" sz="1600" dirty="0"/>
              </a:p>
            </p:txBody>
          </p:sp>
        </mc:Choice>
        <mc:Fallback xmlns="">
          <p:sp>
            <p:nvSpPr>
              <p:cNvPr id="57" name="文字方塊 56">
                <a:extLst>
                  <a:ext uri="{FF2B5EF4-FFF2-40B4-BE49-F238E27FC236}">
                    <a16:creationId xmlns:a16="http://schemas.microsoft.com/office/drawing/2014/main" id="{F9C59B25-2255-0ACF-CE91-AC14A5AC8D4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46866" y="4946362"/>
                <a:ext cx="530678" cy="338554"/>
              </a:xfrm>
              <a:prstGeom prst="rect">
                <a:avLst/>
              </a:prstGeom>
              <a:blipFill>
                <a:blip r:embed="rId16"/>
                <a:stretch>
                  <a:fillRect r="-9302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文字方塊 10">
            <a:extLst>
              <a:ext uri="{FF2B5EF4-FFF2-40B4-BE49-F238E27FC236}">
                <a16:creationId xmlns:a16="http://schemas.microsoft.com/office/drawing/2014/main" id="{B9C11555-A741-637D-37A0-822C52B571CC}"/>
              </a:ext>
            </a:extLst>
          </p:cNvPr>
          <p:cNvSpPr txBox="1"/>
          <p:nvPr/>
        </p:nvSpPr>
        <p:spPr>
          <a:xfrm>
            <a:off x="9613039" y="688130"/>
            <a:ext cx="1884594" cy="369332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dirty="0"/>
              <a:t>`Beam size` = 2</a:t>
            </a:r>
            <a:endParaRPr kumimoji="1" lang="zh-TW" alt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7" name="標題 1">
                <a:extLst>
                  <a:ext uri="{FF2B5EF4-FFF2-40B4-BE49-F238E27FC236}">
                    <a16:creationId xmlns:a16="http://schemas.microsoft.com/office/drawing/2014/main" id="{FAD4EAC7-FD9F-B07E-D405-C58C376B72EA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644672" y="356088"/>
                <a:ext cx="10511008" cy="1033416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rmAutofit/>
              </a:bodyPr>
              <a:lstStyle>
                <a:lvl1pPr marL="0" algn="l" defTabSz="914400" rtl="0" eaLnBrk="1" latinLnBrk="0" hangingPunct="1">
                  <a:lnSpc>
                    <a:spcPct val="85000"/>
                  </a:lnSpc>
                  <a:spcBef>
                    <a:spcPct val="0"/>
                  </a:spcBef>
                  <a:buNone/>
                  <a:defRPr sz="4800" kern="1200" spc="-5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r>
                  <a:rPr kumimoji="1" lang="en-US" altLang="zh-TW" dirty="0"/>
                  <a:t>Beam Search</a:t>
                </a:r>
                <a:r>
                  <a:rPr kumimoji="1" lang="zh-TW" altLang="en-US" dirty="0"/>
                  <a:t> </a:t>
                </a:r>
                <a:r>
                  <a:rPr kumimoji="1" lang="en-US" altLang="zh-TW" dirty="0"/>
                  <a:t>(</a:t>
                </a:r>
                <a14:m>
                  <m:oMath xmlns:m="http://schemas.openxmlformats.org/officeDocument/2006/math">
                    <m:r>
                      <a:rPr kumimoji="1" lang="en-US" altLang="zh-TW" b="0" i="1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kumimoji="1" lang="en-US" altLang="zh-TW" b="0" i="1" smtClean="0">
                        <a:latin typeface="Cambria Math" panose="02040503050406030204" pitchFamily="18" charset="0"/>
                      </a:rPr>
                      <m:t>=4</m:t>
                    </m:r>
                  </m:oMath>
                </a14:m>
                <a:r>
                  <a:rPr kumimoji="1" lang="en-US" altLang="zh-TW" dirty="0"/>
                  <a:t>)</a:t>
                </a:r>
                <a:endParaRPr lang="zh-TW" altLang="en-US" dirty="0">
                  <a:latin typeface="Times New Roman"/>
                  <a:ea typeface="新細明體"/>
                  <a:cs typeface="Calibri Light"/>
                </a:endParaRPr>
              </a:p>
            </p:txBody>
          </p:sp>
        </mc:Choice>
        <mc:Fallback>
          <p:sp>
            <p:nvSpPr>
              <p:cNvPr id="47" name="標題 1">
                <a:extLst>
                  <a:ext uri="{FF2B5EF4-FFF2-40B4-BE49-F238E27FC236}">
                    <a16:creationId xmlns:a16="http://schemas.microsoft.com/office/drawing/2014/main" id="{FAD4EAC7-FD9F-B07E-D405-C58C376B72E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4672" y="356088"/>
                <a:ext cx="10511008" cy="1033416"/>
              </a:xfrm>
              <a:prstGeom prst="rect">
                <a:avLst/>
              </a:prstGeom>
              <a:blipFill>
                <a:blip r:embed="rId17"/>
                <a:stretch>
                  <a:fillRect l="-2654" t="-8434" b="-15663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379875666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80B6B308-E528-1567-412F-2BF52CB92E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dirty="0"/>
              <a:t>33</a:t>
            </a:fld>
            <a:endParaRPr lang="zh-TW" altLang="en-US"/>
          </a:p>
        </p:txBody>
      </p:sp>
      <p:sp>
        <p:nvSpPr>
          <p:cNvPr id="6" name="圓角矩形 5">
            <a:extLst>
              <a:ext uri="{FF2B5EF4-FFF2-40B4-BE49-F238E27FC236}">
                <a16:creationId xmlns:a16="http://schemas.microsoft.com/office/drawing/2014/main" id="{F07E41BB-9C95-5AB2-BA09-AE6796CBB446}"/>
              </a:ext>
            </a:extLst>
          </p:cNvPr>
          <p:cNvSpPr/>
          <p:nvPr/>
        </p:nvSpPr>
        <p:spPr>
          <a:xfrm>
            <a:off x="1234362" y="3920344"/>
            <a:ext cx="613700" cy="514110"/>
          </a:xfrm>
          <a:prstGeom prst="roundRect">
            <a:avLst/>
          </a:prstGeom>
          <a:solidFill>
            <a:srgbClr val="C5E0B4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en-US" altLang="zh-TW" sz="2400" dirty="0">
                <a:solidFill>
                  <a:schemeClr val="tx1"/>
                </a:solidFill>
              </a:rPr>
              <a:t>_</a:t>
            </a:r>
            <a:endParaRPr kumimoji="1" lang="zh-TW" altLang="en-US" sz="2400" dirty="0">
              <a:solidFill>
                <a:schemeClr val="tx1"/>
              </a:solidFill>
            </a:endParaRPr>
          </a:p>
        </p:txBody>
      </p:sp>
      <p:sp>
        <p:nvSpPr>
          <p:cNvPr id="7" name="文字方塊 67">
            <a:extLst>
              <a:ext uri="{FF2B5EF4-FFF2-40B4-BE49-F238E27FC236}">
                <a16:creationId xmlns:a16="http://schemas.microsoft.com/office/drawing/2014/main" id="{B381507F-DC44-2012-7728-330509B5ABA9}"/>
              </a:ext>
            </a:extLst>
          </p:cNvPr>
          <p:cNvSpPr txBox="1"/>
          <p:nvPr/>
        </p:nvSpPr>
        <p:spPr>
          <a:xfrm>
            <a:off x="1158218" y="4472662"/>
            <a:ext cx="77862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en-US" altLang="zh-TW" sz="1600" dirty="0"/>
              <a:t>(Start)</a:t>
            </a:r>
            <a:endParaRPr kumimoji="1" lang="zh-TW" altLang="en-US" sz="1600" dirty="0"/>
          </a:p>
        </p:txBody>
      </p:sp>
      <p:sp>
        <p:nvSpPr>
          <p:cNvPr id="10" name="圓角矩形 9">
            <a:extLst>
              <a:ext uri="{FF2B5EF4-FFF2-40B4-BE49-F238E27FC236}">
                <a16:creationId xmlns:a16="http://schemas.microsoft.com/office/drawing/2014/main" id="{875E7289-05C1-D185-CD20-7A8387DC3548}"/>
              </a:ext>
            </a:extLst>
          </p:cNvPr>
          <p:cNvSpPr/>
          <p:nvPr/>
        </p:nvSpPr>
        <p:spPr>
          <a:xfrm>
            <a:off x="2397436" y="2958733"/>
            <a:ext cx="613700" cy="514110"/>
          </a:xfrm>
          <a:prstGeom prst="roundRect">
            <a:avLst/>
          </a:prstGeom>
          <a:solidFill>
            <a:srgbClr val="C5E0B4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en-US" altLang="zh-TW" sz="1600" dirty="0">
                <a:solidFill>
                  <a:schemeClr val="tx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I</a:t>
            </a:r>
            <a:endParaRPr kumimoji="1" lang="zh-TW" altLang="en-US" sz="1600" dirty="0">
              <a:solidFill>
                <a:schemeClr val="tx1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12" name="圓角矩形 11">
            <a:extLst>
              <a:ext uri="{FF2B5EF4-FFF2-40B4-BE49-F238E27FC236}">
                <a16:creationId xmlns:a16="http://schemas.microsoft.com/office/drawing/2014/main" id="{3C729BBC-BACD-B4BC-5CFD-E43E279BC56D}"/>
              </a:ext>
            </a:extLst>
          </p:cNvPr>
          <p:cNvSpPr/>
          <p:nvPr/>
        </p:nvSpPr>
        <p:spPr>
          <a:xfrm>
            <a:off x="2397436" y="5004890"/>
            <a:ext cx="613700" cy="514110"/>
          </a:xfrm>
          <a:prstGeom prst="roundRect">
            <a:avLst/>
          </a:prstGeom>
          <a:solidFill>
            <a:srgbClr val="C5E0B4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en-US" altLang="zh-TW" sz="1600" dirty="0">
                <a:solidFill>
                  <a:schemeClr val="tx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You</a:t>
            </a:r>
            <a:endParaRPr kumimoji="1" lang="zh-TW" altLang="en-US" sz="1600" dirty="0">
              <a:solidFill>
                <a:schemeClr val="tx1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cxnSp>
        <p:nvCxnSpPr>
          <p:cNvPr id="14" name="直線箭頭接點 13">
            <a:extLst>
              <a:ext uri="{FF2B5EF4-FFF2-40B4-BE49-F238E27FC236}">
                <a16:creationId xmlns:a16="http://schemas.microsoft.com/office/drawing/2014/main" id="{25A5463B-ADA9-FE38-04CD-5FE88700466F}"/>
              </a:ext>
            </a:extLst>
          </p:cNvPr>
          <p:cNvCxnSpPr>
            <a:cxnSpLocks/>
          </p:cNvCxnSpPr>
          <p:nvPr/>
        </p:nvCxnSpPr>
        <p:spPr>
          <a:xfrm flipV="1">
            <a:off x="1871612" y="3159314"/>
            <a:ext cx="467804" cy="951566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線箭頭接點 18">
            <a:extLst>
              <a:ext uri="{FF2B5EF4-FFF2-40B4-BE49-F238E27FC236}">
                <a16:creationId xmlns:a16="http://schemas.microsoft.com/office/drawing/2014/main" id="{9D3CFDC7-E5AB-77B0-FA1A-9D836D4225EE}"/>
              </a:ext>
            </a:extLst>
          </p:cNvPr>
          <p:cNvCxnSpPr>
            <a:cxnSpLocks/>
          </p:cNvCxnSpPr>
          <p:nvPr/>
        </p:nvCxnSpPr>
        <p:spPr>
          <a:xfrm rot="10800000" flipH="1" flipV="1">
            <a:off x="1871612" y="4221432"/>
            <a:ext cx="467804" cy="951566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文字方塊 21">
                <a:extLst>
                  <a:ext uri="{FF2B5EF4-FFF2-40B4-BE49-F238E27FC236}">
                    <a16:creationId xmlns:a16="http://schemas.microsoft.com/office/drawing/2014/main" id="{AE2DCFBE-6018-9076-F2D2-1DB61E6327C0}"/>
                  </a:ext>
                </a:extLst>
              </p:cNvPr>
              <p:cNvSpPr txBox="1"/>
              <p:nvPr/>
            </p:nvSpPr>
            <p:spPr>
              <a:xfrm>
                <a:off x="2397435" y="2625303"/>
                <a:ext cx="613701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TW" sz="1600" b="0" i="1" smtClean="0">
                          <a:latin typeface="Cambria Math" panose="02040503050406030204" pitchFamily="18" charset="0"/>
                        </a:rPr>
                        <m:t>−0.7</m:t>
                      </m:r>
                    </m:oMath>
                  </m:oMathPara>
                </a14:m>
                <a:endParaRPr kumimoji="1" lang="zh-TW" altLang="en-US" sz="1600" dirty="0"/>
              </a:p>
            </p:txBody>
          </p:sp>
        </mc:Choice>
        <mc:Fallback xmlns="">
          <p:sp>
            <p:nvSpPr>
              <p:cNvPr id="22" name="文字方塊 21">
                <a:extLst>
                  <a:ext uri="{FF2B5EF4-FFF2-40B4-BE49-F238E27FC236}">
                    <a16:creationId xmlns:a16="http://schemas.microsoft.com/office/drawing/2014/main" id="{AE2DCFBE-6018-9076-F2D2-1DB61E6327C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97435" y="2625303"/>
                <a:ext cx="613701" cy="338554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文字方塊 22">
                <a:extLst>
                  <a:ext uri="{FF2B5EF4-FFF2-40B4-BE49-F238E27FC236}">
                    <a16:creationId xmlns:a16="http://schemas.microsoft.com/office/drawing/2014/main" id="{FD3DD690-0104-A97A-2C3F-7DF0AC27AFA7}"/>
                  </a:ext>
                </a:extLst>
              </p:cNvPr>
              <p:cNvSpPr txBox="1"/>
              <p:nvPr/>
            </p:nvSpPr>
            <p:spPr>
              <a:xfrm>
                <a:off x="2397435" y="5574359"/>
                <a:ext cx="598355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TW" sz="1600" b="0" i="1" smtClean="0">
                          <a:latin typeface="Cambria Math" panose="02040503050406030204" pitchFamily="18" charset="0"/>
                        </a:rPr>
                        <m:t>−0.9</m:t>
                      </m:r>
                    </m:oMath>
                  </m:oMathPara>
                </a14:m>
                <a:endParaRPr kumimoji="1" lang="zh-TW" altLang="en-US" sz="1600" dirty="0"/>
              </a:p>
            </p:txBody>
          </p:sp>
        </mc:Choice>
        <mc:Fallback xmlns="">
          <p:sp>
            <p:nvSpPr>
              <p:cNvPr id="23" name="文字方塊 22">
                <a:extLst>
                  <a:ext uri="{FF2B5EF4-FFF2-40B4-BE49-F238E27FC236}">
                    <a16:creationId xmlns:a16="http://schemas.microsoft.com/office/drawing/2014/main" id="{FD3DD690-0104-A97A-2C3F-7DF0AC27AFA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97435" y="5574359"/>
                <a:ext cx="598355" cy="338554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圓角矩形 2">
            <a:extLst>
              <a:ext uri="{FF2B5EF4-FFF2-40B4-BE49-F238E27FC236}">
                <a16:creationId xmlns:a16="http://schemas.microsoft.com/office/drawing/2014/main" id="{8F43250E-61CA-2FCD-5713-EEE3A86898A2}"/>
              </a:ext>
            </a:extLst>
          </p:cNvPr>
          <p:cNvSpPr/>
          <p:nvPr/>
        </p:nvSpPr>
        <p:spPr>
          <a:xfrm>
            <a:off x="3848821" y="2545579"/>
            <a:ext cx="732055" cy="514110"/>
          </a:xfrm>
          <a:prstGeom prst="roundRect">
            <a:avLst/>
          </a:prstGeom>
          <a:solidFill>
            <a:srgbClr val="C5E0B4"/>
          </a:solidFill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en-US" altLang="zh-TW" sz="1600" dirty="0">
                <a:solidFill>
                  <a:srgbClr val="FF0000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like</a:t>
            </a:r>
            <a:endParaRPr kumimoji="1" lang="zh-TW" altLang="en-US" sz="1600" dirty="0">
              <a:solidFill>
                <a:srgbClr val="FF0000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4" name="圓角矩形 3">
            <a:extLst>
              <a:ext uri="{FF2B5EF4-FFF2-40B4-BE49-F238E27FC236}">
                <a16:creationId xmlns:a16="http://schemas.microsoft.com/office/drawing/2014/main" id="{AFA1AEDB-F347-04F8-CEE1-E1D35D5B3651}"/>
              </a:ext>
            </a:extLst>
          </p:cNvPr>
          <p:cNvSpPr/>
          <p:nvPr/>
        </p:nvSpPr>
        <p:spPr>
          <a:xfrm>
            <a:off x="3848821" y="3341573"/>
            <a:ext cx="732056" cy="514110"/>
          </a:xfrm>
          <a:prstGeom prst="roundRect">
            <a:avLst/>
          </a:prstGeom>
          <a:solidFill>
            <a:srgbClr val="C5E0B4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en-US" altLang="zh-TW" sz="1600" dirty="0">
                <a:solidFill>
                  <a:schemeClr val="tx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want</a:t>
            </a:r>
            <a:endParaRPr kumimoji="1" lang="zh-TW" altLang="en-US" sz="1600" dirty="0">
              <a:solidFill>
                <a:schemeClr val="tx1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8" name="圓角矩形 7">
            <a:extLst>
              <a:ext uri="{FF2B5EF4-FFF2-40B4-BE49-F238E27FC236}">
                <a16:creationId xmlns:a16="http://schemas.microsoft.com/office/drawing/2014/main" id="{BFA3A0A1-CC3C-EC77-CEC9-146B482EBACE}"/>
              </a:ext>
            </a:extLst>
          </p:cNvPr>
          <p:cNvSpPr/>
          <p:nvPr/>
        </p:nvSpPr>
        <p:spPr>
          <a:xfrm>
            <a:off x="3848820" y="4658888"/>
            <a:ext cx="732056" cy="514110"/>
          </a:xfrm>
          <a:prstGeom prst="roundRect">
            <a:avLst/>
          </a:prstGeom>
          <a:solidFill>
            <a:srgbClr val="C5E0B4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en-US" altLang="zh-TW" sz="1600" dirty="0">
                <a:solidFill>
                  <a:schemeClr val="tx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want</a:t>
            </a:r>
            <a:endParaRPr kumimoji="1" lang="zh-TW" altLang="en-US" sz="1600" dirty="0">
              <a:solidFill>
                <a:schemeClr val="tx1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13" name="圓角矩形 12">
            <a:extLst>
              <a:ext uri="{FF2B5EF4-FFF2-40B4-BE49-F238E27FC236}">
                <a16:creationId xmlns:a16="http://schemas.microsoft.com/office/drawing/2014/main" id="{820CADDD-FB1E-6DA6-D861-460F1DAB89D2}"/>
              </a:ext>
            </a:extLst>
          </p:cNvPr>
          <p:cNvSpPr/>
          <p:nvPr/>
        </p:nvSpPr>
        <p:spPr>
          <a:xfrm>
            <a:off x="3848820" y="5403253"/>
            <a:ext cx="732056" cy="514110"/>
          </a:xfrm>
          <a:prstGeom prst="roundRect">
            <a:avLst/>
          </a:prstGeom>
          <a:solidFill>
            <a:srgbClr val="C5E0B4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en-US" altLang="zh-TW" sz="1600" dirty="0">
                <a:solidFill>
                  <a:schemeClr val="tx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are</a:t>
            </a:r>
            <a:endParaRPr kumimoji="1" lang="zh-TW" altLang="en-US" sz="1600" dirty="0">
              <a:solidFill>
                <a:schemeClr val="tx1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cxnSp>
        <p:nvCxnSpPr>
          <p:cNvPr id="15" name="直線箭頭接點 14">
            <a:extLst>
              <a:ext uri="{FF2B5EF4-FFF2-40B4-BE49-F238E27FC236}">
                <a16:creationId xmlns:a16="http://schemas.microsoft.com/office/drawing/2014/main" id="{8665C6F8-C70B-8089-DEF0-F0BF0A302E1F}"/>
              </a:ext>
            </a:extLst>
          </p:cNvPr>
          <p:cNvCxnSpPr>
            <a:cxnSpLocks/>
          </p:cNvCxnSpPr>
          <p:nvPr/>
        </p:nvCxnSpPr>
        <p:spPr>
          <a:xfrm flipV="1">
            <a:off x="3069156" y="2802634"/>
            <a:ext cx="686098" cy="35668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直線箭頭接點 24">
            <a:extLst>
              <a:ext uri="{FF2B5EF4-FFF2-40B4-BE49-F238E27FC236}">
                <a16:creationId xmlns:a16="http://schemas.microsoft.com/office/drawing/2014/main" id="{7E401430-2CB0-6CDC-4D3E-E2664C968009}"/>
              </a:ext>
            </a:extLst>
          </p:cNvPr>
          <p:cNvCxnSpPr>
            <a:cxnSpLocks/>
          </p:cNvCxnSpPr>
          <p:nvPr/>
        </p:nvCxnSpPr>
        <p:spPr>
          <a:xfrm>
            <a:off x="3086929" y="3269539"/>
            <a:ext cx="686098" cy="35668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直線箭頭接點 25">
            <a:extLst>
              <a:ext uri="{FF2B5EF4-FFF2-40B4-BE49-F238E27FC236}">
                <a16:creationId xmlns:a16="http://schemas.microsoft.com/office/drawing/2014/main" id="{5BEAD4A0-45EF-EF79-2FEC-25625B419A1C}"/>
              </a:ext>
            </a:extLst>
          </p:cNvPr>
          <p:cNvCxnSpPr>
            <a:cxnSpLocks/>
          </p:cNvCxnSpPr>
          <p:nvPr/>
        </p:nvCxnSpPr>
        <p:spPr>
          <a:xfrm>
            <a:off x="3079256" y="5304719"/>
            <a:ext cx="686098" cy="35668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直線箭頭接點 26">
            <a:extLst>
              <a:ext uri="{FF2B5EF4-FFF2-40B4-BE49-F238E27FC236}">
                <a16:creationId xmlns:a16="http://schemas.microsoft.com/office/drawing/2014/main" id="{0C436EAB-E031-DBE5-6881-81A4CA5C9777}"/>
              </a:ext>
            </a:extLst>
          </p:cNvPr>
          <p:cNvCxnSpPr>
            <a:cxnSpLocks/>
          </p:cNvCxnSpPr>
          <p:nvPr/>
        </p:nvCxnSpPr>
        <p:spPr>
          <a:xfrm flipV="1">
            <a:off x="3079256" y="4890148"/>
            <a:ext cx="686098" cy="35668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8" name="文字方塊 27">
                <a:extLst>
                  <a:ext uri="{FF2B5EF4-FFF2-40B4-BE49-F238E27FC236}">
                    <a16:creationId xmlns:a16="http://schemas.microsoft.com/office/drawing/2014/main" id="{4B7D302A-69BB-3B4C-110A-358900750293}"/>
                  </a:ext>
                </a:extLst>
              </p:cNvPr>
              <p:cNvSpPr txBox="1"/>
              <p:nvPr/>
            </p:nvSpPr>
            <p:spPr>
              <a:xfrm>
                <a:off x="3885019" y="2211250"/>
                <a:ext cx="613701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TW" sz="1600" b="0" i="1" smtClean="0">
                          <a:latin typeface="Cambria Math" panose="02040503050406030204" pitchFamily="18" charset="0"/>
                        </a:rPr>
                        <m:t>−1.7</m:t>
                      </m:r>
                    </m:oMath>
                  </m:oMathPara>
                </a14:m>
                <a:endParaRPr kumimoji="1" lang="zh-TW" altLang="en-US" sz="1600" dirty="0"/>
              </a:p>
            </p:txBody>
          </p:sp>
        </mc:Choice>
        <mc:Fallback xmlns="">
          <p:sp>
            <p:nvSpPr>
              <p:cNvPr id="28" name="文字方塊 27">
                <a:extLst>
                  <a:ext uri="{FF2B5EF4-FFF2-40B4-BE49-F238E27FC236}">
                    <a16:creationId xmlns:a16="http://schemas.microsoft.com/office/drawing/2014/main" id="{4B7D302A-69BB-3B4C-110A-35890075029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85019" y="2211250"/>
                <a:ext cx="613701" cy="338554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文字方塊 28">
                <a:extLst>
                  <a:ext uri="{FF2B5EF4-FFF2-40B4-BE49-F238E27FC236}">
                    <a16:creationId xmlns:a16="http://schemas.microsoft.com/office/drawing/2014/main" id="{8F9CE310-A15D-4542-74A8-BF14C20D7734}"/>
                  </a:ext>
                </a:extLst>
              </p:cNvPr>
              <p:cNvSpPr txBox="1"/>
              <p:nvPr/>
            </p:nvSpPr>
            <p:spPr>
              <a:xfrm>
                <a:off x="3885019" y="3844284"/>
                <a:ext cx="613700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TW" sz="1600" b="0" i="1" smtClean="0">
                          <a:latin typeface="Cambria Math" panose="02040503050406030204" pitchFamily="18" charset="0"/>
                        </a:rPr>
                        <m:t>−2.9</m:t>
                      </m:r>
                    </m:oMath>
                  </m:oMathPara>
                </a14:m>
                <a:endParaRPr kumimoji="1" lang="zh-TW" altLang="en-US" sz="1600" dirty="0"/>
              </a:p>
            </p:txBody>
          </p:sp>
        </mc:Choice>
        <mc:Fallback xmlns="">
          <p:sp>
            <p:nvSpPr>
              <p:cNvPr id="29" name="文字方塊 28">
                <a:extLst>
                  <a:ext uri="{FF2B5EF4-FFF2-40B4-BE49-F238E27FC236}">
                    <a16:creationId xmlns:a16="http://schemas.microsoft.com/office/drawing/2014/main" id="{8F9CE310-A15D-4542-74A8-BF14C20D773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85019" y="3844284"/>
                <a:ext cx="613700" cy="338554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" name="文字方塊 29">
                <a:extLst>
                  <a:ext uri="{FF2B5EF4-FFF2-40B4-BE49-F238E27FC236}">
                    <a16:creationId xmlns:a16="http://schemas.microsoft.com/office/drawing/2014/main" id="{1834D209-F6BD-1B0A-BF59-E0500E0C63A1}"/>
                  </a:ext>
                </a:extLst>
              </p:cNvPr>
              <p:cNvSpPr txBox="1"/>
              <p:nvPr/>
            </p:nvSpPr>
            <p:spPr>
              <a:xfrm>
                <a:off x="3885019" y="4345643"/>
                <a:ext cx="613701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TW" sz="1600" b="0" i="1" smtClean="0">
                          <a:latin typeface="Cambria Math" panose="02040503050406030204" pitchFamily="18" charset="0"/>
                        </a:rPr>
                        <m:t>−1.6</m:t>
                      </m:r>
                    </m:oMath>
                  </m:oMathPara>
                </a14:m>
                <a:endParaRPr kumimoji="1" lang="zh-TW" altLang="en-US" sz="1600" dirty="0"/>
              </a:p>
            </p:txBody>
          </p:sp>
        </mc:Choice>
        <mc:Fallback xmlns="">
          <p:sp>
            <p:nvSpPr>
              <p:cNvPr id="30" name="文字方塊 29">
                <a:extLst>
                  <a:ext uri="{FF2B5EF4-FFF2-40B4-BE49-F238E27FC236}">
                    <a16:creationId xmlns:a16="http://schemas.microsoft.com/office/drawing/2014/main" id="{1834D209-F6BD-1B0A-BF59-E0500E0C63A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85019" y="4345643"/>
                <a:ext cx="613701" cy="338554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" name="文字方塊 30">
                <a:extLst>
                  <a:ext uri="{FF2B5EF4-FFF2-40B4-BE49-F238E27FC236}">
                    <a16:creationId xmlns:a16="http://schemas.microsoft.com/office/drawing/2014/main" id="{4D3DAC6B-5B92-1CFD-751E-6687CB641DB3}"/>
                  </a:ext>
                </a:extLst>
              </p:cNvPr>
              <p:cNvSpPr txBox="1"/>
              <p:nvPr/>
            </p:nvSpPr>
            <p:spPr>
              <a:xfrm>
                <a:off x="3848820" y="5910891"/>
                <a:ext cx="686099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TW" sz="1600" b="0" i="1" smtClean="0">
                          <a:latin typeface="Cambria Math" panose="02040503050406030204" pitchFamily="18" charset="0"/>
                        </a:rPr>
                        <m:t>−1.8</m:t>
                      </m:r>
                    </m:oMath>
                  </m:oMathPara>
                </a14:m>
                <a:endParaRPr kumimoji="1" lang="zh-TW" altLang="en-US" sz="1600" dirty="0"/>
              </a:p>
            </p:txBody>
          </p:sp>
        </mc:Choice>
        <mc:Fallback xmlns="">
          <p:sp>
            <p:nvSpPr>
              <p:cNvPr id="31" name="文字方塊 30">
                <a:extLst>
                  <a:ext uri="{FF2B5EF4-FFF2-40B4-BE49-F238E27FC236}">
                    <a16:creationId xmlns:a16="http://schemas.microsoft.com/office/drawing/2014/main" id="{4D3DAC6B-5B92-1CFD-751E-6687CB641DB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48820" y="5910891"/>
                <a:ext cx="686099" cy="338554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" name="圓角矩形 17">
            <a:extLst>
              <a:ext uri="{FF2B5EF4-FFF2-40B4-BE49-F238E27FC236}">
                <a16:creationId xmlns:a16="http://schemas.microsoft.com/office/drawing/2014/main" id="{601EF68D-AB15-2BE7-FB27-3732E7DC8DC8}"/>
              </a:ext>
            </a:extLst>
          </p:cNvPr>
          <p:cNvSpPr/>
          <p:nvPr/>
        </p:nvSpPr>
        <p:spPr>
          <a:xfrm>
            <a:off x="5426258" y="2144666"/>
            <a:ext cx="732055" cy="514110"/>
          </a:xfrm>
          <a:prstGeom prst="roundRect">
            <a:avLst/>
          </a:prstGeom>
          <a:solidFill>
            <a:srgbClr val="C5E0B4"/>
          </a:solidFill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en-US" altLang="zh-TW" sz="1600" dirty="0">
                <a:solidFill>
                  <a:srgbClr val="FF0000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to</a:t>
            </a:r>
            <a:endParaRPr kumimoji="1" lang="zh-TW" altLang="en-US" sz="1600" dirty="0">
              <a:solidFill>
                <a:srgbClr val="FF0000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24" name="圓角矩形 23">
            <a:extLst>
              <a:ext uri="{FF2B5EF4-FFF2-40B4-BE49-F238E27FC236}">
                <a16:creationId xmlns:a16="http://schemas.microsoft.com/office/drawing/2014/main" id="{0CBAD8EE-42E2-E1A6-D756-AFEE80F6B6C3}"/>
              </a:ext>
            </a:extLst>
          </p:cNvPr>
          <p:cNvSpPr/>
          <p:nvPr/>
        </p:nvSpPr>
        <p:spPr>
          <a:xfrm>
            <a:off x="5426258" y="2940660"/>
            <a:ext cx="732056" cy="514110"/>
          </a:xfrm>
          <a:prstGeom prst="roundRect">
            <a:avLst/>
          </a:prstGeom>
          <a:solidFill>
            <a:srgbClr val="C5E0B4"/>
          </a:solidFill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en-US" altLang="zh-TW" sz="1300" dirty="0">
                <a:solidFill>
                  <a:srgbClr val="FF0000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books</a:t>
            </a:r>
            <a:endParaRPr kumimoji="1" lang="zh-TW" altLang="en-US" sz="1300" dirty="0">
              <a:solidFill>
                <a:srgbClr val="FF0000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cxnSp>
        <p:nvCxnSpPr>
          <p:cNvPr id="35" name="直線箭頭接點 34">
            <a:extLst>
              <a:ext uri="{FF2B5EF4-FFF2-40B4-BE49-F238E27FC236}">
                <a16:creationId xmlns:a16="http://schemas.microsoft.com/office/drawing/2014/main" id="{46E46508-67A3-47D1-F2E4-593015865BD2}"/>
              </a:ext>
            </a:extLst>
          </p:cNvPr>
          <p:cNvCxnSpPr>
            <a:cxnSpLocks/>
          </p:cNvCxnSpPr>
          <p:nvPr/>
        </p:nvCxnSpPr>
        <p:spPr>
          <a:xfrm flipV="1">
            <a:off x="4646593" y="2401721"/>
            <a:ext cx="686098" cy="35668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直線箭頭接點 35">
            <a:extLst>
              <a:ext uri="{FF2B5EF4-FFF2-40B4-BE49-F238E27FC236}">
                <a16:creationId xmlns:a16="http://schemas.microsoft.com/office/drawing/2014/main" id="{454CD8D4-70BA-C50F-4173-C4EFAF415F32}"/>
              </a:ext>
            </a:extLst>
          </p:cNvPr>
          <p:cNvCxnSpPr>
            <a:cxnSpLocks/>
          </p:cNvCxnSpPr>
          <p:nvPr/>
        </p:nvCxnSpPr>
        <p:spPr>
          <a:xfrm>
            <a:off x="4664366" y="2868626"/>
            <a:ext cx="686098" cy="35668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7" name="文字方塊 36">
                <a:extLst>
                  <a:ext uri="{FF2B5EF4-FFF2-40B4-BE49-F238E27FC236}">
                    <a16:creationId xmlns:a16="http://schemas.microsoft.com/office/drawing/2014/main" id="{5B72CF1E-2455-77B2-4E63-0388B571BA45}"/>
                  </a:ext>
                </a:extLst>
              </p:cNvPr>
              <p:cNvSpPr txBox="1"/>
              <p:nvPr/>
            </p:nvSpPr>
            <p:spPr>
              <a:xfrm>
                <a:off x="5518071" y="1789852"/>
                <a:ext cx="530678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TW" sz="1600" b="0" i="1" smtClean="0">
                          <a:latin typeface="Cambria Math" panose="02040503050406030204" pitchFamily="18" charset="0"/>
                        </a:rPr>
                        <m:t>−2.8</m:t>
                      </m:r>
                    </m:oMath>
                  </m:oMathPara>
                </a14:m>
                <a:endParaRPr kumimoji="1" lang="zh-TW" altLang="en-US" sz="1600" dirty="0"/>
              </a:p>
            </p:txBody>
          </p:sp>
        </mc:Choice>
        <mc:Fallback xmlns="">
          <p:sp>
            <p:nvSpPr>
              <p:cNvPr id="37" name="文字方塊 36">
                <a:extLst>
                  <a:ext uri="{FF2B5EF4-FFF2-40B4-BE49-F238E27FC236}">
                    <a16:creationId xmlns:a16="http://schemas.microsoft.com/office/drawing/2014/main" id="{5B72CF1E-2455-77B2-4E63-0388B571BA4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18071" y="1789852"/>
                <a:ext cx="530678" cy="338554"/>
              </a:xfrm>
              <a:prstGeom prst="rect">
                <a:avLst/>
              </a:prstGeom>
              <a:blipFill>
                <a:blip r:embed="rId9"/>
                <a:stretch>
                  <a:fillRect r="-9302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8" name="文字方塊 37">
                <a:extLst>
                  <a:ext uri="{FF2B5EF4-FFF2-40B4-BE49-F238E27FC236}">
                    <a16:creationId xmlns:a16="http://schemas.microsoft.com/office/drawing/2014/main" id="{75DED9B6-F0F3-1533-17C3-AE4E8F2376DC}"/>
                  </a:ext>
                </a:extLst>
              </p:cNvPr>
              <p:cNvSpPr txBox="1"/>
              <p:nvPr/>
            </p:nvSpPr>
            <p:spPr>
              <a:xfrm>
                <a:off x="5500315" y="3428408"/>
                <a:ext cx="566190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TW" sz="1600" b="0" i="1" smtClean="0">
                          <a:latin typeface="Cambria Math" panose="02040503050406030204" pitchFamily="18" charset="0"/>
                        </a:rPr>
                        <m:t>−2.</m:t>
                      </m:r>
                      <m:r>
                        <a:rPr kumimoji="1" lang="en-US" altLang="zh-TW" sz="1600" b="0" i="0" smtClean="0">
                          <a:latin typeface="Cambria Math" panose="02040503050406030204" pitchFamily="18" charset="0"/>
                        </a:rPr>
                        <m:t>5</m:t>
                      </m:r>
                    </m:oMath>
                  </m:oMathPara>
                </a14:m>
                <a:endParaRPr kumimoji="1" lang="zh-TW" altLang="en-US" sz="1600" dirty="0"/>
              </a:p>
            </p:txBody>
          </p:sp>
        </mc:Choice>
        <mc:Fallback xmlns="">
          <p:sp>
            <p:nvSpPr>
              <p:cNvPr id="38" name="文字方塊 37">
                <a:extLst>
                  <a:ext uri="{FF2B5EF4-FFF2-40B4-BE49-F238E27FC236}">
                    <a16:creationId xmlns:a16="http://schemas.microsoft.com/office/drawing/2014/main" id="{75DED9B6-F0F3-1533-17C3-AE4E8F2376D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00315" y="3428408"/>
                <a:ext cx="566190" cy="338554"/>
              </a:xfrm>
              <a:prstGeom prst="rect">
                <a:avLst/>
              </a:prstGeom>
              <a:blipFill>
                <a:blip r:embed="rId10"/>
                <a:stretch>
                  <a:fillRect r="-4348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9" name="圓角矩形 38">
            <a:extLst>
              <a:ext uri="{FF2B5EF4-FFF2-40B4-BE49-F238E27FC236}">
                <a16:creationId xmlns:a16="http://schemas.microsoft.com/office/drawing/2014/main" id="{8D37F53C-38B0-72B7-761E-CCE30BD3F6A2}"/>
              </a:ext>
            </a:extLst>
          </p:cNvPr>
          <p:cNvSpPr/>
          <p:nvPr/>
        </p:nvSpPr>
        <p:spPr>
          <a:xfrm>
            <a:off x="5444007" y="4253284"/>
            <a:ext cx="732055" cy="514110"/>
          </a:xfrm>
          <a:prstGeom prst="roundRect">
            <a:avLst/>
          </a:prstGeom>
          <a:solidFill>
            <a:srgbClr val="C5E0B4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en-US" altLang="zh-TW" sz="1600" dirty="0">
                <a:solidFill>
                  <a:schemeClr val="tx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to</a:t>
            </a:r>
            <a:endParaRPr kumimoji="1" lang="zh-TW" altLang="en-US" sz="1600" dirty="0">
              <a:solidFill>
                <a:schemeClr val="tx1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40" name="圓角矩形 39">
            <a:extLst>
              <a:ext uri="{FF2B5EF4-FFF2-40B4-BE49-F238E27FC236}">
                <a16:creationId xmlns:a16="http://schemas.microsoft.com/office/drawing/2014/main" id="{A3DAE183-4DB4-FB98-30FA-C42FE80C7E5C}"/>
              </a:ext>
            </a:extLst>
          </p:cNvPr>
          <p:cNvSpPr/>
          <p:nvPr/>
        </p:nvSpPr>
        <p:spPr>
          <a:xfrm>
            <a:off x="5444007" y="5049278"/>
            <a:ext cx="732056" cy="514110"/>
          </a:xfrm>
          <a:prstGeom prst="roundRect">
            <a:avLst/>
          </a:prstGeom>
          <a:solidFill>
            <a:srgbClr val="C5E0B4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en-US" altLang="zh-TW" sz="1600" dirty="0">
                <a:solidFill>
                  <a:schemeClr val="tx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tea</a:t>
            </a:r>
            <a:endParaRPr kumimoji="1" lang="zh-TW" altLang="en-US" sz="1600" dirty="0">
              <a:solidFill>
                <a:schemeClr val="tx1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cxnSp>
        <p:nvCxnSpPr>
          <p:cNvPr id="41" name="直線箭頭接點 40">
            <a:extLst>
              <a:ext uri="{FF2B5EF4-FFF2-40B4-BE49-F238E27FC236}">
                <a16:creationId xmlns:a16="http://schemas.microsoft.com/office/drawing/2014/main" id="{02DB8DA1-DF6A-7639-0750-34AB62672E0C}"/>
              </a:ext>
            </a:extLst>
          </p:cNvPr>
          <p:cNvCxnSpPr>
            <a:cxnSpLocks/>
          </p:cNvCxnSpPr>
          <p:nvPr/>
        </p:nvCxnSpPr>
        <p:spPr>
          <a:xfrm flipV="1">
            <a:off x="4664342" y="4510339"/>
            <a:ext cx="686098" cy="35668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直線箭頭接點 41">
            <a:extLst>
              <a:ext uri="{FF2B5EF4-FFF2-40B4-BE49-F238E27FC236}">
                <a16:creationId xmlns:a16="http://schemas.microsoft.com/office/drawing/2014/main" id="{C5EC476E-EC31-2D86-E6B2-EBF1955BF1E5}"/>
              </a:ext>
            </a:extLst>
          </p:cNvPr>
          <p:cNvCxnSpPr>
            <a:cxnSpLocks/>
          </p:cNvCxnSpPr>
          <p:nvPr/>
        </p:nvCxnSpPr>
        <p:spPr>
          <a:xfrm>
            <a:off x="4682115" y="4977244"/>
            <a:ext cx="686098" cy="35668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3" name="文字方塊 42">
                <a:extLst>
                  <a:ext uri="{FF2B5EF4-FFF2-40B4-BE49-F238E27FC236}">
                    <a16:creationId xmlns:a16="http://schemas.microsoft.com/office/drawing/2014/main" id="{9322DFDD-EFF0-7244-F30C-F19809A79EB8}"/>
                  </a:ext>
                </a:extLst>
              </p:cNvPr>
              <p:cNvSpPr txBox="1"/>
              <p:nvPr/>
            </p:nvSpPr>
            <p:spPr>
              <a:xfrm>
                <a:off x="5495873" y="3926009"/>
                <a:ext cx="575074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TW" sz="1600" b="0" i="1" smtClean="0">
                          <a:latin typeface="Cambria Math" panose="02040503050406030204" pitchFamily="18" charset="0"/>
                        </a:rPr>
                        <m:t>−2.9</m:t>
                      </m:r>
                    </m:oMath>
                  </m:oMathPara>
                </a14:m>
                <a:endParaRPr kumimoji="1" lang="zh-TW" altLang="en-US" sz="1600" dirty="0"/>
              </a:p>
            </p:txBody>
          </p:sp>
        </mc:Choice>
        <mc:Fallback xmlns="">
          <p:sp>
            <p:nvSpPr>
              <p:cNvPr id="43" name="文字方塊 42">
                <a:extLst>
                  <a:ext uri="{FF2B5EF4-FFF2-40B4-BE49-F238E27FC236}">
                    <a16:creationId xmlns:a16="http://schemas.microsoft.com/office/drawing/2014/main" id="{9322DFDD-EFF0-7244-F30C-F19809A79EB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95873" y="3926009"/>
                <a:ext cx="575074" cy="338554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4" name="文字方塊 43">
                <a:extLst>
                  <a:ext uri="{FF2B5EF4-FFF2-40B4-BE49-F238E27FC236}">
                    <a16:creationId xmlns:a16="http://schemas.microsoft.com/office/drawing/2014/main" id="{08361A65-0546-D0FE-B2EE-A1BC12C81851}"/>
                  </a:ext>
                </a:extLst>
              </p:cNvPr>
              <p:cNvSpPr txBox="1"/>
              <p:nvPr/>
            </p:nvSpPr>
            <p:spPr>
              <a:xfrm>
                <a:off x="5509190" y="5559395"/>
                <a:ext cx="548440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TW" sz="1600" b="0" i="1" smtClean="0">
                          <a:latin typeface="Cambria Math" panose="02040503050406030204" pitchFamily="18" charset="0"/>
                        </a:rPr>
                        <m:t>−3.8</m:t>
                      </m:r>
                    </m:oMath>
                  </m:oMathPara>
                </a14:m>
                <a:endParaRPr kumimoji="1" lang="zh-TW" altLang="en-US" sz="1600" dirty="0"/>
              </a:p>
            </p:txBody>
          </p:sp>
        </mc:Choice>
        <mc:Fallback xmlns="">
          <p:sp>
            <p:nvSpPr>
              <p:cNvPr id="44" name="文字方塊 43">
                <a:extLst>
                  <a:ext uri="{FF2B5EF4-FFF2-40B4-BE49-F238E27FC236}">
                    <a16:creationId xmlns:a16="http://schemas.microsoft.com/office/drawing/2014/main" id="{08361A65-0546-D0FE-B2EE-A1BC12C8185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09190" y="5559395"/>
                <a:ext cx="548440" cy="338554"/>
              </a:xfrm>
              <a:prstGeom prst="rect">
                <a:avLst/>
              </a:prstGeom>
              <a:blipFill>
                <a:blip r:embed="rId12"/>
                <a:stretch>
                  <a:fillRect r="-4444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圓角矩形 1">
            <a:extLst>
              <a:ext uri="{FF2B5EF4-FFF2-40B4-BE49-F238E27FC236}">
                <a16:creationId xmlns:a16="http://schemas.microsoft.com/office/drawing/2014/main" id="{FCC80EAE-A748-DD7C-9D1D-B90050229D28}"/>
              </a:ext>
            </a:extLst>
          </p:cNvPr>
          <p:cNvSpPr/>
          <p:nvPr/>
        </p:nvSpPr>
        <p:spPr>
          <a:xfrm>
            <a:off x="6959306" y="2544320"/>
            <a:ext cx="810689" cy="514110"/>
          </a:xfrm>
          <a:prstGeom prst="roundRect">
            <a:avLst/>
          </a:prstGeom>
          <a:solidFill>
            <a:srgbClr val="C5E0B4"/>
          </a:solidFill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en-US" altLang="zh-TW" sz="1600" dirty="0">
                <a:solidFill>
                  <a:srgbClr val="FF0000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watch</a:t>
            </a:r>
            <a:endParaRPr kumimoji="1" lang="zh-TW" altLang="en-US" sz="1600" dirty="0">
              <a:solidFill>
                <a:srgbClr val="FF0000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16" name="圓角矩形 15">
            <a:extLst>
              <a:ext uri="{FF2B5EF4-FFF2-40B4-BE49-F238E27FC236}">
                <a16:creationId xmlns:a16="http://schemas.microsoft.com/office/drawing/2014/main" id="{624AFD73-A0D9-AE22-080A-91A4FC5F408D}"/>
              </a:ext>
            </a:extLst>
          </p:cNvPr>
          <p:cNvSpPr/>
          <p:nvPr/>
        </p:nvSpPr>
        <p:spPr>
          <a:xfrm>
            <a:off x="6959308" y="1747929"/>
            <a:ext cx="810689" cy="514110"/>
          </a:xfrm>
          <a:prstGeom prst="roundRect">
            <a:avLst/>
          </a:prstGeom>
          <a:solidFill>
            <a:srgbClr val="C5E0B4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en-US" altLang="zh-TW" sz="1600" dirty="0">
                <a:solidFill>
                  <a:schemeClr val="tx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read</a:t>
            </a:r>
            <a:endParaRPr kumimoji="1" lang="zh-TW" altLang="en-US" sz="1600" dirty="0">
              <a:solidFill>
                <a:schemeClr val="tx1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20" name="圓角矩形 19">
            <a:extLst>
              <a:ext uri="{FF2B5EF4-FFF2-40B4-BE49-F238E27FC236}">
                <a16:creationId xmlns:a16="http://schemas.microsoft.com/office/drawing/2014/main" id="{4F17797E-F2DB-5ADF-02FE-E0226F7ACE16}"/>
              </a:ext>
            </a:extLst>
          </p:cNvPr>
          <p:cNvSpPr/>
          <p:nvPr/>
        </p:nvSpPr>
        <p:spPr>
          <a:xfrm>
            <a:off x="6959307" y="3652720"/>
            <a:ext cx="810689" cy="514110"/>
          </a:xfrm>
          <a:prstGeom prst="roundRect">
            <a:avLst/>
          </a:prstGeom>
          <a:solidFill>
            <a:srgbClr val="C5E0B4"/>
          </a:solidFill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en-US" altLang="zh-TW" sz="1600" dirty="0">
                <a:solidFill>
                  <a:srgbClr val="FF0000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and</a:t>
            </a:r>
            <a:endParaRPr kumimoji="1" lang="zh-TW" altLang="en-US" sz="1600" dirty="0">
              <a:solidFill>
                <a:srgbClr val="FF0000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21" name="圓角矩形 20">
            <a:extLst>
              <a:ext uri="{FF2B5EF4-FFF2-40B4-BE49-F238E27FC236}">
                <a16:creationId xmlns:a16="http://schemas.microsoft.com/office/drawing/2014/main" id="{3B819ECA-E0CE-0C5D-FF83-5E3EE687278A}"/>
              </a:ext>
            </a:extLst>
          </p:cNvPr>
          <p:cNvSpPr/>
          <p:nvPr/>
        </p:nvSpPr>
        <p:spPr>
          <a:xfrm>
            <a:off x="6959307" y="4451194"/>
            <a:ext cx="810689" cy="514110"/>
          </a:xfrm>
          <a:prstGeom prst="roundRect">
            <a:avLst/>
          </a:prstGeom>
          <a:solidFill>
            <a:srgbClr val="C5E0B4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en-US" altLang="zh-TW" sz="1600" dirty="0">
                <a:solidFill>
                  <a:schemeClr val="tx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party</a:t>
            </a:r>
            <a:endParaRPr kumimoji="1" lang="zh-TW" altLang="en-US" sz="1600" dirty="0">
              <a:solidFill>
                <a:schemeClr val="tx1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cxnSp>
        <p:nvCxnSpPr>
          <p:cNvPr id="32" name="直線箭頭接點 31">
            <a:extLst>
              <a:ext uri="{FF2B5EF4-FFF2-40B4-BE49-F238E27FC236}">
                <a16:creationId xmlns:a16="http://schemas.microsoft.com/office/drawing/2014/main" id="{FFD04519-C5EE-5166-1A97-1250B554FDCF}"/>
              </a:ext>
            </a:extLst>
          </p:cNvPr>
          <p:cNvCxnSpPr>
            <a:cxnSpLocks/>
          </p:cNvCxnSpPr>
          <p:nvPr/>
        </p:nvCxnSpPr>
        <p:spPr>
          <a:xfrm flipV="1">
            <a:off x="6251880" y="1957795"/>
            <a:ext cx="635929" cy="41489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直線箭頭接點 33">
            <a:extLst>
              <a:ext uri="{FF2B5EF4-FFF2-40B4-BE49-F238E27FC236}">
                <a16:creationId xmlns:a16="http://schemas.microsoft.com/office/drawing/2014/main" id="{6E11CB0D-D77D-45B7-25D6-C3B2C6965F47}"/>
              </a:ext>
            </a:extLst>
          </p:cNvPr>
          <p:cNvCxnSpPr>
            <a:cxnSpLocks/>
          </p:cNvCxnSpPr>
          <p:nvPr/>
        </p:nvCxnSpPr>
        <p:spPr>
          <a:xfrm>
            <a:off x="6259576" y="2420845"/>
            <a:ext cx="628233" cy="462307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直線箭頭接點 47">
            <a:extLst>
              <a:ext uri="{FF2B5EF4-FFF2-40B4-BE49-F238E27FC236}">
                <a16:creationId xmlns:a16="http://schemas.microsoft.com/office/drawing/2014/main" id="{56F25780-7D26-D5A3-3618-1135CB12AAC1}"/>
              </a:ext>
            </a:extLst>
          </p:cNvPr>
          <p:cNvCxnSpPr>
            <a:cxnSpLocks/>
          </p:cNvCxnSpPr>
          <p:nvPr/>
        </p:nvCxnSpPr>
        <p:spPr>
          <a:xfrm>
            <a:off x="6251879" y="3215471"/>
            <a:ext cx="625270" cy="694304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直線箭頭接點 49">
            <a:extLst>
              <a:ext uri="{FF2B5EF4-FFF2-40B4-BE49-F238E27FC236}">
                <a16:creationId xmlns:a16="http://schemas.microsoft.com/office/drawing/2014/main" id="{70EA67BC-FF40-CF85-BF93-26350692CB6F}"/>
              </a:ext>
            </a:extLst>
          </p:cNvPr>
          <p:cNvCxnSpPr>
            <a:cxnSpLocks/>
          </p:cNvCxnSpPr>
          <p:nvPr/>
        </p:nvCxnSpPr>
        <p:spPr>
          <a:xfrm>
            <a:off x="6246934" y="3268249"/>
            <a:ext cx="630215" cy="1499145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2" name="文字方塊 51">
                <a:extLst>
                  <a:ext uri="{FF2B5EF4-FFF2-40B4-BE49-F238E27FC236}">
                    <a16:creationId xmlns:a16="http://schemas.microsoft.com/office/drawing/2014/main" id="{EC0517B7-256E-F152-381C-CE5B518C49B6}"/>
                  </a:ext>
                </a:extLst>
              </p:cNvPr>
              <p:cNvSpPr txBox="1"/>
              <p:nvPr/>
            </p:nvSpPr>
            <p:spPr>
              <a:xfrm>
                <a:off x="6990563" y="1422320"/>
                <a:ext cx="643283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TW" sz="1600" b="0" i="1" smtClean="0">
                          <a:latin typeface="Cambria Math" panose="02040503050406030204" pitchFamily="18" charset="0"/>
                        </a:rPr>
                        <m:t>−4.1</m:t>
                      </m:r>
                    </m:oMath>
                  </m:oMathPara>
                </a14:m>
                <a:endParaRPr kumimoji="1" lang="zh-TW" altLang="en-US" sz="1600" dirty="0"/>
              </a:p>
            </p:txBody>
          </p:sp>
        </mc:Choice>
        <mc:Fallback xmlns="">
          <p:sp>
            <p:nvSpPr>
              <p:cNvPr id="52" name="文字方塊 51">
                <a:extLst>
                  <a:ext uri="{FF2B5EF4-FFF2-40B4-BE49-F238E27FC236}">
                    <a16:creationId xmlns:a16="http://schemas.microsoft.com/office/drawing/2014/main" id="{EC0517B7-256E-F152-381C-CE5B518C49B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90563" y="1422320"/>
                <a:ext cx="643283" cy="338554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3" name="文字方塊 52">
                <a:extLst>
                  <a:ext uri="{FF2B5EF4-FFF2-40B4-BE49-F238E27FC236}">
                    <a16:creationId xmlns:a16="http://schemas.microsoft.com/office/drawing/2014/main" id="{6F906C2F-5027-8893-C1EC-DB34E9C0E2C2}"/>
                  </a:ext>
                </a:extLst>
              </p:cNvPr>
              <p:cNvSpPr txBox="1"/>
              <p:nvPr/>
            </p:nvSpPr>
            <p:spPr>
              <a:xfrm>
                <a:off x="7034878" y="3014097"/>
                <a:ext cx="530678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TW" sz="1600" b="0" i="1" smtClean="0">
                          <a:latin typeface="Cambria Math" panose="02040503050406030204" pitchFamily="18" charset="0"/>
                        </a:rPr>
                        <m:t>−3.2</m:t>
                      </m:r>
                    </m:oMath>
                  </m:oMathPara>
                </a14:m>
                <a:endParaRPr kumimoji="1" lang="zh-TW" altLang="en-US" sz="1600" dirty="0"/>
              </a:p>
            </p:txBody>
          </p:sp>
        </mc:Choice>
        <mc:Fallback xmlns="">
          <p:sp>
            <p:nvSpPr>
              <p:cNvPr id="53" name="文字方塊 52">
                <a:extLst>
                  <a:ext uri="{FF2B5EF4-FFF2-40B4-BE49-F238E27FC236}">
                    <a16:creationId xmlns:a16="http://schemas.microsoft.com/office/drawing/2014/main" id="{6F906C2F-5027-8893-C1EC-DB34E9C0E2C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34878" y="3014097"/>
                <a:ext cx="530678" cy="338554"/>
              </a:xfrm>
              <a:prstGeom prst="rect">
                <a:avLst/>
              </a:prstGeom>
              <a:blipFill>
                <a:blip r:embed="rId14"/>
                <a:stretch>
                  <a:fillRect r="-9302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4" name="文字方塊 53">
                <a:extLst>
                  <a:ext uri="{FF2B5EF4-FFF2-40B4-BE49-F238E27FC236}">
                    <a16:creationId xmlns:a16="http://schemas.microsoft.com/office/drawing/2014/main" id="{16676045-5672-AA81-F226-84FF0BBA8EFB}"/>
                  </a:ext>
                </a:extLst>
              </p:cNvPr>
              <p:cNvSpPr txBox="1"/>
              <p:nvPr/>
            </p:nvSpPr>
            <p:spPr>
              <a:xfrm>
                <a:off x="7034878" y="3380849"/>
                <a:ext cx="530678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TW" sz="1600" b="0" i="1" smtClean="0">
                          <a:latin typeface="Cambria Math" panose="02040503050406030204" pitchFamily="18" charset="0"/>
                        </a:rPr>
                        <m:t>−3.3</m:t>
                      </m:r>
                    </m:oMath>
                  </m:oMathPara>
                </a14:m>
                <a:endParaRPr kumimoji="1" lang="zh-TW" altLang="en-US" sz="1600" dirty="0"/>
              </a:p>
            </p:txBody>
          </p:sp>
        </mc:Choice>
        <mc:Fallback xmlns="">
          <p:sp>
            <p:nvSpPr>
              <p:cNvPr id="54" name="文字方塊 53">
                <a:extLst>
                  <a:ext uri="{FF2B5EF4-FFF2-40B4-BE49-F238E27FC236}">
                    <a16:creationId xmlns:a16="http://schemas.microsoft.com/office/drawing/2014/main" id="{16676045-5672-AA81-F226-84FF0BBA8EF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34878" y="3380849"/>
                <a:ext cx="530678" cy="338554"/>
              </a:xfrm>
              <a:prstGeom prst="rect">
                <a:avLst/>
              </a:prstGeom>
              <a:blipFill>
                <a:blip r:embed="rId15"/>
                <a:stretch>
                  <a:fillRect r="-9302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7" name="文字方塊 56">
                <a:extLst>
                  <a:ext uri="{FF2B5EF4-FFF2-40B4-BE49-F238E27FC236}">
                    <a16:creationId xmlns:a16="http://schemas.microsoft.com/office/drawing/2014/main" id="{F9C59B25-2255-0ACF-CE91-AC14A5AC8D46}"/>
                  </a:ext>
                </a:extLst>
              </p:cNvPr>
              <p:cNvSpPr txBox="1"/>
              <p:nvPr/>
            </p:nvSpPr>
            <p:spPr>
              <a:xfrm>
                <a:off x="7046866" y="4946362"/>
                <a:ext cx="530678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TW" sz="1600" b="0" i="1" smtClean="0">
                          <a:latin typeface="Cambria Math" panose="02040503050406030204" pitchFamily="18" charset="0"/>
                        </a:rPr>
                        <m:t>−3.5</m:t>
                      </m:r>
                    </m:oMath>
                  </m:oMathPara>
                </a14:m>
                <a:endParaRPr kumimoji="1" lang="zh-TW" altLang="en-US" sz="1600" dirty="0"/>
              </a:p>
            </p:txBody>
          </p:sp>
        </mc:Choice>
        <mc:Fallback xmlns="">
          <p:sp>
            <p:nvSpPr>
              <p:cNvPr id="57" name="文字方塊 56">
                <a:extLst>
                  <a:ext uri="{FF2B5EF4-FFF2-40B4-BE49-F238E27FC236}">
                    <a16:creationId xmlns:a16="http://schemas.microsoft.com/office/drawing/2014/main" id="{F9C59B25-2255-0ACF-CE91-AC14A5AC8D4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46866" y="4946362"/>
                <a:ext cx="530678" cy="338554"/>
              </a:xfrm>
              <a:prstGeom prst="rect">
                <a:avLst/>
              </a:prstGeom>
              <a:blipFill>
                <a:blip r:embed="rId16"/>
                <a:stretch>
                  <a:fillRect r="-9302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2" name="圓角矩形 61">
            <a:extLst>
              <a:ext uri="{FF2B5EF4-FFF2-40B4-BE49-F238E27FC236}">
                <a16:creationId xmlns:a16="http://schemas.microsoft.com/office/drawing/2014/main" id="{4B769ABC-2D1E-CB77-8C48-CD005D939EA0}"/>
              </a:ext>
            </a:extLst>
          </p:cNvPr>
          <p:cNvSpPr/>
          <p:nvPr/>
        </p:nvSpPr>
        <p:spPr>
          <a:xfrm>
            <a:off x="8566509" y="2541946"/>
            <a:ext cx="810689" cy="514110"/>
          </a:xfrm>
          <a:prstGeom prst="roundRect">
            <a:avLst/>
          </a:prstGeom>
          <a:solidFill>
            <a:srgbClr val="C5E0B4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en-US" altLang="zh-TW" sz="1300" dirty="0">
                <a:solidFill>
                  <a:schemeClr val="tx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horror</a:t>
            </a:r>
            <a:endParaRPr kumimoji="1" lang="zh-TW" altLang="en-US" sz="1300" dirty="0">
              <a:solidFill>
                <a:schemeClr val="tx1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63" name="圓角矩形 62">
            <a:extLst>
              <a:ext uri="{FF2B5EF4-FFF2-40B4-BE49-F238E27FC236}">
                <a16:creationId xmlns:a16="http://schemas.microsoft.com/office/drawing/2014/main" id="{A18B5995-7936-68CC-EB41-6DE84B364041}"/>
              </a:ext>
            </a:extLst>
          </p:cNvPr>
          <p:cNvSpPr/>
          <p:nvPr/>
        </p:nvSpPr>
        <p:spPr>
          <a:xfrm>
            <a:off x="8566509" y="1745555"/>
            <a:ext cx="810689" cy="514110"/>
          </a:xfrm>
          <a:prstGeom prst="roundRect">
            <a:avLst/>
          </a:prstGeom>
          <a:solidFill>
            <a:srgbClr val="C5E0B4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en-US" altLang="zh-TW" sz="1600" dirty="0">
                <a:solidFill>
                  <a:schemeClr val="tx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tv</a:t>
            </a:r>
            <a:endParaRPr kumimoji="1" lang="zh-TW" altLang="en-US" sz="1600" dirty="0">
              <a:solidFill>
                <a:schemeClr val="tx1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cxnSp>
        <p:nvCxnSpPr>
          <p:cNvPr id="64" name="直線箭頭接點 63">
            <a:extLst>
              <a:ext uri="{FF2B5EF4-FFF2-40B4-BE49-F238E27FC236}">
                <a16:creationId xmlns:a16="http://schemas.microsoft.com/office/drawing/2014/main" id="{F9B8227B-B2AF-EA84-9CAC-78F856341887}"/>
              </a:ext>
            </a:extLst>
          </p:cNvPr>
          <p:cNvCxnSpPr>
            <a:cxnSpLocks/>
          </p:cNvCxnSpPr>
          <p:nvPr/>
        </p:nvCxnSpPr>
        <p:spPr>
          <a:xfrm>
            <a:off x="7868037" y="2801375"/>
            <a:ext cx="583505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直線箭頭接點 67">
            <a:extLst>
              <a:ext uri="{FF2B5EF4-FFF2-40B4-BE49-F238E27FC236}">
                <a16:creationId xmlns:a16="http://schemas.microsoft.com/office/drawing/2014/main" id="{B09A036F-DE62-BB87-4E4C-E2841664A1C1}"/>
              </a:ext>
            </a:extLst>
          </p:cNvPr>
          <p:cNvCxnSpPr>
            <a:cxnSpLocks/>
          </p:cNvCxnSpPr>
          <p:nvPr/>
        </p:nvCxnSpPr>
        <p:spPr>
          <a:xfrm flipV="1">
            <a:off x="7868037" y="2002610"/>
            <a:ext cx="583505" cy="755791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1" name="圓角矩形 70">
            <a:extLst>
              <a:ext uri="{FF2B5EF4-FFF2-40B4-BE49-F238E27FC236}">
                <a16:creationId xmlns:a16="http://schemas.microsoft.com/office/drawing/2014/main" id="{65458D6C-0F40-E54D-7D40-40DE99DB5C0C}"/>
              </a:ext>
            </a:extLst>
          </p:cNvPr>
          <p:cNvSpPr/>
          <p:nvPr/>
        </p:nvSpPr>
        <p:spPr>
          <a:xfrm>
            <a:off x="8566509" y="4434454"/>
            <a:ext cx="810689" cy="514110"/>
          </a:xfrm>
          <a:prstGeom prst="roundRect">
            <a:avLst/>
          </a:prstGeom>
          <a:solidFill>
            <a:srgbClr val="C5E0B4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en-US" altLang="zh-TW" sz="1300" dirty="0">
                <a:solidFill>
                  <a:schemeClr val="tx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horror</a:t>
            </a:r>
            <a:endParaRPr kumimoji="1" lang="zh-TW" altLang="en-US" sz="1300" dirty="0">
              <a:solidFill>
                <a:schemeClr val="tx1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72" name="圓角矩形 71">
            <a:extLst>
              <a:ext uri="{FF2B5EF4-FFF2-40B4-BE49-F238E27FC236}">
                <a16:creationId xmlns:a16="http://schemas.microsoft.com/office/drawing/2014/main" id="{15DC6462-8ECC-218B-B2C6-74CB85517F37}"/>
              </a:ext>
            </a:extLst>
          </p:cNvPr>
          <p:cNvSpPr/>
          <p:nvPr/>
        </p:nvSpPr>
        <p:spPr>
          <a:xfrm>
            <a:off x="8566509" y="3630751"/>
            <a:ext cx="810689" cy="514110"/>
          </a:xfrm>
          <a:prstGeom prst="roundRect">
            <a:avLst/>
          </a:prstGeom>
          <a:solidFill>
            <a:srgbClr val="C5E0B4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en-US" altLang="zh-TW" sz="1600" dirty="0">
                <a:solidFill>
                  <a:schemeClr val="tx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write</a:t>
            </a:r>
            <a:endParaRPr kumimoji="1" lang="zh-TW" altLang="en-US" sz="1300" dirty="0">
              <a:solidFill>
                <a:schemeClr val="tx1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cxnSp>
        <p:nvCxnSpPr>
          <p:cNvPr id="73" name="直線箭頭接點 72">
            <a:extLst>
              <a:ext uri="{FF2B5EF4-FFF2-40B4-BE49-F238E27FC236}">
                <a16:creationId xmlns:a16="http://schemas.microsoft.com/office/drawing/2014/main" id="{DC9CA5F9-443A-548C-D9DC-99EEDDCC1B84}"/>
              </a:ext>
            </a:extLst>
          </p:cNvPr>
          <p:cNvCxnSpPr>
            <a:cxnSpLocks/>
          </p:cNvCxnSpPr>
          <p:nvPr/>
        </p:nvCxnSpPr>
        <p:spPr>
          <a:xfrm>
            <a:off x="7868037" y="3920828"/>
            <a:ext cx="583505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直線箭頭接點 73">
            <a:extLst>
              <a:ext uri="{FF2B5EF4-FFF2-40B4-BE49-F238E27FC236}">
                <a16:creationId xmlns:a16="http://schemas.microsoft.com/office/drawing/2014/main" id="{87D77537-FC62-4357-15D5-8D73B9A85FF0}"/>
              </a:ext>
            </a:extLst>
          </p:cNvPr>
          <p:cNvCxnSpPr>
            <a:cxnSpLocks/>
          </p:cNvCxnSpPr>
          <p:nvPr/>
        </p:nvCxnSpPr>
        <p:spPr>
          <a:xfrm>
            <a:off x="7878102" y="4025792"/>
            <a:ext cx="571276" cy="682457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81" name="文字方塊 80">
                <a:extLst>
                  <a:ext uri="{FF2B5EF4-FFF2-40B4-BE49-F238E27FC236}">
                    <a16:creationId xmlns:a16="http://schemas.microsoft.com/office/drawing/2014/main" id="{AC91EA17-C9D6-FF25-F9B0-AF8763210404}"/>
                  </a:ext>
                </a:extLst>
              </p:cNvPr>
              <p:cNvSpPr txBox="1"/>
              <p:nvPr/>
            </p:nvSpPr>
            <p:spPr>
              <a:xfrm>
                <a:off x="8650211" y="1420109"/>
                <a:ext cx="643283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TW" sz="1600" b="0" i="1" smtClean="0">
                          <a:latin typeface="Cambria Math" panose="02040503050406030204" pitchFamily="18" charset="0"/>
                        </a:rPr>
                        <m:t>−4.8</m:t>
                      </m:r>
                    </m:oMath>
                  </m:oMathPara>
                </a14:m>
                <a:endParaRPr kumimoji="1" lang="zh-TW" altLang="en-US" sz="1600" dirty="0"/>
              </a:p>
            </p:txBody>
          </p:sp>
        </mc:Choice>
        <mc:Fallback xmlns="">
          <p:sp>
            <p:nvSpPr>
              <p:cNvPr id="81" name="文字方塊 80">
                <a:extLst>
                  <a:ext uri="{FF2B5EF4-FFF2-40B4-BE49-F238E27FC236}">
                    <a16:creationId xmlns:a16="http://schemas.microsoft.com/office/drawing/2014/main" id="{AC91EA17-C9D6-FF25-F9B0-AF876321040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50211" y="1420109"/>
                <a:ext cx="643283" cy="338554"/>
              </a:xfrm>
              <a:prstGeom prst="rect">
                <a:avLst/>
              </a:prstGeom>
              <a:blipFill>
                <a:blip r:embed="rId1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2" name="文字方塊 81">
                <a:extLst>
                  <a:ext uri="{FF2B5EF4-FFF2-40B4-BE49-F238E27FC236}">
                    <a16:creationId xmlns:a16="http://schemas.microsoft.com/office/drawing/2014/main" id="{F2BEE332-6CAA-42C9-C270-2622ACB4DF05}"/>
                  </a:ext>
                </a:extLst>
              </p:cNvPr>
              <p:cNvSpPr txBox="1"/>
              <p:nvPr/>
            </p:nvSpPr>
            <p:spPr>
              <a:xfrm>
                <a:off x="8650211" y="3028656"/>
                <a:ext cx="643283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TW" sz="1600" b="0" i="1" smtClean="0">
                          <a:latin typeface="Cambria Math" panose="02040503050406030204" pitchFamily="18" charset="0"/>
                        </a:rPr>
                        <m:t>−3.7</m:t>
                      </m:r>
                    </m:oMath>
                  </m:oMathPara>
                </a14:m>
                <a:endParaRPr kumimoji="1" lang="zh-TW" altLang="en-US" sz="1600" dirty="0"/>
              </a:p>
            </p:txBody>
          </p:sp>
        </mc:Choice>
        <mc:Fallback xmlns="">
          <p:sp>
            <p:nvSpPr>
              <p:cNvPr id="82" name="文字方塊 81">
                <a:extLst>
                  <a:ext uri="{FF2B5EF4-FFF2-40B4-BE49-F238E27FC236}">
                    <a16:creationId xmlns:a16="http://schemas.microsoft.com/office/drawing/2014/main" id="{F2BEE332-6CAA-42C9-C270-2622ACB4DF0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50211" y="3028656"/>
                <a:ext cx="643283" cy="338554"/>
              </a:xfrm>
              <a:prstGeom prst="rect">
                <a:avLst/>
              </a:prstGeom>
              <a:blipFill>
                <a:blip r:embed="rId1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3" name="文字方塊 82">
                <a:extLst>
                  <a:ext uri="{FF2B5EF4-FFF2-40B4-BE49-F238E27FC236}">
                    <a16:creationId xmlns:a16="http://schemas.microsoft.com/office/drawing/2014/main" id="{9CC7B0D0-65C5-0DC6-E08A-EE5DFC359BA6}"/>
                  </a:ext>
                </a:extLst>
              </p:cNvPr>
              <p:cNvSpPr txBox="1"/>
              <p:nvPr/>
            </p:nvSpPr>
            <p:spPr>
              <a:xfrm>
                <a:off x="8653081" y="3354518"/>
                <a:ext cx="643283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TW" sz="1600" b="0" i="1" smtClean="0">
                          <a:latin typeface="Cambria Math" panose="02040503050406030204" pitchFamily="18" charset="0"/>
                        </a:rPr>
                        <m:t>−4.5</m:t>
                      </m:r>
                    </m:oMath>
                  </m:oMathPara>
                </a14:m>
                <a:endParaRPr kumimoji="1" lang="zh-TW" altLang="en-US" sz="1600" dirty="0"/>
              </a:p>
            </p:txBody>
          </p:sp>
        </mc:Choice>
        <mc:Fallback xmlns="">
          <p:sp>
            <p:nvSpPr>
              <p:cNvPr id="83" name="文字方塊 82">
                <a:extLst>
                  <a:ext uri="{FF2B5EF4-FFF2-40B4-BE49-F238E27FC236}">
                    <a16:creationId xmlns:a16="http://schemas.microsoft.com/office/drawing/2014/main" id="{9CC7B0D0-65C5-0DC6-E08A-EE5DFC359BA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53081" y="3354518"/>
                <a:ext cx="643283" cy="338554"/>
              </a:xfrm>
              <a:prstGeom prst="rect">
                <a:avLst/>
              </a:prstGeom>
              <a:blipFill>
                <a:blip r:embed="rId1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4" name="文字方塊 83">
                <a:extLst>
                  <a:ext uri="{FF2B5EF4-FFF2-40B4-BE49-F238E27FC236}">
                    <a16:creationId xmlns:a16="http://schemas.microsoft.com/office/drawing/2014/main" id="{6EFF82DC-8235-5F19-35CB-E35C980CB2F8}"/>
                  </a:ext>
                </a:extLst>
              </p:cNvPr>
              <p:cNvSpPr txBox="1"/>
              <p:nvPr/>
            </p:nvSpPr>
            <p:spPr>
              <a:xfrm>
                <a:off x="8650211" y="4926282"/>
                <a:ext cx="643283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TW" sz="1600" b="0" i="1" smtClean="0">
                          <a:latin typeface="Cambria Math" panose="02040503050406030204" pitchFamily="18" charset="0"/>
                        </a:rPr>
                        <m:t>−4.3</m:t>
                      </m:r>
                    </m:oMath>
                  </m:oMathPara>
                </a14:m>
                <a:endParaRPr kumimoji="1" lang="zh-TW" altLang="en-US" sz="1600" dirty="0"/>
              </a:p>
            </p:txBody>
          </p:sp>
        </mc:Choice>
        <mc:Fallback xmlns="">
          <p:sp>
            <p:nvSpPr>
              <p:cNvPr id="84" name="文字方塊 83">
                <a:extLst>
                  <a:ext uri="{FF2B5EF4-FFF2-40B4-BE49-F238E27FC236}">
                    <a16:creationId xmlns:a16="http://schemas.microsoft.com/office/drawing/2014/main" id="{6EFF82DC-8235-5F19-35CB-E35C980CB2F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50211" y="4926282"/>
                <a:ext cx="643283" cy="338554"/>
              </a:xfrm>
              <a:prstGeom prst="rect">
                <a:avLst/>
              </a:prstGeom>
              <a:blipFill>
                <a:blip r:embed="rId2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6" name="標題 1">
                <a:extLst>
                  <a:ext uri="{FF2B5EF4-FFF2-40B4-BE49-F238E27FC236}">
                    <a16:creationId xmlns:a16="http://schemas.microsoft.com/office/drawing/2014/main" id="{DF10E1A3-02A6-1798-1154-F745595178CD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644672" y="356088"/>
                <a:ext cx="10511008" cy="1033416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rmAutofit/>
              </a:bodyPr>
              <a:lstStyle>
                <a:lvl1pPr marL="0" algn="l" defTabSz="914400" rtl="0" eaLnBrk="1" latinLnBrk="0" hangingPunct="1">
                  <a:lnSpc>
                    <a:spcPct val="85000"/>
                  </a:lnSpc>
                  <a:spcBef>
                    <a:spcPct val="0"/>
                  </a:spcBef>
                  <a:buNone/>
                  <a:defRPr sz="4800" kern="1200" spc="-5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r>
                  <a:rPr kumimoji="1" lang="en-US" altLang="zh-TW" dirty="0"/>
                  <a:t>Beam Search</a:t>
                </a:r>
                <a:r>
                  <a:rPr kumimoji="1" lang="zh-TW" altLang="en-US" dirty="0"/>
                  <a:t> </a:t>
                </a:r>
                <a:r>
                  <a:rPr kumimoji="1" lang="en-US" altLang="zh-TW" dirty="0"/>
                  <a:t>(</a:t>
                </a:r>
                <a14:m>
                  <m:oMath xmlns:m="http://schemas.openxmlformats.org/officeDocument/2006/math">
                    <m:r>
                      <a:rPr kumimoji="1" lang="en-US" altLang="zh-TW" b="0" i="1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kumimoji="1" lang="en-US" altLang="zh-TW" b="0" i="1" smtClean="0">
                        <a:latin typeface="Cambria Math" panose="02040503050406030204" pitchFamily="18" charset="0"/>
                      </a:rPr>
                      <m:t>=5</m:t>
                    </m:r>
                  </m:oMath>
                </a14:m>
                <a:r>
                  <a:rPr kumimoji="1" lang="en-US" altLang="zh-TW" dirty="0"/>
                  <a:t>)</a:t>
                </a:r>
                <a:endParaRPr lang="zh-TW" altLang="en-US" dirty="0">
                  <a:latin typeface="Times New Roman"/>
                  <a:ea typeface="新細明體"/>
                  <a:cs typeface="Calibri Light"/>
                </a:endParaRPr>
              </a:p>
            </p:txBody>
          </p:sp>
        </mc:Choice>
        <mc:Fallback>
          <p:sp>
            <p:nvSpPr>
              <p:cNvPr id="46" name="標題 1">
                <a:extLst>
                  <a:ext uri="{FF2B5EF4-FFF2-40B4-BE49-F238E27FC236}">
                    <a16:creationId xmlns:a16="http://schemas.microsoft.com/office/drawing/2014/main" id="{DF10E1A3-02A6-1798-1154-F745595178C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4672" y="356088"/>
                <a:ext cx="10511008" cy="1033416"/>
              </a:xfrm>
              <a:prstGeom prst="rect">
                <a:avLst/>
              </a:prstGeom>
              <a:blipFill>
                <a:blip r:embed="rId21"/>
                <a:stretch>
                  <a:fillRect l="-2654" t="-8434" b="-15663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7" name="文字方塊 46">
            <a:extLst>
              <a:ext uri="{FF2B5EF4-FFF2-40B4-BE49-F238E27FC236}">
                <a16:creationId xmlns:a16="http://schemas.microsoft.com/office/drawing/2014/main" id="{55085F7C-D34B-7824-08CE-3978F84F7024}"/>
              </a:ext>
            </a:extLst>
          </p:cNvPr>
          <p:cNvSpPr txBox="1"/>
          <p:nvPr/>
        </p:nvSpPr>
        <p:spPr>
          <a:xfrm>
            <a:off x="9613039" y="688130"/>
            <a:ext cx="1884594" cy="369332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dirty="0"/>
              <a:t>`Beam size` = 2</a:t>
            </a:r>
            <a:endParaRPr kumimoji="1"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766617601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80B6B308-E528-1567-412F-2BF52CB92E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dirty="0"/>
              <a:t>34</a:t>
            </a:fld>
            <a:endParaRPr lang="zh-TW" altLang="en-US"/>
          </a:p>
        </p:txBody>
      </p:sp>
      <p:sp>
        <p:nvSpPr>
          <p:cNvPr id="6" name="圓角矩形 5">
            <a:extLst>
              <a:ext uri="{FF2B5EF4-FFF2-40B4-BE49-F238E27FC236}">
                <a16:creationId xmlns:a16="http://schemas.microsoft.com/office/drawing/2014/main" id="{F07E41BB-9C95-5AB2-BA09-AE6796CBB446}"/>
              </a:ext>
            </a:extLst>
          </p:cNvPr>
          <p:cNvSpPr/>
          <p:nvPr/>
        </p:nvSpPr>
        <p:spPr>
          <a:xfrm>
            <a:off x="1234362" y="3920344"/>
            <a:ext cx="613700" cy="514110"/>
          </a:xfrm>
          <a:prstGeom prst="roundRect">
            <a:avLst/>
          </a:prstGeom>
          <a:solidFill>
            <a:srgbClr val="C5E0B4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en-US" altLang="zh-TW" sz="2400" dirty="0">
                <a:solidFill>
                  <a:schemeClr val="tx1"/>
                </a:solidFill>
              </a:rPr>
              <a:t>_</a:t>
            </a:r>
            <a:endParaRPr kumimoji="1" lang="zh-TW" altLang="en-US" sz="2400" dirty="0">
              <a:solidFill>
                <a:schemeClr val="tx1"/>
              </a:solidFill>
            </a:endParaRPr>
          </a:p>
        </p:txBody>
      </p:sp>
      <p:sp>
        <p:nvSpPr>
          <p:cNvPr id="7" name="文字方塊 67">
            <a:extLst>
              <a:ext uri="{FF2B5EF4-FFF2-40B4-BE49-F238E27FC236}">
                <a16:creationId xmlns:a16="http://schemas.microsoft.com/office/drawing/2014/main" id="{B381507F-DC44-2012-7728-330509B5ABA9}"/>
              </a:ext>
            </a:extLst>
          </p:cNvPr>
          <p:cNvSpPr txBox="1"/>
          <p:nvPr/>
        </p:nvSpPr>
        <p:spPr>
          <a:xfrm>
            <a:off x="1158218" y="4472662"/>
            <a:ext cx="77862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en-US" altLang="zh-TW" sz="1600" dirty="0"/>
              <a:t>(Start)</a:t>
            </a:r>
            <a:endParaRPr kumimoji="1" lang="zh-TW" altLang="en-US" sz="1600" dirty="0"/>
          </a:p>
        </p:txBody>
      </p:sp>
      <p:sp>
        <p:nvSpPr>
          <p:cNvPr id="10" name="圓角矩形 9">
            <a:extLst>
              <a:ext uri="{FF2B5EF4-FFF2-40B4-BE49-F238E27FC236}">
                <a16:creationId xmlns:a16="http://schemas.microsoft.com/office/drawing/2014/main" id="{875E7289-05C1-D185-CD20-7A8387DC3548}"/>
              </a:ext>
            </a:extLst>
          </p:cNvPr>
          <p:cNvSpPr/>
          <p:nvPr/>
        </p:nvSpPr>
        <p:spPr>
          <a:xfrm>
            <a:off x="2397436" y="2958733"/>
            <a:ext cx="613700" cy="514110"/>
          </a:xfrm>
          <a:prstGeom prst="roundRect">
            <a:avLst/>
          </a:prstGeom>
          <a:solidFill>
            <a:srgbClr val="C5E0B4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en-US" altLang="zh-TW" sz="1600" dirty="0">
                <a:solidFill>
                  <a:schemeClr val="tx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I</a:t>
            </a:r>
            <a:endParaRPr kumimoji="1" lang="zh-TW" altLang="en-US" sz="1600" dirty="0">
              <a:solidFill>
                <a:schemeClr val="tx1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12" name="圓角矩形 11">
            <a:extLst>
              <a:ext uri="{FF2B5EF4-FFF2-40B4-BE49-F238E27FC236}">
                <a16:creationId xmlns:a16="http://schemas.microsoft.com/office/drawing/2014/main" id="{3C729BBC-BACD-B4BC-5CFD-E43E279BC56D}"/>
              </a:ext>
            </a:extLst>
          </p:cNvPr>
          <p:cNvSpPr/>
          <p:nvPr/>
        </p:nvSpPr>
        <p:spPr>
          <a:xfrm>
            <a:off x="2397436" y="5004890"/>
            <a:ext cx="613700" cy="514110"/>
          </a:xfrm>
          <a:prstGeom prst="roundRect">
            <a:avLst/>
          </a:prstGeom>
          <a:solidFill>
            <a:srgbClr val="C5E0B4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en-US" altLang="zh-TW" sz="1600" dirty="0">
                <a:solidFill>
                  <a:schemeClr val="tx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You</a:t>
            </a:r>
            <a:endParaRPr kumimoji="1" lang="zh-TW" altLang="en-US" sz="1600" dirty="0">
              <a:solidFill>
                <a:schemeClr val="tx1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cxnSp>
        <p:nvCxnSpPr>
          <p:cNvPr id="14" name="直線箭頭接點 13">
            <a:extLst>
              <a:ext uri="{FF2B5EF4-FFF2-40B4-BE49-F238E27FC236}">
                <a16:creationId xmlns:a16="http://schemas.microsoft.com/office/drawing/2014/main" id="{25A5463B-ADA9-FE38-04CD-5FE88700466F}"/>
              </a:ext>
            </a:extLst>
          </p:cNvPr>
          <p:cNvCxnSpPr>
            <a:cxnSpLocks/>
          </p:cNvCxnSpPr>
          <p:nvPr/>
        </p:nvCxnSpPr>
        <p:spPr>
          <a:xfrm flipV="1">
            <a:off x="1871612" y="3159314"/>
            <a:ext cx="467804" cy="951566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線箭頭接點 18">
            <a:extLst>
              <a:ext uri="{FF2B5EF4-FFF2-40B4-BE49-F238E27FC236}">
                <a16:creationId xmlns:a16="http://schemas.microsoft.com/office/drawing/2014/main" id="{9D3CFDC7-E5AB-77B0-FA1A-9D836D4225EE}"/>
              </a:ext>
            </a:extLst>
          </p:cNvPr>
          <p:cNvCxnSpPr>
            <a:cxnSpLocks/>
          </p:cNvCxnSpPr>
          <p:nvPr/>
        </p:nvCxnSpPr>
        <p:spPr>
          <a:xfrm rot="10800000" flipH="1" flipV="1">
            <a:off x="1871612" y="4221432"/>
            <a:ext cx="467804" cy="951566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文字方塊 21">
                <a:extLst>
                  <a:ext uri="{FF2B5EF4-FFF2-40B4-BE49-F238E27FC236}">
                    <a16:creationId xmlns:a16="http://schemas.microsoft.com/office/drawing/2014/main" id="{AE2DCFBE-6018-9076-F2D2-1DB61E6327C0}"/>
                  </a:ext>
                </a:extLst>
              </p:cNvPr>
              <p:cNvSpPr txBox="1"/>
              <p:nvPr/>
            </p:nvSpPr>
            <p:spPr>
              <a:xfrm>
                <a:off x="2397435" y="2625303"/>
                <a:ext cx="613701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TW" sz="1600" b="0" i="1" smtClean="0">
                          <a:latin typeface="Cambria Math" panose="02040503050406030204" pitchFamily="18" charset="0"/>
                        </a:rPr>
                        <m:t>−0.7</m:t>
                      </m:r>
                    </m:oMath>
                  </m:oMathPara>
                </a14:m>
                <a:endParaRPr kumimoji="1" lang="zh-TW" altLang="en-US" sz="1600" dirty="0"/>
              </a:p>
            </p:txBody>
          </p:sp>
        </mc:Choice>
        <mc:Fallback xmlns="">
          <p:sp>
            <p:nvSpPr>
              <p:cNvPr id="22" name="文字方塊 21">
                <a:extLst>
                  <a:ext uri="{FF2B5EF4-FFF2-40B4-BE49-F238E27FC236}">
                    <a16:creationId xmlns:a16="http://schemas.microsoft.com/office/drawing/2014/main" id="{AE2DCFBE-6018-9076-F2D2-1DB61E6327C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97435" y="2625303"/>
                <a:ext cx="613701" cy="338554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文字方塊 22">
                <a:extLst>
                  <a:ext uri="{FF2B5EF4-FFF2-40B4-BE49-F238E27FC236}">
                    <a16:creationId xmlns:a16="http://schemas.microsoft.com/office/drawing/2014/main" id="{FD3DD690-0104-A97A-2C3F-7DF0AC27AFA7}"/>
                  </a:ext>
                </a:extLst>
              </p:cNvPr>
              <p:cNvSpPr txBox="1"/>
              <p:nvPr/>
            </p:nvSpPr>
            <p:spPr>
              <a:xfrm>
                <a:off x="2397435" y="5574359"/>
                <a:ext cx="598355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TW" sz="1600" b="0" i="1" smtClean="0">
                          <a:latin typeface="Cambria Math" panose="02040503050406030204" pitchFamily="18" charset="0"/>
                        </a:rPr>
                        <m:t>−0.9</m:t>
                      </m:r>
                    </m:oMath>
                  </m:oMathPara>
                </a14:m>
                <a:endParaRPr kumimoji="1" lang="zh-TW" altLang="en-US" sz="1600" dirty="0"/>
              </a:p>
            </p:txBody>
          </p:sp>
        </mc:Choice>
        <mc:Fallback xmlns="">
          <p:sp>
            <p:nvSpPr>
              <p:cNvPr id="23" name="文字方塊 22">
                <a:extLst>
                  <a:ext uri="{FF2B5EF4-FFF2-40B4-BE49-F238E27FC236}">
                    <a16:creationId xmlns:a16="http://schemas.microsoft.com/office/drawing/2014/main" id="{FD3DD690-0104-A97A-2C3F-7DF0AC27AFA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97435" y="5574359"/>
                <a:ext cx="598355" cy="338554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圓角矩形 2">
            <a:extLst>
              <a:ext uri="{FF2B5EF4-FFF2-40B4-BE49-F238E27FC236}">
                <a16:creationId xmlns:a16="http://schemas.microsoft.com/office/drawing/2014/main" id="{8F43250E-61CA-2FCD-5713-EEE3A86898A2}"/>
              </a:ext>
            </a:extLst>
          </p:cNvPr>
          <p:cNvSpPr/>
          <p:nvPr/>
        </p:nvSpPr>
        <p:spPr>
          <a:xfrm>
            <a:off x="3848821" y="2545579"/>
            <a:ext cx="732055" cy="514110"/>
          </a:xfrm>
          <a:prstGeom prst="roundRect">
            <a:avLst/>
          </a:prstGeom>
          <a:solidFill>
            <a:srgbClr val="C5E0B4"/>
          </a:solidFill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en-US" altLang="zh-TW" sz="1600" dirty="0">
                <a:solidFill>
                  <a:srgbClr val="FF0000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like</a:t>
            </a:r>
            <a:endParaRPr kumimoji="1" lang="zh-TW" altLang="en-US" sz="1600" dirty="0">
              <a:solidFill>
                <a:srgbClr val="FF0000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4" name="圓角矩形 3">
            <a:extLst>
              <a:ext uri="{FF2B5EF4-FFF2-40B4-BE49-F238E27FC236}">
                <a16:creationId xmlns:a16="http://schemas.microsoft.com/office/drawing/2014/main" id="{AFA1AEDB-F347-04F8-CEE1-E1D35D5B3651}"/>
              </a:ext>
            </a:extLst>
          </p:cNvPr>
          <p:cNvSpPr/>
          <p:nvPr/>
        </p:nvSpPr>
        <p:spPr>
          <a:xfrm>
            <a:off x="3848821" y="3341573"/>
            <a:ext cx="732056" cy="514110"/>
          </a:xfrm>
          <a:prstGeom prst="roundRect">
            <a:avLst/>
          </a:prstGeom>
          <a:solidFill>
            <a:srgbClr val="C5E0B4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en-US" altLang="zh-TW" sz="1600" dirty="0">
                <a:solidFill>
                  <a:schemeClr val="tx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want</a:t>
            </a:r>
            <a:endParaRPr kumimoji="1" lang="zh-TW" altLang="en-US" sz="1600" dirty="0">
              <a:solidFill>
                <a:schemeClr val="tx1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8" name="圓角矩形 7">
            <a:extLst>
              <a:ext uri="{FF2B5EF4-FFF2-40B4-BE49-F238E27FC236}">
                <a16:creationId xmlns:a16="http://schemas.microsoft.com/office/drawing/2014/main" id="{BFA3A0A1-CC3C-EC77-CEC9-146B482EBACE}"/>
              </a:ext>
            </a:extLst>
          </p:cNvPr>
          <p:cNvSpPr/>
          <p:nvPr/>
        </p:nvSpPr>
        <p:spPr>
          <a:xfrm>
            <a:off x="3848820" y="4658888"/>
            <a:ext cx="732056" cy="514110"/>
          </a:xfrm>
          <a:prstGeom prst="roundRect">
            <a:avLst/>
          </a:prstGeom>
          <a:solidFill>
            <a:srgbClr val="C5E0B4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en-US" altLang="zh-TW" sz="1600" dirty="0">
                <a:solidFill>
                  <a:schemeClr val="tx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want</a:t>
            </a:r>
            <a:endParaRPr kumimoji="1" lang="zh-TW" altLang="en-US" sz="1600" dirty="0">
              <a:solidFill>
                <a:schemeClr val="tx1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13" name="圓角矩形 12">
            <a:extLst>
              <a:ext uri="{FF2B5EF4-FFF2-40B4-BE49-F238E27FC236}">
                <a16:creationId xmlns:a16="http://schemas.microsoft.com/office/drawing/2014/main" id="{820CADDD-FB1E-6DA6-D861-460F1DAB89D2}"/>
              </a:ext>
            </a:extLst>
          </p:cNvPr>
          <p:cNvSpPr/>
          <p:nvPr/>
        </p:nvSpPr>
        <p:spPr>
          <a:xfrm>
            <a:off x="3848820" y="5403253"/>
            <a:ext cx="732056" cy="514110"/>
          </a:xfrm>
          <a:prstGeom prst="roundRect">
            <a:avLst/>
          </a:prstGeom>
          <a:solidFill>
            <a:srgbClr val="C5E0B4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en-US" altLang="zh-TW" sz="1600" dirty="0">
                <a:solidFill>
                  <a:schemeClr val="tx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are</a:t>
            </a:r>
            <a:endParaRPr kumimoji="1" lang="zh-TW" altLang="en-US" sz="1600" dirty="0">
              <a:solidFill>
                <a:schemeClr val="tx1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cxnSp>
        <p:nvCxnSpPr>
          <p:cNvPr id="15" name="直線箭頭接點 14">
            <a:extLst>
              <a:ext uri="{FF2B5EF4-FFF2-40B4-BE49-F238E27FC236}">
                <a16:creationId xmlns:a16="http://schemas.microsoft.com/office/drawing/2014/main" id="{8665C6F8-C70B-8089-DEF0-F0BF0A302E1F}"/>
              </a:ext>
            </a:extLst>
          </p:cNvPr>
          <p:cNvCxnSpPr>
            <a:cxnSpLocks/>
          </p:cNvCxnSpPr>
          <p:nvPr/>
        </p:nvCxnSpPr>
        <p:spPr>
          <a:xfrm flipV="1">
            <a:off x="3069156" y="2802634"/>
            <a:ext cx="686098" cy="35668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直線箭頭接點 24">
            <a:extLst>
              <a:ext uri="{FF2B5EF4-FFF2-40B4-BE49-F238E27FC236}">
                <a16:creationId xmlns:a16="http://schemas.microsoft.com/office/drawing/2014/main" id="{7E401430-2CB0-6CDC-4D3E-E2664C968009}"/>
              </a:ext>
            </a:extLst>
          </p:cNvPr>
          <p:cNvCxnSpPr>
            <a:cxnSpLocks/>
          </p:cNvCxnSpPr>
          <p:nvPr/>
        </p:nvCxnSpPr>
        <p:spPr>
          <a:xfrm>
            <a:off x="3086929" y="3269539"/>
            <a:ext cx="686098" cy="35668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直線箭頭接點 25">
            <a:extLst>
              <a:ext uri="{FF2B5EF4-FFF2-40B4-BE49-F238E27FC236}">
                <a16:creationId xmlns:a16="http://schemas.microsoft.com/office/drawing/2014/main" id="{5BEAD4A0-45EF-EF79-2FEC-25625B419A1C}"/>
              </a:ext>
            </a:extLst>
          </p:cNvPr>
          <p:cNvCxnSpPr>
            <a:cxnSpLocks/>
          </p:cNvCxnSpPr>
          <p:nvPr/>
        </p:nvCxnSpPr>
        <p:spPr>
          <a:xfrm>
            <a:off x="3079256" y="5304719"/>
            <a:ext cx="686098" cy="35668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直線箭頭接點 26">
            <a:extLst>
              <a:ext uri="{FF2B5EF4-FFF2-40B4-BE49-F238E27FC236}">
                <a16:creationId xmlns:a16="http://schemas.microsoft.com/office/drawing/2014/main" id="{0C436EAB-E031-DBE5-6881-81A4CA5C9777}"/>
              </a:ext>
            </a:extLst>
          </p:cNvPr>
          <p:cNvCxnSpPr>
            <a:cxnSpLocks/>
          </p:cNvCxnSpPr>
          <p:nvPr/>
        </p:nvCxnSpPr>
        <p:spPr>
          <a:xfrm flipV="1">
            <a:off x="3079256" y="4890148"/>
            <a:ext cx="686098" cy="35668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8" name="文字方塊 27">
                <a:extLst>
                  <a:ext uri="{FF2B5EF4-FFF2-40B4-BE49-F238E27FC236}">
                    <a16:creationId xmlns:a16="http://schemas.microsoft.com/office/drawing/2014/main" id="{4B7D302A-69BB-3B4C-110A-358900750293}"/>
                  </a:ext>
                </a:extLst>
              </p:cNvPr>
              <p:cNvSpPr txBox="1"/>
              <p:nvPr/>
            </p:nvSpPr>
            <p:spPr>
              <a:xfrm>
                <a:off x="3885019" y="2211250"/>
                <a:ext cx="613701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TW" sz="1600" b="0" i="1" smtClean="0">
                          <a:latin typeface="Cambria Math" panose="02040503050406030204" pitchFamily="18" charset="0"/>
                        </a:rPr>
                        <m:t>−1.7</m:t>
                      </m:r>
                    </m:oMath>
                  </m:oMathPara>
                </a14:m>
                <a:endParaRPr kumimoji="1" lang="zh-TW" altLang="en-US" sz="1600" dirty="0"/>
              </a:p>
            </p:txBody>
          </p:sp>
        </mc:Choice>
        <mc:Fallback xmlns="">
          <p:sp>
            <p:nvSpPr>
              <p:cNvPr id="28" name="文字方塊 27">
                <a:extLst>
                  <a:ext uri="{FF2B5EF4-FFF2-40B4-BE49-F238E27FC236}">
                    <a16:creationId xmlns:a16="http://schemas.microsoft.com/office/drawing/2014/main" id="{4B7D302A-69BB-3B4C-110A-35890075029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85019" y="2211250"/>
                <a:ext cx="613701" cy="338554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文字方塊 28">
                <a:extLst>
                  <a:ext uri="{FF2B5EF4-FFF2-40B4-BE49-F238E27FC236}">
                    <a16:creationId xmlns:a16="http://schemas.microsoft.com/office/drawing/2014/main" id="{8F9CE310-A15D-4542-74A8-BF14C20D7734}"/>
                  </a:ext>
                </a:extLst>
              </p:cNvPr>
              <p:cNvSpPr txBox="1"/>
              <p:nvPr/>
            </p:nvSpPr>
            <p:spPr>
              <a:xfrm>
                <a:off x="3885019" y="3844284"/>
                <a:ext cx="613700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TW" sz="1600" b="0" i="1" smtClean="0">
                          <a:latin typeface="Cambria Math" panose="02040503050406030204" pitchFamily="18" charset="0"/>
                        </a:rPr>
                        <m:t>−2.9</m:t>
                      </m:r>
                    </m:oMath>
                  </m:oMathPara>
                </a14:m>
                <a:endParaRPr kumimoji="1" lang="zh-TW" altLang="en-US" sz="1600" dirty="0"/>
              </a:p>
            </p:txBody>
          </p:sp>
        </mc:Choice>
        <mc:Fallback xmlns="">
          <p:sp>
            <p:nvSpPr>
              <p:cNvPr id="29" name="文字方塊 28">
                <a:extLst>
                  <a:ext uri="{FF2B5EF4-FFF2-40B4-BE49-F238E27FC236}">
                    <a16:creationId xmlns:a16="http://schemas.microsoft.com/office/drawing/2014/main" id="{8F9CE310-A15D-4542-74A8-BF14C20D773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85019" y="3844284"/>
                <a:ext cx="613700" cy="338554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" name="文字方塊 29">
                <a:extLst>
                  <a:ext uri="{FF2B5EF4-FFF2-40B4-BE49-F238E27FC236}">
                    <a16:creationId xmlns:a16="http://schemas.microsoft.com/office/drawing/2014/main" id="{1834D209-F6BD-1B0A-BF59-E0500E0C63A1}"/>
                  </a:ext>
                </a:extLst>
              </p:cNvPr>
              <p:cNvSpPr txBox="1"/>
              <p:nvPr/>
            </p:nvSpPr>
            <p:spPr>
              <a:xfrm>
                <a:off x="3885019" y="4345643"/>
                <a:ext cx="613701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TW" sz="1600" b="0" i="1" smtClean="0">
                          <a:latin typeface="Cambria Math" panose="02040503050406030204" pitchFamily="18" charset="0"/>
                        </a:rPr>
                        <m:t>−1.6</m:t>
                      </m:r>
                    </m:oMath>
                  </m:oMathPara>
                </a14:m>
                <a:endParaRPr kumimoji="1" lang="zh-TW" altLang="en-US" sz="1600" dirty="0"/>
              </a:p>
            </p:txBody>
          </p:sp>
        </mc:Choice>
        <mc:Fallback xmlns="">
          <p:sp>
            <p:nvSpPr>
              <p:cNvPr id="30" name="文字方塊 29">
                <a:extLst>
                  <a:ext uri="{FF2B5EF4-FFF2-40B4-BE49-F238E27FC236}">
                    <a16:creationId xmlns:a16="http://schemas.microsoft.com/office/drawing/2014/main" id="{1834D209-F6BD-1B0A-BF59-E0500E0C63A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85019" y="4345643"/>
                <a:ext cx="613701" cy="338554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" name="文字方塊 30">
                <a:extLst>
                  <a:ext uri="{FF2B5EF4-FFF2-40B4-BE49-F238E27FC236}">
                    <a16:creationId xmlns:a16="http://schemas.microsoft.com/office/drawing/2014/main" id="{4D3DAC6B-5B92-1CFD-751E-6687CB641DB3}"/>
                  </a:ext>
                </a:extLst>
              </p:cNvPr>
              <p:cNvSpPr txBox="1"/>
              <p:nvPr/>
            </p:nvSpPr>
            <p:spPr>
              <a:xfrm>
                <a:off x="3848820" y="5910891"/>
                <a:ext cx="686099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TW" sz="1600" b="0" i="1" smtClean="0">
                          <a:latin typeface="Cambria Math" panose="02040503050406030204" pitchFamily="18" charset="0"/>
                        </a:rPr>
                        <m:t>−1.8</m:t>
                      </m:r>
                    </m:oMath>
                  </m:oMathPara>
                </a14:m>
                <a:endParaRPr kumimoji="1" lang="zh-TW" altLang="en-US" sz="1600" dirty="0"/>
              </a:p>
            </p:txBody>
          </p:sp>
        </mc:Choice>
        <mc:Fallback xmlns="">
          <p:sp>
            <p:nvSpPr>
              <p:cNvPr id="31" name="文字方塊 30">
                <a:extLst>
                  <a:ext uri="{FF2B5EF4-FFF2-40B4-BE49-F238E27FC236}">
                    <a16:creationId xmlns:a16="http://schemas.microsoft.com/office/drawing/2014/main" id="{4D3DAC6B-5B92-1CFD-751E-6687CB641DB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48820" y="5910891"/>
                <a:ext cx="686099" cy="338554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" name="圓角矩形 17">
            <a:extLst>
              <a:ext uri="{FF2B5EF4-FFF2-40B4-BE49-F238E27FC236}">
                <a16:creationId xmlns:a16="http://schemas.microsoft.com/office/drawing/2014/main" id="{601EF68D-AB15-2BE7-FB27-3732E7DC8DC8}"/>
              </a:ext>
            </a:extLst>
          </p:cNvPr>
          <p:cNvSpPr/>
          <p:nvPr/>
        </p:nvSpPr>
        <p:spPr>
          <a:xfrm>
            <a:off x="5426258" y="2144666"/>
            <a:ext cx="732055" cy="514110"/>
          </a:xfrm>
          <a:prstGeom prst="roundRect">
            <a:avLst/>
          </a:prstGeom>
          <a:solidFill>
            <a:srgbClr val="C5E0B4"/>
          </a:solidFill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en-US" altLang="zh-TW" sz="1600" dirty="0">
                <a:solidFill>
                  <a:srgbClr val="FF0000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to</a:t>
            </a:r>
            <a:endParaRPr kumimoji="1" lang="zh-TW" altLang="en-US" sz="1600" dirty="0">
              <a:solidFill>
                <a:srgbClr val="FF0000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24" name="圓角矩形 23">
            <a:extLst>
              <a:ext uri="{FF2B5EF4-FFF2-40B4-BE49-F238E27FC236}">
                <a16:creationId xmlns:a16="http://schemas.microsoft.com/office/drawing/2014/main" id="{0CBAD8EE-42E2-E1A6-D756-AFEE80F6B6C3}"/>
              </a:ext>
            </a:extLst>
          </p:cNvPr>
          <p:cNvSpPr/>
          <p:nvPr/>
        </p:nvSpPr>
        <p:spPr>
          <a:xfrm>
            <a:off x="5426258" y="2940660"/>
            <a:ext cx="732056" cy="514110"/>
          </a:xfrm>
          <a:prstGeom prst="roundRect">
            <a:avLst/>
          </a:prstGeom>
          <a:solidFill>
            <a:srgbClr val="C5E0B4"/>
          </a:solidFill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en-US" altLang="zh-TW" sz="1300" dirty="0">
                <a:solidFill>
                  <a:srgbClr val="FF0000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books</a:t>
            </a:r>
            <a:endParaRPr kumimoji="1" lang="zh-TW" altLang="en-US" sz="1300" dirty="0">
              <a:solidFill>
                <a:srgbClr val="FF0000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cxnSp>
        <p:nvCxnSpPr>
          <p:cNvPr id="35" name="直線箭頭接點 34">
            <a:extLst>
              <a:ext uri="{FF2B5EF4-FFF2-40B4-BE49-F238E27FC236}">
                <a16:creationId xmlns:a16="http://schemas.microsoft.com/office/drawing/2014/main" id="{46E46508-67A3-47D1-F2E4-593015865BD2}"/>
              </a:ext>
            </a:extLst>
          </p:cNvPr>
          <p:cNvCxnSpPr>
            <a:cxnSpLocks/>
          </p:cNvCxnSpPr>
          <p:nvPr/>
        </p:nvCxnSpPr>
        <p:spPr>
          <a:xfrm flipV="1">
            <a:off x="4646593" y="2401721"/>
            <a:ext cx="686098" cy="35668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直線箭頭接點 35">
            <a:extLst>
              <a:ext uri="{FF2B5EF4-FFF2-40B4-BE49-F238E27FC236}">
                <a16:creationId xmlns:a16="http://schemas.microsoft.com/office/drawing/2014/main" id="{454CD8D4-70BA-C50F-4173-C4EFAF415F32}"/>
              </a:ext>
            </a:extLst>
          </p:cNvPr>
          <p:cNvCxnSpPr>
            <a:cxnSpLocks/>
          </p:cNvCxnSpPr>
          <p:nvPr/>
        </p:nvCxnSpPr>
        <p:spPr>
          <a:xfrm>
            <a:off x="4664366" y="2868626"/>
            <a:ext cx="686098" cy="35668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7" name="文字方塊 36">
                <a:extLst>
                  <a:ext uri="{FF2B5EF4-FFF2-40B4-BE49-F238E27FC236}">
                    <a16:creationId xmlns:a16="http://schemas.microsoft.com/office/drawing/2014/main" id="{5B72CF1E-2455-77B2-4E63-0388B571BA45}"/>
                  </a:ext>
                </a:extLst>
              </p:cNvPr>
              <p:cNvSpPr txBox="1"/>
              <p:nvPr/>
            </p:nvSpPr>
            <p:spPr>
              <a:xfrm>
                <a:off x="5518071" y="1789852"/>
                <a:ext cx="530678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TW" sz="1600" b="0" i="1" smtClean="0">
                          <a:latin typeface="Cambria Math" panose="02040503050406030204" pitchFamily="18" charset="0"/>
                        </a:rPr>
                        <m:t>−2.8</m:t>
                      </m:r>
                    </m:oMath>
                  </m:oMathPara>
                </a14:m>
                <a:endParaRPr kumimoji="1" lang="zh-TW" altLang="en-US" sz="1600" dirty="0"/>
              </a:p>
            </p:txBody>
          </p:sp>
        </mc:Choice>
        <mc:Fallback xmlns="">
          <p:sp>
            <p:nvSpPr>
              <p:cNvPr id="37" name="文字方塊 36">
                <a:extLst>
                  <a:ext uri="{FF2B5EF4-FFF2-40B4-BE49-F238E27FC236}">
                    <a16:creationId xmlns:a16="http://schemas.microsoft.com/office/drawing/2014/main" id="{5B72CF1E-2455-77B2-4E63-0388B571BA4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18071" y="1789852"/>
                <a:ext cx="530678" cy="338554"/>
              </a:xfrm>
              <a:prstGeom prst="rect">
                <a:avLst/>
              </a:prstGeom>
              <a:blipFill>
                <a:blip r:embed="rId9"/>
                <a:stretch>
                  <a:fillRect r="-9302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8" name="文字方塊 37">
                <a:extLst>
                  <a:ext uri="{FF2B5EF4-FFF2-40B4-BE49-F238E27FC236}">
                    <a16:creationId xmlns:a16="http://schemas.microsoft.com/office/drawing/2014/main" id="{75DED9B6-F0F3-1533-17C3-AE4E8F2376DC}"/>
                  </a:ext>
                </a:extLst>
              </p:cNvPr>
              <p:cNvSpPr txBox="1"/>
              <p:nvPr/>
            </p:nvSpPr>
            <p:spPr>
              <a:xfrm>
                <a:off x="5500315" y="3428408"/>
                <a:ext cx="566190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TW" sz="1600" b="0" i="1" smtClean="0">
                          <a:latin typeface="Cambria Math" panose="02040503050406030204" pitchFamily="18" charset="0"/>
                        </a:rPr>
                        <m:t>−2.</m:t>
                      </m:r>
                      <m:r>
                        <a:rPr kumimoji="1" lang="en-US" altLang="zh-TW" sz="1600" b="0" i="0" smtClean="0">
                          <a:latin typeface="Cambria Math" panose="02040503050406030204" pitchFamily="18" charset="0"/>
                        </a:rPr>
                        <m:t>5</m:t>
                      </m:r>
                    </m:oMath>
                  </m:oMathPara>
                </a14:m>
                <a:endParaRPr kumimoji="1" lang="zh-TW" altLang="en-US" sz="1600" dirty="0"/>
              </a:p>
            </p:txBody>
          </p:sp>
        </mc:Choice>
        <mc:Fallback xmlns="">
          <p:sp>
            <p:nvSpPr>
              <p:cNvPr id="38" name="文字方塊 37">
                <a:extLst>
                  <a:ext uri="{FF2B5EF4-FFF2-40B4-BE49-F238E27FC236}">
                    <a16:creationId xmlns:a16="http://schemas.microsoft.com/office/drawing/2014/main" id="{75DED9B6-F0F3-1533-17C3-AE4E8F2376D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00315" y="3428408"/>
                <a:ext cx="566190" cy="338554"/>
              </a:xfrm>
              <a:prstGeom prst="rect">
                <a:avLst/>
              </a:prstGeom>
              <a:blipFill>
                <a:blip r:embed="rId10"/>
                <a:stretch>
                  <a:fillRect r="-4348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9" name="圓角矩形 38">
            <a:extLst>
              <a:ext uri="{FF2B5EF4-FFF2-40B4-BE49-F238E27FC236}">
                <a16:creationId xmlns:a16="http://schemas.microsoft.com/office/drawing/2014/main" id="{8D37F53C-38B0-72B7-761E-CCE30BD3F6A2}"/>
              </a:ext>
            </a:extLst>
          </p:cNvPr>
          <p:cNvSpPr/>
          <p:nvPr/>
        </p:nvSpPr>
        <p:spPr>
          <a:xfrm>
            <a:off x="5444007" y="4253284"/>
            <a:ext cx="732055" cy="514110"/>
          </a:xfrm>
          <a:prstGeom prst="roundRect">
            <a:avLst/>
          </a:prstGeom>
          <a:solidFill>
            <a:srgbClr val="C5E0B4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en-US" altLang="zh-TW" sz="1600" dirty="0">
                <a:solidFill>
                  <a:schemeClr val="tx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to</a:t>
            </a:r>
            <a:endParaRPr kumimoji="1" lang="zh-TW" altLang="en-US" sz="1600" dirty="0">
              <a:solidFill>
                <a:schemeClr val="tx1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40" name="圓角矩形 39">
            <a:extLst>
              <a:ext uri="{FF2B5EF4-FFF2-40B4-BE49-F238E27FC236}">
                <a16:creationId xmlns:a16="http://schemas.microsoft.com/office/drawing/2014/main" id="{A3DAE183-4DB4-FB98-30FA-C42FE80C7E5C}"/>
              </a:ext>
            </a:extLst>
          </p:cNvPr>
          <p:cNvSpPr/>
          <p:nvPr/>
        </p:nvSpPr>
        <p:spPr>
          <a:xfrm>
            <a:off x="5444007" y="5049278"/>
            <a:ext cx="732056" cy="514110"/>
          </a:xfrm>
          <a:prstGeom prst="roundRect">
            <a:avLst/>
          </a:prstGeom>
          <a:solidFill>
            <a:srgbClr val="C5E0B4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en-US" altLang="zh-TW" sz="1600" dirty="0">
                <a:solidFill>
                  <a:schemeClr val="tx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tea</a:t>
            </a:r>
            <a:endParaRPr kumimoji="1" lang="zh-TW" altLang="en-US" sz="1600" dirty="0">
              <a:solidFill>
                <a:schemeClr val="tx1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cxnSp>
        <p:nvCxnSpPr>
          <p:cNvPr id="41" name="直線箭頭接點 40">
            <a:extLst>
              <a:ext uri="{FF2B5EF4-FFF2-40B4-BE49-F238E27FC236}">
                <a16:creationId xmlns:a16="http://schemas.microsoft.com/office/drawing/2014/main" id="{02DB8DA1-DF6A-7639-0750-34AB62672E0C}"/>
              </a:ext>
            </a:extLst>
          </p:cNvPr>
          <p:cNvCxnSpPr>
            <a:cxnSpLocks/>
          </p:cNvCxnSpPr>
          <p:nvPr/>
        </p:nvCxnSpPr>
        <p:spPr>
          <a:xfrm flipV="1">
            <a:off x="4664342" y="4510339"/>
            <a:ext cx="686098" cy="35668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直線箭頭接點 41">
            <a:extLst>
              <a:ext uri="{FF2B5EF4-FFF2-40B4-BE49-F238E27FC236}">
                <a16:creationId xmlns:a16="http://schemas.microsoft.com/office/drawing/2014/main" id="{C5EC476E-EC31-2D86-E6B2-EBF1955BF1E5}"/>
              </a:ext>
            </a:extLst>
          </p:cNvPr>
          <p:cNvCxnSpPr>
            <a:cxnSpLocks/>
          </p:cNvCxnSpPr>
          <p:nvPr/>
        </p:nvCxnSpPr>
        <p:spPr>
          <a:xfrm>
            <a:off x="4682115" y="4977244"/>
            <a:ext cx="686098" cy="35668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3" name="文字方塊 42">
                <a:extLst>
                  <a:ext uri="{FF2B5EF4-FFF2-40B4-BE49-F238E27FC236}">
                    <a16:creationId xmlns:a16="http://schemas.microsoft.com/office/drawing/2014/main" id="{9322DFDD-EFF0-7244-F30C-F19809A79EB8}"/>
                  </a:ext>
                </a:extLst>
              </p:cNvPr>
              <p:cNvSpPr txBox="1"/>
              <p:nvPr/>
            </p:nvSpPr>
            <p:spPr>
              <a:xfrm>
                <a:off x="5495873" y="3926009"/>
                <a:ext cx="575074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TW" sz="1600" b="0" i="1" smtClean="0">
                          <a:latin typeface="Cambria Math" panose="02040503050406030204" pitchFamily="18" charset="0"/>
                        </a:rPr>
                        <m:t>−2.9</m:t>
                      </m:r>
                    </m:oMath>
                  </m:oMathPara>
                </a14:m>
                <a:endParaRPr kumimoji="1" lang="zh-TW" altLang="en-US" sz="1600" dirty="0"/>
              </a:p>
            </p:txBody>
          </p:sp>
        </mc:Choice>
        <mc:Fallback xmlns="">
          <p:sp>
            <p:nvSpPr>
              <p:cNvPr id="43" name="文字方塊 42">
                <a:extLst>
                  <a:ext uri="{FF2B5EF4-FFF2-40B4-BE49-F238E27FC236}">
                    <a16:creationId xmlns:a16="http://schemas.microsoft.com/office/drawing/2014/main" id="{9322DFDD-EFF0-7244-F30C-F19809A79EB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95873" y="3926009"/>
                <a:ext cx="575074" cy="338554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4" name="文字方塊 43">
                <a:extLst>
                  <a:ext uri="{FF2B5EF4-FFF2-40B4-BE49-F238E27FC236}">
                    <a16:creationId xmlns:a16="http://schemas.microsoft.com/office/drawing/2014/main" id="{08361A65-0546-D0FE-B2EE-A1BC12C81851}"/>
                  </a:ext>
                </a:extLst>
              </p:cNvPr>
              <p:cNvSpPr txBox="1"/>
              <p:nvPr/>
            </p:nvSpPr>
            <p:spPr>
              <a:xfrm>
                <a:off x="5509190" y="5559395"/>
                <a:ext cx="548440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TW" sz="1600" b="0" i="1" smtClean="0">
                          <a:latin typeface="Cambria Math" panose="02040503050406030204" pitchFamily="18" charset="0"/>
                        </a:rPr>
                        <m:t>−3.8</m:t>
                      </m:r>
                    </m:oMath>
                  </m:oMathPara>
                </a14:m>
                <a:endParaRPr kumimoji="1" lang="zh-TW" altLang="en-US" sz="1600" dirty="0"/>
              </a:p>
            </p:txBody>
          </p:sp>
        </mc:Choice>
        <mc:Fallback xmlns="">
          <p:sp>
            <p:nvSpPr>
              <p:cNvPr id="44" name="文字方塊 43">
                <a:extLst>
                  <a:ext uri="{FF2B5EF4-FFF2-40B4-BE49-F238E27FC236}">
                    <a16:creationId xmlns:a16="http://schemas.microsoft.com/office/drawing/2014/main" id="{08361A65-0546-D0FE-B2EE-A1BC12C8185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09190" y="5559395"/>
                <a:ext cx="548440" cy="338554"/>
              </a:xfrm>
              <a:prstGeom prst="rect">
                <a:avLst/>
              </a:prstGeom>
              <a:blipFill>
                <a:blip r:embed="rId12"/>
                <a:stretch>
                  <a:fillRect r="-4444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圓角矩形 1">
            <a:extLst>
              <a:ext uri="{FF2B5EF4-FFF2-40B4-BE49-F238E27FC236}">
                <a16:creationId xmlns:a16="http://schemas.microsoft.com/office/drawing/2014/main" id="{FCC80EAE-A748-DD7C-9D1D-B90050229D28}"/>
              </a:ext>
            </a:extLst>
          </p:cNvPr>
          <p:cNvSpPr/>
          <p:nvPr/>
        </p:nvSpPr>
        <p:spPr>
          <a:xfrm>
            <a:off x="6959306" y="2544320"/>
            <a:ext cx="810689" cy="514110"/>
          </a:xfrm>
          <a:prstGeom prst="roundRect">
            <a:avLst/>
          </a:prstGeom>
          <a:solidFill>
            <a:srgbClr val="C5E0B4"/>
          </a:solidFill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en-US" altLang="zh-TW" sz="1600" dirty="0">
                <a:solidFill>
                  <a:srgbClr val="FF0000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watch</a:t>
            </a:r>
            <a:endParaRPr kumimoji="1" lang="zh-TW" altLang="en-US" sz="1600" dirty="0">
              <a:solidFill>
                <a:srgbClr val="FF0000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16" name="圓角矩形 15">
            <a:extLst>
              <a:ext uri="{FF2B5EF4-FFF2-40B4-BE49-F238E27FC236}">
                <a16:creationId xmlns:a16="http://schemas.microsoft.com/office/drawing/2014/main" id="{624AFD73-A0D9-AE22-080A-91A4FC5F408D}"/>
              </a:ext>
            </a:extLst>
          </p:cNvPr>
          <p:cNvSpPr/>
          <p:nvPr/>
        </p:nvSpPr>
        <p:spPr>
          <a:xfrm>
            <a:off x="6959308" y="1747929"/>
            <a:ext cx="810689" cy="514110"/>
          </a:xfrm>
          <a:prstGeom prst="roundRect">
            <a:avLst/>
          </a:prstGeom>
          <a:solidFill>
            <a:srgbClr val="C5E0B4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en-US" altLang="zh-TW" sz="1600" dirty="0">
                <a:solidFill>
                  <a:schemeClr val="tx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read</a:t>
            </a:r>
            <a:endParaRPr kumimoji="1" lang="zh-TW" altLang="en-US" sz="1600" dirty="0">
              <a:solidFill>
                <a:schemeClr val="tx1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20" name="圓角矩形 19">
            <a:extLst>
              <a:ext uri="{FF2B5EF4-FFF2-40B4-BE49-F238E27FC236}">
                <a16:creationId xmlns:a16="http://schemas.microsoft.com/office/drawing/2014/main" id="{4F17797E-F2DB-5ADF-02FE-E0226F7ACE16}"/>
              </a:ext>
            </a:extLst>
          </p:cNvPr>
          <p:cNvSpPr/>
          <p:nvPr/>
        </p:nvSpPr>
        <p:spPr>
          <a:xfrm>
            <a:off x="6959307" y="3652720"/>
            <a:ext cx="810689" cy="514110"/>
          </a:xfrm>
          <a:prstGeom prst="roundRect">
            <a:avLst/>
          </a:prstGeom>
          <a:solidFill>
            <a:srgbClr val="C5E0B4"/>
          </a:solidFill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en-US" altLang="zh-TW" sz="1600" dirty="0">
                <a:solidFill>
                  <a:srgbClr val="FF0000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and</a:t>
            </a:r>
            <a:endParaRPr kumimoji="1" lang="zh-TW" altLang="en-US" sz="1600" dirty="0">
              <a:solidFill>
                <a:srgbClr val="FF0000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21" name="圓角矩形 20">
            <a:extLst>
              <a:ext uri="{FF2B5EF4-FFF2-40B4-BE49-F238E27FC236}">
                <a16:creationId xmlns:a16="http://schemas.microsoft.com/office/drawing/2014/main" id="{3B819ECA-E0CE-0C5D-FF83-5E3EE687278A}"/>
              </a:ext>
            </a:extLst>
          </p:cNvPr>
          <p:cNvSpPr/>
          <p:nvPr/>
        </p:nvSpPr>
        <p:spPr>
          <a:xfrm>
            <a:off x="6959307" y="4451194"/>
            <a:ext cx="810689" cy="514110"/>
          </a:xfrm>
          <a:prstGeom prst="roundRect">
            <a:avLst/>
          </a:prstGeom>
          <a:solidFill>
            <a:srgbClr val="C5E0B4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en-US" altLang="zh-TW" sz="1600" dirty="0">
                <a:solidFill>
                  <a:schemeClr val="tx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party</a:t>
            </a:r>
            <a:endParaRPr kumimoji="1" lang="zh-TW" altLang="en-US" sz="1600" dirty="0">
              <a:solidFill>
                <a:schemeClr val="tx1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cxnSp>
        <p:nvCxnSpPr>
          <p:cNvPr id="32" name="直線箭頭接點 31">
            <a:extLst>
              <a:ext uri="{FF2B5EF4-FFF2-40B4-BE49-F238E27FC236}">
                <a16:creationId xmlns:a16="http://schemas.microsoft.com/office/drawing/2014/main" id="{FFD04519-C5EE-5166-1A97-1250B554FDCF}"/>
              </a:ext>
            </a:extLst>
          </p:cNvPr>
          <p:cNvCxnSpPr>
            <a:cxnSpLocks/>
          </p:cNvCxnSpPr>
          <p:nvPr/>
        </p:nvCxnSpPr>
        <p:spPr>
          <a:xfrm flipV="1">
            <a:off x="6251880" y="1957795"/>
            <a:ext cx="635929" cy="41489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直線箭頭接點 33">
            <a:extLst>
              <a:ext uri="{FF2B5EF4-FFF2-40B4-BE49-F238E27FC236}">
                <a16:creationId xmlns:a16="http://schemas.microsoft.com/office/drawing/2014/main" id="{6E11CB0D-D77D-45B7-25D6-C3B2C6965F47}"/>
              </a:ext>
            </a:extLst>
          </p:cNvPr>
          <p:cNvCxnSpPr>
            <a:cxnSpLocks/>
          </p:cNvCxnSpPr>
          <p:nvPr/>
        </p:nvCxnSpPr>
        <p:spPr>
          <a:xfrm>
            <a:off x="6259576" y="2420845"/>
            <a:ext cx="628233" cy="462307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直線箭頭接點 47">
            <a:extLst>
              <a:ext uri="{FF2B5EF4-FFF2-40B4-BE49-F238E27FC236}">
                <a16:creationId xmlns:a16="http://schemas.microsoft.com/office/drawing/2014/main" id="{56F25780-7D26-D5A3-3618-1135CB12AAC1}"/>
              </a:ext>
            </a:extLst>
          </p:cNvPr>
          <p:cNvCxnSpPr>
            <a:cxnSpLocks/>
          </p:cNvCxnSpPr>
          <p:nvPr/>
        </p:nvCxnSpPr>
        <p:spPr>
          <a:xfrm>
            <a:off x="6251879" y="3215471"/>
            <a:ext cx="625270" cy="694304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直線箭頭接點 49">
            <a:extLst>
              <a:ext uri="{FF2B5EF4-FFF2-40B4-BE49-F238E27FC236}">
                <a16:creationId xmlns:a16="http://schemas.microsoft.com/office/drawing/2014/main" id="{70EA67BC-FF40-CF85-BF93-26350692CB6F}"/>
              </a:ext>
            </a:extLst>
          </p:cNvPr>
          <p:cNvCxnSpPr>
            <a:cxnSpLocks/>
          </p:cNvCxnSpPr>
          <p:nvPr/>
        </p:nvCxnSpPr>
        <p:spPr>
          <a:xfrm>
            <a:off x="6246934" y="3268249"/>
            <a:ext cx="630215" cy="1499145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2" name="文字方塊 51">
                <a:extLst>
                  <a:ext uri="{FF2B5EF4-FFF2-40B4-BE49-F238E27FC236}">
                    <a16:creationId xmlns:a16="http://schemas.microsoft.com/office/drawing/2014/main" id="{EC0517B7-256E-F152-381C-CE5B518C49B6}"/>
                  </a:ext>
                </a:extLst>
              </p:cNvPr>
              <p:cNvSpPr txBox="1"/>
              <p:nvPr/>
            </p:nvSpPr>
            <p:spPr>
              <a:xfrm>
                <a:off x="6990563" y="1422320"/>
                <a:ext cx="643283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TW" sz="1600" b="0" i="1" smtClean="0">
                          <a:latin typeface="Cambria Math" panose="02040503050406030204" pitchFamily="18" charset="0"/>
                        </a:rPr>
                        <m:t>−4.1</m:t>
                      </m:r>
                    </m:oMath>
                  </m:oMathPara>
                </a14:m>
                <a:endParaRPr kumimoji="1" lang="zh-TW" altLang="en-US" sz="1600" dirty="0"/>
              </a:p>
            </p:txBody>
          </p:sp>
        </mc:Choice>
        <mc:Fallback xmlns="">
          <p:sp>
            <p:nvSpPr>
              <p:cNvPr id="52" name="文字方塊 51">
                <a:extLst>
                  <a:ext uri="{FF2B5EF4-FFF2-40B4-BE49-F238E27FC236}">
                    <a16:creationId xmlns:a16="http://schemas.microsoft.com/office/drawing/2014/main" id="{EC0517B7-256E-F152-381C-CE5B518C49B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90563" y="1422320"/>
                <a:ext cx="643283" cy="338554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3" name="文字方塊 52">
                <a:extLst>
                  <a:ext uri="{FF2B5EF4-FFF2-40B4-BE49-F238E27FC236}">
                    <a16:creationId xmlns:a16="http://schemas.microsoft.com/office/drawing/2014/main" id="{6F906C2F-5027-8893-C1EC-DB34E9C0E2C2}"/>
                  </a:ext>
                </a:extLst>
              </p:cNvPr>
              <p:cNvSpPr txBox="1"/>
              <p:nvPr/>
            </p:nvSpPr>
            <p:spPr>
              <a:xfrm>
                <a:off x="7034878" y="3014097"/>
                <a:ext cx="530678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TW" sz="1600" b="0" i="1" smtClean="0">
                          <a:latin typeface="Cambria Math" panose="02040503050406030204" pitchFamily="18" charset="0"/>
                        </a:rPr>
                        <m:t>−3.2</m:t>
                      </m:r>
                    </m:oMath>
                  </m:oMathPara>
                </a14:m>
                <a:endParaRPr kumimoji="1" lang="zh-TW" altLang="en-US" sz="1600" dirty="0"/>
              </a:p>
            </p:txBody>
          </p:sp>
        </mc:Choice>
        <mc:Fallback xmlns="">
          <p:sp>
            <p:nvSpPr>
              <p:cNvPr id="53" name="文字方塊 52">
                <a:extLst>
                  <a:ext uri="{FF2B5EF4-FFF2-40B4-BE49-F238E27FC236}">
                    <a16:creationId xmlns:a16="http://schemas.microsoft.com/office/drawing/2014/main" id="{6F906C2F-5027-8893-C1EC-DB34E9C0E2C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34878" y="3014097"/>
                <a:ext cx="530678" cy="338554"/>
              </a:xfrm>
              <a:prstGeom prst="rect">
                <a:avLst/>
              </a:prstGeom>
              <a:blipFill>
                <a:blip r:embed="rId14"/>
                <a:stretch>
                  <a:fillRect r="-9302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4" name="文字方塊 53">
                <a:extLst>
                  <a:ext uri="{FF2B5EF4-FFF2-40B4-BE49-F238E27FC236}">
                    <a16:creationId xmlns:a16="http://schemas.microsoft.com/office/drawing/2014/main" id="{16676045-5672-AA81-F226-84FF0BBA8EFB}"/>
                  </a:ext>
                </a:extLst>
              </p:cNvPr>
              <p:cNvSpPr txBox="1"/>
              <p:nvPr/>
            </p:nvSpPr>
            <p:spPr>
              <a:xfrm>
                <a:off x="7034878" y="3380849"/>
                <a:ext cx="530678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TW" sz="1600" b="0" i="1" smtClean="0">
                          <a:latin typeface="Cambria Math" panose="02040503050406030204" pitchFamily="18" charset="0"/>
                        </a:rPr>
                        <m:t>−3.3</m:t>
                      </m:r>
                    </m:oMath>
                  </m:oMathPara>
                </a14:m>
                <a:endParaRPr kumimoji="1" lang="zh-TW" altLang="en-US" sz="1600" dirty="0"/>
              </a:p>
            </p:txBody>
          </p:sp>
        </mc:Choice>
        <mc:Fallback xmlns="">
          <p:sp>
            <p:nvSpPr>
              <p:cNvPr id="54" name="文字方塊 53">
                <a:extLst>
                  <a:ext uri="{FF2B5EF4-FFF2-40B4-BE49-F238E27FC236}">
                    <a16:creationId xmlns:a16="http://schemas.microsoft.com/office/drawing/2014/main" id="{16676045-5672-AA81-F226-84FF0BBA8EF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34878" y="3380849"/>
                <a:ext cx="530678" cy="338554"/>
              </a:xfrm>
              <a:prstGeom prst="rect">
                <a:avLst/>
              </a:prstGeom>
              <a:blipFill>
                <a:blip r:embed="rId15"/>
                <a:stretch>
                  <a:fillRect r="-9302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7" name="文字方塊 56">
                <a:extLst>
                  <a:ext uri="{FF2B5EF4-FFF2-40B4-BE49-F238E27FC236}">
                    <a16:creationId xmlns:a16="http://schemas.microsoft.com/office/drawing/2014/main" id="{F9C59B25-2255-0ACF-CE91-AC14A5AC8D46}"/>
                  </a:ext>
                </a:extLst>
              </p:cNvPr>
              <p:cNvSpPr txBox="1"/>
              <p:nvPr/>
            </p:nvSpPr>
            <p:spPr>
              <a:xfrm>
                <a:off x="7046866" y="4946362"/>
                <a:ext cx="530678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TW" sz="1600" b="0" i="1" smtClean="0">
                          <a:latin typeface="Cambria Math" panose="02040503050406030204" pitchFamily="18" charset="0"/>
                        </a:rPr>
                        <m:t>−3.5</m:t>
                      </m:r>
                    </m:oMath>
                  </m:oMathPara>
                </a14:m>
                <a:endParaRPr kumimoji="1" lang="zh-TW" altLang="en-US" sz="1600" dirty="0"/>
              </a:p>
            </p:txBody>
          </p:sp>
        </mc:Choice>
        <mc:Fallback xmlns="">
          <p:sp>
            <p:nvSpPr>
              <p:cNvPr id="57" name="文字方塊 56">
                <a:extLst>
                  <a:ext uri="{FF2B5EF4-FFF2-40B4-BE49-F238E27FC236}">
                    <a16:creationId xmlns:a16="http://schemas.microsoft.com/office/drawing/2014/main" id="{F9C59B25-2255-0ACF-CE91-AC14A5AC8D4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46866" y="4946362"/>
                <a:ext cx="530678" cy="338554"/>
              </a:xfrm>
              <a:prstGeom prst="rect">
                <a:avLst/>
              </a:prstGeom>
              <a:blipFill>
                <a:blip r:embed="rId16"/>
                <a:stretch>
                  <a:fillRect r="-9302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2" name="圓角矩形 61">
            <a:extLst>
              <a:ext uri="{FF2B5EF4-FFF2-40B4-BE49-F238E27FC236}">
                <a16:creationId xmlns:a16="http://schemas.microsoft.com/office/drawing/2014/main" id="{4B769ABC-2D1E-CB77-8C48-CD005D939EA0}"/>
              </a:ext>
            </a:extLst>
          </p:cNvPr>
          <p:cNvSpPr/>
          <p:nvPr/>
        </p:nvSpPr>
        <p:spPr>
          <a:xfrm>
            <a:off x="8566509" y="2541946"/>
            <a:ext cx="810689" cy="514110"/>
          </a:xfrm>
          <a:prstGeom prst="roundRect">
            <a:avLst/>
          </a:prstGeom>
          <a:solidFill>
            <a:srgbClr val="C5E0B4"/>
          </a:solidFill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en-US" altLang="zh-TW" sz="1300" dirty="0">
                <a:solidFill>
                  <a:srgbClr val="FF0000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horror</a:t>
            </a:r>
            <a:endParaRPr kumimoji="1" lang="zh-TW" altLang="en-US" sz="1300" dirty="0">
              <a:solidFill>
                <a:srgbClr val="FF0000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63" name="圓角矩形 62">
            <a:extLst>
              <a:ext uri="{FF2B5EF4-FFF2-40B4-BE49-F238E27FC236}">
                <a16:creationId xmlns:a16="http://schemas.microsoft.com/office/drawing/2014/main" id="{A18B5995-7936-68CC-EB41-6DE84B364041}"/>
              </a:ext>
            </a:extLst>
          </p:cNvPr>
          <p:cNvSpPr/>
          <p:nvPr/>
        </p:nvSpPr>
        <p:spPr>
          <a:xfrm>
            <a:off x="8566509" y="1745555"/>
            <a:ext cx="810689" cy="514110"/>
          </a:xfrm>
          <a:prstGeom prst="roundRect">
            <a:avLst/>
          </a:prstGeom>
          <a:solidFill>
            <a:srgbClr val="C5E0B4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en-US" altLang="zh-TW" sz="1600" dirty="0">
                <a:solidFill>
                  <a:schemeClr val="tx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tv</a:t>
            </a:r>
            <a:endParaRPr kumimoji="1" lang="zh-TW" altLang="en-US" sz="1600" dirty="0">
              <a:solidFill>
                <a:schemeClr val="tx1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cxnSp>
        <p:nvCxnSpPr>
          <p:cNvPr id="64" name="直線箭頭接點 63">
            <a:extLst>
              <a:ext uri="{FF2B5EF4-FFF2-40B4-BE49-F238E27FC236}">
                <a16:creationId xmlns:a16="http://schemas.microsoft.com/office/drawing/2014/main" id="{F9B8227B-B2AF-EA84-9CAC-78F856341887}"/>
              </a:ext>
            </a:extLst>
          </p:cNvPr>
          <p:cNvCxnSpPr>
            <a:cxnSpLocks/>
          </p:cNvCxnSpPr>
          <p:nvPr/>
        </p:nvCxnSpPr>
        <p:spPr>
          <a:xfrm>
            <a:off x="7868037" y="2801375"/>
            <a:ext cx="583505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直線箭頭接點 67">
            <a:extLst>
              <a:ext uri="{FF2B5EF4-FFF2-40B4-BE49-F238E27FC236}">
                <a16:creationId xmlns:a16="http://schemas.microsoft.com/office/drawing/2014/main" id="{B09A036F-DE62-BB87-4E4C-E2841664A1C1}"/>
              </a:ext>
            </a:extLst>
          </p:cNvPr>
          <p:cNvCxnSpPr>
            <a:cxnSpLocks/>
          </p:cNvCxnSpPr>
          <p:nvPr/>
        </p:nvCxnSpPr>
        <p:spPr>
          <a:xfrm flipV="1">
            <a:off x="7868037" y="2002610"/>
            <a:ext cx="583505" cy="755791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1" name="圓角矩形 70">
            <a:extLst>
              <a:ext uri="{FF2B5EF4-FFF2-40B4-BE49-F238E27FC236}">
                <a16:creationId xmlns:a16="http://schemas.microsoft.com/office/drawing/2014/main" id="{65458D6C-0F40-E54D-7D40-40DE99DB5C0C}"/>
              </a:ext>
            </a:extLst>
          </p:cNvPr>
          <p:cNvSpPr/>
          <p:nvPr/>
        </p:nvSpPr>
        <p:spPr>
          <a:xfrm>
            <a:off x="8566509" y="4434454"/>
            <a:ext cx="810689" cy="514110"/>
          </a:xfrm>
          <a:prstGeom prst="roundRect">
            <a:avLst/>
          </a:prstGeom>
          <a:solidFill>
            <a:srgbClr val="C5E0B4"/>
          </a:solidFill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en-US" altLang="zh-TW" sz="1300" dirty="0">
                <a:solidFill>
                  <a:srgbClr val="FF0000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horror</a:t>
            </a:r>
            <a:endParaRPr kumimoji="1" lang="zh-TW" altLang="en-US" sz="1300" dirty="0">
              <a:solidFill>
                <a:srgbClr val="FF0000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72" name="圓角矩形 71">
            <a:extLst>
              <a:ext uri="{FF2B5EF4-FFF2-40B4-BE49-F238E27FC236}">
                <a16:creationId xmlns:a16="http://schemas.microsoft.com/office/drawing/2014/main" id="{15DC6462-8ECC-218B-B2C6-74CB85517F37}"/>
              </a:ext>
            </a:extLst>
          </p:cNvPr>
          <p:cNvSpPr/>
          <p:nvPr/>
        </p:nvSpPr>
        <p:spPr>
          <a:xfrm>
            <a:off x="8566509" y="3630751"/>
            <a:ext cx="810689" cy="514110"/>
          </a:xfrm>
          <a:prstGeom prst="roundRect">
            <a:avLst/>
          </a:prstGeom>
          <a:solidFill>
            <a:srgbClr val="C5E0B4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en-US" altLang="zh-TW" sz="1600" dirty="0">
                <a:solidFill>
                  <a:schemeClr val="tx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write</a:t>
            </a:r>
            <a:endParaRPr kumimoji="1" lang="zh-TW" altLang="en-US" sz="1300" dirty="0">
              <a:solidFill>
                <a:schemeClr val="tx1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cxnSp>
        <p:nvCxnSpPr>
          <p:cNvPr id="73" name="直線箭頭接點 72">
            <a:extLst>
              <a:ext uri="{FF2B5EF4-FFF2-40B4-BE49-F238E27FC236}">
                <a16:creationId xmlns:a16="http://schemas.microsoft.com/office/drawing/2014/main" id="{DC9CA5F9-443A-548C-D9DC-99EEDDCC1B84}"/>
              </a:ext>
            </a:extLst>
          </p:cNvPr>
          <p:cNvCxnSpPr>
            <a:cxnSpLocks/>
          </p:cNvCxnSpPr>
          <p:nvPr/>
        </p:nvCxnSpPr>
        <p:spPr>
          <a:xfrm>
            <a:off x="7868037" y="3920828"/>
            <a:ext cx="583505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直線箭頭接點 73">
            <a:extLst>
              <a:ext uri="{FF2B5EF4-FFF2-40B4-BE49-F238E27FC236}">
                <a16:creationId xmlns:a16="http://schemas.microsoft.com/office/drawing/2014/main" id="{87D77537-FC62-4357-15D5-8D73B9A85FF0}"/>
              </a:ext>
            </a:extLst>
          </p:cNvPr>
          <p:cNvCxnSpPr>
            <a:cxnSpLocks/>
          </p:cNvCxnSpPr>
          <p:nvPr/>
        </p:nvCxnSpPr>
        <p:spPr>
          <a:xfrm>
            <a:off x="7878102" y="4025792"/>
            <a:ext cx="571276" cy="682457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81" name="文字方塊 80">
                <a:extLst>
                  <a:ext uri="{FF2B5EF4-FFF2-40B4-BE49-F238E27FC236}">
                    <a16:creationId xmlns:a16="http://schemas.microsoft.com/office/drawing/2014/main" id="{AC91EA17-C9D6-FF25-F9B0-AF8763210404}"/>
                  </a:ext>
                </a:extLst>
              </p:cNvPr>
              <p:cNvSpPr txBox="1"/>
              <p:nvPr/>
            </p:nvSpPr>
            <p:spPr>
              <a:xfrm>
                <a:off x="8650211" y="1420109"/>
                <a:ext cx="643283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TW" sz="1600" b="0" i="1" smtClean="0">
                          <a:latin typeface="Cambria Math" panose="02040503050406030204" pitchFamily="18" charset="0"/>
                        </a:rPr>
                        <m:t>−4.8</m:t>
                      </m:r>
                    </m:oMath>
                  </m:oMathPara>
                </a14:m>
                <a:endParaRPr kumimoji="1" lang="zh-TW" altLang="en-US" sz="1600" dirty="0"/>
              </a:p>
            </p:txBody>
          </p:sp>
        </mc:Choice>
        <mc:Fallback xmlns="">
          <p:sp>
            <p:nvSpPr>
              <p:cNvPr id="81" name="文字方塊 80">
                <a:extLst>
                  <a:ext uri="{FF2B5EF4-FFF2-40B4-BE49-F238E27FC236}">
                    <a16:creationId xmlns:a16="http://schemas.microsoft.com/office/drawing/2014/main" id="{AC91EA17-C9D6-FF25-F9B0-AF876321040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50211" y="1420109"/>
                <a:ext cx="643283" cy="338554"/>
              </a:xfrm>
              <a:prstGeom prst="rect">
                <a:avLst/>
              </a:prstGeom>
              <a:blipFill>
                <a:blip r:embed="rId1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2" name="文字方塊 81">
                <a:extLst>
                  <a:ext uri="{FF2B5EF4-FFF2-40B4-BE49-F238E27FC236}">
                    <a16:creationId xmlns:a16="http://schemas.microsoft.com/office/drawing/2014/main" id="{F2BEE332-6CAA-42C9-C270-2622ACB4DF05}"/>
                  </a:ext>
                </a:extLst>
              </p:cNvPr>
              <p:cNvSpPr txBox="1"/>
              <p:nvPr/>
            </p:nvSpPr>
            <p:spPr>
              <a:xfrm>
                <a:off x="8650211" y="3028656"/>
                <a:ext cx="643283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TW" sz="1600" b="0" i="1" smtClean="0">
                          <a:latin typeface="Cambria Math" panose="02040503050406030204" pitchFamily="18" charset="0"/>
                        </a:rPr>
                        <m:t>−3.7</m:t>
                      </m:r>
                    </m:oMath>
                  </m:oMathPara>
                </a14:m>
                <a:endParaRPr kumimoji="1" lang="zh-TW" altLang="en-US" sz="1600" dirty="0"/>
              </a:p>
            </p:txBody>
          </p:sp>
        </mc:Choice>
        <mc:Fallback xmlns="">
          <p:sp>
            <p:nvSpPr>
              <p:cNvPr id="82" name="文字方塊 81">
                <a:extLst>
                  <a:ext uri="{FF2B5EF4-FFF2-40B4-BE49-F238E27FC236}">
                    <a16:creationId xmlns:a16="http://schemas.microsoft.com/office/drawing/2014/main" id="{F2BEE332-6CAA-42C9-C270-2622ACB4DF0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50211" y="3028656"/>
                <a:ext cx="643283" cy="338554"/>
              </a:xfrm>
              <a:prstGeom prst="rect">
                <a:avLst/>
              </a:prstGeom>
              <a:blipFill>
                <a:blip r:embed="rId1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3" name="文字方塊 82">
                <a:extLst>
                  <a:ext uri="{FF2B5EF4-FFF2-40B4-BE49-F238E27FC236}">
                    <a16:creationId xmlns:a16="http://schemas.microsoft.com/office/drawing/2014/main" id="{9CC7B0D0-65C5-0DC6-E08A-EE5DFC359BA6}"/>
                  </a:ext>
                </a:extLst>
              </p:cNvPr>
              <p:cNvSpPr txBox="1"/>
              <p:nvPr/>
            </p:nvSpPr>
            <p:spPr>
              <a:xfrm>
                <a:off x="8653081" y="3354518"/>
                <a:ext cx="643283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TW" sz="1600" b="0" i="1" smtClean="0">
                          <a:latin typeface="Cambria Math" panose="02040503050406030204" pitchFamily="18" charset="0"/>
                        </a:rPr>
                        <m:t>−4.5</m:t>
                      </m:r>
                    </m:oMath>
                  </m:oMathPara>
                </a14:m>
                <a:endParaRPr kumimoji="1" lang="zh-TW" altLang="en-US" sz="1600" dirty="0"/>
              </a:p>
            </p:txBody>
          </p:sp>
        </mc:Choice>
        <mc:Fallback xmlns="">
          <p:sp>
            <p:nvSpPr>
              <p:cNvPr id="83" name="文字方塊 82">
                <a:extLst>
                  <a:ext uri="{FF2B5EF4-FFF2-40B4-BE49-F238E27FC236}">
                    <a16:creationId xmlns:a16="http://schemas.microsoft.com/office/drawing/2014/main" id="{9CC7B0D0-65C5-0DC6-E08A-EE5DFC359BA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53081" y="3354518"/>
                <a:ext cx="643283" cy="338554"/>
              </a:xfrm>
              <a:prstGeom prst="rect">
                <a:avLst/>
              </a:prstGeom>
              <a:blipFill>
                <a:blip r:embed="rId1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4" name="文字方塊 83">
                <a:extLst>
                  <a:ext uri="{FF2B5EF4-FFF2-40B4-BE49-F238E27FC236}">
                    <a16:creationId xmlns:a16="http://schemas.microsoft.com/office/drawing/2014/main" id="{6EFF82DC-8235-5F19-35CB-E35C980CB2F8}"/>
                  </a:ext>
                </a:extLst>
              </p:cNvPr>
              <p:cNvSpPr txBox="1"/>
              <p:nvPr/>
            </p:nvSpPr>
            <p:spPr>
              <a:xfrm>
                <a:off x="8650211" y="4926282"/>
                <a:ext cx="643283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TW" sz="1600" b="0" i="1" smtClean="0">
                          <a:latin typeface="Cambria Math" panose="02040503050406030204" pitchFamily="18" charset="0"/>
                        </a:rPr>
                        <m:t>−4.3</m:t>
                      </m:r>
                    </m:oMath>
                  </m:oMathPara>
                </a14:m>
                <a:endParaRPr kumimoji="1" lang="zh-TW" altLang="en-US" sz="1600" dirty="0"/>
              </a:p>
            </p:txBody>
          </p:sp>
        </mc:Choice>
        <mc:Fallback xmlns="">
          <p:sp>
            <p:nvSpPr>
              <p:cNvPr id="84" name="文字方塊 83">
                <a:extLst>
                  <a:ext uri="{FF2B5EF4-FFF2-40B4-BE49-F238E27FC236}">
                    <a16:creationId xmlns:a16="http://schemas.microsoft.com/office/drawing/2014/main" id="{6EFF82DC-8235-5F19-35CB-E35C980CB2F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50211" y="4926282"/>
                <a:ext cx="643283" cy="338554"/>
              </a:xfrm>
              <a:prstGeom prst="rect">
                <a:avLst/>
              </a:prstGeom>
              <a:blipFill>
                <a:blip r:embed="rId2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6" name="標題 1">
                <a:extLst>
                  <a:ext uri="{FF2B5EF4-FFF2-40B4-BE49-F238E27FC236}">
                    <a16:creationId xmlns:a16="http://schemas.microsoft.com/office/drawing/2014/main" id="{F670AB27-178E-5880-20FE-D74DBCB5B2A2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644672" y="356088"/>
                <a:ext cx="10511008" cy="1033416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rmAutofit/>
              </a:bodyPr>
              <a:lstStyle>
                <a:lvl1pPr marL="0" algn="l" defTabSz="914400" rtl="0" eaLnBrk="1" latinLnBrk="0" hangingPunct="1">
                  <a:lnSpc>
                    <a:spcPct val="85000"/>
                  </a:lnSpc>
                  <a:spcBef>
                    <a:spcPct val="0"/>
                  </a:spcBef>
                  <a:buNone/>
                  <a:defRPr sz="4800" kern="1200" spc="-5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r>
                  <a:rPr kumimoji="1" lang="en-US" altLang="zh-TW" dirty="0"/>
                  <a:t>Beam Search</a:t>
                </a:r>
                <a:r>
                  <a:rPr kumimoji="1" lang="zh-TW" altLang="en-US" dirty="0"/>
                  <a:t> </a:t>
                </a:r>
                <a:r>
                  <a:rPr kumimoji="1" lang="en-US" altLang="zh-TW" dirty="0"/>
                  <a:t>(</a:t>
                </a:r>
                <a14:m>
                  <m:oMath xmlns:m="http://schemas.openxmlformats.org/officeDocument/2006/math">
                    <m:r>
                      <a:rPr kumimoji="1" lang="en-US" altLang="zh-TW" b="0" i="1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kumimoji="1" lang="en-US" altLang="zh-TW" b="0" i="1" smtClean="0">
                        <a:latin typeface="Cambria Math" panose="02040503050406030204" pitchFamily="18" charset="0"/>
                      </a:rPr>
                      <m:t>=5</m:t>
                    </m:r>
                  </m:oMath>
                </a14:m>
                <a:r>
                  <a:rPr kumimoji="1" lang="en-US" altLang="zh-TW" dirty="0"/>
                  <a:t>)</a:t>
                </a:r>
                <a:endParaRPr lang="zh-TW" altLang="en-US" dirty="0">
                  <a:latin typeface="Times New Roman"/>
                  <a:ea typeface="新細明體"/>
                  <a:cs typeface="Calibri Light"/>
                </a:endParaRPr>
              </a:p>
            </p:txBody>
          </p:sp>
        </mc:Choice>
        <mc:Fallback>
          <p:sp>
            <p:nvSpPr>
              <p:cNvPr id="46" name="標題 1">
                <a:extLst>
                  <a:ext uri="{FF2B5EF4-FFF2-40B4-BE49-F238E27FC236}">
                    <a16:creationId xmlns:a16="http://schemas.microsoft.com/office/drawing/2014/main" id="{F670AB27-178E-5880-20FE-D74DBCB5B2A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4672" y="356088"/>
                <a:ext cx="10511008" cy="1033416"/>
              </a:xfrm>
              <a:prstGeom prst="rect">
                <a:avLst/>
              </a:prstGeom>
              <a:blipFill>
                <a:blip r:embed="rId21"/>
                <a:stretch>
                  <a:fillRect l="-2654" t="-8434" b="-15663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7" name="文字方塊 46">
            <a:extLst>
              <a:ext uri="{FF2B5EF4-FFF2-40B4-BE49-F238E27FC236}">
                <a16:creationId xmlns:a16="http://schemas.microsoft.com/office/drawing/2014/main" id="{C6D7B4BB-61C0-805A-016E-5895B047E09B}"/>
              </a:ext>
            </a:extLst>
          </p:cNvPr>
          <p:cNvSpPr txBox="1"/>
          <p:nvPr/>
        </p:nvSpPr>
        <p:spPr>
          <a:xfrm>
            <a:off x="9613039" y="688130"/>
            <a:ext cx="1884594" cy="369332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dirty="0"/>
              <a:t>`Beam size` = 2</a:t>
            </a:r>
            <a:endParaRPr kumimoji="1"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715608411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80B6B308-E528-1567-412F-2BF52CB92E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dirty="0"/>
              <a:t>35</a:t>
            </a:fld>
            <a:endParaRPr lang="zh-TW" altLang="en-US"/>
          </a:p>
        </p:txBody>
      </p:sp>
      <p:sp>
        <p:nvSpPr>
          <p:cNvPr id="6" name="圓角矩形 5">
            <a:extLst>
              <a:ext uri="{FF2B5EF4-FFF2-40B4-BE49-F238E27FC236}">
                <a16:creationId xmlns:a16="http://schemas.microsoft.com/office/drawing/2014/main" id="{F07E41BB-9C95-5AB2-BA09-AE6796CBB446}"/>
              </a:ext>
            </a:extLst>
          </p:cNvPr>
          <p:cNvSpPr/>
          <p:nvPr/>
        </p:nvSpPr>
        <p:spPr>
          <a:xfrm>
            <a:off x="1234362" y="3920344"/>
            <a:ext cx="613700" cy="514110"/>
          </a:xfrm>
          <a:prstGeom prst="roundRect">
            <a:avLst/>
          </a:prstGeom>
          <a:solidFill>
            <a:srgbClr val="C5E0B4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en-US" altLang="zh-TW" sz="2400" dirty="0">
                <a:solidFill>
                  <a:schemeClr val="tx1"/>
                </a:solidFill>
              </a:rPr>
              <a:t>_</a:t>
            </a:r>
            <a:endParaRPr kumimoji="1" lang="zh-TW" altLang="en-US" sz="2400" dirty="0">
              <a:solidFill>
                <a:schemeClr val="tx1"/>
              </a:solidFill>
            </a:endParaRPr>
          </a:p>
        </p:txBody>
      </p:sp>
      <p:sp>
        <p:nvSpPr>
          <p:cNvPr id="7" name="文字方塊 67">
            <a:extLst>
              <a:ext uri="{FF2B5EF4-FFF2-40B4-BE49-F238E27FC236}">
                <a16:creationId xmlns:a16="http://schemas.microsoft.com/office/drawing/2014/main" id="{B381507F-DC44-2012-7728-330509B5ABA9}"/>
              </a:ext>
            </a:extLst>
          </p:cNvPr>
          <p:cNvSpPr txBox="1"/>
          <p:nvPr/>
        </p:nvSpPr>
        <p:spPr>
          <a:xfrm>
            <a:off x="1158218" y="4472662"/>
            <a:ext cx="77862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en-US" altLang="zh-TW" sz="1600" dirty="0"/>
              <a:t>(Start)</a:t>
            </a:r>
            <a:endParaRPr kumimoji="1" lang="zh-TW" altLang="en-US" sz="1600" dirty="0"/>
          </a:p>
        </p:txBody>
      </p:sp>
      <p:sp>
        <p:nvSpPr>
          <p:cNvPr id="10" name="圓角矩形 9">
            <a:extLst>
              <a:ext uri="{FF2B5EF4-FFF2-40B4-BE49-F238E27FC236}">
                <a16:creationId xmlns:a16="http://schemas.microsoft.com/office/drawing/2014/main" id="{875E7289-05C1-D185-CD20-7A8387DC3548}"/>
              </a:ext>
            </a:extLst>
          </p:cNvPr>
          <p:cNvSpPr/>
          <p:nvPr/>
        </p:nvSpPr>
        <p:spPr>
          <a:xfrm>
            <a:off x="2397436" y="2958733"/>
            <a:ext cx="613700" cy="514110"/>
          </a:xfrm>
          <a:prstGeom prst="roundRect">
            <a:avLst/>
          </a:prstGeom>
          <a:solidFill>
            <a:srgbClr val="C5E0B4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en-US" altLang="zh-TW" sz="1600" dirty="0">
                <a:solidFill>
                  <a:schemeClr val="tx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I</a:t>
            </a:r>
            <a:endParaRPr kumimoji="1" lang="zh-TW" altLang="en-US" sz="1600" dirty="0">
              <a:solidFill>
                <a:schemeClr val="tx1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12" name="圓角矩形 11">
            <a:extLst>
              <a:ext uri="{FF2B5EF4-FFF2-40B4-BE49-F238E27FC236}">
                <a16:creationId xmlns:a16="http://schemas.microsoft.com/office/drawing/2014/main" id="{3C729BBC-BACD-B4BC-5CFD-E43E279BC56D}"/>
              </a:ext>
            </a:extLst>
          </p:cNvPr>
          <p:cNvSpPr/>
          <p:nvPr/>
        </p:nvSpPr>
        <p:spPr>
          <a:xfrm>
            <a:off x="2397436" y="5004890"/>
            <a:ext cx="613700" cy="514110"/>
          </a:xfrm>
          <a:prstGeom prst="roundRect">
            <a:avLst/>
          </a:prstGeom>
          <a:solidFill>
            <a:srgbClr val="C5E0B4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en-US" altLang="zh-TW" sz="1600" dirty="0">
                <a:solidFill>
                  <a:schemeClr val="tx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You</a:t>
            </a:r>
            <a:endParaRPr kumimoji="1" lang="zh-TW" altLang="en-US" sz="1600" dirty="0">
              <a:solidFill>
                <a:schemeClr val="tx1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cxnSp>
        <p:nvCxnSpPr>
          <p:cNvPr id="14" name="直線箭頭接點 13">
            <a:extLst>
              <a:ext uri="{FF2B5EF4-FFF2-40B4-BE49-F238E27FC236}">
                <a16:creationId xmlns:a16="http://schemas.microsoft.com/office/drawing/2014/main" id="{25A5463B-ADA9-FE38-04CD-5FE88700466F}"/>
              </a:ext>
            </a:extLst>
          </p:cNvPr>
          <p:cNvCxnSpPr>
            <a:cxnSpLocks/>
          </p:cNvCxnSpPr>
          <p:nvPr/>
        </p:nvCxnSpPr>
        <p:spPr>
          <a:xfrm flipV="1">
            <a:off x="1871612" y="3159314"/>
            <a:ext cx="467804" cy="951566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線箭頭接點 18">
            <a:extLst>
              <a:ext uri="{FF2B5EF4-FFF2-40B4-BE49-F238E27FC236}">
                <a16:creationId xmlns:a16="http://schemas.microsoft.com/office/drawing/2014/main" id="{9D3CFDC7-E5AB-77B0-FA1A-9D836D4225EE}"/>
              </a:ext>
            </a:extLst>
          </p:cNvPr>
          <p:cNvCxnSpPr>
            <a:cxnSpLocks/>
          </p:cNvCxnSpPr>
          <p:nvPr/>
        </p:nvCxnSpPr>
        <p:spPr>
          <a:xfrm rot="10800000" flipH="1" flipV="1">
            <a:off x="1871612" y="4221432"/>
            <a:ext cx="467804" cy="951566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文字方塊 21">
                <a:extLst>
                  <a:ext uri="{FF2B5EF4-FFF2-40B4-BE49-F238E27FC236}">
                    <a16:creationId xmlns:a16="http://schemas.microsoft.com/office/drawing/2014/main" id="{AE2DCFBE-6018-9076-F2D2-1DB61E6327C0}"/>
                  </a:ext>
                </a:extLst>
              </p:cNvPr>
              <p:cNvSpPr txBox="1"/>
              <p:nvPr/>
            </p:nvSpPr>
            <p:spPr>
              <a:xfrm>
                <a:off x="2397435" y="2625303"/>
                <a:ext cx="613701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TW" sz="1600" b="0" i="1" smtClean="0">
                          <a:latin typeface="Cambria Math" panose="02040503050406030204" pitchFamily="18" charset="0"/>
                        </a:rPr>
                        <m:t>−0.7</m:t>
                      </m:r>
                    </m:oMath>
                  </m:oMathPara>
                </a14:m>
                <a:endParaRPr kumimoji="1" lang="zh-TW" altLang="en-US" sz="1600" dirty="0"/>
              </a:p>
            </p:txBody>
          </p:sp>
        </mc:Choice>
        <mc:Fallback xmlns="">
          <p:sp>
            <p:nvSpPr>
              <p:cNvPr id="22" name="文字方塊 21">
                <a:extLst>
                  <a:ext uri="{FF2B5EF4-FFF2-40B4-BE49-F238E27FC236}">
                    <a16:creationId xmlns:a16="http://schemas.microsoft.com/office/drawing/2014/main" id="{AE2DCFBE-6018-9076-F2D2-1DB61E6327C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97435" y="2625303"/>
                <a:ext cx="613701" cy="338554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文字方塊 22">
                <a:extLst>
                  <a:ext uri="{FF2B5EF4-FFF2-40B4-BE49-F238E27FC236}">
                    <a16:creationId xmlns:a16="http://schemas.microsoft.com/office/drawing/2014/main" id="{FD3DD690-0104-A97A-2C3F-7DF0AC27AFA7}"/>
                  </a:ext>
                </a:extLst>
              </p:cNvPr>
              <p:cNvSpPr txBox="1"/>
              <p:nvPr/>
            </p:nvSpPr>
            <p:spPr>
              <a:xfrm>
                <a:off x="2397435" y="5574359"/>
                <a:ext cx="598355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TW" sz="1600" b="0" i="1" smtClean="0">
                          <a:latin typeface="Cambria Math" panose="02040503050406030204" pitchFamily="18" charset="0"/>
                        </a:rPr>
                        <m:t>−0.9</m:t>
                      </m:r>
                    </m:oMath>
                  </m:oMathPara>
                </a14:m>
                <a:endParaRPr kumimoji="1" lang="zh-TW" altLang="en-US" sz="1600" dirty="0"/>
              </a:p>
            </p:txBody>
          </p:sp>
        </mc:Choice>
        <mc:Fallback xmlns="">
          <p:sp>
            <p:nvSpPr>
              <p:cNvPr id="23" name="文字方塊 22">
                <a:extLst>
                  <a:ext uri="{FF2B5EF4-FFF2-40B4-BE49-F238E27FC236}">
                    <a16:creationId xmlns:a16="http://schemas.microsoft.com/office/drawing/2014/main" id="{FD3DD690-0104-A97A-2C3F-7DF0AC27AFA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97435" y="5574359"/>
                <a:ext cx="598355" cy="338554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圓角矩形 2">
            <a:extLst>
              <a:ext uri="{FF2B5EF4-FFF2-40B4-BE49-F238E27FC236}">
                <a16:creationId xmlns:a16="http://schemas.microsoft.com/office/drawing/2014/main" id="{8F43250E-61CA-2FCD-5713-EEE3A86898A2}"/>
              </a:ext>
            </a:extLst>
          </p:cNvPr>
          <p:cNvSpPr/>
          <p:nvPr/>
        </p:nvSpPr>
        <p:spPr>
          <a:xfrm>
            <a:off x="3848821" y="2545579"/>
            <a:ext cx="732055" cy="514110"/>
          </a:xfrm>
          <a:prstGeom prst="roundRect">
            <a:avLst/>
          </a:prstGeom>
          <a:solidFill>
            <a:srgbClr val="C5E0B4"/>
          </a:solidFill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en-US" altLang="zh-TW" sz="1600" dirty="0">
                <a:solidFill>
                  <a:srgbClr val="FF0000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like</a:t>
            </a:r>
            <a:endParaRPr kumimoji="1" lang="zh-TW" altLang="en-US" sz="1600" dirty="0">
              <a:solidFill>
                <a:srgbClr val="FF0000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4" name="圓角矩形 3">
            <a:extLst>
              <a:ext uri="{FF2B5EF4-FFF2-40B4-BE49-F238E27FC236}">
                <a16:creationId xmlns:a16="http://schemas.microsoft.com/office/drawing/2014/main" id="{AFA1AEDB-F347-04F8-CEE1-E1D35D5B3651}"/>
              </a:ext>
            </a:extLst>
          </p:cNvPr>
          <p:cNvSpPr/>
          <p:nvPr/>
        </p:nvSpPr>
        <p:spPr>
          <a:xfrm>
            <a:off x="3848821" y="3341573"/>
            <a:ext cx="732056" cy="514110"/>
          </a:xfrm>
          <a:prstGeom prst="roundRect">
            <a:avLst/>
          </a:prstGeom>
          <a:solidFill>
            <a:srgbClr val="C5E0B4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en-US" altLang="zh-TW" sz="1600" dirty="0">
                <a:solidFill>
                  <a:schemeClr val="tx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want</a:t>
            </a:r>
            <a:endParaRPr kumimoji="1" lang="zh-TW" altLang="en-US" sz="1600" dirty="0">
              <a:solidFill>
                <a:schemeClr val="tx1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8" name="圓角矩形 7">
            <a:extLst>
              <a:ext uri="{FF2B5EF4-FFF2-40B4-BE49-F238E27FC236}">
                <a16:creationId xmlns:a16="http://schemas.microsoft.com/office/drawing/2014/main" id="{BFA3A0A1-CC3C-EC77-CEC9-146B482EBACE}"/>
              </a:ext>
            </a:extLst>
          </p:cNvPr>
          <p:cNvSpPr/>
          <p:nvPr/>
        </p:nvSpPr>
        <p:spPr>
          <a:xfrm>
            <a:off x="3848820" y="4658888"/>
            <a:ext cx="732056" cy="514110"/>
          </a:xfrm>
          <a:prstGeom prst="roundRect">
            <a:avLst/>
          </a:prstGeom>
          <a:solidFill>
            <a:srgbClr val="C5E0B4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en-US" altLang="zh-TW" sz="1600" dirty="0">
                <a:solidFill>
                  <a:schemeClr val="tx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want</a:t>
            </a:r>
            <a:endParaRPr kumimoji="1" lang="zh-TW" altLang="en-US" sz="1600" dirty="0">
              <a:solidFill>
                <a:schemeClr val="tx1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13" name="圓角矩形 12">
            <a:extLst>
              <a:ext uri="{FF2B5EF4-FFF2-40B4-BE49-F238E27FC236}">
                <a16:creationId xmlns:a16="http://schemas.microsoft.com/office/drawing/2014/main" id="{820CADDD-FB1E-6DA6-D861-460F1DAB89D2}"/>
              </a:ext>
            </a:extLst>
          </p:cNvPr>
          <p:cNvSpPr/>
          <p:nvPr/>
        </p:nvSpPr>
        <p:spPr>
          <a:xfrm>
            <a:off x="3848820" y="5403253"/>
            <a:ext cx="732056" cy="514110"/>
          </a:xfrm>
          <a:prstGeom prst="roundRect">
            <a:avLst/>
          </a:prstGeom>
          <a:solidFill>
            <a:srgbClr val="C5E0B4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en-US" altLang="zh-TW" sz="1600" dirty="0">
                <a:solidFill>
                  <a:schemeClr val="tx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are</a:t>
            </a:r>
            <a:endParaRPr kumimoji="1" lang="zh-TW" altLang="en-US" sz="1600" dirty="0">
              <a:solidFill>
                <a:schemeClr val="tx1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cxnSp>
        <p:nvCxnSpPr>
          <p:cNvPr id="15" name="直線箭頭接點 14">
            <a:extLst>
              <a:ext uri="{FF2B5EF4-FFF2-40B4-BE49-F238E27FC236}">
                <a16:creationId xmlns:a16="http://schemas.microsoft.com/office/drawing/2014/main" id="{8665C6F8-C70B-8089-DEF0-F0BF0A302E1F}"/>
              </a:ext>
            </a:extLst>
          </p:cNvPr>
          <p:cNvCxnSpPr>
            <a:cxnSpLocks/>
          </p:cNvCxnSpPr>
          <p:nvPr/>
        </p:nvCxnSpPr>
        <p:spPr>
          <a:xfrm flipV="1">
            <a:off x="3069156" y="2802634"/>
            <a:ext cx="686098" cy="35668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直線箭頭接點 24">
            <a:extLst>
              <a:ext uri="{FF2B5EF4-FFF2-40B4-BE49-F238E27FC236}">
                <a16:creationId xmlns:a16="http://schemas.microsoft.com/office/drawing/2014/main" id="{7E401430-2CB0-6CDC-4D3E-E2664C968009}"/>
              </a:ext>
            </a:extLst>
          </p:cNvPr>
          <p:cNvCxnSpPr>
            <a:cxnSpLocks/>
          </p:cNvCxnSpPr>
          <p:nvPr/>
        </p:nvCxnSpPr>
        <p:spPr>
          <a:xfrm>
            <a:off x="3086929" y="3269539"/>
            <a:ext cx="686098" cy="35668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直線箭頭接點 25">
            <a:extLst>
              <a:ext uri="{FF2B5EF4-FFF2-40B4-BE49-F238E27FC236}">
                <a16:creationId xmlns:a16="http://schemas.microsoft.com/office/drawing/2014/main" id="{5BEAD4A0-45EF-EF79-2FEC-25625B419A1C}"/>
              </a:ext>
            </a:extLst>
          </p:cNvPr>
          <p:cNvCxnSpPr>
            <a:cxnSpLocks/>
          </p:cNvCxnSpPr>
          <p:nvPr/>
        </p:nvCxnSpPr>
        <p:spPr>
          <a:xfrm>
            <a:off x="3079256" y="5304719"/>
            <a:ext cx="686098" cy="35668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直線箭頭接點 26">
            <a:extLst>
              <a:ext uri="{FF2B5EF4-FFF2-40B4-BE49-F238E27FC236}">
                <a16:creationId xmlns:a16="http://schemas.microsoft.com/office/drawing/2014/main" id="{0C436EAB-E031-DBE5-6881-81A4CA5C9777}"/>
              </a:ext>
            </a:extLst>
          </p:cNvPr>
          <p:cNvCxnSpPr>
            <a:cxnSpLocks/>
          </p:cNvCxnSpPr>
          <p:nvPr/>
        </p:nvCxnSpPr>
        <p:spPr>
          <a:xfrm flipV="1">
            <a:off x="3079256" y="4890148"/>
            <a:ext cx="686098" cy="35668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8" name="文字方塊 27">
                <a:extLst>
                  <a:ext uri="{FF2B5EF4-FFF2-40B4-BE49-F238E27FC236}">
                    <a16:creationId xmlns:a16="http://schemas.microsoft.com/office/drawing/2014/main" id="{4B7D302A-69BB-3B4C-110A-358900750293}"/>
                  </a:ext>
                </a:extLst>
              </p:cNvPr>
              <p:cNvSpPr txBox="1"/>
              <p:nvPr/>
            </p:nvSpPr>
            <p:spPr>
              <a:xfrm>
                <a:off x="3885019" y="2211250"/>
                <a:ext cx="613701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TW" sz="1600" b="0" i="1" smtClean="0">
                          <a:latin typeface="Cambria Math" panose="02040503050406030204" pitchFamily="18" charset="0"/>
                        </a:rPr>
                        <m:t>−1.7</m:t>
                      </m:r>
                    </m:oMath>
                  </m:oMathPara>
                </a14:m>
                <a:endParaRPr kumimoji="1" lang="zh-TW" altLang="en-US" sz="1600" dirty="0"/>
              </a:p>
            </p:txBody>
          </p:sp>
        </mc:Choice>
        <mc:Fallback xmlns="">
          <p:sp>
            <p:nvSpPr>
              <p:cNvPr id="28" name="文字方塊 27">
                <a:extLst>
                  <a:ext uri="{FF2B5EF4-FFF2-40B4-BE49-F238E27FC236}">
                    <a16:creationId xmlns:a16="http://schemas.microsoft.com/office/drawing/2014/main" id="{4B7D302A-69BB-3B4C-110A-35890075029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85019" y="2211250"/>
                <a:ext cx="613701" cy="338554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文字方塊 28">
                <a:extLst>
                  <a:ext uri="{FF2B5EF4-FFF2-40B4-BE49-F238E27FC236}">
                    <a16:creationId xmlns:a16="http://schemas.microsoft.com/office/drawing/2014/main" id="{8F9CE310-A15D-4542-74A8-BF14C20D7734}"/>
                  </a:ext>
                </a:extLst>
              </p:cNvPr>
              <p:cNvSpPr txBox="1"/>
              <p:nvPr/>
            </p:nvSpPr>
            <p:spPr>
              <a:xfrm>
                <a:off x="3885019" y="3844284"/>
                <a:ext cx="613700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TW" sz="1600" b="0" i="1" smtClean="0">
                          <a:latin typeface="Cambria Math" panose="02040503050406030204" pitchFamily="18" charset="0"/>
                        </a:rPr>
                        <m:t>−2.9</m:t>
                      </m:r>
                    </m:oMath>
                  </m:oMathPara>
                </a14:m>
                <a:endParaRPr kumimoji="1" lang="zh-TW" altLang="en-US" sz="1600" dirty="0"/>
              </a:p>
            </p:txBody>
          </p:sp>
        </mc:Choice>
        <mc:Fallback xmlns="">
          <p:sp>
            <p:nvSpPr>
              <p:cNvPr id="29" name="文字方塊 28">
                <a:extLst>
                  <a:ext uri="{FF2B5EF4-FFF2-40B4-BE49-F238E27FC236}">
                    <a16:creationId xmlns:a16="http://schemas.microsoft.com/office/drawing/2014/main" id="{8F9CE310-A15D-4542-74A8-BF14C20D773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85019" y="3844284"/>
                <a:ext cx="613700" cy="338554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" name="文字方塊 29">
                <a:extLst>
                  <a:ext uri="{FF2B5EF4-FFF2-40B4-BE49-F238E27FC236}">
                    <a16:creationId xmlns:a16="http://schemas.microsoft.com/office/drawing/2014/main" id="{1834D209-F6BD-1B0A-BF59-E0500E0C63A1}"/>
                  </a:ext>
                </a:extLst>
              </p:cNvPr>
              <p:cNvSpPr txBox="1"/>
              <p:nvPr/>
            </p:nvSpPr>
            <p:spPr>
              <a:xfrm>
                <a:off x="3885019" y="4345643"/>
                <a:ext cx="613701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TW" sz="1600" b="0" i="1" smtClean="0">
                          <a:latin typeface="Cambria Math" panose="02040503050406030204" pitchFamily="18" charset="0"/>
                        </a:rPr>
                        <m:t>−1.6</m:t>
                      </m:r>
                    </m:oMath>
                  </m:oMathPara>
                </a14:m>
                <a:endParaRPr kumimoji="1" lang="zh-TW" altLang="en-US" sz="1600" dirty="0"/>
              </a:p>
            </p:txBody>
          </p:sp>
        </mc:Choice>
        <mc:Fallback xmlns="">
          <p:sp>
            <p:nvSpPr>
              <p:cNvPr id="30" name="文字方塊 29">
                <a:extLst>
                  <a:ext uri="{FF2B5EF4-FFF2-40B4-BE49-F238E27FC236}">
                    <a16:creationId xmlns:a16="http://schemas.microsoft.com/office/drawing/2014/main" id="{1834D209-F6BD-1B0A-BF59-E0500E0C63A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85019" y="4345643"/>
                <a:ext cx="613701" cy="338554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" name="文字方塊 30">
                <a:extLst>
                  <a:ext uri="{FF2B5EF4-FFF2-40B4-BE49-F238E27FC236}">
                    <a16:creationId xmlns:a16="http://schemas.microsoft.com/office/drawing/2014/main" id="{4D3DAC6B-5B92-1CFD-751E-6687CB641DB3}"/>
                  </a:ext>
                </a:extLst>
              </p:cNvPr>
              <p:cNvSpPr txBox="1"/>
              <p:nvPr/>
            </p:nvSpPr>
            <p:spPr>
              <a:xfrm>
                <a:off x="3848820" y="5910891"/>
                <a:ext cx="686099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TW" sz="1600" b="0" i="1" smtClean="0">
                          <a:latin typeface="Cambria Math" panose="02040503050406030204" pitchFamily="18" charset="0"/>
                        </a:rPr>
                        <m:t>−1.8</m:t>
                      </m:r>
                    </m:oMath>
                  </m:oMathPara>
                </a14:m>
                <a:endParaRPr kumimoji="1" lang="zh-TW" altLang="en-US" sz="1600" dirty="0"/>
              </a:p>
            </p:txBody>
          </p:sp>
        </mc:Choice>
        <mc:Fallback xmlns="">
          <p:sp>
            <p:nvSpPr>
              <p:cNvPr id="31" name="文字方塊 30">
                <a:extLst>
                  <a:ext uri="{FF2B5EF4-FFF2-40B4-BE49-F238E27FC236}">
                    <a16:creationId xmlns:a16="http://schemas.microsoft.com/office/drawing/2014/main" id="{4D3DAC6B-5B92-1CFD-751E-6687CB641DB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48820" y="5910891"/>
                <a:ext cx="686099" cy="338554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" name="圓角矩形 17">
            <a:extLst>
              <a:ext uri="{FF2B5EF4-FFF2-40B4-BE49-F238E27FC236}">
                <a16:creationId xmlns:a16="http://schemas.microsoft.com/office/drawing/2014/main" id="{601EF68D-AB15-2BE7-FB27-3732E7DC8DC8}"/>
              </a:ext>
            </a:extLst>
          </p:cNvPr>
          <p:cNvSpPr/>
          <p:nvPr/>
        </p:nvSpPr>
        <p:spPr>
          <a:xfrm>
            <a:off x="5426258" y="2144666"/>
            <a:ext cx="732055" cy="514110"/>
          </a:xfrm>
          <a:prstGeom prst="roundRect">
            <a:avLst/>
          </a:prstGeom>
          <a:solidFill>
            <a:srgbClr val="C5E0B4"/>
          </a:solidFill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en-US" altLang="zh-TW" sz="1600" dirty="0">
                <a:solidFill>
                  <a:srgbClr val="FF0000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to</a:t>
            </a:r>
            <a:endParaRPr kumimoji="1" lang="zh-TW" altLang="en-US" sz="1600" dirty="0">
              <a:solidFill>
                <a:srgbClr val="FF0000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24" name="圓角矩形 23">
            <a:extLst>
              <a:ext uri="{FF2B5EF4-FFF2-40B4-BE49-F238E27FC236}">
                <a16:creationId xmlns:a16="http://schemas.microsoft.com/office/drawing/2014/main" id="{0CBAD8EE-42E2-E1A6-D756-AFEE80F6B6C3}"/>
              </a:ext>
            </a:extLst>
          </p:cNvPr>
          <p:cNvSpPr/>
          <p:nvPr/>
        </p:nvSpPr>
        <p:spPr>
          <a:xfrm>
            <a:off x="5426258" y="2940660"/>
            <a:ext cx="732056" cy="514110"/>
          </a:xfrm>
          <a:prstGeom prst="roundRect">
            <a:avLst/>
          </a:prstGeom>
          <a:solidFill>
            <a:srgbClr val="C5E0B4"/>
          </a:solidFill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en-US" altLang="zh-TW" sz="1300" dirty="0">
                <a:solidFill>
                  <a:srgbClr val="FF0000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books</a:t>
            </a:r>
            <a:endParaRPr kumimoji="1" lang="zh-TW" altLang="en-US" sz="1300" dirty="0">
              <a:solidFill>
                <a:srgbClr val="FF0000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cxnSp>
        <p:nvCxnSpPr>
          <p:cNvPr id="35" name="直線箭頭接點 34">
            <a:extLst>
              <a:ext uri="{FF2B5EF4-FFF2-40B4-BE49-F238E27FC236}">
                <a16:creationId xmlns:a16="http://schemas.microsoft.com/office/drawing/2014/main" id="{46E46508-67A3-47D1-F2E4-593015865BD2}"/>
              </a:ext>
            </a:extLst>
          </p:cNvPr>
          <p:cNvCxnSpPr>
            <a:cxnSpLocks/>
          </p:cNvCxnSpPr>
          <p:nvPr/>
        </p:nvCxnSpPr>
        <p:spPr>
          <a:xfrm flipV="1">
            <a:off x="4646593" y="2401721"/>
            <a:ext cx="686098" cy="35668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直線箭頭接點 35">
            <a:extLst>
              <a:ext uri="{FF2B5EF4-FFF2-40B4-BE49-F238E27FC236}">
                <a16:creationId xmlns:a16="http://schemas.microsoft.com/office/drawing/2014/main" id="{454CD8D4-70BA-C50F-4173-C4EFAF415F32}"/>
              </a:ext>
            </a:extLst>
          </p:cNvPr>
          <p:cNvCxnSpPr>
            <a:cxnSpLocks/>
          </p:cNvCxnSpPr>
          <p:nvPr/>
        </p:nvCxnSpPr>
        <p:spPr>
          <a:xfrm>
            <a:off x="4664366" y="2868626"/>
            <a:ext cx="686098" cy="35668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7" name="文字方塊 36">
                <a:extLst>
                  <a:ext uri="{FF2B5EF4-FFF2-40B4-BE49-F238E27FC236}">
                    <a16:creationId xmlns:a16="http://schemas.microsoft.com/office/drawing/2014/main" id="{5B72CF1E-2455-77B2-4E63-0388B571BA45}"/>
                  </a:ext>
                </a:extLst>
              </p:cNvPr>
              <p:cNvSpPr txBox="1"/>
              <p:nvPr/>
            </p:nvSpPr>
            <p:spPr>
              <a:xfrm>
                <a:off x="5518071" y="1789852"/>
                <a:ext cx="530678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TW" sz="1600" b="0" i="1" smtClean="0">
                          <a:latin typeface="Cambria Math" panose="02040503050406030204" pitchFamily="18" charset="0"/>
                        </a:rPr>
                        <m:t>−2.8</m:t>
                      </m:r>
                    </m:oMath>
                  </m:oMathPara>
                </a14:m>
                <a:endParaRPr kumimoji="1" lang="zh-TW" altLang="en-US" sz="1600" dirty="0"/>
              </a:p>
            </p:txBody>
          </p:sp>
        </mc:Choice>
        <mc:Fallback xmlns="">
          <p:sp>
            <p:nvSpPr>
              <p:cNvPr id="37" name="文字方塊 36">
                <a:extLst>
                  <a:ext uri="{FF2B5EF4-FFF2-40B4-BE49-F238E27FC236}">
                    <a16:creationId xmlns:a16="http://schemas.microsoft.com/office/drawing/2014/main" id="{5B72CF1E-2455-77B2-4E63-0388B571BA4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18071" y="1789852"/>
                <a:ext cx="530678" cy="338554"/>
              </a:xfrm>
              <a:prstGeom prst="rect">
                <a:avLst/>
              </a:prstGeom>
              <a:blipFill>
                <a:blip r:embed="rId9"/>
                <a:stretch>
                  <a:fillRect r="-9302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8" name="文字方塊 37">
                <a:extLst>
                  <a:ext uri="{FF2B5EF4-FFF2-40B4-BE49-F238E27FC236}">
                    <a16:creationId xmlns:a16="http://schemas.microsoft.com/office/drawing/2014/main" id="{75DED9B6-F0F3-1533-17C3-AE4E8F2376DC}"/>
                  </a:ext>
                </a:extLst>
              </p:cNvPr>
              <p:cNvSpPr txBox="1"/>
              <p:nvPr/>
            </p:nvSpPr>
            <p:spPr>
              <a:xfrm>
                <a:off x="5500315" y="3428408"/>
                <a:ext cx="566190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TW" sz="1600" b="0" i="1" smtClean="0">
                          <a:latin typeface="Cambria Math" panose="02040503050406030204" pitchFamily="18" charset="0"/>
                        </a:rPr>
                        <m:t>−2.</m:t>
                      </m:r>
                      <m:r>
                        <a:rPr kumimoji="1" lang="en-US" altLang="zh-TW" sz="1600" b="0" i="0" smtClean="0">
                          <a:latin typeface="Cambria Math" panose="02040503050406030204" pitchFamily="18" charset="0"/>
                        </a:rPr>
                        <m:t>5</m:t>
                      </m:r>
                    </m:oMath>
                  </m:oMathPara>
                </a14:m>
                <a:endParaRPr kumimoji="1" lang="zh-TW" altLang="en-US" sz="1600" dirty="0"/>
              </a:p>
            </p:txBody>
          </p:sp>
        </mc:Choice>
        <mc:Fallback xmlns="">
          <p:sp>
            <p:nvSpPr>
              <p:cNvPr id="38" name="文字方塊 37">
                <a:extLst>
                  <a:ext uri="{FF2B5EF4-FFF2-40B4-BE49-F238E27FC236}">
                    <a16:creationId xmlns:a16="http://schemas.microsoft.com/office/drawing/2014/main" id="{75DED9B6-F0F3-1533-17C3-AE4E8F2376D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00315" y="3428408"/>
                <a:ext cx="566190" cy="338554"/>
              </a:xfrm>
              <a:prstGeom prst="rect">
                <a:avLst/>
              </a:prstGeom>
              <a:blipFill>
                <a:blip r:embed="rId10"/>
                <a:stretch>
                  <a:fillRect r="-4348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9" name="圓角矩形 38">
            <a:extLst>
              <a:ext uri="{FF2B5EF4-FFF2-40B4-BE49-F238E27FC236}">
                <a16:creationId xmlns:a16="http://schemas.microsoft.com/office/drawing/2014/main" id="{8D37F53C-38B0-72B7-761E-CCE30BD3F6A2}"/>
              </a:ext>
            </a:extLst>
          </p:cNvPr>
          <p:cNvSpPr/>
          <p:nvPr/>
        </p:nvSpPr>
        <p:spPr>
          <a:xfrm>
            <a:off x="5444007" y="4253284"/>
            <a:ext cx="732055" cy="514110"/>
          </a:xfrm>
          <a:prstGeom prst="roundRect">
            <a:avLst/>
          </a:prstGeom>
          <a:solidFill>
            <a:srgbClr val="C5E0B4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en-US" altLang="zh-TW" sz="1600" dirty="0">
                <a:solidFill>
                  <a:schemeClr val="tx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to</a:t>
            </a:r>
            <a:endParaRPr kumimoji="1" lang="zh-TW" altLang="en-US" sz="1600" dirty="0">
              <a:solidFill>
                <a:schemeClr val="tx1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40" name="圓角矩形 39">
            <a:extLst>
              <a:ext uri="{FF2B5EF4-FFF2-40B4-BE49-F238E27FC236}">
                <a16:creationId xmlns:a16="http://schemas.microsoft.com/office/drawing/2014/main" id="{A3DAE183-4DB4-FB98-30FA-C42FE80C7E5C}"/>
              </a:ext>
            </a:extLst>
          </p:cNvPr>
          <p:cNvSpPr/>
          <p:nvPr/>
        </p:nvSpPr>
        <p:spPr>
          <a:xfrm>
            <a:off x="5444007" y="5049278"/>
            <a:ext cx="732056" cy="514110"/>
          </a:xfrm>
          <a:prstGeom prst="roundRect">
            <a:avLst/>
          </a:prstGeom>
          <a:solidFill>
            <a:srgbClr val="C5E0B4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en-US" altLang="zh-TW" sz="1600" dirty="0">
                <a:solidFill>
                  <a:schemeClr val="tx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tea</a:t>
            </a:r>
            <a:endParaRPr kumimoji="1" lang="zh-TW" altLang="en-US" sz="1600" dirty="0">
              <a:solidFill>
                <a:schemeClr val="tx1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cxnSp>
        <p:nvCxnSpPr>
          <p:cNvPr id="41" name="直線箭頭接點 40">
            <a:extLst>
              <a:ext uri="{FF2B5EF4-FFF2-40B4-BE49-F238E27FC236}">
                <a16:creationId xmlns:a16="http://schemas.microsoft.com/office/drawing/2014/main" id="{02DB8DA1-DF6A-7639-0750-34AB62672E0C}"/>
              </a:ext>
            </a:extLst>
          </p:cNvPr>
          <p:cNvCxnSpPr>
            <a:cxnSpLocks/>
          </p:cNvCxnSpPr>
          <p:nvPr/>
        </p:nvCxnSpPr>
        <p:spPr>
          <a:xfrm flipV="1">
            <a:off x="4664342" y="4510339"/>
            <a:ext cx="686098" cy="35668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直線箭頭接點 41">
            <a:extLst>
              <a:ext uri="{FF2B5EF4-FFF2-40B4-BE49-F238E27FC236}">
                <a16:creationId xmlns:a16="http://schemas.microsoft.com/office/drawing/2014/main" id="{C5EC476E-EC31-2D86-E6B2-EBF1955BF1E5}"/>
              </a:ext>
            </a:extLst>
          </p:cNvPr>
          <p:cNvCxnSpPr>
            <a:cxnSpLocks/>
          </p:cNvCxnSpPr>
          <p:nvPr/>
        </p:nvCxnSpPr>
        <p:spPr>
          <a:xfrm>
            <a:off x="4682115" y="4977244"/>
            <a:ext cx="686098" cy="35668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3" name="文字方塊 42">
                <a:extLst>
                  <a:ext uri="{FF2B5EF4-FFF2-40B4-BE49-F238E27FC236}">
                    <a16:creationId xmlns:a16="http://schemas.microsoft.com/office/drawing/2014/main" id="{9322DFDD-EFF0-7244-F30C-F19809A79EB8}"/>
                  </a:ext>
                </a:extLst>
              </p:cNvPr>
              <p:cNvSpPr txBox="1"/>
              <p:nvPr/>
            </p:nvSpPr>
            <p:spPr>
              <a:xfrm>
                <a:off x="5495873" y="3926009"/>
                <a:ext cx="575074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TW" sz="1600" b="0" i="1" smtClean="0">
                          <a:latin typeface="Cambria Math" panose="02040503050406030204" pitchFamily="18" charset="0"/>
                        </a:rPr>
                        <m:t>−2.9</m:t>
                      </m:r>
                    </m:oMath>
                  </m:oMathPara>
                </a14:m>
                <a:endParaRPr kumimoji="1" lang="zh-TW" altLang="en-US" sz="1600" dirty="0"/>
              </a:p>
            </p:txBody>
          </p:sp>
        </mc:Choice>
        <mc:Fallback xmlns="">
          <p:sp>
            <p:nvSpPr>
              <p:cNvPr id="43" name="文字方塊 42">
                <a:extLst>
                  <a:ext uri="{FF2B5EF4-FFF2-40B4-BE49-F238E27FC236}">
                    <a16:creationId xmlns:a16="http://schemas.microsoft.com/office/drawing/2014/main" id="{9322DFDD-EFF0-7244-F30C-F19809A79EB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95873" y="3926009"/>
                <a:ext cx="575074" cy="338554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4" name="文字方塊 43">
                <a:extLst>
                  <a:ext uri="{FF2B5EF4-FFF2-40B4-BE49-F238E27FC236}">
                    <a16:creationId xmlns:a16="http://schemas.microsoft.com/office/drawing/2014/main" id="{08361A65-0546-D0FE-B2EE-A1BC12C81851}"/>
                  </a:ext>
                </a:extLst>
              </p:cNvPr>
              <p:cNvSpPr txBox="1"/>
              <p:nvPr/>
            </p:nvSpPr>
            <p:spPr>
              <a:xfrm>
                <a:off x="5509190" y="5559395"/>
                <a:ext cx="548440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TW" sz="1600" b="0" i="1" smtClean="0">
                          <a:latin typeface="Cambria Math" panose="02040503050406030204" pitchFamily="18" charset="0"/>
                        </a:rPr>
                        <m:t>−3.8</m:t>
                      </m:r>
                    </m:oMath>
                  </m:oMathPara>
                </a14:m>
                <a:endParaRPr kumimoji="1" lang="zh-TW" altLang="en-US" sz="1600" dirty="0"/>
              </a:p>
            </p:txBody>
          </p:sp>
        </mc:Choice>
        <mc:Fallback xmlns="">
          <p:sp>
            <p:nvSpPr>
              <p:cNvPr id="44" name="文字方塊 43">
                <a:extLst>
                  <a:ext uri="{FF2B5EF4-FFF2-40B4-BE49-F238E27FC236}">
                    <a16:creationId xmlns:a16="http://schemas.microsoft.com/office/drawing/2014/main" id="{08361A65-0546-D0FE-B2EE-A1BC12C8185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09190" y="5559395"/>
                <a:ext cx="548440" cy="338554"/>
              </a:xfrm>
              <a:prstGeom prst="rect">
                <a:avLst/>
              </a:prstGeom>
              <a:blipFill>
                <a:blip r:embed="rId12"/>
                <a:stretch>
                  <a:fillRect r="-4444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圓角矩形 1">
            <a:extLst>
              <a:ext uri="{FF2B5EF4-FFF2-40B4-BE49-F238E27FC236}">
                <a16:creationId xmlns:a16="http://schemas.microsoft.com/office/drawing/2014/main" id="{FCC80EAE-A748-DD7C-9D1D-B90050229D28}"/>
              </a:ext>
            </a:extLst>
          </p:cNvPr>
          <p:cNvSpPr/>
          <p:nvPr/>
        </p:nvSpPr>
        <p:spPr>
          <a:xfrm>
            <a:off x="6959306" y="2544320"/>
            <a:ext cx="810689" cy="514110"/>
          </a:xfrm>
          <a:prstGeom prst="roundRect">
            <a:avLst/>
          </a:prstGeom>
          <a:solidFill>
            <a:srgbClr val="C5E0B4"/>
          </a:solidFill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en-US" altLang="zh-TW" sz="1600" dirty="0">
                <a:solidFill>
                  <a:srgbClr val="FF0000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watch</a:t>
            </a:r>
            <a:endParaRPr kumimoji="1" lang="zh-TW" altLang="en-US" sz="1600" dirty="0">
              <a:solidFill>
                <a:srgbClr val="FF0000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16" name="圓角矩形 15">
            <a:extLst>
              <a:ext uri="{FF2B5EF4-FFF2-40B4-BE49-F238E27FC236}">
                <a16:creationId xmlns:a16="http://schemas.microsoft.com/office/drawing/2014/main" id="{624AFD73-A0D9-AE22-080A-91A4FC5F408D}"/>
              </a:ext>
            </a:extLst>
          </p:cNvPr>
          <p:cNvSpPr/>
          <p:nvPr/>
        </p:nvSpPr>
        <p:spPr>
          <a:xfrm>
            <a:off x="6959308" y="1747929"/>
            <a:ext cx="810689" cy="514110"/>
          </a:xfrm>
          <a:prstGeom prst="roundRect">
            <a:avLst/>
          </a:prstGeom>
          <a:solidFill>
            <a:srgbClr val="C5E0B4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en-US" altLang="zh-TW" sz="1600" dirty="0">
                <a:solidFill>
                  <a:schemeClr val="tx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read</a:t>
            </a:r>
            <a:endParaRPr kumimoji="1" lang="zh-TW" altLang="en-US" sz="1600" dirty="0">
              <a:solidFill>
                <a:schemeClr val="tx1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20" name="圓角矩形 19">
            <a:extLst>
              <a:ext uri="{FF2B5EF4-FFF2-40B4-BE49-F238E27FC236}">
                <a16:creationId xmlns:a16="http://schemas.microsoft.com/office/drawing/2014/main" id="{4F17797E-F2DB-5ADF-02FE-E0226F7ACE16}"/>
              </a:ext>
            </a:extLst>
          </p:cNvPr>
          <p:cNvSpPr/>
          <p:nvPr/>
        </p:nvSpPr>
        <p:spPr>
          <a:xfrm>
            <a:off x="6959307" y="3652720"/>
            <a:ext cx="810689" cy="514110"/>
          </a:xfrm>
          <a:prstGeom prst="roundRect">
            <a:avLst/>
          </a:prstGeom>
          <a:solidFill>
            <a:srgbClr val="C5E0B4"/>
          </a:solidFill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en-US" altLang="zh-TW" sz="1600" dirty="0">
                <a:solidFill>
                  <a:srgbClr val="FF0000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and</a:t>
            </a:r>
            <a:endParaRPr kumimoji="1" lang="zh-TW" altLang="en-US" sz="1600" dirty="0">
              <a:solidFill>
                <a:srgbClr val="FF0000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21" name="圓角矩形 20">
            <a:extLst>
              <a:ext uri="{FF2B5EF4-FFF2-40B4-BE49-F238E27FC236}">
                <a16:creationId xmlns:a16="http://schemas.microsoft.com/office/drawing/2014/main" id="{3B819ECA-E0CE-0C5D-FF83-5E3EE687278A}"/>
              </a:ext>
            </a:extLst>
          </p:cNvPr>
          <p:cNvSpPr/>
          <p:nvPr/>
        </p:nvSpPr>
        <p:spPr>
          <a:xfrm>
            <a:off x="6959307" y="4451194"/>
            <a:ext cx="810689" cy="514110"/>
          </a:xfrm>
          <a:prstGeom prst="roundRect">
            <a:avLst/>
          </a:prstGeom>
          <a:solidFill>
            <a:srgbClr val="C5E0B4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en-US" altLang="zh-TW" sz="1600" dirty="0">
                <a:solidFill>
                  <a:schemeClr val="tx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party</a:t>
            </a:r>
            <a:endParaRPr kumimoji="1" lang="zh-TW" altLang="en-US" sz="1600" dirty="0">
              <a:solidFill>
                <a:schemeClr val="tx1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cxnSp>
        <p:nvCxnSpPr>
          <p:cNvPr id="32" name="直線箭頭接點 31">
            <a:extLst>
              <a:ext uri="{FF2B5EF4-FFF2-40B4-BE49-F238E27FC236}">
                <a16:creationId xmlns:a16="http://schemas.microsoft.com/office/drawing/2014/main" id="{FFD04519-C5EE-5166-1A97-1250B554FDCF}"/>
              </a:ext>
            </a:extLst>
          </p:cNvPr>
          <p:cNvCxnSpPr>
            <a:cxnSpLocks/>
          </p:cNvCxnSpPr>
          <p:nvPr/>
        </p:nvCxnSpPr>
        <p:spPr>
          <a:xfrm flipV="1">
            <a:off x="6251880" y="1957795"/>
            <a:ext cx="635929" cy="41489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直線箭頭接點 33">
            <a:extLst>
              <a:ext uri="{FF2B5EF4-FFF2-40B4-BE49-F238E27FC236}">
                <a16:creationId xmlns:a16="http://schemas.microsoft.com/office/drawing/2014/main" id="{6E11CB0D-D77D-45B7-25D6-C3B2C6965F47}"/>
              </a:ext>
            </a:extLst>
          </p:cNvPr>
          <p:cNvCxnSpPr>
            <a:cxnSpLocks/>
          </p:cNvCxnSpPr>
          <p:nvPr/>
        </p:nvCxnSpPr>
        <p:spPr>
          <a:xfrm>
            <a:off x="6259576" y="2420845"/>
            <a:ext cx="628233" cy="462307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直線箭頭接點 47">
            <a:extLst>
              <a:ext uri="{FF2B5EF4-FFF2-40B4-BE49-F238E27FC236}">
                <a16:creationId xmlns:a16="http://schemas.microsoft.com/office/drawing/2014/main" id="{56F25780-7D26-D5A3-3618-1135CB12AAC1}"/>
              </a:ext>
            </a:extLst>
          </p:cNvPr>
          <p:cNvCxnSpPr>
            <a:cxnSpLocks/>
          </p:cNvCxnSpPr>
          <p:nvPr/>
        </p:nvCxnSpPr>
        <p:spPr>
          <a:xfrm>
            <a:off x="6251879" y="3215471"/>
            <a:ext cx="625270" cy="694304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直線箭頭接點 49">
            <a:extLst>
              <a:ext uri="{FF2B5EF4-FFF2-40B4-BE49-F238E27FC236}">
                <a16:creationId xmlns:a16="http://schemas.microsoft.com/office/drawing/2014/main" id="{70EA67BC-FF40-CF85-BF93-26350692CB6F}"/>
              </a:ext>
            </a:extLst>
          </p:cNvPr>
          <p:cNvCxnSpPr>
            <a:cxnSpLocks/>
          </p:cNvCxnSpPr>
          <p:nvPr/>
        </p:nvCxnSpPr>
        <p:spPr>
          <a:xfrm>
            <a:off x="6246934" y="3268249"/>
            <a:ext cx="630215" cy="1499145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2" name="文字方塊 51">
                <a:extLst>
                  <a:ext uri="{FF2B5EF4-FFF2-40B4-BE49-F238E27FC236}">
                    <a16:creationId xmlns:a16="http://schemas.microsoft.com/office/drawing/2014/main" id="{EC0517B7-256E-F152-381C-CE5B518C49B6}"/>
                  </a:ext>
                </a:extLst>
              </p:cNvPr>
              <p:cNvSpPr txBox="1"/>
              <p:nvPr/>
            </p:nvSpPr>
            <p:spPr>
              <a:xfrm>
                <a:off x="6990563" y="1422320"/>
                <a:ext cx="643283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TW" sz="1600" b="0" i="1" smtClean="0">
                          <a:latin typeface="Cambria Math" panose="02040503050406030204" pitchFamily="18" charset="0"/>
                        </a:rPr>
                        <m:t>−4.1</m:t>
                      </m:r>
                    </m:oMath>
                  </m:oMathPara>
                </a14:m>
                <a:endParaRPr kumimoji="1" lang="zh-TW" altLang="en-US" sz="1600" dirty="0"/>
              </a:p>
            </p:txBody>
          </p:sp>
        </mc:Choice>
        <mc:Fallback xmlns="">
          <p:sp>
            <p:nvSpPr>
              <p:cNvPr id="52" name="文字方塊 51">
                <a:extLst>
                  <a:ext uri="{FF2B5EF4-FFF2-40B4-BE49-F238E27FC236}">
                    <a16:creationId xmlns:a16="http://schemas.microsoft.com/office/drawing/2014/main" id="{EC0517B7-256E-F152-381C-CE5B518C49B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90563" y="1422320"/>
                <a:ext cx="643283" cy="338554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3" name="文字方塊 52">
                <a:extLst>
                  <a:ext uri="{FF2B5EF4-FFF2-40B4-BE49-F238E27FC236}">
                    <a16:creationId xmlns:a16="http://schemas.microsoft.com/office/drawing/2014/main" id="{6F906C2F-5027-8893-C1EC-DB34E9C0E2C2}"/>
                  </a:ext>
                </a:extLst>
              </p:cNvPr>
              <p:cNvSpPr txBox="1"/>
              <p:nvPr/>
            </p:nvSpPr>
            <p:spPr>
              <a:xfrm>
                <a:off x="7034878" y="3014097"/>
                <a:ext cx="530678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TW" sz="1600" b="0" i="1" smtClean="0">
                          <a:latin typeface="Cambria Math" panose="02040503050406030204" pitchFamily="18" charset="0"/>
                        </a:rPr>
                        <m:t>−3.2</m:t>
                      </m:r>
                    </m:oMath>
                  </m:oMathPara>
                </a14:m>
                <a:endParaRPr kumimoji="1" lang="zh-TW" altLang="en-US" sz="1600" dirty="0"/>
              </a:p>
            </p:txBody>
          </p:sp>
        </mc:Choice>
        <mc:Fallback xmlns="">
          <p:sp>
            <p:nvSpPr>
              <p:cNvPr id="53" name="文字方塊 52">
                <a:extLst>
                  <a:ext uri="{FF2B5EF4-FFF2-40B4-BE49-F238E27FC236}">
                    <a16:creationId xmlns:a16="http://schemas.microsoft.com/office/drawing/2014/main" id="{6F906C2F-5027-8893-C1EC-DB34E9C0E2C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34878" y="3014097"/>
                <a:ext cx="530678" cy="338554"/>
              </a:xfrm>
              <a:prstGeom prst="rect">
                <a:avLst/>
              </a:prstGeom>
              <a:blipFill>
                <a:blip r:embed="rId14"/>
                <a:stretch>
                  <a:fillRect r="-9302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4" name="文字方塊 53">
                <a:extLst>
                  <a:ext uri="{FF2B5EF4-FFF2-40B4-BE49-F238E27FC236}">
                    <a16:creationId xmlns:a16="http://schemas.microsoft.com/office/drawing/2014/main" id="{16676045-5672-AA81-F226-84FF0BBA8EFB}"/>
                  </a:ext>
                </a:extLst>
              </p:cNvPr>
              <p:cNvSpPr txBox="1"/>
              <p:nvPr/>
            </p:nvSpPr>
            <p:spPr>
              <a:xfrm>
                <a:off x="7034878" y="3380849"/>
                <a:ext cx="530678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TW" sz="1600" b="0" i="1" smtClean="0">
                          <a:latin typeface="Cambria Math" panose="02040503050406030204" pitchFamily="18" charset="0"/>
                        </a:rPr>
                        <m:t>−3.3</m:t>
                      </m:r>
                    </m:oMath>
                  </m:oMathPara>
                </a14:m>
                <a:endParaRPr kumimoji="1" lang="zh-TW" altLang="en-US" sz="1600" dirty="0"/>
              </a:p>
            </p:txBody>
          </p:sp>
        </mc:Choice>
        <mc:Fallback xmlns="">
          <p:sp>
            <p:nvSpPr>
              <p:cNvPr id="54" name="文字方塊 53">
                <a:extLst>
                  <a:ext uri="{FF2B5EF4-FFF2-40B4-BE49-F238E27FC236}">
                    <a16:creationId xmlns:a16="http://schemas.microsoft.com/office/drawing/2014/main" id="{16676045-5672-AA81-F226-84FF0BBA8EF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34878" y="3380849"/>
                <a:ext cx="530678" cy="338554"/>
              </a:xfrm>
              <a:prstGeom prst="rect">
                <a:avLst/>
              </a:prstGeom>
              <a:blipFill>
                <a:blip r:embed="rId15"/>
                <a:stretch>
                  <a:fillRect r="-9302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7" name="文字方塊 56">
                <a:extLst>
                  <a:ext uri="{FF2B5EF4-FFF2-40B4-BE49-F238E27FC236}">
                    <a16:creationId xmlns:a16="http://schemas.microsoft.com/office/drawing/2014/main" id="{F9C59B25-2255-0ACF-CE91-AC14A5AC8D46}"/>
                  </a:ext>
                </a:extLst>
              </p:cNvPr>
              <p:cNvSpPr txBox="1"/>
              <p:nvPr/>
            </p:nvSpPr>
            <p:spPr>
              <a:xfrm>
                <a:off x="7046866" y="4946362"/>
                <a:ext cx="530678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TW" sz="1600" b="0" i="1" smtClean="0">
                          <a:latin typeface="Cambria Math" panose="02040503050406030204" pitchFamily="18" charset="0"/>
                        </a:rPr>
                        <m:t>−3.5</m:t>
                      </m:r>
                    </m:oMath>
                  </m:oMathPara>
                </a14:m>
                <a:endParaRPr kumimoji="1" lang="zh-TW" altLang="en-US" sz="1600" dirty="0"/>
              </a:p>
            </p:txBody>
          </p:sp>
        </mc:Choice>
        <mc:Fallback xmlns="">
          <p:sp>
            <p:nvSpPr>
              <p:cNvPr id="57" name="文字方塊 56">
                <a:extLst>
                  <a:ext uri="{FF2B5EF4-FFF2-40B4-BE49-F238E27FC236}">
                    <a16:creationId xmlns:a16="http://schemas.microsoft.com/office/drawing/2014/main" id="{F9C59B25-2255-0ACF-CE91-AC14A5AC8D4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46866" y="4946362"/>
                <a:ext cx="530678" cy="338554"/>
              </a:xfrm>
              <a:prstGeom prst="rect">
                <a:avLst/>
              </a:prstGeom>
              <a:blipFill>
                <a:blip r:embed="rId16"/>
                <a:stretch>
                  <a:fillRect r="-9302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2" name="圓角矩形 61">
            <a:extLst>
              <a:ext uri="{FF2B5EF4-FFF2-40B4-BE49-F238E27FC236}">
                <a16:creationId xmlns:a16="http://schemas.microsoft.com/office/drawing/2014/main" id="{4B769ABC-2D1E-CB77-8C48-CD005D939EA0}"/>
              </a:ext>
            </a:extLst>
          </p:cNvPr>
          <p:cNvSpPr/>
          <p:nvPr/>
        </p:nvSpPr>
        <p:spPr>
          <a:xfrm>
            <a:off x="8566509" y="2541946"/>
            <a:ext cx="810689" cy="514110"/>
          </a:xfrm>
          <a:prstGeom prst="roundRect">
            <a:avLst/>
          </a:prstGeom>
          <a:solidFill>
            <a:srgbClr val="C5E0B4"/>
          </a:solidFill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en-US" altLang="zh-TW" sz="1300" dirty="0">
                <a:solidFill>
                  <a:srgbClr val="FF0000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horror</a:t>
            </a:r>
            <a:endParaRPr kumimoji="1" lang="zh-TW" altLang="en-US" sz="1300" dirty="0">
              <a:solidFill>
                <a:srgbClr val="FF0000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63" name="圓角矩形 62">
            <a:extLst>
              <a:ext uri="{FF2B5EF4-FFF2-40B4-BE49-F238E27FC236}">
                <a16:creationId xmlns:a16="http://schemas.microsoft.com/office/drawing/2014/main" id="{A18B5995-7936-68CC-EB41-6DE84B364041}"/>
              </a:ext>
            </a:extLst>
          </p:cNvPr>
          <p:cNvSpPr/>
          <p:nvPr/>
        </p:nvSpPr>
        <p:spPr>
          <a:xfrm>
            <a:off x="8566509" y="1745555"/>
            <a:ext cx="810689" cy="514110"/>
          </a:xfrm>
          <a:prstGeom prst="roundRect">
            <a:avLst/>
          </a:prstGeom>
          <a:solidFill>
            <a:srgbClr val="C5E0B4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en-US" altLang="zh-TW" sz="1600" dirty="0">
                <a:solidFill>
                  <a:schemeClr val="tx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tv</a:t>
            </a:r>
            <a:endParaRPr kumimoji="1" lang="zh-TW" altLang="en-US" sz="1600" dirty="0">
              <a:solidFill>
                <a:schemeClr val="tx1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cxnSp>
        <p:nvCxnSpPr>
          <p:cNvPr id="64" name="直線箭頭接點 63">
            <a:extLst>
              <a:ext uri="{FF2B5EF4-FFF2-40B4-BE49-F238E27FC236}">
                <a16:creationId xmlns:a16="http://schemas.microsoft.com/office/drawing/2014/main" id="{F9B8227B-B2AF-EA84-9CAC-78F856341887}"/>
              </a:ext>
            </a:extLst>
          </p:cNvPr>
          <p:cNvCxnSpPr>
            <a:cxnSpLocks/>
          </p:cNvCxnSpPr>
          <p:nvPr/>
        </p:nvCxnSpPr>
        <p:spPr>
          <a:xfrm>
            <a:off x="7868037" y="2801375"/>
            <a:ext cx="583505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直線箭頭接點 67">
            <a:extLst>
              <a:ext uri="{FF2B5EF4-FFF2-40B4-BE49-F238E27FC236}">
                <a16:creationId xmlns:a16="http://schemas.microsoft.com/office/drawing/2014/main" id="{B09A036F-DE62-BB87-4E4C-E2841664A1C1}"/>
              </a:ext>
            </a:extLst>
          </p:cNvPr>
          <p:cNvCxnSpPr>
            <a:cxnSpLocks/>
          </p:cNvCxnSpPr>
          <p:nvPr/>
        </p:nvCxnSpPr>
        <p:spPr>
          <a:xfrm flipV="1">
            <a:off x="7868037" y="2002610"/>
            <a:ext cx="583505" cy="755791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1" name="圓角矩形 70">
            <a:extLst>
              <a:ext uri="{FF2B5EF4-FFF2-40B4-BE49-F238E27FC236}">
                <a16:creationId xmlns:a16="http://schemas.microsoft.com/office/drawing/2014/main" id="{65458D6C-0F40-E54D-7D40-40DE99DB5C0C}"/>
              </a:ext>
            </a:extLst>
          </p:cNvPr>
          <p:cNvSpPr/>
          <p:nvPr/>
        </p:nvSpPr>
        <p:spPr>
          <a:xfrm>
            <a:off x="8566509" y="4434454"/>
            <a:ext cx="810689" cy="514110"/>
          </a:xfrm>
          <a:prstGeom prst="roundRect">
            <a:avLst/>
          </a:prstGeom>
          <a:solidFill>
            <a:srgbClr val="C5E0B4"/>
          </a:solidFill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en-US" altLang="zh-TW" sz="1300" dirty="0">
                <a:solidFill>
                  <a:srgbClr val="FF0000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horror</a:t>
            </a:r>
            <a:endParaRPr kumimoji="1" lang="zh-TW" altLang="en-US" sz="1300" dirty="0">
              <a:solidFill>
                <a:srgbClr val="FF0000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72" name="圓角矩形 71">
            <a:extLst>
              <a:ext uri="{FF2B5EF4-FFF2-40B4-BE49-F238E27FC236}">
                <a16:creationId xmlns:a16="http://schemas.microsoft.com/office/drawing/2014/main" id="{15DC6462-8ECC-218B-B2C6-74CB85517F37}"/>
              </a:ext>
            </a:extLst>
          </p:cNvPr>
          <p:cNvSpPr/>
          <p:nvPr/>
        </p:nvSpPr>
        <p:spPr>
          <a:xfrm>
            <a:off x="8566509" y="3630751"/>
            <a:ext cx="810689" cy="514110"/>
          </a:xfrm>
          <a:prstGeom prst="roundRect">
            <a:avLst/>
          </a:prstGeom>
          <a:solidFill>
            <a:srgbClr val="C5E0B4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en-US" altLang="zh-TW" sz="1600" dirty="0">
                <a:solidFill>
                  <a:schemeClr val="tx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write</a:t>
            </a:r>
            <a:endParaRPr kumimoji="1" lang="zh-TW" altLang="en-US" sz="1300" dirty="0">
              <a:solidFill>
                <a:schemeClr val="tx1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cxnSp>
        <p:nvCxnSpPr>
          <p:cNvPr id="73" name="直線箭頭接點 72">
            <a:extLst>
              <a:ext uri="{FF2B5EF4-FFF2-40B4-BE49-F238E27FC236}">
                <a16:creationId xmlns:a16="http://schemas.microsoft.com/office/drawing/2014/main" id="{DC9CA5F9-443A-548C-D9DC-99EEDDCC1B84}"/>
              </a:ext>
            </a:extLst>
          </p:cNvPr>
          <p:cNvCxnSpPr>
            <a:cxnSpLocks/>
          </p:cNvCxnSpPr>
          <p:nvPr/>
        </p:nvCxnSpPr>
        <p:spPr>
          <a:xfrm>
            <a:off x="7868037" y="3920828"/>
            <a:ext cx="583505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直線箭頭接點 73">
            <a:extLst>
              <a:ext uri="{FF2B5EF4-FFF2-40B4-BE49-F238E27FC236}">
                <a16:creationId xmlns:a16="http://schemas.microsoft.com/office/drawing/2014/main" id="{87D77537-FC62-4357-15D5-8D73B9A85FF0}"/>
              </a:ext>
            </a:extLst>
          </p:cNvPr>
          <p:cNvCxnSpPr>
            <a:cxnSpLocks/>
          </p:cNvCxnSpPr>
          <p:nvPr/>
        </p:nvCxnSpPr>
        <p:spPr>
          <a:xfrm>
            <a:off x="7878102" y="4025792"/>
            <a:ext cx="571276" cy="682457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81" name="文字方塊 80">
                <a:extLst>
                  <a:ext uri="{FF2B5EF4-FFF2-40B4-BE49-F238E27FC236}">
                    <a16:creationId xmlns:a16="http://schemas.microsoft.com/office/drawing/2014/main" id="{AC91EA17-C9D6-FF25-F9B0-AF8763210404}"/>
                  </a:ext>
                </a:extLst>
              </p:cNvPr>
              <p:cNvSpPr txBox="1"/>
              <p:nvPr/>
            </p:nvSpPr>
            <p:spPr>
              <a:xfrm>
                <a:off x="8650211" y="1420109"/>
                <a:ext cx="643283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TW" sz="1600" b="0" i="1" smtClean="0">
                          <a:latin typeface="Cambria Math" panose="02040503050406030204" pitchFamily="18" charset="0"/>
                        </a:rPr>
                        <m:t>−4.8</m:t>
                      </m:r>
                    </m:oMath>
                  </m:oMathPara>
                </a14:m>
                <a:endParaRPr kumimoji="1" lang="zh-TW" altLang="en-US" sz="1600" dirty="0"/>
              </a:p>
            </p:txBody>
          </p:sp>
        </mc:Choice>
        <mc:Fallback xmlns="">
          <p:sp>
            <p:nvSpPr>
              <p:cNvPr id="81" name="文字方塊 80">
                <a:extLst>
                  <a:ext uri="{FF2B5EF4-FFF2-40B4-BE49-F238E27FC236}">
                    <a16:creationId xmlns:a16="http://schemas.microsoft.com/office/drawing/2014/main" id="{AC91EA17-C9D6-FF25-F9B0-AF876321040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50211" y="1420109"/>
                <a:ext cx="643283" cy="338554"/>
              </a:xfrm>
              <a:prstGeom prst="rect">
                <a:avLst/>
              </a:prstGeom>
              <a:blipFill>
                <a:blip r:embed="rId1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2" name="文字方塊 81">
                <a:extLst>
                  <a:ext uri="{FF2B5EF4-FFF2-40B4-BE49-F238E27FC236}">
                    <a16:creationId xmlns:a16="http://schemas.microsoft.com/office/drawing/2014/main" id="{F2BEE332-6CAA-42C9-C270-2622ACB4DF05}"/>
                  </a:ext>
                </a:extLst>
              </p:cNvPr>
              <p:cNvSpPr txBox="1"/>
              <p:nvPr/>
            </p:nvSpPr>
            <p:spPr>
              <a:xfrm>
                <a:off x="8650211" y="3028656"/>
                <a:ext cx="643283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TW" sz="1600" b="0" i="1" smtClean="0">
                          <a:latin typeface="Cambria Math" panose="02040503050406030204" pitchFamily="18" charset="0"/>
                        </a:rPr>
                        <m:t>−3.7</m:t>
                      </m:r>
                    </m:oMath>
                  </m:oMathPara>
                </a14:m>
                <a:endParaRPr kumimoji="1" lang="zh-TW" altLang="en-US" sz="1600" dirty="0"/>
              </a:p>
            </p:txBody>
          </p:sp>
        </mc:Choice>
        <mc:Fallback xmlns="">
          <p:sp>
            <p:nvSpPr>
              <p:cNvPr id="82" name="文字方塊 81">
                <a:extLst>
                  <a:ext uri="{FF2B5EF4-FFF2-40B4-BE49-F238E27FC236}">
                    <a16:creationId xmlns:a16="http://schemas.microsoft.com/office/drawing/2014/main" id="{F2BEE332-6CAA-42C9-C270-2622ACB4DF0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50211" y="3028656"/>
                <a:ext cx="643283" cy="338554"/>
              </a:xfrm>
              <a:prstGeom prst="rect">
                <a:avLst/>
              </a:prstGeom>
              <a:blipFill>
                <a:blip r:embed="rId1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3" name="文字方塊 82">
                <a:extLst>
                  <a:ext uri="{FF2B5EF4-FFF2-40B4-BE49-F238E27FC236}">
                    <a16:creationId xmlns:a16="http://schemas.microsoft.com/office/drawing/2014/main" id="{9CC7B0D0-65C5-0DC6-E08A-EE5DFC359BA6}"/>
                  </a:ext>
                </a:extLst>
              </p:cNvPr>
              <p:cNvSpPr txBox="1"/>
              <p:nvPr/>
            </p:nvSpPr>
            <p:spPr>
              <a:xfrm>
                <a:off x="8653081" y="3354518"/>
                <a:ext cx="643283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TW" sz="1600" b="0" i="1" smtClean="0">
                          <a:latin typeface="Cambria Math" panose="02040503050406030204" pitchFamily="18" charset="0"/>
                        </a:rPr>
                        <m:t>−4.5</m:t>
                      </m:r>
                    </m:oMath>
                  </m:oMathPara>
                </a14:m>
                <a:endParaRPr kumimoji="1" lang="zh-TW" altLang="en-US" sz="1600" dirty="0"/>
              </a:p>
            </p:txBody>
          </p:sp>
        </mc:Choice>
        <mc:Fallback xmlns="">
          <p:sp>
            <p:nvSpPr>
              <p:cNvPr id="83" name="文字方塊 82">
                <a:extLst>
                  <a:ext uri="{FF2B5EF4-FFF2-40B4-BE49-F238E27FC236}">
                    <a16:creationId xmlns:a16="http://schemas.microsoft.com/office/drawing/2014/main" id="{9CC7B0D0-65C5-0DC6-E08A-EE5DFC359BA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53081" y="3354518"/>
                <a:ext cx="643283" cy="338554"/>
              </a:xfrm>
              <a:prstGeom prst="rect">
                <a:avLst/>
              </a:prstGeom>
              <a:blipFill>
                <a:blip r:embed="rId1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4" name="文字方塊 83">
                <a:extLst>
                  <a:ext uri="{FF2B5EF4-FFF2-40B4-BE49-F238E27FC236}">
                    <a16:creationId xmlns:a16="http://schemas.microsoft.com/office/drawing/2014/main" id="{6EFF82DC-8235-5F19-35CB-E35C980CB2F8}"/>
                  </a:ext>
                </a:extLst>
              </p:cNvPr>
              <p:cNvSpPr txBox="1"/>
              <p:nvPr/>
            </p:nvSpPr>
            <p:spPr>
              <a:xfrm>
                <a:off x="8650211" y="4926282"/>
                <a:ext cx="643283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TW" sz="1600" b="0" i="1" smtClean="0">
                          <a:latin typeface="Cambria Math" panose="02040503050406030204" pitchFamily="18" charset="0"/>
                        </a:rPr>
                        <m:t>−4.3</m:t>
                      </m:r>
                    </m:oMath>
                  </m:oMathPara>
                </a14:m>
                <a:endParaRPr kumimoji="1" lang="zh-TW" altLang="en-US" sz="1600" dirty="0"/>
              </a:p>
            </p:txBody>
          </p:sp>
        </mc:Choice>
        <mc:Fallback xmlns="">
          <p:sp>
            <p:nvSpPr>
              <p:cNvPr id="84" name="文字方塊 83">
                <a:extLst>
                  <a:ext uri="{FF2B5EF4-FFF2-40B4-BE49-F238E27FC236}">
                    <a16:creationId xmlns:a16="http://schemas.microsoft.com/office/drawing/2014/main" id="{6EFF82DC-8235-5F19-35CB-E35C980CB2F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50211" y="4926282"/>
                <a:ext cx="643283" cy="338554"/>
              </a:xfrm>
              <a:prstGeom prst="rect">
                <a:avLst/>
              </a:prstGeom>
              <a:blipFill>
                <a:blip r:embed="rId2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7" name="圓角矩形 86">
            <a:extLst>
              <a:ext uri="{FF2B5EF4-FFF2-40B4-BE49-F238E27FC236}">
                <a16:creationId xmlns:a16="http://schemas.microsoft.com/office/drawing/2014/main" id="{2ECEE44B-E1FE-8F53-C2EA-BF6466326A8D}"/>
              </a:ext>
            </a:extLst>
          </p:cNvPr>
          <p:cNvSpPr/>
          <p:nvPr/>
        </p:nvSpPr>
        <p:spPr>
          <a:xfrm>
            <a:off x="10210292" y="4867019"/>
            <a:ext cx="810689" cy="514110"/>
          </a:xfrm>
          <a:prstGeom prst="roundRect">
            <a:avLst/>
          </a:prstGeom>
          <a:solidFill>
            <a:srgbClr val="C5E0B4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en-US" altLang="zh-TW" sz="1300" dirty="0">
                <a:solidFill>
                  <a:schemeClr val="tx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movies</a:t>
            </a:r>
            <a:endParaRPr kumimoji="1" lang="zh-TW" altLang="en-US" sz="1300" dirty="0">
              <a:solidFill>
                <a:schemeClr val="tx1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88" name="圓角矩形 87">
            <a:extLst>
              <a:ext uri="{FF2B5EF4-FFF2-40B4-BE49-F238E27FC236}">
                <a16:creationId xmlns:a16="http://schemas.microsoft.com/office/drawing/2014/main" id="{F777A461-4D4D-A6A3-48E3-DEF3183B7D1E}"/>
              </a:ext>
            </a:extLst>
          </p:cNvPr>
          <p:cNvSpPr/>
          <p:nvPr/>
        </p:nvSpPr>
        <p:spPr>
          <a:xfrm>
            <a:off x="10210294" y="4070628"/>
            <a:ext cx="810689" cy="514110"/>
          </a:xfrm>
          <a:prstGeom prst="roundRect">
            <a:avLst/>
          </a:prstGeom>
          <a:solidFill>
            <a:srgbClr val="C5E0B4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en-US" altLang="zh-TW" sz="1400" dirty="0">
                <a:solidFill>
                  <a:schemeClr val="tx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games</a:t>
            </a:r>
            <a:endParaRPr kumimoji="1" lang="zh-TW" altLang="en-US" sz="1600" dirty="0">
              <a:solidFill>
                <a:schemeClr val="tx1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cxnSp>
        <p:nvCxnSpPr>
          <p:cNvPr id="89" name="直線箭頭接點 88">
            <a:extLst>
              <a:ext uri="{FF2B5EF4-FFF2-40B4-BE49-F238E27FC236}">
                <a16:creationId xmlns:a16="http://schemas.microsoft.com/office/drawing/2014/main" id="{19CB5E83-68B2-EECF-6051-F6B089A593B9}"/>
              </a:ext>
            </a:extLst>
          </p:cNvPr>
          <p:cNvCxnSpPr>
            <a:cxnSpLocks/>
          </p:cNvCxnSpPr>
          <p:nvPr/>
        </p:nvCxnSpPr>
        <p:spPr>
          <a:xfrm flipV="1">
            <a:off x="9502866" y="4280494"/>
            <a:ext cx="635929" cy="41489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" name="直線箭頭接點 89">
            <a:extLst>
              <a:ext uri="{FF2B5EF4-FFF2-40B4-BE49-F238E27FC236}">
                <a16:creationId xmlns:a16="http://schemas.microsoft.com/office/drawing/2014/main" id="{6DCE5A51-6B44-14B3-A16B-A0D864279FFB}"/>
              </a:ext>
            </a:extLst>
          </p:cNvPr>
          <p:cNvCxnSpPr>
            <a:cxnSpLocks/>
          </p:cNvCxnSpPr>
          <p:nvPr/>
        </p:nvCxnSpPr>
        <p:spPr>
          <a:xfrm>
            <a:off x="9510562" y="4743544"/>
            <a:ext cx="628233" cy="462307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91" name="文字方塊 90">
                <a:extLst>
                  <a:ext uri="{FF2B5EF4-FFF2-40B4-BE49-F238E27FC236}">
                    <a16:creationId xmlns:a16="http://schemas.microsoft.com/office/drawing/2014/main" id="{FADD9AFA-BBAF-1373-7669-45A5779F618A}"/>
                  </a:ext>
                </a:extLst>
              </p:cNvPr>
              <p:cNvSpPr txBox="1"/>
              <p:nvPr/>
            </p:nvSpPr>
            <p:spPr>
              <a:xfrm>
                <a:off x="10241549" y="3745019"/>
                <a:ext cx="643283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TW" sz="1600" b="0" i="1" smtClean="0">
                          <a:latin typeface="Cambria Math" panose="02040503050406030204" pitchFamily="18" charset="0"/>
                        </a:rPr>
                        <m:t>−5.0</m:t>
                      </m:r>
                    </m:oMath>
                  </m:oMathPara>
                </a14:m>
                <a:endParaRPr kumimoji="1" lang="zh-TW" altLang="en-US" sz="1600" dirty="0"/>
              </a:p>
            </p:txBody>
          </p:sp>
        </mc:Choice>
        <mc:Fallback xmlns="">
          <p:sp>
            <p:nvSpPr>
              <p:cNvPr id="91" name="文字方塊 90">
                <a:extLst>
                  <a:ext uri="{FF2B5EF4-FFF2-40B4-BE49-F238E27FC236}">
                    <a16:creationId xmlns:a16="http://schemas.microsoft.com/office/drawing/2014/main" id="{FADD9AFA-BBAF-1373-7669-45A5779F618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241549" y="3745019"/>
                <a:ext cx="643283" cy="338554"/>
              </a:xfrm>
              <a:prstGeom prst="rect">
                <a:avLst/>
              </a:prstGeom>
              <a:blipFill>
                <a:blip r:embed="rId2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2" name="文字方塊 91">
                <a:extLst>
                  <a:ext uri="{FF2B5EF4-FFF2-40B4-BE49-F238E27FC236}">
                    <a16:creationId xmlns:a16="http://schemas.microsoft.com/office/drawing/2014/main" id="{6D896CB3-4BA5-6930-4608-455C8C5D9534}"/>
                  </a:ext>
                </a:extLst>
              </p:cNvPr>
              <p:cNvSpPr txBox="1"/>
              <p:nvPr/>
            </p:nvSpPr>
            <p:spPr>
              <a:xfrm>
                <a:off x="10285864" y="5336796"/>
                <a:ext cx="530678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TW" sz="1600" b="0" i="1" smtClean="0">
                          <a:latin typeface="Cambria Math" panose="02040503050406030204" pitchFamily="18" charset="0"/>
                        </a:rPr>
                        <m:t>−5.3</m:t>
                      </m:r>
                    </m:oMath>
                  </m:oMathPara>
                </a14:m>
                <a:endParaRPr kumimoji="1" lang="zh-TW" altLang="en-US" sz="1600" dirty="0"/>
              </a:p>
            </p:txBody>
          </p:sp>
        </mc:Choice>
        <mc:Fallback xmlns="">
          <p:sp>
            <p:nvSpPr>
              <p:cNvPr id="92" name="文字方塊 91">
                <a:extLst>
                  <a:ext uri="{FF2B5EF4-FFF2-40B4-BE49-F238E27FC236}">
                    <a16:creationId xmlns:a16="http://schemas.microsoft.com/office/drawing/2014/main" id="{6D896CB3-4BA5-6930-4608-455C8C5D953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285864" y="5336796"/>
                <a:ext cx="530678" cy="338554"/>
              </a:xfrm>
              <a:prstGeom prst="rect">
                <a:avLst/>
              </a:prstGeom>
              <a:blipFill>
                <a:blip r:embed="rId22"/>
                <a:stretch>
                  <a:fillRect r="-9302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3" name="圓角矩形 92">
            <a:extLst>
              <a:ext uri="{FF2B5EF4-FFF2-40B4-BE49-F238E27FC236}">
                <a16:creationId xmlns:a16="http://schemas.microsoft.com/office/drawing/2014/main" id="{6682415B-AAE3-C480-C984-1FA1C126E1A4}"/>
              </a:ext>
            </a:extLst>
          </p:cNvPr>
          <p:cNvSpPr/>
          <p:nvPr/>
        </p:nvSpPr>
        <p:spPr>
          <a:xfrm>
            <a:off x="10187145" y="2923111"/>
            <a:ext cx="810689" cy="514110"/>
          </a:xfrm>
          <a:prstGeom prst="roundRect">
            <a:avLst/>
          </a:prstGeom>
          <a:solidFill>
            <a:srgbClr val="C5E0B4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en-US" altLang="zh-TW" sz="1300" dirty="0">
                <a:solidFill>
                  <a:schemeClr val="tx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movies</a:t>
            </a:r>
            <a:endParaRPr kumimoji="1" lang="zh-TW" altLang="en-US" sz="1300" dirty="0">
              <a:solidFill>
                <a:schemeClr val="tx1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94" name="圓角矩形 93">
            <a:extLst>
              <a:ext uri="{FF2B5EF4-FFF2-40B4-BE49-F238E27FC236}">
                <a16:creationId xmlns:a16="http://schemas.microsoft.com/office/drawing/2014/main" id="{854E7910-C3A2-1166-8197-6FBABACCD778}"/>
              </a:ext>
            </a:extLst>
          </p:cNvPr>
          <p:cNvSpPr/>
          <p:nvPr/>
        </p:nvSpPr>
        <p:spPr>
          <a:xfrm>
            <a:off x="10187147" y="2126720"/>
            <a:ext cx="810689" cy="514110"/>
          </a:xfrm>
          <a:prstGeom prst="roundRect">
            <a:avLst/>
          </a:prstGeom>
          <a:solidFill>
            <a:srgbClr val="C5E0B4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en-US" altLang="zh-TW" sz="1400" dirty="0">
                <a:solidFill>
                  <a:schemeClr val="tx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things</a:t>
            </a:r>
            <a:endParaRPr kumimoji="1" lang="zh-TW" altLang="en-US" sz="1600" dirty="0">
              <a:solidFill>
                <a:schemeClr val="tx1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cxnSp>
        <p:nvCxnSpPr>
          <p:cNvPr id="95" name="直線箭頭接點 94">
            <a:extLst>
              <a:ext uri="{FF2B5EF4-FFF2-40B4-BE49-F238E27FC236}">
                <a16:creationId xmlns:a16="http://schemas.microsoft.com/office/drawing/2014/main" id="{4F585D2D-48D7-D4DD-06CA-F00CAF494BC3}"/>
              </a:ext>
            </a:extLst>
          </p:cNvPr>
          <p:cNvCxnSpPr>
            <a:cxnSpLocks/>
          </p:cNvCxnSpPr>
          <p:nvPr/>
        </p:nvCxnSpPr>
        <p:spPr>
          <a:xfrm flipV="1">
            <a:off x="9479719" y="2336586"/>
            <a:ext cx="635929" cy="41489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" name="直線箭頭接點 95">
            <a:extLst>
              <a:ext uri="{FF2B5EF4-FFF2-40B4-BE49-F238E27FC236}">
                <a16:creationId xmlns:a16="http://schemas.microsoft.com/office/drawing/2014/main" id="{1A6C486F-EFEC-66D4-8F69-9EF80B3487C8}"/>
              </a:ext>
            </a:extLst>
          </p:cNvPr>
          <p:cNvCxnSpPr>
            <a:cxnSpLocks/>
          </p:cNvCxnSpPr>
          <p:nvPr/>
        </p:nvCxnSpPr>
        <p:spPr>
          <a:xfrm>
            <a:off x="9487415" y="2799636"/>
            <a:ext cx="628233" cy="462307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98" name="文字方塊 97">
                <a:extLst>
                  <a:ext uri="{FF2B5EF4-FFF2-40B4-BE49-F238E27FC236}">
                    <a16:creationId xmlns:a16="http://schemas.microsoft.com/office/drawing/2014/main" id="{EEC113B5-90C9-8AF8-DA51-2627CD3577FA}"/>
                  </a:ext>
                </a:extLst>
              </p:cNvPr>
              <p:cNvSpPr txBox="1"/>
              <p:nvPr/>
            </p:nvSpPr>
            <p:spPr>
              <a:xfrm>
                <a:off x="10262717" y="3392888"/>
                <a:ext cx="530678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TW" sz="1600" b="0" i="1" smtClean="0">
                          <a:latin typeface="Cambria Math" panose="02040503050406030204" pitchFamily="18" charset="0"/>
                        </a:rPr>
                        <m:t>−4.6</m:t>
                      </m:r>
                    </m:oMath>
                  </m:oMathPara>
                </a14:m>
                <a:endParaRPr kumimoji="1" lang="zh-TW" altLang="en-US" sz="1600" dirty="0"/>
              </a:p>
            </p:txBody>
          </p:sp>
        </mc:Choice>
        <mc:Fallback xmlns="">
          <p:sp>
            <p:nvSpPr>
              <p:cNvPr id="98" name="文字方塊 97">
                <a:extLst>
                  <a:ext uri="{FF2B5EF4-FFF2-40B4-BE49-F238E27FC236}">
                    <a16:creationId xmlns:a16="http://schemas.microsoft.com/office/drawing/2014/main" id="{EEC113B5-90C9-8AF8-DA51-2627CD3577F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262717" y="3392888"/>
                <a:ext cx="530678" cy="338554"/>
              </a:xfrm>
              <a:prstGeom prst="rect">
                <a:avLst/>
              </a:prstGeom>
              <a:blipFill>
                <a:blip r:embed="rId23"/>
                <a:stretch>
                  <a:fillRect r="-697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" name="文字方塊 32">
                <a:extLst>
                  <a:ext uri="{FF2B5EF4-FFF2-40B4-BE49-F238E27FC236}">
                    <a16:creationId xmlns:a16="http://schemas.microsoft.com/office/drawing/2014/main" id="{630CE724-851D-F5F5-078D-12604A25B435}"/>
                  </a:ext>
                </a:extLst>
              </p:cNvPr>
              <p:cNvSpPr txBox="1"/>
              <p:nvPr/>
            </p:nvSpPr>
            <p:spPr>
              <a:xfrm>
                <a:off x="10218402" y="1801111"/>
                <a:ext cx="643283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TW" sz="1600" b="0" i="1" smtClean="0">
                          <a:latin typeface="Cambria Math" panose="02040503050406030204" pitchFamily="18" charset="0"/>
                        </a:rPr>
                        <m:t>−5.1</m:t>
                      </m:r>
                    </m:oMath>
                  </m:oMathPara>
                </a14:m>
                <a:endParaRPr kumimoji="1" lang="zh-TW" altLang="en-US" sz="1600" dirty="0"/>
              </a:p>
            </p:txBody>
          </p:sp>
        </mc:Choice>
        <mc:Fallback xmlns="">
          <p:sp>
            <p:nvSpPr>
              <p:cNvPr id="33" name="文字方塊 32">
                <a:extLst>
                  <a:ext uri="{FF2B5EF4-FFF2-40B4-BE49-F238E27FC236}">
                    <a16:creationId xmlns:a16="http://schemas.microsoft.com/office/drawing/2014/main" id="{630CE724-851D-F5F5-078D-12604A25B43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218402" y="1801111"/>
                <a:ext cx="643283" cy="338554"/>
              </a:xfrm>
              <a:prstGeom prst="rect">
                <a:avLst/>
              </a:prstGeom>
              <a:blipFill>
                <a:blip r:embed="rId2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7" name="標題 1">
                <a:extLst>
                  <a:ext uri="{FF2B5EF4-FFF2-40B4-BE49-F238E27FC236}">
                    <a16:creationId xmlns:a16="http://schemas.microsoft.com/office/drawing/2014/main" id="{48B37078-4167-C57B-EA53-836D6A75B8AF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644672" y="356088"/>
                <a:ext cx="10511008" cy="1033416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rmAutofit/>
              </a:bodyPr>
              <a:lstStyle>
                <a:lvl1pPr marL="0" algn="l" defTabSz="914400" rtl="0" eaLnBrk="1" latinLnBrk="0" hangingPunct="1">
                  <a:lnSpc>
                    <a:spcPct val="85000"/>
                  </a:lnSpc>
                  <a:spcBef>
                    <a:spcPct val="0"/>
                  </a:spcBef>
                  <a:buNone/>
                  <a:defRPr sz="4800" kern="1200" spc="-5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r>
                  <a:rPr kumimoji="1" lang="en-US" altLang="zh-TW" dirty="0"/>
                  <a:t>Beam Search</a:t>
                </a:r>
                <a:r>
                  <a:rPr kumimoji="1" lang="zh-TW" altLang="en-US" dirty="0"/>
                  <a:t> </a:t>
                </a:r>
                <a:r>
                  <a:rPr kumimoji="1" lang="en-US" altLang="zh-TW" dirty="0"/>
                  <a:t>(</a:t>
                </a:r>
                <a14:m>
                  <m:oMath xmlns:m="http://schemas.openxmlformats.org/officeDocument/2006/math">
                    <m:r>
                      <a:rPr kumimoji="1" lang="en-US" altLang="zh-TW" b="0" i="1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kumimoji="1" lang="en-US" altLang="zh-TW" b="0" i="1" smtClean="0">
                        <a:latin typeface="Cambria Math" panose="02040503050406030204" pitchFamily="18" charset="0"/>
                      </a:rPr>
                      <m:t>=6</m:t>
                    </m:r>
                  </m:oMath>
                </a14:m>
                <a:r>
                  <a:rPr kumimoji="1" lang="en-US" altLang="zh-TW" dirty="0"/>
                  <a:t>)</a:t>
                </a:r>
                <a:endParaRPr lang="zh-TW" altLang="en-US" dirty="0">
                  <a:latin typeface="Times New Roman"/>
                  <a:ea typeface="新細明體"/>
                  <a:cs typeface="Calibri Light"/>
                </a:endParaRPr>
              </a:p>
            </p:txBody>
          </p:sp>
        </mc:Choice>
        <mc:Fallback>
          <p:sp>
            <p:nvSpPr>
              <p:cNvPr id="47" name="標題 1">
                <a:extLst>
                  <a:ext uri="{FF2B5EF4-FFF2-40B4-BE49-F238E27FC236}">
                    <a16:creationId xmlns:a16="http://schemas.microsoft.com/office/drawing/2014/main" id="{48B37078-4167-C57B-EA53-836D6A75B8A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4672" y="356088"/>
                <a:ext cx="10511008" cy="1033416"/>
              </a:xfrm>
              <a:prstGeom prst="rect">
                <a:avLst/>
              </a:prstGeom>
              <a:blipFill>
                <a:blip r:embed="rId25"/>
                <a:stretch>
                  <a:fillRect l="-2654" t="-8434" b="-15663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9" name="文字方塊 48">
            <a:extLst>
              <a:ext uri="{FF2B5EF4-FFF2-40B4-BE49-F238E27FC236}">
                <a16:creationId xmlns:a16="http://schemas.microsoft.com/office/drawing/2014/main" id="{AF5FFAEE-56F8-76EC-BB16-F63F7245EAD3}"/>
              </a:ext>
            </a:extLst>
          </p:cNvPr>
          <p:cNvSpPr txBox="1"/>
          <p:nvPr/>
        </p:nvSpPr>
        <p:spPr>
          <a:xfrm>
            <a:off x="9613039" y="688130"/>
            <a:ext cx="1884594" cy="369332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dirty="0"/>
              <a:t>`Beam size` = 2</a:t>
            </a:r>
            <a:endParaRPr kumimoji="1"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474210038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80B6B308-E528-1567-412F-2BF52CB92E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dirty="0"/>
              <a:t>36</a:t>
            </a:fld>
            <a:endParaRPr lang="zh-TW" altLang="en-US"/>
          </a:p>
        </p:txBody>
      </p:sp>
      <p:sp>
        <p:nvSpPr>
          <p:cNvPr id="6" name="圓角矩形 5">
            <a:extLst>
              <a:ext uri="{FF2B5EF4-FFF2-40B4-BE49-F238E27FC236}">
                <a16:creationId xmlns:a16="http://schemas.microsoft.com/office/drawing/2014/main" id="{F07E41BB-9C95-5AB2-BA09-AE6796CBB446}"/>
              </a:ext>
            </a:extLst>
          </p:cNvPr>
          <p:cNvSpPr/>
          <p:nvPr/>
        </p:nvSpPr>
        <p:spPr>
          <a:xfrm>
            <a:off x="1234362" y="3920344"/>
            <a:ext cx="613700" cy="514110"/>
          </a:xfrm>
          <a:prstGeom prst="roundRect">
            <a:avLst/>
          </a:prstGeom>
          <a:solidFill>
            <a:srgbClr val="C5E0B4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en-US" altLang="zh-TW" sz="2400" dirty="0">
                <a:solidFill>
                  <a:schemeClr val="tx1"/>
                </a:solidFill>
              </a:rPr>
              <a:t>_</a:t>
            </a:r>
            <a:endParaRPr kumimoji="1" lang="zh-TW" altLang="en-US" sz="2400" dirty="0">
              <a:solidFill>
                <a:schemeClr val="tx1"/>
              </a:solidFill>
            </a:endParaRPr>
          </a:p>
        </p:txBody>
      </p:sp>
      <p:sp>
        <p:nvSpPr>
          <p:cNvPr id="7" name="文字方塊 67">
            <a:extLst>
              <a:ext uri="{FF2B5EF4-FFF2-40B4-BE49-F238E27FC236}">
                <a16:creationId xmlns:a16="http://schemas.microsoft.com/office/drawing/2014/main" id="{B381507F-DC44-2012-7728-330509B5ABA9}"/>
              </a:ext>
            </a:extLst>
          </p:cNvPr>
          <p:cNvSpPr txBox="1"/>
          <p:nvPr/>
        </p:nvSpPr>
        <p:spPr>
          <a:xfrm>
            <a:off x="1158218" y="4472662"/>
            <a:ext cx="77862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en-US" altLang="zh-TW" sz="1600" dirty="0"/>
              <a:t>(Start)</a:t>
            </a:r>
            <a:endParaRPr kumimoji="1" lang="zh-TW" altLang="en-US" sz="1600" dirty="0"/>
          </a:p>
        </p:txBody>
      </p:sp>
      <p:sp>
        <p:nvSpPr>
          <p:cNvPr id="10" name="圓角矩形 9">
            <a:extLst>
              <a:ext uri="{FF2B5EF4-FFF2-40B4-BE49-F238E27FC236}">
                <a16:creationId xmlns:a16="http://schemas.microsoft.com/office/drawing/2014/main" id="{875E7289-05C1-D185-CD20-7A8387DC3548}"/>
              </a:ext>
            </a:extLst>
          </p:cNvPr>
          <p:cNvSpPr/>
          <p:nvPr/>
        </p:nvSpPr>
        <p:spPr>
          <a:xfrm>
            <a:off x="2397436" y="2958733"/>
            <a:ext cx="613700" cy="514110"/>
          </a:xfrm>
          <a:prstGeom prst="roundRect">
            <a:avLst/>
          </a:prstGeom>
          <a:solidFill>
            <a:srgbClr val="C5E0B4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en-US" altLang="zh-TW" sz="1600" dirty="0">
                <a:solidFill>
                  <a:schemeClr val="tx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I</a:t>
            </a:r>
            <a:endParaRPr kumimoji="1" lang="zh-TW" altLang="en-US" sz="1600" dirty="0">
              <a:solidFill>
                <a:schemeClr val="tx1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12" name="圓角矩形 11">
            <a:extLst>
              <a:ext uri="{FF2B5EF4-FFF2-40B4-BE49-F238E27FC236}">
                <a16:creationId xmlns:a16="http://schemas.microsoft.com/office/drawing/2014/main" id="{3C729BBC-BACD-B4BC-5CFD-E43E279BC56D}"/>
              </a:ext>
            </a:extLst>
          </p:cNvPr>
          <p:cNvSpPr/>
          <p:nvPr/>
        </p:nvSpPr>
        <p:spPr>
          <a:xfrm>
            <a:off x="2397436" y="5004890"/>
            <a:ext cx="613700" cy="514110"/>
          </a:xfrm>
          <a:prstGeom prst="roundRect">
            <a:avLst/>
          </a:prstGeom>
          <a:solidFill>
            <a:srgbClr val="C5E0B4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en-US" altLang="zh-TW" sz="1600" dirty="0">
                <a:solidFill>
                  <a:schemeClr val="tx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You</a:t>
            </a:r>
            <a:endParaRPr kumimoji="1" lang="zh-TW" altLang="en-US" sz="1600" dirty="0">
              <a:solidFill>
                <a:schemeClr val="tx1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cxnSp>
        <p:nvCxnSpPr>
          <p:cNvPr id="14" name="直線箭頭接點 13">
            <a:extLst>
              <a:ext uri="{FF2B5EF4-FFF2-40B4-BE49-F238E27FC236}">
                <a16:creationId xmlns:a16="http://schemas.microsoft.com/office/drawing/2014/main" id="{25A5463B-ADA9-FE38-04CD-5FE88700466F}"/>
              </a:ext>
            </a:extLst>
          </p:cNvPr>
          <p:cNvCxnSpPr>
            <a:cxnSpLocks/>
          </p:cNvCxnSpPr>
          <p:nvPr/>
        </p:nvCxnSpPr>
        <p:spPr>
          <a:xfrm flipV="1">
            <a:off x="1871612" y="3159314"/>
            <a:ext cx="467804" cy="951566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線箭頭接點 18">
            <a:extLst>
              <a:ext uri="{FF2B5EF4-FFF2-40B4-BE49-F238E27FC236}">
                <a16:creationId xmlns:a16="http://schemas.microsoft.com/office/drawing/2014/main" id="{9D3CFDC7-E5AB-77B0-FA1A-9D836D4225EE}"/>
              </a:ext>
            </a:extLst>
          </p:cNvPr>
          <p:cNvCxnSpPr>
            <a:cxnSpLocks/>
          </p:cNvCxnSpPr>
          <p:nvPr/>
        </p:nvCxnSpPr>
        <p:spPr>
          <a:xfrm rot="10800000" flipH="1" flipV="1">
            <a:off x="1871612" y="4221432"/>
            <a:ext cx="467804" cy="951566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文字方塊 21">
                <a:extLst>
                  <a:ext uri="{FF2B5EF4-FFF2-40B4-BE49-F238E27FC236}">
                    <a16:creationId xmlns:a16="http://schemas.microsoft.com/office/drawing/2014/main" id="{AE2DCFBE-6018-9076-F2D2-1DB61E6327C0}"/>
                  </a:ext>
                </a:extLst>
              </p:cNvPr>
              <p:cNvSpPr txBox="1"/>
              <p:nvPr/>
            </p:nvSpPr>
            <p:spPr>
              <a:xfrm>
                <a:off x="2397435" y="2625303"/>
                <a:ext cx="613701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TW" sz="1600" b="0" i="1" smtClean="0">
                          <a:latin typeface="Cambria Math" panose="02040503050406030204" pitchFamily="18" charset="0"/>
                        </a:rPr>
                        <m:t>−0.7</m:t>
                      </m:r>
                    </m:oMath>
                  </m:oMathPara>
                </a14:m>
                <a:endParaRPr kumimoji="1" lang="zh-TW" altLang="en-US" sz="1600" dirty="0"/>
              </a:p>
            </p:txBody>
          </p:sp>
        </mc:Choice>
        <mc:Fallback xmlns="">
          <p:sp>
            <p:nvSpPr>
              <p:cNvPr id="22" name="文字方塊 21">
                <a:extLst>
                  <a:ext uri="{FF2B5EF4-FFF2-40B4-BE49-F238E27FC236}">
                    <a16:creationId xmlns:a16="http://schemas.microsoft.com/office/drawing/2014/main" id="{AE2DCFBE-6018-9076-F2D2-1DB61E6327C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97435" y="2625303"/>
                <a:ext cx="613701" cy="338554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文字方塊 22">
                <a:extLst>
                  <a:ext uri="{FF2B5EF4-FFF2-40B4-BE49-F238E27FC236}">
                    <a16:creationId xmlns:a16="http://schemas.microsoft.com/office/drawing/2014/main" id="{FD3DD690-0104-A97A-2C3F-7DF0AC27AFA7}"/>
                  </a:ext>
                </a:extLst>
              </p:cNvPr>
              <p:cNvSpPr txBox="1"/>
              <p:nvPr/>
            </p:nvSpPr>
            <p:spPr>
              <a:xfrm>
                <a:off x="2397435" y="5574359"/>
                <a:ext cx="598355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TW" sz="1600" b="0" i="1" smtClean="0">
                          <a:latin typeface="Cambria Math" panose="02040503050406030204" pitchFamily="18" charset="0"/>
                        </a:rPr>
                        <m:t>−0.9</m:t>
                      </m:r>
                    </m:oMath>
                  </m:oMathPara>
                </a14:m>
                <a:endParaRPr kumimoji="1" lang="zh-TW" altLang="en-US" sz="1600" dirty="0"/>
              </a:p>
            </p:txBody>
          </p:sp>
        </mc:Choice>
        <mc:Fallback xmlns="">
          <p:sp>
            <p:nvSpPr>
              <p:cNvPr id="23" name="文字方塊 22">
                <a:extLst>
                  <a:ext uri="{FF2B5EF4-FFF2-40B4-BE49-F238E27FC236}">
                    <a16:creationId xmlns:a16="http://schemas.microsoft.com/office/drawing/2014/main" id="{FD3DD690-0104-A97A-2C3F-7DF0AC27AFA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97435" y="5574359"/>
                <a:ext cx="598355" cy="338554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圓角矩形 2">
            <a:extLst>
              <a:ext uri="{FF2B5EF4-FFF2-40B4-BE49-F238E27FC236}">
                <a16:creationId xmlns:a16="http://schemas.microsoft.com/office/drawing/2014/main" id="{8F43250E-61CA-2FCD-5713-EEE3A86898A2}"/>
              </a:ext>
            </a:extLst>
          </p:cNvPr>
          <p:cNvSpPr/>
          <p:nvPr/>
        </p:nvSpPr>
        <p:spPr>
          <a:xfrm>
            <a:off x="3848821" y="2545579"/>
            <a:ext cx="732055" cy="514110"/>
          </a:xfrm>
          <a:prstGeom prst="roundRect">
            <a:avLst/>
          </a:prstGeom>
          <a:solidFill>
            <a:srgbClr val="C5E0B4"/>
          </a:solidFill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en-US" altLang="zh-TW" sz="1600" dirty="0">
                <a:solidFill>
                  <a:srgbClr val="FF0000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like</a:t>
            </a:r>
            <a:endParaRPr kumimoji="1" lang="zh-TW" altLang="en-US" sz="1600" dirty="0">
              <a:solidFill>
                <a:srgbClr val="FF0000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4" name="圓角矩形 3">
            <a:extLst>
              <a:ext uri="{FF2B5EF4-FFF2-40B4-BE49-F238E27FC236}">
                <a16:creationId xmlns:a16="http://schemas.microsoft.com/office/drawing/2014/main" id="{AFA1AEDB-F347-04F8-CEE1-E1D35D5B3651}"/>
              </a:ext>
            </a:extLst>
          </p:cNvPr>
          <p:cNvSpPr/>
          <p:nvPr/>
        </p:nvSpPr>
        <p:spPr>
          <a:xfrm>
            <a:off x="3848821" y="3341573"/>
            <a:ext cx="732056" cy="514110"/>
          </a:xfrm>
          <a:prstGeom prst="roundRect">
            <a:avLst/>
          </a:prstGeom>
          <a:solidFill>
            <a:srgbClr val="C5E0B4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en-US" altLang="zh-TW" sz="1600" dirty="0">
                <a:solidFill>
                  <a:schemeClr val="tx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want</a:t>
            </a:r>
            <a:endParaRPr kumimoji="1" lang="zh-TW" altLang="en-US" sz="1600" dirty="0">
              <a:solidFill>
                <a:schemeClr val="tx1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8" name="圓角矩形 7">
            <a:extLst>
              <a:ext uri="{FF2B5EF4-FFF2-40B4-BE49-F238E27FC236}">
                <a16:creationId xmlns:a16="http://schemas.microsoft.com/office/drawing/2014/main" id="{BFA3A0A1-CC3C-EC77-CEC9-146B482EBACE}"/>
              </a:ext>
            </a:extLst>
          </p:cNvPr>
          <p:cNvSpPr/>
          <p:nvPr/>
        </p:nvSpPr>
        <p:spPr>
          <a:xfrm>
            <a:off x="3848820" y="4658888"/>
            <a:ext cx="732056" cy="514110"/>
          </a:xfrm>
          <a:prstGeom prst="roundRect">
            <a:avLst/>
          </a:prstGeom>
          <a:solidFill>
            <a:srgbClr val="C5E0B4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en-US" altLang="zh-TW" sz="1600" dirty="0">
                <a:solidFill>
                  <a:schemeClr val="tx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want</a:t>
            </a:r>
            <a:endParaRPr kumimoji="1" lang="zh-TW" altLang="en-US" sz="1600" dirty="0">
              <a:solidFill>
                <a:schemeClr val="tx1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13" name="圓角矩形 12">
            <a:extLst>
              <a:ext uri="{FF2B5EF4-FFF2-40B4-BE49-F238E27FC236}">
                <a16:creationId xmlns:a16="http://schemas.microsoft.com/office/drawing/2014/main" id="{820CADDD-FB1E-6DA6-D861-460F1DAB89D2}"/>
              </a:ext>
            </a:extLst>
          </p:cNvPr>
          <p:cNvSpPr/>
          <p:nvPr/>
        </p:nvSpPr>
        <p:spPr>
          <a:xfrm>
            <a:off x="3848820" y="5403253"/>
            <a:ext cx="732056" cy="514110"/>
          </a:xfrm>
          <a:prstGeom prst="roundRect">
            <a:avLst/>
          </a:prstGeom>
          <a:solidFill>
            <a:srgbClr val="C5E0B4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en-US" altLang="zh-TW" sz="1600" dirty="0">
                <a:solidFill>
                  <a:schemeClr val="tx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are</a:t>
            </a:r>
            <a:endParaRPr kumimoji="1" lang="zh-TW" altLang="en-US" sz="1600" dirty="0">
              <a:solidFill>
                <a:schemeClr val="tx1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cxnSp>
        <p:nvCxnSpPr>
          <p:cNvPr id="15" name="直線箭頭接點 14">
            <a:extLst>
              <a:ext uri="{FF2B5EF4-FFF2-40B4-BE49-F238E27FC236}">
                <a16:creationId xmlns:a16="http://schemas.microsoft.com/office/drawing/2014/main" id="{8665C6F8-C70B-8089-DEF0-F0BF0A302E1F}"/>
              </a:ext>
            </a:extLst>
          </p:cNvPr>
          <p:cNvCxnSpPr>
            <a:cxnSpLocks/>
          </p:cNvCxnSpPr>
          <p:nvPr/>
        </p:nvCxnSpPr>
        <p:spPr>
          <a:xfrm flipV="1">
            <a:off x="3069156" y="2802634"/>
            <a:ext cx="686098" cy="35668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直線箭頭接點 24">
            <a:extLst>
              <a:ext uri="{FF2B5EF4-FFF2-40B4-BE49-F238E27FC236}">
                <a16:creationId xmlns:a16="http://schemas.microsoft.com/office/drawing/2014/main" id="{7E401430-2CB0-6CDC-4D3E-E2664C968009}"/>
              </a:ext>
            </a:extLst>
          </p:cNvPr>
          <p:cNvCxnSpPr>
            <a:cxnSpLocks/>
          </p:cNvCxnSpPr>
          <p:nvPr/>
        </p:nvCxnSpPr>
        <p:spPr>
          <a:xfrm>
            <a:off x="3086929" y="3269539"/>
            <a:ext cx="686098" cy="35668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直線箭頭接點 25">
            <a:extLst>
              <a:ext uri="{FF2B5EF4-FFF2-40B4-BE49-F238E27FC236}">
                <a16:creationId xmlns:a16="http://schemas.microsoft.com/office/drawing/2014/main" id="{5BEAD4A0-45EF-EF79-2FEC-25625B419A1C}"/>
              </a:ext>
            </a:extLst>
          </p:cNvPr>
          <p:cNvCxnSpPr>
            <a:cxnSpLocks/>
          </p:cNvCxnSpPr>
          <p:nvPr/>
        </p:nvCxnSpPr>
        <p:spPr>
          <a:xfrm>
            <a:off x="3079256" y="5304719"/>
            <a:ext cx="686098" cy="35668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直線箭頭接點 26">
            <a:extLst>
              <a:ext uri="{FF2B5EF4-FFF2-40B4-BE49-F238E27FC236}">
                <a16:creationId xmlns:a16="http://schemas.microsoft.com/office/drawing/2014/main" id="{0C436EAB-E031-DBE5-6881-81A4CA5C9777}"/>
              </a:ext>
            </a:extLst>
          </p:cNvPr>
          <p:cNvCxnSpPr>
            <a:cxnSpLocks/>
          </p:cNvCxnSpPr>
          <p:nvPr/>
        </p:nvCxnSpPr>
        <p:spPr>
          <a:xfrm flipV="1">
            <a:off x="3079256" y="4890148"/>
            <a:ext cx="686098" cy="35668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8" name="文字方塊 27">
                <a:extLst>
                  <a:ext uri="{FF2B5EF4-FFF2-40B4-BE49-F238E27FC236}">
                    <a16:creationId xmlns:a16="http://schemas.microsoft.com/office/drawing/2014/main" id="{4B7D302A-69BB-3B4C-110A-358900750293}"/>
                  </a:ext>
                </a:extLst>
              </p:cNvPr>
              <p:cNvSpPr txBox="1"/>
              <p:nvPr/>
            </p:nvSpPr>
            <p:spPr>
              <a:xfrm>
                <a:off x="3885019" y="2211250"/>
                <a:ext cx="613701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TW" sz="1600" b="0" i="1" smtClean="0">
                          <a:latin typeface="Cambria Math" panose="02040503050406030204" pitchFamily="18" charset="0"/>
                        </a:rPr>
                        <m:t>−1.7</m:t>
                      </m:r>
                    </m:oMath>
                  </m:oMathPara>
                </a14:m>
                <a:endParaRPr kumimoji="1" lang="zh-TW" altLang="en-US" sz="1600" dirty="0"/>
              </a:p>
            </p:txBody>
          </p:sp>
        </mc:Choice>
        <mc:Fallback xmlns="">
          <p:sp>
            <p:nvSpPr>
              <p:cNvPr id="28" name="文字方塊 27">
                <a:extLst>
                  <a:ext uri="{FF2B5EF4-FFF2-40B4-BE49-F238E27FC236}">
                    <a16:creationId xmlns:a16="http://schemas.microsoft.com/office/drawing/2014/main" id="{4B7D302A-69BB-3B4C-110A-35890075029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85019" y="2211250"/>
                <a:ext cx="613701" cy="338554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文字方塊 28">
                <a:extLst>
                  <a:ext uri="{FF2B5EF4-FFF2-40B4-BE49-F238E27FC236}">
                    <a16:creationId xmlns:a16="http://schemas.microsoft.com/office/drawing/2014/main" id="{8F9CE310-A15D-4542-74A8-BF14C20D7734}"/>
                  </a:ext>
                </a:extLst>
              </p:cNvPr>
              <p:cNvSpPr txBox="1"/>
              <p:nvPr/>
            </p:nvSpPr>
            <p:spPr>
              <a:xfrm>
                <a:off x="3885019" y="3844284"/>
                <a:ext cx="613700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TW" sz="1600" b="0" i="1" smtClean="0">
                          <a:latin typeface="Cambria Math" panose="02040503050406030204" pitchFamily="18" charset="0"/>
                        </a:rPr>
                        <m:t>−2.9</m:t>
                      </m:r>
                    </m:oMath>
                  </m:oMathPara>
                </a14:m>
                <a:endParaRPr kumimoji="1" lang="zh-TW" altLang="en-US" sz="1600" dirty="0"/>
              </a:p>
            </p:txBody>
          </p:sp>
        </mc:Choice>
        <mc:Fallback xmlns="">
          <p:sp>
            <p:nvSpPr>
              <p:cNvPr id="29" name="文字方塊 28">
                <a:extLst>
                  <a:ext uri="{FF2B5EF4-FFF2-40B4-BE49-F238E27FC236}">
                    <a16:creationId xmlns:a16="http://schemas.microsoft.com/office/drawing/2014/main" id="{8F9CE310-A15D-4542-74A8-BF14C20D773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85019" y="3844284"/>
                <a:ext cx="613700" cy="338554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" name="文字方塊 29">
                <a:extLst>
                  <a:ext uri="{FF2B5EF4-FFF2-40B4-BE49-F238E27FC236}">
                    <a16:creationId xmlns:a16="http://schemas.microsoft.com/office/drawing/2014/main" id="{1834D209-F6BD-1B0A-BF59-E0500E0C63A1}"/>
                  </a:ext>
                </a:extLst>
              </p:cNvPr>
              <p:cNvSpPr txBox="1"/>
              <p:nvPr/>
            </p:nvSpPr>
            <p:spPr>
              <a:xfrm>
                <a:off x="3885019" y="4345643"/>
                <a:ext cx="613701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TW" sz="1600" b="0" i="1" smtClean="0">
                          <a:latin typeface="Cambria Math" panose="02040503050406030204" pitchFamily="18" charset="0"/>
                        </a:rPr>
                        <m:t>−1.6</m:t>
                      </m:r>
                    </m:oMath>
                  </m:oMathPara>
                </a14:m>
                <a:endParaRPr kumimoji="1" lang="zh-TW" altLang="en-US" sz="1600" dirty="0"/>
              </a:p>
            </p:txBody>
          </p:sp>
        </mc:Choice>
        <mc:Fallback xmlns="">
          <p:sp>
            <p:nvSpPr>
              <p:cNvPr id="30" name="文字方塊 29">
                <a:extLst>
                  <a:ext uri="{FF2B5EF4-FFF2-40B4-BE49-F238E27FC236}">
                    <a16:creationId xmlns:a16="http://schemas.microsoft.com/office/drawing/2014/main" id="{1834D209-F6BD-1B0A-BF59-E0500E0C63A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85019" y="4345643"/>
                <a:ext cx="613701" cy="338554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" name="文字方塊 30">
                <a:extLst>
                  <a:ext uri="{FF2B5EF4-FFF2-40B4-BE49-F238E27FC236}">
                    <a16:creationId xmlns:a16="http://schemas.microsoft.com/office/drawing/2014/main" id="{4D3DAC6B-5B92-1CFD-751E-6687CB641DB3}"/>
                  </a:ext>
                </a:extLst>
              </p:cNvPr>
              <p:cNvSpPr txBox="1"/>
              <p:nvPr/>
            </p:nvSpPr>
            <p:spPr>
              <a:xfrm>
                <a:off x="3848820" y="5910891"/>
                <a:ext cx="686099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TW" sz="1600" b="0" i="1" smtClean="0">
                          <a:latin typeface="Cambria Math" panose="02040503050406030204" pitchFamily="18" charset="0"/>
                        </a:rPr>
                        <m:t>−1.8</m:t>
                      </m:r>
                    </m:oMath>
                  </m:oMathPara>
                </a14:m>
                <a:endParaRPr kumimoji="1" lang="zh-TW" altLang="en-US" sz="1600" dirty="0"/>
              </a:p>
            </p:txBody>
          </p:sp>
        </mc:Choice>
        <mc:Fallback xmlns="">
          <p:sp>
            <p:nvSpPr>
              <p:cNvPr id="31" name="文字方塊 30">
                <a:extLst>
                  <a:ext uri="{FF2B5EF4-FFF2-40B4-BE49-F238E27FC236}">
                    <a16:creationId xmlns:a16="http://schemas.microsoft.com/office/drawing/2014/main" id="{4D3DAC6B-5B92-1CFD-751E-6687CB641DB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48820" y="5910891"/>
                <a:ext cx="686099" cy="338554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" name="圓角矩形 17">
            <a:extLst>
              <a:ext uri="{FF2B5EF4-FFF2-40B4-BE49-F238E27FC236}">
                <a16:creationId xmlns:a16="http://schemas.microsoft.com/office/drawing/2014/main" id="{601EF68D-AB15-2BE7-FB27-3732E7DC8DC8}"/>
              </a:ext>
            </a:extLst>
          </p:cNvPr>
          <p:cNvSpPr/>
          <p:nvPr/>
        </p:nvSpPr>
        <p:spPr>
          <a:xfrm>
            <a:off x="5426258" y="2144666"/>
            <a:ext cx="732055" cy="514110"/>
          </a:xfrm>
          <a:prstGeom prst="roundRect">
            <a:avLst/>
          </a:prstGeom>
          <a:solidFill>
            <a:srgbClr val="C5E0B4"/>
          </a:solidFill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en-US" altLang="zh-TW" sz="1600" dirty="0">
                <a:solidFill>
                  <a:srgbClr val="FF0000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to</a:t>
            </a:r>
            <a:endParaRPr kumimoji="1" lang="zh-TW" altLang="en-US" sz="1600" dirty="0">
              <a:solidFill>
                <a:srgbClr val="FF0000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24" name="圓角矩形 23">
            <a:extLst>
              <a:ext uri="{FF2B5EF4-FFF2-40B4-BE49-F238E27FC236}">
                <a16:creationId xmlns:a16="http://schemas.microsoft.com/office/drawing/2014/main" id="{0CBAD8EE-42E2-E1A6-D756-AFEE80F6B6C3}"/>
              </a:ext>
            </a:extLst>
          </p:cNvPr>
          <p:cNvSpPr/>
          <p:nvPr/>
        </p:nvSpPr>
        <p:spPr>
          <a:xfrm>
            <a:off x="5426258" y="2940660"/>
            <a:ext cx="732056" cy="514110"/>
          </a:xfrm>
          <a:prstGeom prst="roundRect">
            <a:avLst/>
          </a:prstGeom>
          <a:solidFill>
            <a:srgbClr val="C5E0B4"/>
          </a:solidFill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en-US" altLang="zh-TW" sz="1300" dirty="0">
                <a:solidFill>
                  <a:srgbClr val="FF0000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books</a:t>
            </a:r>
            <a:endParaRPr kumimoji="1" lang="zh-TW" altLang="en-US" sz="1300" dirty="0">
              <a:solidFill>
                <a:srgbClr val="FF0000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cxnSp>
        <p:nvCxnSpPr>
          <p:cNvPr id="35" name="直線箭頭接點 34">
            <a:extLst>
              <a:ext uri="{FF2B5EF4-FFF2-40B4-BE49-F238E27FC236}">
                <a16:creationId xmlns:a16="http://schemas.microsoft.com/office/drawing/2014/main" id="{46E46508-67A3-47D1-F2E4-593015865BD2}"/>
              </a:ext>
            </a:extLst>
          </p:cNvPr>
          <p:cNvCxnSpPr>
            <a:cxnSpLocks/>
          </p:cNvCxnSpPr>
          <p:nvPr/>
        </p:nvCxnSpPr>
        <p:spPr>
          <a:xfrm flipV="1">
            <a:off x="4646593" y="2401721"/>
            <a:ext cx="686098" cy="35668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直線箭頭接點 35">
            <a:extLst>
              <a:ext uri="{FF2B5EF4-FFF2-40B4-BE49-F238E27FC236}">
                <a16:creationId xmlns:a16="http://schemas.microsoft.com/office/drawing/2014/main" id="{454CD8D4-70BA-C50F-4173-C4EFAF415F32}"/>
              </a:ext>
            </a:extLst>
          </p:cNvPr>
          <p:cNvCxnSpPr>
            <a:cxnSpLocks/>
          </p:cNvCxnSpPr>
          <p:nvPr/>
        </p:nvCxnSpPr>
        <p:spPr>
          <a:xfrm>
            <a:off x="4664366" y="2868626"/>
            <a:ext cx="686098" cy="35668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7" name="文字方塊 36">
                <a:extLst>
                  <a:ext uri="{FF2B5EF4-FFF2-40B4-BE49-F238E27FC236}">
                    <a16:creationId xmlns:a16="http://schemas.microsoft.com/office/drawing/2014/main" id="{5B72CF1E-2455-77B2-4E63-0388B571BA45}"/>
                  </a:ext>
                </a:extLst>
              </p:cNvPr>
              <p:cNvSpPr txBox="1"/>
              <p:nvPr/>
            </p:nvSpPr>
            <p:spPr>
              <a:xfrm>
                <a:off x="5518071" y="1789852"/>
                <a:ext cx="530678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TW" sz="1600" b="0" i="1" smtClean="0">
                          <a:latin typeface="Cambria Math" panose="02040503050406030204" pitchFamily="18" charset="0"/>
                        </a:rPr>
                        <m:t>−2.8</m:t>
                      </m:r>
                    </m:oMath>
                  </m:oMathPara>
                </a14:m>
                <a:endParaRPr kumimoji="1" lang="zh-TW" altLang="en-US" sz="1600" dirty="0"/>
              </a:p>
            </p:txBody>
          </p:sp>
        </mc:Choice>
        <mc:Fallback xmlns="">
          <p:sp>
            <p:nvSpPr>
              <p:cNvPr id="37" name="文字方塊 36">
                <a:extLst>
                  <a:ext uri="{FF2B5EF4-FFF2-40B4-BE49-F238E27FC236}">
                    <a16:creationId xmlns:a16="http://schemas.microsoft.com/office/drawing/2014/main" id="{5B72CF1E-2455-77B2-4E63-0388B571BA4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18071" y="1789852"/>
                <a:ext cx="530678" cy="338554"/>
              </a:xfrm>
              <a:prstGeom prst="rect">
                <a:avLst/>
              </a:prstGeom>
              <a:blipFill>
                <a:blip r:embed="rId9"/>
                <a:stretch>
                  <a:fillRect r="-9302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8" name="文字方塊 37">
                <a:extLst>
                  <a:ext uri="{FF2B5EF4-FFF2-40B4-BE49-F238E27FC236}">
                    <a16:creationId xmlns:a16="http://schemas.microsoft.com/office/drawing/2014/main" id="{75DED9B6-F0F3-1533-17C3-AE4E8F2376DC}"/>
                  </a:ext>
                </a:extLst>
              </p:cNvPr>
              <p:cNvSpPr txBox="1"/>
              <p:nvPr/>
            </p:nvSpPr>
            <p:spPr>
              <a:xfrm>
                <a:off x="5500315" y="3428408"/>
                <a:ext cx="566190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TW" sz="1600" b="0" i="1" smtClean="0">
                          <a:latin typeface="Cambria Math" panose="02040503050406030204" pitchFamily="18" charset="0"/>
                        </a:rPr>
                        <m:t>−2.</m:t>
                      </m:r>
                      <m:r>
                        <a:rPr kumimoji="1" lang="en-US" altLang="zh-TW" sz="1600" b="0" i="0" smtClean="0">
                          <a:latin typeface="Cambria Math" panose="02040503050406030204" pitchFamily="18" charset="0"/>
                        </a:rPr>
                        <m:t>5</m:t>
                      </m:r>
                    </m:oMath>
                  </m:oMathPara>
                </a14:m>
                <a:endParaRPr kumimoji="1" lang="zh-TW" altLang="en-US" sz="1600" dirty="0"/>
              </a:p>
            </p:txBody>
          </p:sp>
        </mc:Choice>
        <mc:Fallback xmlns="">
          <p:sp>
            <p:nvSpPr>
              <p:cNvPr id="38" name="文字方塊 37">
                <a:extLst>
                  <a:ext uri="{FF2B5EF4-FFF2-40B4-BE49-F238E27FC236}">
                    <a16:creationId xmlns:a16="http://schemas.microsoft.com/office/drawing/2014/main" id="{75DED9B6-F0F3-1533-17C3-AE4E8F2376D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00315" y="3428408"/>
                <a:ext cx="566190" cy="338554"/>
              </a:xfrm>
              <a:prstGeom prst="rect">
                <a:avLst/>
              </a:prstGeom>
              <a:blipFill>
                <a:blip r:embed="rId10"/>
                <a:stretch>
                  <a:fillRect r="-4348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9" name="圓角矩形 38">
            <a:extLst>
              <a:ext uri="{FF2B5EF4-FFF2-40B4-BE49-F238E27FC236}">
                <a16:creationId xmlns:a16="http://schemas.microsoft.com/office/drawing/2014/main" id="{8D37F53C-38B0-72B7-761E-CCE30BD3F6A2}"/>
              </a:ext>
            </a:extLst>
          </p:cNvPr>
          <p:cNvSpPr/>
          <p:nvPr/>
        </p:nvSpPr>
        <p:spPr>
          <a:xfrm>
            <a:off x="5444007" y="4253284"/>
            <a:ext cx="732055" cy="514110"/>
          </a:xfrm>
          <a:prstGeom prst="roundRect">
            <a:avLst/>
          </a:prstGeom>
          <a:solidFill>
            <a:srgbClr val="C5E0B4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en-US" altLang="zh-TW" sz="1600" dirty="0">
                <a:solidFill>
                  <a:schemeClr val="tx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to</a:t>
            </a:r>
            <a:endParaRPr kumimoji="1" lang="zh-TW" altLang="en-US" sz="1600" dirty="0">
              <a:solidFill>
                <a:schemeClr val="tx1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40" name="圓角矩形 39">
            <a:extLst>
              <a:ext uri="{FF2B5EF4-FFF2-40B4-BE49-F238E27FC236}">
                <a16:creationId xmlns:a16="http://schemas.microsoft.com/office/drawing/2014/main" id="{A3DAE183-4DB4-FB98-30FA-C42FE80C7E5C}"/>
              </a:ext>
            </a:extLst>
          </p:cNvPr>
          <p:cNvSpPr/>
          <p:nvPr/>
        </p:nvSpPr>
        <p:spPr>
          <a:xfrm>
            <a:off x="5444007" y="5049278"/>
            <a:ext cx="732056" cy="514110"/>
          </a:xfrm>
          <a:prstGeom prst="roundRect">
            <a:avLst/>
          </a:prstGeom>
          <a:solidFill>
            <a:srgbClr val="C5E0B4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en-US" altLang="zh-TW" sz="1600" dirty="0">
                <a:solidFill>
                  <a:schemeClr val="tx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tea</a:t>
            </a:r>
            <a:endParaRPr kumimoji="1" lang="zh-TW" altLang="en-US" sz="1600" dirty="0">
              <a:solidFill>
                <a:schemeClr val="tx1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cxnSp>
        <p:nvCxnSpPr>
          <p:cNvPr id="41" name="直線箭頭接點 40">
            <a:extLst>
              <a:ext uri="{FF2B5EF4-FFF2-40B4-BE49-F238E27FC236}">
                <a16:creationId xmlns:a16="http://schemas.microsoft.com/office/drawing/2014/main" id="{02DB8DA1-DF6A-7639-0750-34AB62672E0C}"/>
              </a:ext>
            </a:extLst>
          </p:cNvPr>
          <p:cNvCxnSpPr>
            <a:cxnSpLocks/>
          </p:cNvCxnSpPr>
          <p:nvPr/>
        </p:nvCxnSpPr>
        <p:spPr>
          <a:xfrm flipV="1">
            <a:off x="4664342" y="4510339"/>
            <a:ext cx="686098" cy="35668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直線箭頭接點 41">
            <a:extLst>
              <a:ext uri="{FF2B5EF4-FFF2-40B4-BE49-F238E27FC236}">
                <a16:creationId xmlns:a16="http://schemas.microsoft.com/office/drawing/2014/main" id="{C5EC476E-EC31-2D86-E6B2-EBF1955BF1E5}"/>
              </a:ext>
            </a:extLst>
          </p:cNvPr>
          <p:cNvCxnSpPr>
            <a:cxnSpLocks/>
          </p:cNvCxnSpPr>
          <p:nvPr/>
        </p:nvCxnSpPr>
        <p:spPr>
          <a:xfrm>
            <a:off x="4682115" y="4977244"/>
            <a:ext cx="686098" cy="35668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3" name="文字方塊 42">
                <a:extLst>
                  <a:ext uri="{FF2B5EF4-FFF2-40B4-BE49-F238E27FC236}">
                    <a16:creationId xmlns:a16="http://schemas.microsoft.com/office/drawing/2014/main" id="{9322DFDD-EFF0-7244-F30C-F19809A79EB8}"/>
                  </a:ext>
                </a:extLst>
              </p:cNvPr>
              <p:cNvSpPr txBox="1"/>
              <p:nvPr/>
            </p:nvSpPr>
            <p:spPr>
              <a:xfrm>
                <a:off x="5495873" y="3926009"/>
                <a:ext cx="575074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TW" sz="1600" b="0" i="1" smtClean="0">
                          <a:latin typeface="Cambria Math" panose="02040503050406030204" pitchFamily="18" charset="0"/>
                        </a:rPr>
                        <m:t>−2.9</m:t>
                      </m:r>
                    </m:oMath>
                  </m:oMathPara>
                </a14:m>
                <a:endParaRPr kumimoji="1" lang="zh-TW" altLang="en-US" sz="1600" dirty="0"/>
              </a:p>
            </p:txBody>
          </p:sp>
        </mc:Choice>
        <mc:Fallback xmlns="">
          <p:sp>
            <p:nvSpPr>
              <p:cNvPr id="43" name="文字方塊 42">
                <a:extLst>
                  <a:ext uri="{FF2B5EF4-FFF2-40B4-BE49-F238E27FC236}">
                    <a16:creationId xmlns:a16="http://schemas.microsoft.com/office/drawing/2014/main" id="{9322DFDD-EFF0-7244-F30C-F19809A79EB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95873" y="3926009"/>
                <a:ext cx="575074" cy="338554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4" name="文字方塊 43">
                <a:extLst>
                  <a:ext uri="{FF2B5EF4-FFF2-40B4-BE49-F238E27FC236}">
                    <a16:creationId xmlns:a16="http://schemas.microsoft.com/office/drawing/2014/main" id="{08361A65-0546-D0FE-B2EE-A1BC12C81851}"/>
                  </a:ext>
                </a:extLst>
              </p:cNvPr>
              <p:cNvSpPr txBox="1"/>
              <p:nvPr/>
            </p:nvSpPr>
            <p:spPr>
              <a:xfrm>
                <a:off x="5509190" y="5559395"/>
                <a:ext cx="548440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TW" sz="1600" b="0" i="1" smtClean="0">
                          <a:latin typeface="Cambria Math" panose="02040503050406030204" pitchFamily="18" charset="0"/>
                        </a:rPr>
                        <m:t>−3.8</m:t>
                      </m:r>
                    </m:oMath>
                  </m:oMathPara>
                </a14:m>
                <a:endParaRPr kumimoji="1" lang="zh-TW" altLang="en-US" sz="1600" dirty="0"/>
              </a:p>
            </p:txBody>
          </p:sp>
        </mc:Choice>
        <mc:Fallback xmlns="">
          <p:sp>
            <p:nvSpPr>
              <p:cNvPr id="44" name="文字方塊 43">
                <a:extLst>
                  <a:ext uri="{FF2B5EF4-FFF2-40B4-BE49-F238E27FC236}">
                    <a16:creationId xmlns:a16="http://schemas.microsoft.com/office/drawing/2014/main" id="{08361A65-0546-D0FE-B2EE-A1BC12C8185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09190" y="5559395"/>
                <a:ext cx="548440" cy="338554"/>
              </a:xfrm>
              <a:prstGeom prst="rect">
                <a:avLst/>
              </a:prstGeom>
              <a:blipFill>
                <a:blip r:embed="rId12"/>
                <a:stretch>
                  <a:fillRect r="-4444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圓角矩形 1">
            <a:extLst>
              <a:ext uri="{FF2B5EF4-FFF2-40B4-BE49-F238E27FC236}">
                <a16:creationId xmlns:a16="http://schemas.microsoft.com/office/drawing/2014/main" id="{FCC80EAE-A748-DD7C-9D1D-B90050229D28}"/>
              </a:ext>
            </a:extLst>
          </p:cNvPr>
          <p:cNvSpPr/>
          <p:nvPr/>
        </p:nvSpPr>
        <p:spPr>
          <a:xfrm>
            <a:off x="6959306" y="2544320"/>
            <a:ext cx="810689" cy="514110"/>
          </a:xfrm>
          <a:prstGeom prst="roundRect">
            <a:avLst/>
          </a:prstGeom>
          <a:solidFill>
            <a:srgbClr val="C5E0B4"/>
          </a:solidFill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en-US" altLang="zh-TW" sz="1600" dirty="0">
                <a:solidFill>
                  <a:srgbClr val="FF0000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watch</a:t>
            </a:r>
            <a:endParaRPr kumimoji="1" lang="zh-TW" altLang="en-US" sz="1600" dirty="0">
              <a:solidFill>
                <a:srgbClr val="FF0000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16" name="圓角矩形 15">
            <a:extLst>
              <a:ext uri="{FF2B5EF4-FFF2-40B4-BE49-F238E27FC236}">
                <a16:creationId xmlns:a16="http://schemas.microsoft.com/office/drawing/2014/main" id="{624AFD73-A0D9-AE22-080A-91A4FC5F408D}"/>
              </a:ext>
            </a:extLst>
          </p:cNvPr>
          <p:cNvSpPr/>
          <p:nvPr/>
        </p:nvSpPr>
        <p:spPr>
          <a:xfrm>
            <a:off x="6959308" y="1747929"/>
            <a:ext cx="810689" cy="514110"/>
          </a:xfrm>
          <a:prstGeom prst="roundRect">
            <a:avLst/>
          </a:prstGeom>
          <a:solidFill>
            <a:srgbClr val="C5E0B4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en-US" altLang="zh-TW" sz="1600" dirty="0">
                <a:solidFill>
                  <a:schemeClr val="tx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read</a:t>
            </a:r>
            <a:endParaRPr kumimoji="1" lang="zh-TW" altLang="en-US" sz="1600" dirty="0">
              <a:solidFill>
                <a:schemeClr val="tx1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20" name="圓角矩形 19">
            <a:extLst>
              <a:ext uri="{FF2B5EF4-FFF2-40B4-BE49-F238E27FC236}">
                <a16:creationId xmlns:a16="http://schemas.microsoft.com/office/drawing/2014/main" id="{4F17797E-F2DB-5ADF-02FE-E0226F7ACE16}"/>
              </a:ext>
            </a:extLst>
          </p:cNvPr>
          <p:cNvSpPr/>
          <p:nvPr/>
        </p:nvSpPr>
        <p:spPr>
          <a:xfrm>
            <a:off x="6959307" y="3652720"/>
            <a:ext cx="810689" cy="514110"/>
          </a:xfrm>
          <a:prstGeom prst="roundRect">
            <a:avLst/>
          </a:prstGeom>
          <a:solidFill>
            <a:srgbClr val="C5E0B4"/>
          </a:solidFill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en-US" altLang="zh-TW" sz="1600" dirty="0">
                <a:solidFill>
                  <a:srgbClr val="FF0000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and</a:t>
            </a:r>
            <a:endParaRPr kumimoji="1" lang="zh-TW" altLang="en-US" sz="1600" dirty="0">
              <a:solidFill>
                <a:srgbClr val="FF0000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21" name="圓角矩形 20">
            <a:extLst>
              <a:ext uri="{FF2B5EF4-FFF2-40B4-BE49-F238E27FC236}">
                <a16:creationId xmlns:a16="http://schemas.microsoft.com/office/drawing/2014/main" id="{3B819ECA-E0CE-0C5D-FF83-5E3EE687278A}"/>
              </a:ext>
            </a:extLst>
          </p:cNvPr>
          <p:cNvSpPr/>
          <p:nvPr/>
        </p:nvSpPr>
        <p:spPr>
          <a:xfrm>
            <a:off x="6959307" y="4451194"/>
            <a:ext cx="810689" cy="514110"/>
          </a:xfrm>
          <a:prstGeom prst="roundRect">
            <a:avLst/>
          </a:prstGeom>
          <a:solidFill>
            <a:srgbClr val="C5E0B4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en-US" altLang="zh-TW" sz="1600" dirty="0">
                <a:solidFill>
                  <a:schemeClr val="tx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party</a:t>
            </a:r>
            <a:endParaRPr kumimoji="1" lang="zh-TW" altLang="en-US" sz="1600" dirty="0">
              <a:solidFill>
                <a:schemeClr val="tx1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cxnSp>
        <p:nvCxnSpPr>
          <p:cNvPr id="32" name="直線箭頭接點 31">
            <a:extLst>
              <a:ext uri="{FF2B5EF4-FFF2-40B4-BE49-F238E27FC236}">
                <a16:creationId xmlns:a16="http://schemas.microsoft.com/office/drawing/2014/main" id="{FFD04519-C5EE-5166-1A97-1250B554FDCF}"/>
              </a:ext>
            </a:extLst>
          </p:cNvPr>
          <p:cNvCxnSpPr>
            <a:cxnSpLocks/>
          </p:cNvCxnSpPr>
          <p:nvPr/>
        </p:nvCxnSpPr>
        <p:spPr>
          <a:xfrm flipV="1">
            <a:off x="6251880" y="1957795"/>
            <a:ext cx="635929" cy="41489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直線箭頭接點 33">
            <a:extLst>
              <a:ext uri="{FF2B5EF4-FFF2-40B4-BE49-F238E27FC236}">
                <a16:creationId xmlns:a16="http://schemas.microsoft.com/office/drawing/2014/main" id="{6E11CB0D-D77D-45B7-25D6-C3B2C6965F47}"/>
              </a:ext>
            </a:extLst>
          </p:cNvPr>
          <p:cNvCxnSpPr>
            <a:cxnSpLocks/>
          </p:cNvCxnSpPr>
          <p:nvPr/>
        </p:nvCxnSpPr>
        <p:spPr>
          <a:xfrm>
            <a:off x="6259576" y="2420845"/>
            <a:ext cx="628233" cy="462307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直線箭頭接點 47">
            <a:extLst>
              <a:ext uri="{FF2B5EF4-FFF2-40B4-BE49-F238E27FC236}">
                <a16:creationId xmlns:a16="http://schemas.microsoft.com/office/drawing/2014/main" id="{56F25780-7D26-D5A3-3618-1135CB12AAC1}"/>
              </a:ext>
            </a:extLst>
          </p:cNvPr>
          <p:cNvCxnSpPr>
            <a:cxnSpLocks/>
          </p:cNvCxnSpPr>
          <p:nvPr/>
        </p:nvCxnSpPr>
        <p:spPr>
          <a:xfrm>
            <a:off x="6251879" y="3215471"/>
            <a:ext cx="625270" cy="694304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直線箭頭接點 49">
            <a:extLst>
              <a:ext uri="{FF2B5EF4-FFF2-40B4-BE49-F238E27FC236}">
                <a16:creationId xmlns:a16="http://schemas.microsoft.com/office/drawing/2014/main" id="{70EA67BC-FF40-CF85-BF93-26350692CB6F}"/>
              </a:ext>
            </a:extLst>
          </p:cNvPr>
          <p:cNvCxnSpPr>
            <a:cxnSpLocks/>
          </p:cNvCxnSpPr>
          <p:nvPr/>
        </p:nvCxnSpPr>
        <p:spPr>
          <a:xfrm>
            <a:off x="6246934" y="3268249"/>
            <a:ext cx="630215" cy="1499145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2" name="文字方塊 51">
                <a:extLst>
                  <a:ext uri="{FF2B5EF4-FFF2-40B4-BE49-F238E27FC236}">
                    <a16:creationId xmlns:a16="http://schemas.microsoft.com/office/drawing/2014/main" id="{EC0517B7-256E-F152-381C-CE5B518C49B6}"/>
                  </a:ext>
                </a:extLst>
              </p:cNvPr>
              <p:cNvSpPr txBox="1"/>
              <p:nvPr/>
            </p:nvSpPr>
            <p:spPr>
              <a:xfrm>
                <a:off x="6990563" y="1422320"/>
                <a:ext cx="643283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TW" sz="1600" b="0" i="1" smtClean="0">
                          <a:latin typeface="Cambria Math" panose="02040503050406030204" pitchFamily="18" charset="0"/>
                        </a:rPr>
                        <m:t>−4.1</m:t>
                      </m:r>
                    </m:oMath>
                  </m:oMathPara>
                </a14:m>
                <a:endParaRPr kumimoji="1" lang="zh-TW" altLang="en-US" sz="1600" dirty="0"/>
              </a:p>
            </p:txBody>
          </p:sp>
        </mc:Choice>
        <mc:Fallback xmlns="">
          <p:sp>
            <p:nvSpPr>
              <p:cNvPr id="52" name="文字方塊 51">
                <a:extLst>
                  <a:ext uri="{FF2B5EF4-FFF2-40B4-BE49-F238E27FC236}">
                    <a16:creationId xmlns:a16="http://schemas.microsoft.com/office/drawing/2014/main" id="{EC0517B7-256E-F152-381C-CE5B518C49B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90563" y="1422320"/>
                <a:ext cx="643283" cy="338554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3" name="文字方塊 52">
                <a:extLst>
                  <a:ext uri="{FF2B5EF4-FFF2-40B4-BE49-F238E27FC236}">
                    <a16:creationId xmlns:a16="http://schemas.microsoft.com/office/drawing/2014/main" id="{6F906C2F-5027-8893-C1EC-DB34E9C0E2C2}"/>
                  </a:ext>
                </a:extLst>
              </p:cNvPr>
              <p:cNvSpPr txBox="1"/>
              <p:nvPr/>
            </p:nvSpPr>
            <p:spPr>
              <a:xfrm>
                <a:off x="7034878" y="3014097"/>
                <a:ext cx="530678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TW" sz="1600" b="0" i="1" smtClean="0">
                          <a:latin typeface="Cambria Math" panose="02040503050406030204" pitchFamily="18" charset="0"/>
                        </a:rPr>
                        <m:t>−3.2</m:t>
                      </m:r>
                    </m:oMath>
                  </m:oMathPara>
                </a14:m>
                <a:endParaRPr kumimoji="1" lang="zh-TW" altLang="en-US" sz="1600" dirty="0"/>
              </a:p>
            </p:txBody>
          </p:sp>
        </mc:Choice>
        <mc:Fallback xmlns="">
          <p:sp>
            <p:nvSpPr>
              <p:cNvPr id="53" name="文字方塊 52">
                <a:extLst>
                  <a:ext uri="{FF2B5EF4-FFF2-40B4-BE49-F238E27FC236}">
                    <a16:creationId xmlns:a16="http://schemas.microsoft.com/office/drawing/2014/main" id="{6F906C2F-5027-8893-C1EC-DB34E9C0E2C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34878" y="3014097"/>
                <a:ext cx="530678" cy="338554"/>
              </a:xfrm>
              <a:prstGeom prst="rect">
                <a:avLst/>
              </a:prstGeom>
              <a:blipFill>
                <a:blip r:embed="rId14"/>
                <a:stretch>
                  <a:fillRect r="-9302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4" name="文字方塊 53">
                <a:extLst>
                  <a:ext uri="{FF2B5EF4-FFF2-40B4-BE49-F238E27FC236}">
                    <a16:creationId xmlns:a16="http://schemas.microsoft.com/office/drawing/2014/main" id="{16676045-5672-AA81-F226-84FF0BBA8EFB}"/>
                  </a:ext>
                </a:extLst>
              </p:cNvPr>
              <p:cNvSpPr txBox="1"/>
              <p:nvPr/>
            </p:nvSpPr>
            <p:spPr>
              <a:xfrm>
                <a:off x="7034878" y="3380849"/>
                <a:ext cx="530678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TW" sz="1600" b="0" i="1" smtClean="0">
                          <a:latin typeface="Cambria Math" panose="02040503050406030204" pitchFamily="18" charset="0"/>
                        </a:rPr>
                        <m:t>−3.3</m:t>
                      </m:r>
                    </m:oMath>
                  </m:oMathPara>
                </a14:m>
                <a:endParaRPr kumimoji="1" lang="zh-TW" altLang="en-US" sz="1600" dirty="0"/>
              </a:p>
            </p:txBody>
          </p:sp>
        </mc:Choice>
        <mc:Fallback xmlns="">
          <p:sp>
            <p:nvSpPr>
              <p:cNvPr id="54" name="文字方塊 53">
                <a:extLst>
                  <a:ext uri="{FF2B5EF4-FFF2-40B4-BE49-F238E27FC236}">
                    <a16:creationId xmlns:a16="http://schemas.microsoft.com/office/drawing/2014/main" id="{16676045-5672-AA81-F226-84FF0BBA8EF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34878" y="3380849"/>
                <a:ext cx="530678" cy="338554"/>
              </a:xfrm>
              <a:prstGeom prst="rect">
                <a:avLst/>
              </a:prstGeom>
              <a:blipFill>
                <a:blip r:embed="rId15"/>
                <a:stretch>
                  <a:fillRect r="-9302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7" name="文字方塊 56">
                <a:extLst>
                  <a:ext uri="{FF2B5EF4-FFF2-40B4-BE49-F238E27FC236}">
                    <a16:creationId xmlns:a16="http://schemas.microsoft.com/office/drawing/2014/main" id="{F9C59B25-2255-0ACF-CE91-AC14A5AC8D46}"/>
                  </a:ext>
                </a:extLst>
              </p:cNvPr>
              <p:cNvSpPr txBox="1"/>
              <p:nvPr/>
            </p:nvSpPr>
            <p:spPr>
              <a:xfrm>
                <a:off x="7046866" y="4946362"/>
                <a:ext cx="530678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TW" sz="1600" b="0" i="1" smtClean="0">
                          <a:latin typeface="Cambria Math" panose="02040503050406030204" pitchFamily="18" charset="0"/>
                        </a:rPr>
                        <m:t>−3.5</m:t>
                      </m:r>
                    </m:oMath>
                  </m:oMathPara>
                </a14:m>
                <a:endParaRPr kumimoji="1" lang="zh-TW" altLang="en-US" sz="1600" dirty="0"/>
              </a:p>
            </p:txBody>
          </p:sp>
        </mc:Choice>
        <mc:Fallback xmlns="">
          <p:sp>
            <p:nvSpPr>
              <p:cNvPr id="57" name="文字方塊 56">
                <a:extLst>
                  <a:ext uri="{FF2B5EF4-FFF2-40B4-BE49-F238E27FC236}">
                    <a16:creationId xmlns:a16="http://schemas.microsoft.com/office/drawing/2014/main" id="{F9C59B25-2255-0ACF-CE91-AC14A5AC8D4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46866" y="4946362"/>
                <a:ext cx="530678" cy="338554"/>
              </a:xfrm>
              <a:prstGeom prst="rect">
                <a:avLst/>
              </a:prstGeom>
              <a:blipFill>
                <a:blip r:embed="rId16"/>
                <a:stretch>
                  <a:fillRect r="-9302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2" name="圓角矩形 61">
            <a:extLst>
              <a:ext uri="{FF2B5EF4-FFF2-40B4-BE49-F238E27FC236}">
                <a16:creationId xmlns:a16="http://schemas.microsoft.com/office/drawing/2014/main" id="{4B769ABC-2D1E-CB77-8C48-CD005D939EA0}"/>
              </a:ext>
            </a:extLst>
          </p:cNvPr>
          <p:cNvSpPr/>
          <p:nvPr/>
        </p:nvSpPr>
        <p:spPr>
          <a:xfrm>
            <a:off x="8566509" y="2541946"/>
            <a:ext cx="810689" cy="514110"/>
          </a:xfrm>
          <a:prstGeom prst="roundRect">
            <a:avLst/>
          </a:prstGeom>
          <a:solidFill>
            <a:srgbClr val="C5E0B4"/>
          </a:solidFill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en-US" altLang="zh-TW" sz="1300" dirty="0">
                <a:solidFill>
                  <a:srgbClr val="FF0000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horror</a:t>
            </a:r>
            <a:endParaRPr kumimoji="1" lang="zh-TW" altLang="en-US" sz="1300" dirty="0">
              <a:solidFill>
                <a:srgbClr val="FF0000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63" name="圓角矩形 62">
            <a:extLst>
              <a:ext uri="{FF2B5EF4-FFF2-40B4-BE49-F238E27FC236}">
                <a16:creationId xmlns:a16="http://schemas.microsoft.com/office/drawing/2014/main" id="{A18B5995-7936-68CC-EB41-6DE84B364041}"/>
              </a:ext>
            </a:extLst>
          </p:cNvPr>
          <p:cNvSpPr/>
          <p:nvPr/>
        </p:nvSpPr>
        <p:spPr>
          <a:xfrm>
            <a:off x="8566509" y="1745555"/>
            <a:ext cx="810689" cy="514110"/>
          </a:xfrm>
          <a:prstGeom prst="roundRect">
            <a:avLst/>
          </a:prstGeom>
          <a:solidFill>
            <a:srgbClr val="C5E0B4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en-US" altLang="zh-TW" sz="1600" dirty="0">
                <a:solidFill>
                  <a:schemeClr val="tx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tv</a:t>
            </a:r>
            <a:endParaRPr kumimoji="1" lang="zh-TW" altLang="en-US" sz="1600" dirty="0">
              <a:solidFill>
                <a:schemeClr val="tx1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cxnSp>
        <p:nvCxnSpPr>
          <p:cNvPr id="64" name="直線箭頭接點 63">
            <a:extLst>
              <a:ext uri="{FF2B5EF4-FFF2-40B4-BE49-F238E27FC236}">
                <a16:creationId xmlns:a16="http://schemas.microsoft.com/office/drawing/2014/main" id="{F9B8227B-B2AF-EA84-9CAC-78F856341887}"/>
              </a:ext>
            </a:extLst>
          </p:cNvPr>
          <p:cNvCxnSpPr>
            <a:cxnSpLocks/>
          </p:cNvCxnSpPr>
          <p:nvPr/>
        </p:nvCxnSpPr>
        <p:spPr>
          <a:xfrm>
            <a:off x="7868037" y="2801375"/>
            <a:ext cx="583505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直線箭頭接點 67">
            <a:extLst>
              <a:ext uri="{FF2B5EF4-FFF2-40B4-BE49-F238E27FC236}">
                <a16:creationId xmlns:a16="http://schemas.microsoft.com/office/drawing/2014/main" id="{B09A036F-DE62-BB87-4E4C-E2841664A1C1}"/>
              </a:ext>
            </a:extLst>
          </p:cNvPr>
          <p:cNvCxnSpPr>
            <a:cxnSpLocks/>
          </p:cNvCxnSpPr>
          <p:nvPr/>
        </p:nvCxnSpPr>
        <p:spPr>
          <a:xfrm flipV="1">
            <a:off x="7868037" y="2002610"/>
            <a:ext cx="583505" cy="755791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1" name="圓角矩形 70">
            <a:extLst>
              <a:ext uri="{FF2B5EF4-FFF2-40B4-BE49-F238E27FC236}">
                <a16:creationId xmlns:a16="http://schemas.microsoft.com/office/drawing/2014/main" id="{65458D6C-0F40-E54D-7D40-40DE99DB5C0C}"/>
              </a:ext>
            </a:extLst>
          </p:cNvPr>
          <p:cNvSpPr/>
          <p:nvPr/>
        </p:nvSpPr>
        <p:spPr>
          <a:xfrm>
            <a:off x="8566509" y="4434454"/>
            <a:ext cx="810689" cy="514110"/>
          </a:xfrm>
          <a:prstGeom prst="roundRect">
            <a:avLst/>
          </a:prstGeom>
          <a:solidFill>
            <a:srgbClr val="C5E0B4"/>
          </a:solidFill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en-US" altLang="zh-TW" sz="1300" dirty="0">
                <a:solidFill>
                  <a:srgbClr val="FF0000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horror</a:t>
            </a:r>
            <a:endParaRPr kumimoji="1" lang="zh-TW" altLang="en-US" sz="1300" dirty="0">
              <a:solidFill>
                <a:srgbClr val="FF0000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72" name="圓角矩形 71">
            <a:extLst>
              <a:ext uri="{FF2B5EF4-FFF2-40B4-BE49-F238E27FC236}">
                <a16:creationId xmlns:a16="http://schemas.microsoft.com/office/drawing/2014/main" id="{15DC6462-8ECC-218B-B2C6-74CB85517F37}"/>
              </a:ext>
            </a:extLst>
          </p:cNvPr>
          <p:cNvSpPr/>
          <p:nvPr/>
        </p:nvSpPr>
        <p:spPr>
          <a:xfrm>
            <a:off x="8566509" y="3630751"/>
            <a:ext cx="810689" cy="514110"/>
          </a:xfrm>
          <a:prstGeom prst="roundRect">
            <a:avLst/>
          </a:prstGeom>
          <a:solidFill>
            <a:srgbClr val="C5E0B4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en-US" altLang="zh-TW" sz="1600" dirty="0">
                <a:solidFill>
                  <a:schemeClr val="tx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write</a:t>
            </a:r>
            <a:endParaRPr kumimoji="1" lang="zh-TW" altLang="en-US" sz="1300" dirty="0">
              <a:solidFill>
                <a:schemeClr val="tx1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cxnSp>
        <p:nvCxnSpPr>
          <p:cNvPr id="73" name="直線箭頭接點 72">
            <a:extLst>
              <a:ext uri="{FF2B5EF4-FFF2-40B4-BE49-F238E27FC236}">
                <a16:creationId xmlns:a16="http://schemas.microsoft.com/office/drawing/2014/main" id="{DC9CA5F9-443A-548C-D9DC-99EEDDCC1B84}"/>
              </a:ext>
            </a:extLst>
          </p:cNvPr>
          <p:cNvCxnSpPr>
            <a:cxnSpLocks/>
          </p:cNvCxnSpPr>
          <p:nvPr/>
        </p:nvCxnSpPr>
        <p:spPr>
          <a:xfrm>
            <a:off x="7868037" y="3920828"/>
            <a:ext cx="583505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直線箭頭接點 73">
            <a:extLst>
              <a:ext uri="{FF2B5EF4-FFF2-40B4-BE49-F238E27FC236}">
                <a16:creationId xmlns:a16="http://schemas.microsoft.com/office/drawing/2014/main" id="{87D77537-FC62-4357-15D5-8D73B9A85FF0}"/>
              </a:ext>
            </a:extLst>
          </p:cNvPr>
          <p:cNvCxnSpPr>
            <a:cxnSpLocks/>
          </p:cNvCxnSpPr>
          <p:nvPr/>
        </p:nvCxnSpPr>
        <p:spPr>
          <a:xfrm>
            <a:off x="7878102" y="4025792"/>
            <a:ext cx="571276" cy="682457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81" name="文字方塊 80">
                <a:extLst>
                  <a:ext uri="{FF2B5EF4-FFF2-40B4-BE49-F238E27FC236}">
                    <a16:creationId xmlns:a16="http://schemas.microsoft.com/office/drawing/2014/main" id="{AC91EA17-C9D6-FF25-F9B0-AF8763210404}"/>
                  </a:ext>
                </a:extLst>
              </p:cNvPr>
              <p:cNvSpPr txBox="1"/>
              <p:nvPr/>
            </p:nvSpPr>
            <p:spPr>
              <a:xfrm>
                <a:off x="8650211" y="1420109"/>
                <a:ext cx="643283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TW" sz="1600" b="0" i="1" smtClean="0">
                          <a:latin typeface="Cambria Math" panose="02040503050406030204" pitchFamily="18" charset="0"/>
                        </a:rPr>
                        <m:t>−4.8</m:t>
                      </m:r>
                    </m:oMath>
                  </m:oMathPara>
                </a14:m>
                <a:endParaRPr kumimoji="1" lang="zh-TW" altLang="en-US" sz="1600" dirty="0"/>
              </a:p>
            </p:txBody>
          </p:sp>
        </mc:Choice>
        <mc:Fallback xmlns="">
          <p:sp>
            <p:nvSpPr>
              <p:cNvPr id="81" name="文字方塊 80">
                <a:extLst>
                  <a:ext uri="{FF2B5EF4-FFF2-40B4-BE49-F238E27FC236}">
                    <a16:creationId xmlns:a16="http://schemas.microsoft.com/office/drawing/2014/main" id="{AC91EA17-C9D6-FF25-F9B0-AF876321040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50211" y="1420109"/>
                <a:ext cx="643283" cy="338554"/>
              </a:xfrm>
              <a:prstGeom prst="rect">
                <a:avLst/>
              </a:prstGeom>
              <a:blipFill>
                <a:blip r:embed="rId1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2" name="文字方塊 81">
                <a:extLst>
                  <a:ext uri="{FF2B5EF4-FFF2-40B4-BE49-F238E27FC236}">
                    <a16:creationId xmlns:a16="http://schemas.microsoft.com/office/drawing/2014/main" id="{F2BEE332-6CAA-42C9-C270-2622ACB4DF05}"/>
                  </a:ext>
                </a:extLst>
              </p:cNvPr>
              <p:cNvSpPr txBox="1"/>
              <p:nvPr/>
            </p:nvSpPr>
            <p:spPr>
              <a:xfrm>
                <a:off x="8650211" y="3028656"/>
                <a:ext cx="643283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TW" sz="1600" b="0" i="1" smtClean="0">
                          <a:latin typeface="Cambria Math" panose="02040503050406030204" pitchFamily="18" charset="0"/>
                        </a:rPr>
                        <m:t>−3.7</m:t>
                      </m:r>
                    </m:oMath>
                  </m:oMathPara>
                </a14:m>
                <a:endParaRPr kumimoji="1" lang="zh-TW" altLang="en-US" sz="1600" dirty="0"/>
              </a:p>
            </p:txBody>
          </p:sp>
        </mc:Choice>
        <mc:Fallback xmlns="">
          <p:sp>
            <p:nvSpPr>
              <p:cNvPr id="82" name="文字方塊 81">
                <a:extLst>
                  <a:ext uri="{FF2B5EF4-FFF2-40B4-BE49-F238E27FC236}">
                    <a16:creationId xmlns:a16="http://schemas.microsoft.com/office/drawing/2014/main" id="{F2BEE332-6CAA-42C9-C270-2622ACB4DF0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50211" y="3028656"/>
                <a:ext cx="643283" cy="338554"/>
              </a:xfrm>
              <a:prstGeom prst="rect">
                <a:avLst/>
              </a:prstGeom>
              <a:blipFill>
                <a:blip r:embed="rId1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3" name="文字方塊 82">
                <a:extLst>
                  <a:ext uri="{FF2B5EF4-FFF2-40B4-BE49-F238E27FC236}">
                    <a16:creationId xmlns:a16="http://schemas.microsoft.com/office/drawing/2014/main" id="{9CC7B0D0-65C5-0DC6-E08A-EE5DFC359BA6}"/>
                  </a:ext>
                </a:extLst>
              </p:cNvPr>
              <p:cNvSpPr txBox="1"/>
              <p:nvPr/>
            </p:nvSpPr>
            <p:spPr>
              <a:xfrm>
                <a:off x="8653081" y="3354518"/>
                <a:ext cx="643283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TW" sz="1600" b="0" i="1" smtClean="0">
                          <a:latin typeface="Cambria Math" panose="02040503050406030204" pitchFamily="18" charset="0"/>
                        </a:rPr>
                        <m:t>−4.5</m:t>
                      </m:r>
                    </m:oMath>
                  </m:oMathPara>
                </a14:m>
                <a:endParaRPr kumimoji="1" lang="zh-TW" altLang="en-US" sz="1600" dirty="0"/>
              </a:p>
            </p:txBody>
          </p:sp>
        </mc:Choice>
        <mc:Fallback xmlns="">
          <p:sp>
            <p:nvSpPr>
              <p:cNvPr id="83" name="文字方塊 82">
                <a:extLst>
                  <a:ext uri="{FF2B5EF4-FFF2-40B4-BE49-F238E27FC236}">
                    <a16:creationId xmlns:a16="http://schemas.microsoft.com/office/drawing/2014/main" id="{9CC7B0D0-65C5-0DC6-E08A-EE5DFC359BA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53081" y="3354518"/>
                <a:ext cx="643283" cy="338554"/>
              </a:xfrm>
              <a:prstGeom prst="rect">
                <a:avLst/>
              </a:prstGeom>
              <a:blipFill>
                <a:blip r:embed="rId1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4" name="文字方塊 83">
                <a:extLst>
                  <a:ext uri="{FF2B5EF4-FFF2-40B4-BE49-F238E27FC236}">
                    <a16:creationId xmlns:a16="http://schemas.microsoft.com/office/drawing/2014/main" id="{6EFF82DC-8235-5F19-35CB-E35C980CB2F8}"/>
                  </a:ext>
                </a:extLst>
              </p:cNvPr>
              <p:cNvSpPr txBox="1"/>
              <p:nvPr/>
            </p:nvSpPr>
            <p:spPr>
              <a:xfrm>
                <a:off x="8650211" y="4926282"/>
                <a:ext cx="643283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TW" sz="1600" b="0" i="1" smtClean="0">
                          <a:latin typeface="Cambria Math" panose="02040503050406030204" pitchFamily="18" charset="0"/>
                        </a:rPr>
                        <m:t>−4.3</m:t>
                      </m:r>
                    </m:oMath>
                  </m:oMathPara>
                </a14:m>
                <a:endParaRPr kumimoji="1" lang="zh-TW" altLang="en-US" sz="1600" dirty="0"/>
              </a:p>
            </p:txBody>
          </p:sp>
        </mc:Choice>
        <mc:Fallback xmlns="">
          <p:sp>
            <p:nvSpPr>
              <p:cNvPr id="84" name="文字方塊 83">
                <a:extLst>
                  <a:ext uri="{FF2B5EF4-FFF2-40B4-BE49-F238E27FC236}">
                    <a16:creationId xmlns:a16="http://schemas.microsoft.com/office/drawing/2014/main" id="{6EFF82DC-8235-5F19-35CB-E35C980CB2F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50211" y="4926282"/>
                <a:ext cx="643283" cy="338554"/>
              </a:xfrm>
              <a:prstGeom prst="rect">
                <a:avLst/>
              </a:prstGeom>
              <a:blipFill>
                <a:blip r:embed="rId2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7" name="圓角矩形 86">
            <a:extLst>
              <a:ext uri="{FF2B5EF4-FFF2-40B4-BE49-F238E27FC236}">
                <a16:creationId xmlns:a16="http://schemas.microsoft.com/office/drawing/2014/main" id="{2ECEE44B-E1FE-8F53-C2EA-BF6466326A8D}"/>
              </a:ext>
            </a:extLst>
          </p:cNvPr>
          <p:cNvSpPr/>
          <p:nvPr/>
        </p:nvSpPr>
        <p:spPr>
          <a:xfrm>
            <a:off x="10210292" y="4867019"/>
            <a:ext cx="810689" cy="514110"/>
          </a:xfrm>
          <a:prstGeom prst="roundRect">
            <a:avLst/>
          </a:prstGeom>
          <a:solidFill>
            <a:srgbClr val="C5E0B4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en-US" altLang="zh-TW" sz="1300" dirty="0">
                <a:solidFill>
                  <a:schemeClr val="tx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movies</a:t>
            </a:r>
            <a:endParaRPr kumimoji="1" lang="zh-TW" altLang="en-US" sz="1300" dirty="0">
              <a:solidFill>
                <a:schemeClr val="tx1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88" name="圓角矩形 87">
            <a:extLst>
              <a:ext uri="{FF2B5EF4-FFF2-40B4-BE49-F238E27FC236}">
                <a16:creationId xmlns:a16="http://schemas.microsoft.com/office/drawing/2014/main" id="{F777A461-4D4D-A6A3-48E3-DEF3183B7D1E}"/>
              </a:ext>
            </a:extLst>
          </p:cNvPr>
          <p:cNvSpPr/>
          <p:nvPr/>
        </p:nvSpPr>
        <p:spPr>
          <a:xfrm>
            <a:off x="10210294" y="4070628"/>
            <a:ext cx="810689" cy="514110"/>
          </a:xfrm>
          <a:prstGeom prst="roundRect">
            <a:avLst/>
          </a:prstGeom>
          <a:solidFill>
            <a:srgbClr val="C5E0B4"/>
          </a:solidFill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en-US" altLang="zh-TW" sz="1400" dirty="0">
                <a:solidFill>
                  <a:srgbClr val="FF0000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games</a:t>
            </a:r>
            <a:endParaRPr kumimoji="1" lang="zh-TW" altLang="en-US" sz="1600" dirty="0">
              <a:solidFill>
                <a:srgbClr val="FF0000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cxnSp>
        <p:nvCxnSpPr>
          <p:cNvPr id="89" name="直線箭頭接點 88">
            <a:extLst>
              <a:ext uri="{FF2B5EF4-FFF2-40B4-BE49-F238E27FC236}">
                <a16:creationId xmlns:a16="http://schemas.microsoft.com/office/drawing/2014/main" id="{19CB5E83-68B2-EECF-6051-F6B089A593B9}"/>
              </a:ext>
            </a:extLst>
          </p:cNvPr>
          <p:cNvCxnSpPr>
            <a:cxnSpLocks/>
          </p:cNvCxnSpPr>
          <p:nvPr/>
        </p:nvCxnSpPr>
        <p:spPr>
          <a:xfrm flipV="1">
            <a:off x="9502866" y="4280494"/>
            <a:ext cx="635929" cy="41489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" name="直線箭頭接點 89">
            <a:extLst>
              <a:ext uri="{FF2B5EF4-FFF2-40B4-BE49-F238E27FC236}">
                <a16:creationId xmlns:a16="http://schemas.microsoft.com/office/drawing/2014/main" id="{6DCE5A51-6B44-14B3-A16B-A0D864279FFB}"/>
              </a:ext>
            </a:extLst>
          </p:cNvPr>
          <p:cNvCxnSpPr>
            <a:cxnSpLocks/>
          </p:cNvCxnSpPr>
          <p:nvPr/>
        </p:nvCxnSpPr>
        <p:spPr>
          <a:xfrm>
            <a:off x="9510562" y="4743544"/>
            <a:ext cx="628233" cy="462307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91" name="文字方塊 90">
                <a:extLst>
                  <a:ext uri="{FF2B5EF4-FFF2-40B4-BE49-F238E27FC236}">
                    <a16:creationId xmlns:a16="http://schemas.microsoft.com/office/drawing/2014/main" id="{FADD9AFA-BBAF-1373-7669-45A5779F618A}"/>
                  </a:ext>
                </a:extLst>
              </p:cNvPr>
              <p:cNvSpPr txBox="1"/>
              <p:nvPr/>
            </p:nvSpPr>
            <p:spPr>
              <a:xfrm>
                <a:off x="10241549" y="3745019"/>
                <a:ext cx="643283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TW" sz="1600" b="0" i="1" smtClean="0">
                          <a:latin typeface="Cambria Math" panose="02040503050406030204" pitchFamily="18" charset="0"/>
                        </a:rPr>
                        <m:t>−5.0</m:t>
                      </m:r>
                    </m:oMath>
                  </m:oMathPara>
                </a14:m>
                <a:endParaRPr kumimoji="1" lang="zh-TW" altLang="en-US" sz="1600" dirty="0"/>
              </a:p>
            </p:txBody>
          </p:sp>
        </mc:Choice>
        <mc:Fallback xmlns="">
          <p:sp>
            <p:nvSpPr>
              <p:cNvPr id="91" name="文字方塊 90">
                <a:extLst>
                  <a:ext uri="{FF2B5EF4-FFF2-40B4-BE49-F238E27FC236}">
                    <a16:creationId xmlns:a16="http://schemas.microsoft.com/office/drawing/2014/main" id="{FADD9AFA-BBAF-1373-7669-45A5779F618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241549" y="3745019"/>
                <a:ext cx="643283" cy="338554"/>
              </a:xfrm>
              <a:prstGeom prst="rect">
                <a:avLst/>
              </a:prstGeom>
              <a:blipFill>
                <a:blip r:embed="rId2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2" name="文字方塊 91">
                <a:extLst>
                  <a:ext uri="{FF2B5EF4-FFF2-40B4-BE49-F238E27FC236}">
                    <a16:creationId xmlns:a16="http://schemas.microsoft.com/office/drawing/2014/main" id="{6D896CB3-4BA5-6930-4608-455C8C5D9534}"/>
                  </a:ext>
                </a:extLst>
              </p:cNvPr>
              <p:cNvSpPr txBox="1"/>
              <p:nvPr/>
            </p:nvSpPr>
            <p:spPr>
              <a:xfrm>
                <a:off x="10285864" y="5336796"/>
                <a:ext cx="530678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TW" sz="1600" b="0" i="1" smtClean="0">
                          <a:latin typeface="Cambria Math" panose="02040503050406030204" pitchFamily="18" charset="0"/>
                        </a:rPr>
                        <m:t>−5.3</m:t>
                      </m:r>
                    </m:oMath>
                  </m:oMathPara>
                </a14:m>
                <a:endParaRPr kumimoji="1" lang="zh-TW" altLang="en-US" sz="1600" dirty="0"/>
              </a:p>
            </p:txBody>
          </p:sp>
        </mc:Choice>
        <mc:Fallback xmlns="">
          <p:sp>
            <p:nvSpPr>
              <p:cNvPr id="92" name="文字方塊 91">
                <a:extLst>
                  <a:ext uri="{FF2B5EF4-FFF2-40B4-BE49-F238E27FC236}">
                    <a16:creationId xmlns:a16="http://schemas.microsoft.com/office/drawing/2014/main" id="{6D896CB3-4BA5-6930-4608-455C8C5D953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285864" y="5336796"/>
                <a:ext cx="530678" cy="338554"/>
              </a:xfrm>
              <a:prstGeom prst="rect">
                <a:avLst/>
              </a:prstGeom>
              <a:blipFill>
                <a:blip r:embed="rId22"/>
                <a:stretch>
                  <a:fillRect r="-9302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3" name="圓角矩形 92">
            <a:extLst>
              <a:ext uri="{FF2B5EF4-FFF2-40B4-BE49-F238E27FC236}">
                <a16:creationId xmlns:a16="http://schemas.microsoft.com/office/drawing/2014/main" id="{6682415B-AAE3-C480-C984-1FA1C126E1A4}"/>
              </a:ext>
            </a:extLst>
          </p:cNvPr>
          <p:cNvSpPr/>
          <p:nvPr/>
        </p:nvSpPr>
        <p:spPr>
          <a:xfrm>
            <a:off x="10187145" y="2923111"/>
            <a:ext cx="810689" cy="514110"/>
          </a:xfrm>
          <a:prstGeom prst="roundRect">
            <a:avLst/>
          </a:prstGeom>
          <a:solidFill>
            <a:srgbClr val="C5E0B4"/>
          </a:solidFill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en-US" altLang="zh-TW" sz="1300" dirty="0">
                <a:solidFill>
                  <a:srgbClr val="FF0000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movies</a:t>
            </a:r>
            <a:endParaRPr kumimoji="1" lang="zh-TW" altLang="en-US" sz="1300" dirty="0">
              <a:solidFill>
                <a:srgbClr val="FF0000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94" name="圓角矩形 93">
            <a:extLst>
              <a:ext uri="{FF2B5EF4-FFF2-40B4-BE49-F238E27FC236}">
                <a16:creationId xmlns:a16="http://schemas.microsoft.com/office/drawing/2014/main" id="{854E7910-C3A2-1166-8197-6FBABACCD778}"/>
              </a:ext>
            </a:extLst>
          </p:cNvPr>
          <p:cNvSpPr/>
          <p:nvPr/>
        </p:nvSpPr>
        <p:spPr>
          <a:xfrm>
            <a:off x="10187147" y="2126720"/>
            <a:ext cx="810689" cy="514110"/>
          </a:xfrm>
          <a:prstGeom prst="roundRect">
            <a:avLst/>
          </a:prstGeom>
          <a:solidFill>
            <a:srgbClr val="C5E0B4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en-US" altLang="zh-TW" sz="1400" dirty="0">
                <a:solidFill>
                  <a:schemeClr val="tx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things</a:t>
            </a:r>
            <a:endParaRPr kumimoji="1" lang="zh-TW" altLang="en-US" sz="1600" dirty="0">
              <a:solidFill>
                <a:schemeClr val="tx1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cxnSp>
        <p:nvCxnSpPr>
          <p:cNvPr id="95" name="直線箭頭接點 94">
            <a:extLst>
              <a:ext uri="{FF2B5EF4-FFF2-40B4-BE49-F238E27FC236}">
                <a16:creationId xmlns:a16="http://schemas.microsoft.com/office/drawing/2014/main" id="{4F585D2D-48D7-D4DD-06CA-F00CAF494BC3}"/>
              </a:ext>
            </a:extLst>
          </p:cNvPr>
          <p:cNvCxnSpPr>
            <a:cxnSpLocks/>
          </p:cNvCxnSpPr>
          <p:nvPr/>
        </p:nvCxnSpPr>
        <p:spPr>
          <a:xfrm flipV="1">
            <a:off x="9479719" y="2336586"/>
            <a:ext cx="635929" cy="41489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" name="直線箭頭接點 95">
            <a:extLst>
              <a:ext uri="{FF2B5EF4-FFF2-40B4-BE49-F238E27FC236}">
                <a16:creationId xmlns:a16="http://schemas.microsoft.com/office/drawing/2014/main" id="{1A6C486F-EFEC-66D4-8F69-9EF80B3487C8}"/>
              </a:ext>
            </a:extLst>
          </p:cNvPr>
          <p:cNvCxnSpPr>
            <a:cxnSpLocks/>
          </p:cNvCxnSpPr>
          <p:nvPr/>
        </p:nvCxnSpPr>
        <p:spPr>
          <a:xfrm>
            <a:off x="9487415" y="2799636"/>
            <a:ext cx="628233" cy="462307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97" name="文字方塊 96">
                <a:extLst>
                  <a:ext uri="{FF2B5EF4-FFF2-40B4-BE49-F238E27FC236}">
                    <a16:creationId xmlns:a16="http://schemas.microsoft.com/office/drawing/2014/main" id="{45EB6964-E132-3716-7E4D-D7B527BD1E3E}"/>
                  </a:ext>
                </a:extLst>
              </p:cNvPr>
              <p:cNvSpPr txBox="1"/>
              <p:nvPr/>
            </p:nvSpPr>
            <p:spPr>
              <a:xfrm>
                <a:off x="10218402" y="1801111"/>
                <a:ext cx="643283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TW" sz="1600" b="0" i="1" smtClean="0">
                          <a:latin typeface="Cambria Math" panose="02040503050406030204" pitchFamily="18" charset="0"/>
                        </a:rPr>
                        <m:t>−5.1</m:t>
                      </m:r>
                    </m:oMath>
                  </m:oMathPara>
                </a14:m>
                <a:endParaRPr kumimoji="1" lang="zh-TW" altLang="en-US" sz="1600" dirty="0"/>
              </a:p>
            </p:txBody>
          </p:sp>
        </mc:Choice>
        <mc:Fallback xmlns="">
          <p:sp>
            <p:nvSpPr>
              <p:cNvPr id="97" name="文字方塊 96">
                <a:extLst>
                  <a:ext uri="{FF2B5EF4-FFF2-40B4-BE49-F238E27FC236}">
                    <a16:creationId xmlns:a16="http://schemas.microsoft.com/office/drawing/2014/main" id="{45EB6964-E132-3716-7E4D-D7B527BD1E3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218402" y="1801111"/>
                <a:ext cx="643283" cy="338554"/>
              </a:xfrm>
              <a:prstGeom prst="rect">
                <a:avLst/>
              </a:prstGeom>
              <a:blipFill>
                <a:blip r:embed="rId2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8" name="文字方塊 97">
                <a:extLst>
                  <a:ext uri="{FF2B5EF4-FFF2-40B4-BE49-F238E27FC236}">
                    <a16:creationId xmlns:a16="http://schemas.microsoft.com/office/drawing/2014/main" id="{EEC113B5-90C9-8AF8-DA51-2627CD3577FA}"/>
                  </a:ext>
                </a:extLst>
              </p:cNvPr>
              <p:cNvSpPr txBox="1"/>
              <p:nvPr/>
            </p:nvSpPr>
            <p:spPr>
              <a:xfrm>
                <a:off x="10262717" y="3392888"/>
                <a:ext cx="530678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TW" sz="1600" b="0" i="1" smtClean="0">
                          <a:latin typeface="Cambria Math" panose="02040503050406030204" pitchFamily="18" charset="0"/>
                        </a:rPr>
                        <m:t>−4.6</m:t>
                      </m:r>
                    </m:oMath>
                  </m:oMathPara>
                </a14:m>
                <a:endParaRPr kumimoji="1" lang="zh-TW" altLang="en-US" sz="1600" dirty="0"/>
              </a:p>
            </p:txBody>
          </p:sp>
        </mc:Choice>
        <mc:Fallback xmlns="">
          <p:sp>
            <p:nvSpPr>
              <p:cNvPr id="98" name="文字方塊 97">
                <a:extLst>
                  <a:ext uri="{FF2B5EF4-FFF2-40B4-BE49-F238E27FC236}">
                    <a16:creationId xmlns:a16="http://schemas.microsoft.com/office/drawing/2014/main" id="{EEC113B5-90C9-8AF8-DA51-2627CD3577F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262717" y="3392888"/>
                <a:ext cx="530678" cy="338554"/>
              </a:xfrm>
              <a:prstGeom prst="rect">
                <a:avLst/>
              </a:prstGeom>
              <a:blipFill>
                <a:blip r:embed="rId24"/>
                <a:stretch>
                  <a:fillRect r="-697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6" name="標題 1">
                <a:extLst>
                  <a:ext uri="{FF2B5EF4-FFF2-40B4-BE49-F238E27FC236}">
                    <a16:creationId xmlns:a16="http://schemas.microsoft.com/office/drawing/2014/main" id="{8C2960E2-EC51-6603-F07C-A4C831BA421F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644672" y="356088"/>
                <a:ext cx="10511008" cy="1033416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rmAutofit/>
              </a:bodyPr>
              <a:lstStyle>
                <a:lvl1pPr marL="0" algn="l" defTabSz="914400" rtl="0" eaLnBrk="1" latinLnBrk="0" hangingPunct="1">
                  <a:lnSpc>
                    <a:spcPct val="85000"/>
                  </a:lnSpc>
                  <a:spcBef>
                    <a:spcPct val="0"/>
                  </a:spcBef>
                  <a:buNone/>
                  <a:defRPr sz="4800" kern="1200" spc="-5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r>
                  <a:rPr kumimoji="1" lang="en-US" altLang="zh-TW" dirty="0"/>
                  <a:t>Beam Search</a:t>
                </a:r>
                <a:r>
                  <a:rPr kumimoji="1" lang="zh-TW" altLang="en-US" dirty="0"/>
                  <a:t> </a:t>
                </a:r>
                <a:r>
                  <a:rPr kumimoji="1" lang="en-US" altLang="zh-TW" dirty="0"/>
                  <a:t>(</a:t>
                </a:r>
                <a14:m>
                  <m:oMath xmlns:m="http://schemas.openxmlformats.org/officeDocument/2006/math">
                    <m:r>
                      <a:rPr kumimoji="1" lang="en-US" altLang="zh-TW" b="0" i="1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kumimoji="1" lang="en-US" altLang="zh-TW" b="0" i="1" smtClean="0">
                        <a:latin typeface="Cambria Math" panose="02040503050406030204" pitchFamily="18" charset="0"/>
                      </a:rPr>
                      <m:t>=6</m:t>
                    </m:r>
                  </m:oMath>
                </a14:m>
                <a:r>
                  <a:rPr kumimoji="1" lang="en-US" altLang="zh-TW" dirty="0"/>
                  <a:t>)</a:t>
                </a:r>
                <a:endParaRPr lang="zh-TW" altLang="en-US" dirty="0">
                  <a:latin typeface="Times New Roman"/>
                  <a:ea typeface="新細明體"/>
                  <a:cs typeface="Calibri Light"/>
                </a:endParaRPr>
              </a:p>
            </p:txBody>
          </p:sp>
        </mc:Choice>
        <mc:Fallback>
          <p:sp>
            <p:nvSpPr>
              <p:cNvPr id="46" name="標題 1">
                <a:extLst>
                  <a:ext uri="{FF2B5EF4-FFF2-40B4-BE49-F238E27FC236}">
                    <a16:creationId xmlns:a16="http://schemas.microsoft.com/office/drawing/2014/main" id="{8C2960E2-EC51-6603-F07C-A4C831BA421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4672" y="356088"/>
                <a:ext cx="10511008" cy="1033416"/>
              </a:xfrm>
              <a:prstGeom prst="rect">
                <a:avLst/>
              </a:prstGeom>
              <a:blipFill>
                <a:blip r:embed="rId25"/>
                <a:stretch>
                  <a:fillRect l="-2654" t="-8434" b="-15663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7" name="文字方塊 46">
            <a:extLst>
              <a:ext uri="{FF2B5EF4-FFF2-40B4-BE49-F238E27FC236}">
                <a16:creationId xmlns:a16="http://schemas.microsoft.com/office/drawing/2014/main" id="{BB72FC85-CB74-0639-D9A4-CC0D995DAF65}"/>
              </a:ext>
            </a:extLst>
          </p:cNvPr>
          <p:cNvSpPr txBox="1"/>
          <p:nvPr/>
        </p:nvSpPr>
        <p:spPr>
          <a:xfrm>
            <a:off x="9613039" y="688130"/>
            <a:ext cx="1884594" cy="369332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dirty="0"/>
              <a:t>`Beam size` = 2</a:t>
            </a:r>
            <a:endParaRPr kumimoji="1"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104027885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742DD80-FE48-260B-0473-33D8138DDD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Stop Criterion (</a:t>
            </a:r>
            <a:r>
              <a:rPr kumimoji="1" lang="zh-TW" altLang="en-US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停止生成的情況</a:t>
            </a:r>
            <a:r>
              <a:rPr kumimoji="1" lang="en-US" altLang="zh-TW" dirty="0"/>
              <a:t>)</a:t>
            </a:r>
            <a:endParaRPr kumimoji="1"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9AD0BF83-DEDB-6083-2277-A51723171B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37</a:t>
            </a:fld>
            <a:endParaRPr lang="en-US"/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F2F0F3D3-C611-834E-801D-5082C6008856}"/>
              </a:ext>
            </a:extLst>
          </p:cNvPr>
          <p:cNvSpPr txBox="1"/>
          <p:nvPr/>
        </p:nvSpPr>
        <p:spPr>
          <a:xfrm>
            <a:off x="653143" y="1825991"/>
            <a:ext cx="10149744" cy="39130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en-US" altLang="zh-TW" sz="2400" dirty="0"/>
              <a:t>There are </a:t>
            </a:r>
            <a:r>
              <a:rPr kumimoji="1" lang="en-US" altLang="zh-TW" sz="2400" dirty="0">
                <a:solidFill>
                  <a:srgbClr val="FF0000"/>
                </a:solidFill>
              </a:rPr>
              <a:t>two</a:t>
            </a:r>
            <a:r>
              <a:rPr kumimoji="1" lang="en-US" altLang="zh-TW" sz="2400" dirty="0"/>
              <a:t> common stop criterions, either for greedy decoding or beam search decoding (or Top-p / Top-k sampling):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en-US" altLang="zh-TW" sz="2400" dirty="0"/>
              <a:t>We consider a sequence of generation complete when the &lt;EOS&gt; token is produced by a model. *&lt;EOS&gt;: End of sequence</a:t>
            </a:r>
          </a:p>
          <a:p>
            <a:pPr marL="1257300" lvl="2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en-US" altLang="zh-TW" sz="2400" dirty="0"/>
              <a:t>E.g., &lt;Start&gt; I like to watch horror movies &lt;EOS&gt;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en-US" altLang="zh-TW" sz="2400" dirty="0"/>
              <a:t>A generated sequence reaches a pre-defined </a:t>
            </a:r>
            <a:r>
              <a:rPr kumimoji="1" lang="en-US" altLang="zh-TW" sz="2400" dirty="0">
                <a:solidFill>
                  <a:srgbClr val="FF0000"/>
                </a:solidFill>
              </a:rPr>
              <a:t>maximal length</a:t>
            </a:r>
            <a:r>
              <a:rPr kumimoji="1" lang="en-US" altLang="zh-TW" sz="2400" dirty="0"/>
              <a:t>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kumimoji="1" lang="zh-TW" altLang="en-US" sz="2400" dirty="0"/>
          </a:p>
        </p:txBody>
      </p:sp>
    </p:spTree>
    <p:extLst>
      <p:ext uri="{BB962C8B-B14F-4D97-AF65-F5344CB8AC3E}">
        <p14:creationId xmlns:p14="http://schemas.microsoft.com/office/powerpoint/2010/main" val="4185103564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742DD80-FE48-260B-0473-33D8138DDD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Problem of Beam Search (1)</a:t>
            </a:r>
            <a:endParaRPr kumimoji="1"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9AD0BF83-DEDB-6083-2277-A51723171B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38</a:t>
            </a:fld>
            <a:endParaRPr lang="en-US"/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F2F0F3D3-C611-834E-801D-5082C6008856}"/>
              </a:ext>
            </a:extLst>
          </p:cNvPr>
          <p:cNvSpPr txBox="1"/>
          <p:nvPr/>
        </p:nvSpPr>
        <p:spPr>
          <a:xfrm>
            <a:off x="653143" y="1855809"/>
            <a:ext cx="10149744" cy="16970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en-US" altLang="zh-TW" sz="2400" dirty="0">
                <a:solidFill>
                  <a:srgbClr val="FF0000"/>
                </a:solidFill>
              </a:rPr>
              <a:t>Longer</a:t>
            </a:r>
            <a:r>
              <a:rPr kumimoji="1" lang="en-US" altLang="zh-TW" sz="2400" dirty="0"/>
              <a:t> candidates will have </a:t>
            </a:r>
            <a:r>
              <a:rPr kumimoji="1" lang="en-US" altLang="zh-TW" sz="2400" dirty="0">
                <a:solidFill>
                  <a:srgbClr val="FF0000"/>
                </a:solidFill>
              </a:rPr>
              <a:t>lower</a:t>
            </a:r>
            <a:r>
              <a:rPr kumimoji="1" lang="en-US" altLang="zh-TW" sz="2400" dirty="0"/>
              <a:t> scores.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en-US" altLang="zh-TW" sz="2400" dirty="0"/>
              <a:t>(Let’s see again the 6</a:t>
            </a:r>
            <a:r>
              <a:rPr kumimoji="1" lang="en-US" altLang="zh-TW" sz="2400" baseline="30000" dirty="0"/>
              <a:t>th</a:t>
            </a:r>
            <a:r>
              <a:rPr kumimoji="1" lang="en-US" altLang="zh-TW" sz="2400" dirty="0"/>
              <a:t> time step)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kumimoji="1" lang="zh-TW" altLang="en-US" sz="2400" dirty="0"/>
          </a:p>
        </p:txBody>
      </p:sp>
    </p:spTree>
    <p:extLst>
      <p:ext uri="{BB962C8B-B14F-4D97-AF65-F5344CB8AC3E}">
        <p14:creationId xmlns:p14="http://schemas.microsoft.com/office/powerpoint/2010/main" val="1170264232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80B6B308-E528-1567-412F-2BF52CB92E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dirty="0"/>
              <a:t>39</a:t>
            </a:fld>
            <a:endParaRPr lang="zh-TW" altLang="en-US"/>
          </a:p>
        </p:txBody>
      </p:sp>
      <p:sp>
        <p:nvSpPr>
          <p:cNvPr id="6" name="圓角矩形 5">
            <a:extLst>
              <a:ext uri="{FF2B5EF4-FFF2-40B4-BE49-F238E27FC236}">
                <a16:creationId xmlns:a16="http://schemas.microsoft.com/office/drawing/2014/main" id="{F07E41BB-9C95-5AB2-BA09-AE6796CBB446}"/>
              </a:ext>
            </a:extLst>
          </p:cNvPr>
          <p:cNvSpPr/>
          <p:nvPr/>
        </p:nvSpPr>
        <p:spPr>
          <a:xfrm>
            <a:off x="1234362" y="3920344"/>
            <a:ext cx="613700" cy="514110"/>
          </a:xfrm>
          <a:prstGeom prst="roundRect">
            <a:avLst/>
          </a:prstGeom>
          <a:solidFill>
            <a:srgbClr val="C5E0B4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en-US" altLang="zh-TW" sz="2400" dirty="0">
                <a:solidFill>
                  <a:schemeClr val="tx1"/>
                </a:solidFill>
              </a:rPr>
              <a:t>_</a:t>
            </a:r>
            <a:endParaRPr kumimoji="1" lang="zh-TW" altLang="en-US" sz="2400" dirty="0">
              <a:solidFill>
                <a:schemeClr val="tx1"/>
              </a:solidFill>
            </a:endParaRPr>
          </a:p>
        </p:txBody>
      </p:sp>
      <p:sp>
        <p:nvSpPr>
          <p:cNvPr id="7" name="文字方塊 67">
            <a:extLst>
              <a:ext uri="{FF2B5EF4-FFF2-40B4-BE49-F238E27FC236}">
                <a16:creationId xmlns:a16="http://schemas.microsoft.com/office/drawing/2014/main" id="{B381507F-DC44-2012-7728-330509B5ABA9}"/>
              </a:ext>
            </a:extLst>
          </p:cNvPr>
          <p:cNvSpPr txBox="1"/>
          <p:nvPr/>
        </p:nvSpPr>
        <p:spPr>
          <a:xfrm>
            <a:off x="1158218" y="4472662"/>
            <a:ext cx="77862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en-US" altLang="zh-TW" sz="1600" dirty="0"/>
              <a:t>(Start)</a:t>
            </a:r>
            <a:endParaRPr kumimoji="1" lang="zh-TW" altLang="en-US" sz="1600" dirty="0"/>
          </a:p>
        </p:txBody>
      </p:sp>
      <p:sp>
        <p:nvSpPr>
          <p:cNvPr id="10" name="圓角矩形 9">
            <a:extLst>
              <a:ext uri="{FF2B5EF4-FFF2-40B4-BE49-F238E27FC236}">
                <a16:creationId xmlns:a16="http://schemas.microsoft.com/office/drawing/2014/main" id="{875E7289-05C1-D185-CD20-7A8387DC3548}"/>
              </a:ext>
            </a:extLst>
          </p:cNvPr>
          <p:cNvSpPr/>
          <p:nvPr/>
        </p:nvSpPr>
        <p:spPr>
          <a:xfrm>
            <a:off x="2397436" y="2958733"/>
            <a:ext cx="613700" cy="514110"/>
          </a:xfrm>
          <a:prstGeom prst="roundRect">
            <a:avLst/>
          </a:prstGeom>
          <a:solidFill>
            <a:srgbClr val="C5E0B4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en-US" altLang="zh-TW" sz="1600" dirty="0">
                <a:solidFill>
                  <a:schemeClr val="tx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I</a:t>
            </a:r>
            <a:endParaRPr kumimoji="1" lang="zh-TW" altLang="en-US" sz="1600" dirty="0">
              <a:solidFill>
                <a:schemeClr val="tx1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12" name="圓角矩形 11">
            <a:extLst>
              <a:ext uri="{FF2B5EF4-FFF2-40B4-BE49-F238E27FC236}">
                <a16:creationId xmlns:a16="http://schemas.microsoft.com/office/drawing/2014/main" id="{3C729BBC-BACD-B4BC-5CFD-E43E279BC56D}"/>
              </a:ext>
            </a:extLst>
          </p:cNvPr>
          <p:cNvSpPr/>
          <p:nvPr/>
        </p:nvSpPr>
        <p:spPr>
          <a:xfrm>
            <a:off x="2397436" y="5004890"/>
            <a:ext cx="613700" cy="514110"/>
          </a:xfrm>
          <a:prstGeom prst="roundRect">
            <a:avLst/>
          </a:prstGeom>
          <a:solidFill>
            <a:srgbClr val="C5E0B4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en-US" altLang="zh-TW" sz="1600" dirty="0">
                <a:solidFill>
                  <a:schemeClr val="tx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You</a:t>
            </a:r>
            <a:endParaRPr kumimoji="1" lang="zh-TW" altLang="en-US" sz="1600" dirty="0">
              <a:solidFill>
                <a:schemeClr val="tx1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cxnSp>
        <p:nvCxnSpPr>
          <p:cNvPr id="14" name="直線箭頭接點 13">
            <a:extLst>
              <a:ext uri="{FF2B5EF4-FFF2-40B4-BE49-F238E27FC236}">
                <a16:creationId xmlns:a16="http://schemas.microsoft.com/office/drawing/2014/main" id="{25A5463B-ADA9-FE38-04CD-5FE88700466F}"/>
              </a:ext>
            </a:extLst>
          </p:cNvPr>
          <p:cNvCxnSpPr>
            <a:cxnSpLocks/>
          </p:cNvCxnSpPr>
          <p:nvPr/>
        </p:nvCxnSpPr>
        <p:spPr>
          <a:xfrm flipV="1">
            <a:off x="1871612" y="3159314"/>
            <a:ext cx="467804" cy="951566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線箭頭接點 18">
            <a:extLst>
              <a:ext uri="{FF2B5EF4-FFF2-40B4-BE49-F238E27FC236}">
                <a16:creationId xmlns:a16="http://schemas.microsoft.com/office/drawing/2014/main" id="{9D3CFDC7-E5AB-77B0-FA1A-9D836D4225EE}"/>
              </a:ext>
            </a:extLst>
          </p:cNvPr>
          <p:cNvCxnSpPr>
            <a:cxnSpLocks/>
          </p:cNvCxnSpPr>
          <p:nvPr/>
        </p:nvCxnSpPr>
        <p:spPr>
          <a:xfrm rot="10800000" flipH="1" flipV="1">
            <a:off x="1871612" y="4221432"/>
            <a:ext cx="467804" cy="951566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文字方塊 21">
                <a:extLst>
                  <a:ext uri="{FF2B5EF4-FFF2-40B4-BE49-F238E27FC236}">
                    <a16:creationId xmlns:a16="http://schemas.microsoft.com/office/drawing/2014/main" id="{AE2DCFBE-6018-9076-F2D2-1DB61E6327C0}"/>
                  </a:ext>
                </a:extLst>
              </p:cNvPr>
              <p:cNvSpPr txBox="1"/>
              <p:nvPr/>
            </p:nvSpPr>
            <p:spPr>
              <a:xfrm>
                <a:off x="2397435" y="2625303"/>
                <a:ext cx="613701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TW" sz="1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−0.7</m:t>
                      </m:r>
                    </m:oMath>
                  </m:oMathPara>
                </a14:m>
                <a:endParaRPr kumimoji="1" lang="zh-TW" altLang="en-US" sz="16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2" name="文字方塊 21">
                <a:extLst>
                  <a:ext uri="{FF2B5EF4-FFF2-40B4-BE49-F238E27FC236}">
                    <a16:creationId xmlns:a16="http://schemas.microsoft.com/office/drawing/2014/main" id="{AE2DCFBE-6018-9076-F2D2-1DB61E6327C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97435" y="2625303"/>
                <a:ext cx="613701" cy="338554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文字方塊 22">
                <a:extLst>
                  <a:ext uri="{FF2B5EF4-FFF2-40B4-BE49-F238E27FC236}">
                    <a16:creationId xmlns:a16="http://schemas.microsoft.com/office/drawing/2014/main" id="{FD3DD690-0104-A97A-2C3F-7DF0AC27AFA7}"/>
                  </a:ext>
                </a:extLst>
              </p:cNvPr>
              <p:cNvSpPr txBox="1"/>
              <p:nvPr/>
            </p:nvSpPr>
            <p:spPr>
              <a:xfrm>
                <a:off x="2397435" y="5574359"/>
                <a:ext cx="598355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TW" sz="1600" b="0" i="1" smtClean="0">
                          <a:latin typeface="Cambria Math" panose="02040503050406030204" pitchFamily="18" charset="0"/>
                        </a:rPr>
                        <m:t>−0.9</m:t>
                      </m:r>
                    </m:oMath>
                  </m:oMathPara>
                </a14:m>
                <a:endParaRPr kumimoji="1" lang="zh-TW" altLang="en-US" sz="1600" dirty="0"/>
              </a:p>
            </p:txBody>
          </p:sp>
        </mc:Choice>
        <mc:Fallback xmlns="">
          <p:sp>
            <p:nvSpPr>
              <p:cNvPr id="23" name="文字方塊 22">
                <a:extLst>
                  <a:ext uri="{FF2B5EF4-FFF2-40B4-BE49-F238E27FC236}">
                    <a16:creationId xmlns:a16="http://schemas.microsoft.com/office/drawing/2014/main" id="{FD3DD690-0104-A97A-2C3F-7DF0AC27AFA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97435" y="5574359"/>
                <a:ext cx="598355" cy="338554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圓角矩形 2">
            <a:extLst>
              <a:ext uri="{FF2B5EF4-FFF2-40B4-BE49-F238E27FC236}">
                <a16:creationId xmlns:a16="http://schemas.microsoft.com/office/drawing/2014/main" id="{8F43250E-61CA-2FCD-5713-EEE3A86898A2}"/>
              </a:ext>
            </a:extLst>
          </p:cNvPr>
          <p:cNvSpPr/>
          <p:nvPr/>
        </p:nvSpPr>
        <p:spPr>
          <a:xfrm>
            <a:off x="3848821" y="2545579"/>
            <a:ext cx="732055" cy="514110"/>
          </a:xfrm>
          <a:prstGeom prst="roundRect">
            <a:avLst/>
          </a:prstGeom>
          <a:solidFill>
            <a:srgbClr val="C5E0B4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en-US" altLang="zh-TW" sz="1600" dirty="0">
                <a:solidFill>
                  <a:schemeClr val="tx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like</a:t>
            </a:r>
            <a:endParaRPr kumimoji="1" lang="zh-TW" altLang="en-US" sz="1600" dirty="0">
              <a:solidFill>
                <a:schemeClr val="tx1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4" name="圓角矩形 3">
            <a:extLst>
              <a:ext uri="{FF2B5EF4-FFF2-40B4-BE49-F238E27FC236}">
                <a16:creationId xmlns:a16="http://schemas.microsoft.com/office/drawing/2014/main" id="{AFA1AEDB-F347-04F8-CEE1-E1D35D5B3651}"/>
              </a:ext>
            </a:extLst>
          </p:cNvPr>
          <p:cNvSpPr/>
          <p:nvPr/>
        </p:nvSpPr>
        <p:spPr>
          <a:xfrm>
            <a:off x="3848821" y="3341573"/>
            <a:ext cx="732056" cy="514110"/>
          </a:xfrm>
          <a:prstGeom prst="roundRect">
            <a:avLst/>
          </a:prstGeom>
          <a:solidFill>
            <a:srgbClr val="C5E0B4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en-US" altLang="zh-TW" sz="1600" dirty="0">
                <a:solidFill>
                  <a:schemeClr val="tx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want</a:t>
            </a:r>
            <a:endParaRPr kumimoji="1" lang="zh-TW" altLang="en-US" sz="1600" dirty="0">
              <a:solidFill>
                <a:schemeClr val="tx1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8" name="圓角矩形 7">
            <a:extLst>
              <a:ext uri="{FF2B5EF4-FFF2-40B4-BE49-F238E27FC236}">
                <a16:creationId xmlns:a16="http://schemas.microsoft.com/office/drawing/2014/main" id="{BFA3A0A1-CC3C-EC77-CEC9-146B482EBACE}"/>
              </a:ext>
            </a:extLst>
          </p:cNvPr>
          <p:cNvSpPr/>
          <p:nvPr/>
        </p:nvSpPr>
        <p:spPr>
          <a:xfrm>
            <a:off x="3848820" y="4658888"/>
            <a:ext cx="732056" cy="514110"/>
          </a:xfrm>
          <a:prstGeom prst="roundRect">
            <a:avLst/>
          </a:prstGeom>
          <a:solidFill>
            <a:srgbClr val="C5E0B4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en-US" altLang="zh-TW" sz="1600" dirty="0">
                <a:solidFill>
                  <a:schemeClr val="tx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want</a:t>
            </a:r>
            <a:endParaRPr kumimoji="1" lang="zh-TW" altLang="en-US" sz="1600" dirty="0">
              <a:solidFill>
                <a:schemeClr val="tx1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13" name="圓角矩形 12">
            <a:extLst>
              <a:ext uri="{FF2B5EF4-FFF2-40B4-BE49-F238E27FC236}">
                <a16:creationId xmlns:a16="http://schemas.microsoft.com/office/drawing/2014/main" id="{820CADDD-FB1E-6DA6-D861-460F1DAB89D2}"/>
              </a:ext>
            </a:extLst>
          </p:cNvPr>
          <p:cNvSpPr/>
          <p:nvPr/>
        </p:nvSpPr>
        <p:spPr>
          <a:xfrm>
            <a:off x="3848820" y="5403253"/>
            <a:ext cx="732056" cy="514110"/>
          </a:xfrm>
          <a:prstGeom prst="roundRect">
            <a:avLst/>
          </a:prstGeom>
          <a:solidFill>
            <a:srgbClr val="C5E0B4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en-US" altLang="zh-TW" sz="1600" dirty="0">
                <a:solidFill>
                  <a:schemeClr val="tx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are</a:t>
            </a:r>
            <a:endParaRPr kumimoji="1" lang="zh-TW" altLang="en-US" sz="1600" dirty="0">
              <a:solidFill>
                <a:schemeClr val="tx1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cxnSp>
        <p:nvCxnSpPr>
          <p:cNvPr id="15" name="直線箭頭接點 14">
            <a:extLst>
              <a:ext uri="{FF2B5EF4-FFF2-40B4-BE49-F238E27FC236}">
                <a16:creationId xmlns:a16="http://schemas.microsoft.com/office/drawing/2014/main" id="{8665C6F8-C70B-8089-DEF0-F0BF0A302E1F}"/>
              </a:ext>
            </a:extLst>
          </p:cNvPr>
          <p:cNvCxnSpPr>
            <a:cxnSpLocks/>
          </p:cNvCxnSpPr>
          <p:nvPr/>
        </p:nvCxnSpPr>
        <p:spPr>
          <a:xfrm flipV="1">
            <a:off x="3069156" y="2802634"/>
            <a:ext cx="686098" cy="35668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直線箭頭接點 24">
            <a:extLst>
              <a:ext uri="{FF2B5EF4-FFF2-40B4-BE49-F238E27FC236}">
                <a16:creationId xmlns:a16="http://schemas.microsoft.com/office/drawing/2014/main" id="{7E401430-2CB0-6CDC-4D3E-E2664C968009}"/>
              </a:ext>
            </a:extLst>
          </p:cNvPr>
          <p:cNvCxnSpPr>
            <a:cxnSpLocks/>
          </p:cNvCxnSpPr>
          <p:nvPr/>
        </p:nvCxnSpPr>
        <p:spPr>
          <a:xfrm>
            <a:off x="3086929" y="3269539"/>
            <a:ext cx="686098" cy="35668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直線箭頭接點 25">
            <a:extLst>
              <a:ext uri="{FF2B5EF4-FFF2-40B4-BE49-F238E27FC236}">
                <a16:creationId xmlns:a16="http://schemas.microsoft.com/office/drawing/2014/main" id="{5BEAD4A0-45EF-EF79-2FEC-25625B419A1C}"/>
              </a:ext>
            </a:extLst>
          </p:cNvPr>
          <p:cNvCxnSpPr>
            <a:cxnSpLocks/>
          </p:cNvCxnSpPr>
          <p:nvPr/>
        </p:nvCxnSpPr>
        <p:spPr>
          <a:xfrm>
            <a:off x="3079256" y="5304719"/>
            <a:ext cx="686098" cy="35668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直線箭頭接點 26">
            <a:extLst>
              <a:ext uri="{FF2B5EF4-FFF2-40B4-BE49-F238E27FC236}">
                <a16:creationId xmlns:a16="http://schemas.microsoft.com/office/drawing/2014/main" id="{0C436EAB-E031-DBE5-6881-81A4CA5C9777}"/>
              </a:ext>
            </a:extLst>
          </p:cNvPr>
          <p:cNvCxnSpPr>
            <a:cxnSpLocks/>
          </p:cNvCxnSpPr>
          <p:nvPr/>
        </p:nvCxnSpPr>
        <p:spPr>
          <a:xfrm flipV="1">
            <a:off x="3079256" y="4890148"/>
            <a:ext cx="686098" cy="35668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8" name="文字方塊 27">
                <a:extLst>
                  <a:ext uri="{FF2B5EF4-FFF2-40B4-BE49-F238E27FC236}">
                    <a16:creationId xmlns:a16="http://schemas.microsoft.com/office/drawing/2014/main" id="{4B7D302A-69BB-3B4C-110A-358900750293}"/>
                  </a:ext>
                </a:extLst>
              </p:cNvPr>
              <p:cNvSpPr txBox="1"/>
              <p:nvPr/>
            </p:nvSpPr>
            <p:spPr>
              <a:xfrm>
                <a:off x="3885019" y="2211250"/>
                <a:ext cx="613701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TW" sz="1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−1.7</m:t>
                      </m:r>
                    </m:oMath>
                  </m:oMathPara>
                </a14:m>
                <a:endParaRPr kumimoji="1" lang="zh-TW" altLang="en-US" sz="16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8" name="文字方塊 27">
                <a:extLst>
                  <a:ext uri="{FF2B5EF4-FFF2-40B4-BE49-F238E27FC236}">
                    <a16:creationId xmlns:a16="http://schemas.microsoft.com/office/drawing/2014/main" id="{4B7D302A-69BB-3B4C-110A-35890075029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85019" y="2211250"/>
                <a:ext cx="613701" cy="338554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文字方塊 28">
                <a:extLst>
                  <a:ext uri="{FF2B5EF4-FFF2-40B4-BE49-F238E27FC236}">
                    <a16:creationId xmlns:a16="http://schemas.microsoft.com/office/drawing/2014/main" id="{8F9CE310-A15D-4542-74A8-BF14C20D7734}"/>
                  </a:ext>
                </a:extLst>
              </p:cNvPr>
              <p:cNvSpPr txBox="1"/>
              <p:nvPr/>
            </p:nvSpPr>
            <p:spPr>
              <a:xfrm>
                <a:off x="3885019" y="3844284"/>
                <a:ext cx="613700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TW" sz="1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−2.9</m:t>
                      </m:r>
                    </m:oMath>
                  </m:oMathPara>
                </a14:m>
                <a:endParaRPr kumimoji="1" lang="zh-TW" altLang="en-US" sz="16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9" name="文字方塊 28">
                <a:extLst>
                  <a:ext uri="{FF2B5EF4-FFF2-40B4-BE49-F238E27FC236}">
                    <a16:creationId xmlns:a16="http://schemas.microsoft.com/office/drawing/2014/main" id="{8F9CE310-A15D-4542-74A8-BF14C20D773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85019" y="3844284"/>
                <a:ext cx="613700" cy="338554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" name="文字方塊 29">
                <a:extLst>
                  <a:ext uri="{FF2B5EF4-FFF2-40B4-BE49-F238E27FC236}">
                    <a16:creationId xmlns:a16="http://schemas.microsoft.com/office/drawing/2014/main" id="{1834D209-F6BD-1B0A-BF59-E0500E0C63A1}"/>
                  </a:ext>
                </a:extLst>
              </p:cNvPr>
              <p:cNvSpPr txBox="1"/>
              <p:nvPr/>
            </p:nvSpPr>
            <p:spPr>
              <a:xfrm>
                <a:off x="3885019" y="4345643"/>
                <a:ext cx="613701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TW" sz="1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−1.6</m:t>
                      </m:r>
                    </m:oMath>
                  </m:oMathPara>
                </a14:m>
                <a:endParaRPr kumimoji="1" lang="zh-TW" altLang="en-US" sz="16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0" name="文字方塊 29">
                <a:extLst>
                  <a:ext uri="{FF2B5EF4-FFF2-40B4-BE49-F238E27FC236}">
                    <a16:creationId xmlns:a16="http://schemas.microsoft.com/office/drawing/2014/main" id="{1834D209-F6BD-1B0A-BF59-E0500E0C63A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85019" y="4345643"/>
                <a:ext cx="613701" cy="338554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" name="文字方塊 30">
                <a:extLst>
                  <a:ext uri="{FF2B5EF4-FFF2-40B4-BE49-F238E27FC236}">
                    <a16:creationId xmlns:a16="http://schemas.microsoft.com/office/drawing/2014/main" id="{4D3DAC6B-5B92-1CFD-751E-6687CB641DB3}"/>
                  </a:ext>
                </a:extLst>
              </p:cNvPr>
              <p:cNvSpPr txBox="1"/>
              <p:nvPr/>
            </p:nvSpPr>
            <p:spPr>
              <a:xfrm>
                <a:off x="3848820" y="5910891"/>
                <a:ext cx="686099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TW" sz="1600" b="0" i="1" smtClean="0">
                          <a:latin typeface="Cambria Math" panose="02040503050406030204" pitchFamily="18" charset="0"/>
                        </a:rPr>
                        <m:t>−1.8</m:t>
                      </m:r>
                    </m:oMath>
                  </m:oMathPara>
                </a14:m>
                <a:endParaRPr kumimoji="1" lang="zh-TW" altLang="en-US" sz="1600" dirty="0"/>
              </a:p>
            </p:txBody>
          </p:sp>
        </mc:Choice>
        <mc:Fallback xmlns="">
          <p:sp>
            <p:nvSpPr>
              <p:cNvPr id="31" name="文字方塊 30">
                <a:extLst>
                  <a:ext uri="{FF2B5EF4-FFF2-40B4-BE49-F238E27FC236}">
                    <a16:creationId xmlns:a16="http://schemas.microsoft.com/office/drawing/2014/main" id="{4D3DAC6B-5B92-1CFD-751E-6687CB641DB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48820" y="5910891"/>
                <a:ext cx="686099" cy="338554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" name="圓角矩形 17">
            <a:extLst>
              <a:ext uri="{FF2B5EF4-FFF2-40B4-BE49-F238E27FC236}">
                <a16:creationId xmlns:a16="http://schemas.microsoft.com/office/drawing/2014/main" id="{601EF68D-AB15-2BE7-FB27-3732E7DC8DC8}"/>
              </a:ext>
            </a:extLst>
          </p:cNvPr>
          <p:cNvSpPr/>
          <p:nvPr/>
        </p:nvSpPr>
        <p:spPr>
          <a:xfrm>
            <a:off x="5426258" y="2144666"/>
            <a:ext cx="732055" cy="514110"/>
          </a:xfrm>
          <a:prstGeom prst="roundRect">
            <a:avLst/>
          </a:prstGeom>
          <a:solidFill>
            <a:srgbClr val="C5E0B4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en-US" altLang="zh-TW" sz="1600" dirty="0">
                <a:solidFill>
                  <a:schemeClr val="tx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to</a:t>
            </a:r>
            <a:endParaRPr kumimoji="1" lang="zh-TW" altLang="en-US" sz="1600" dirty="0">
              <a:solidFill>
                <a:schemeClr val="tx1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24" name="圓角矩形 23">
            <a:extLst>
              <a:ext uri="{FF2B5EF4-FFF2-40B4-BE49-F238E27FC236}">
                <a16:creationId xmlns:a16="http://schemas.microsoft.com/office/drawing/2014/main" id="{0CBAD8EE-42E2-E1A6-D756-AFEE80F6B6C3}"/>
              </a:ext>
            </a:extLst>
          </p:cNvPr>
          <p:cNvSpPr/>
          <p:nvPr/>
        </p:nvSpPr>
        <p:spPr>
          <a:xfrm>
            <a:off x="5426258" y="2940660"/>
            <a:ext cx="732056" cy="514110"/>
          </a:xfrm>
          <a:prstGeom prst="roundRect">
            <a:avLst/>
          </a:prstGeom>
          <a:solidFill>
            <a:srgbClr val="C5E0B4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en-US" altLang="zh-TW" sz="1300" dirty="0">
                <a:solidFill>
                  <a:schemeClr val="tx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books</a:t>
            </a:r>
            <a:endParaRPr kumimoji="1" lang="zh-TW" altLang="en-US" sz="1300" dirty="0">
              <a:solidFill>
                <a:schemeClr val="tx1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cxnSp>
        <p:nvCxnSpPr>
          <p:cNvPr id="35" name="直線箭頭接點 34">
            <a:extLst>
              <a:ext uri="{FF2B5EF4-FFF2-40B4-BE49-F238E27FC236}">
                <a16:creationId xmlns:a16="http://schemas.microsoft.com/office/drawing/2014/main" id="{46E46508-67A3-47D1-F2E4-593015865BD2}"/>
              </a:ext>
            </a:extLst>
          </p:cNvPr>
          <p:cNvCxnSpPr>
            <a:cxnSpLocks/>
          </p:cNvCxnSpPr>
          <p:nvPr/>
        </p:nvCxnSpPr>
        <p:spPr>
          <a:xfrm flipV="1">
            <a:off x="4646593" y="2401721"/>
            <a:ext cx="686098" cy="35668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直線箭頭接點 35">
            <a:extLst>
              <a:ext uri="{FF2B5EF4-FFF2-40B4-BE49-F238E27FC236}">
                <a16:creationId xmlns:a16="http://schemas.microsoft.com/office/drawing/2014/main" id="{454CD8D4-70BA-C50F-4173-C4EFAF415F32}"/>
              </a:ext>
            </a:extLst>
          </p:cNvPr>
          <p:cNvCxnSpPr>
            <a:cxnSpLocks/>
          </p:cNvCxnSpPr>
          <p:nvPr/>
        </p:nvCxnSpPr>
        <p:spPr>
          <a:xfrm>
            <a:off x="4664366" y="2868626"/>
            <a:ext cx="686098" cy="35668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7" name="文字方塊 36">
                <a:extLst>
                  <a:ext uri="{FF2B5EF4-FFF2-40B4-BE49-F238E27FC236}">
                    <a16:creationId xmlns:a16="http://schemas.microsoft.com/office/drawing/2014/main" id="{5B72CF1E-2455-77B2-4E63-0388B571BA45}"/>
                  </a:ext>
                </a:extLst>
              </p:cNvPr>
              <p:cNvSpPr txBox="1"/>
              <p:nvPr/>
            </p:nvSpPr>
            <p:spPr>
              <a:xfrm>
                <a:off x="5518071" y="1789852"/>
                <a:ext cx="530678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TW" sz="1600" b="0" i="1" smtClean="0">
                          <a:latin typeface="Cambria Math" panose="02040503050406030204" pitchFamily="18" charset="0"/>
                        </a:rPr>
                        <m:t>−2.8</m:t>
                      </m:r>
                    </m:oMath>
                  </m:oMathPara>
                </a14:m>
                <a:endParaRPr kumimoji="1" lang="zh-TW" altLang="en-US" sz="1600" dirty="0"/>
              </a:p>
            </p:txBody>
          </p:sp>
        </mc:Choice>
        <mc:Fallback xmlns="">
          <p:sp>
            <p:nvSpPr>
              <p:cNvPr id="37" name="文字方塊 36">
                <a:extLst>
                  <a:ext uri="{FF2B5EF4-FFF2-40B4-BE49-F238E27FC236}">
                    <a16:creationId xmlns:a16="http://schemas.microsoft.com/office/drawing/2014/main" id="{5B72CF1E-2455-77B2-4E63-0388B571BA4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18071" y="1789852"/>
                <a:ext cx="530678" cy="338554"/>
              </a:xfrm>
              <a:prstGeom prst="rect">
                <a:avLst/>
              </a:prstGeom>
              <a:blipFill>
                <a:blip r:embed="rId9"/>
                <a:stretch>
                  <a:fillRect r="-9302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8" name="文字方塊 37">
                <a:extLst>
                  <a:ext uri="{FF2B5EF4-FFF2-40B4-BE49-F238E27FC236}">
                    <a16:creationId xmlns:a16="http://schemas.microsoft.com/office/drawing/2014/main" id="{75DED9B6-F0F3-1533-17C3-AE4E8F2376DC}"/>
                  </a:ext>
                </a:extLst>
              </p:cNvPr>
              <p:cNvSpPr txBox="1"/>
              <p:nvPr/>
            </p:nvSpPr>
            <p:spPr>
              <a:xfrm>
                <a:off x="5500315" y="3428408"/>
                <a:ext cx="566190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TW" sz="1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−2.</m:t>
                      </m:r>
                      <m:r>
                        <a:rPr kumimoji="1" lang="en-US" altLang="zh-TW" sz="1600" b="0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5</m:t>
                      </m:r>
                    </m:oMath>
                  </m:oMathPara>
                </a14:m>
                <a:endParaRPr kumimoji="1" lang="zh-TW" altLang="en-US" sz="16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8" name="文字方塊 37">
                <a:extLst>
                  <a:ext uri="{FF2B5EF4-FFF2-40B4-BE49-F238E27FC236}">
                    <a16:creationId xmlns:a16="http://schemas.microsoft.com/office/drawing/2014/main" id="{75DED9B6-F0F3-1533-17C3-AE4E8F2376D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00315" y="3428408"/>
                <a:ext cx="566190" cy="338554"/>
              </a:xfrm>
              <a:prstGeom prst="rect">
                <a:avLst/>
              </a:prstGeom>
              <a:blipFill>
                <a:blip r:embed="rId10"/>
                <a:stretch>
                  <a:fillRect r="-4348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9" name="圓角矩形 38">
            <a:extLst>
              <a:ext uri="{FF2B5EF4-FFF2-40B4-BE49-F238E27FC236}">
                <a16:creationId xmlns:a16="http://schemas.microsoft.com/office/drawing/2014/main" id="{8D37F53C-38B0-72B7-761E-CCE30BD3F6A2}"/>
              </a:ext>
            </a:extLst>
          </p:cNvPr>
          <p:cNvSpPr/>
          <p:nvPr/>
        </p:nvSpPr>
        <p:spPr>
          <a:xfrm>
            <a:off x="5444007" y="4253284"/>
            <a:ext cx="732055" cy="514110"/>
          </a:xfrm>
          <a:prstGeom prst="roundRect">
            <a:avLst/>
          </a:prstGeom>
          <a:solidFill>
            <a:srgbClr val="C5E0B4"/>
          </a:solidFill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en-US" altLang="zh-TW" sz="1600" dirty="0">
                <a:solidFill>
                  <a:srgbClr val="FF0000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to</a:t>
            </a:r>
            <a:endParaRPr kumimoji="1" lang="zh-TW" altLang="en-US" sz="1600" dirty="0">
              <a:solidFill>
                <a:srgbClr val="FF0000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40" name="圓角矩形 39">
            <a:extLst>
              <a:ext uri="{FF2B5EF4-FFF2-40B4-BE49-F238E27FC236}">
                <a16:creationId xmlns:a16="http://schemas.microsoft.com/office/drawing/2014/main" id="{A3DAE183-4DB4-FB98-30FA-C42FE80C7E5C}"/>
              </a:ext>
            </a:extLst>
          </p:cNvPr>
          <p:cNvSpPr/>
          <p:nvPr/>
        </p:nvSpPr>
        <p:spPr>
          <a:xfrm>
            <a:off x="5444007" y="5049278"/>
            <a:ext cx="732056" cy="514110"/>
          </a:xfrm>
          <a:prstGeom prst="roundRect">
            <a:avLst/>
          </a:prstGeom>
          <a:solidFill>
            <a:srgbClr val="C5E0B4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en-US" altLang="zh-TW" sz="1600" dirty="0">
                <a:solidFill>
                  <a:schemeClr val="tx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tea</a:t>
            </a:r>
            <a:endParaRPr kumimoji="1" lang="zh-TW" altLang="en-US" sz="1600" dirty="0">
              <a:solidFill>
                <a:schemeClr val="tx1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cxnSp>
        <p:nvCxnSpPr>
          <p:cNvPr id="41" name="直線箭頭接點 40">
            <a:extLst>
              <a:ext uri="{FF2B5EF4-FFF2-40B4-BE49-F238E27FC236}">
                <a16:creationId xmlns:a16="http://schemas.microsoft.com/office/drawing/2014/main" id="{02DB8DA1-DF6A-7639-0750-34AB62672E0C}"/>
              </a:ext>
            </a:extLst>
          </p:cNvPr>
          <p:cNvCxnSpPr>
            <a:cxnSpLocks/>
          </p:cNvCxnSpPr>
          <p:nvPr/>
        </p:nvCxnSpPr>
        <p:spPr>
          <a:xfrm flipV="1">
            <a:off x="4664342" y="4510339"/>
            <a:ext cx="686098" cy="35668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直線箭頭接點 41">
            <a:extLst>
              <a:ext uri="{FF2B5EF4-FFF2-40B4-BE49-F238E27FC236}">
                <a16:creationId xmlns:a16="http://schemas.microsoft.com/office/drawing/2014/main" id="{C5EC476E-EC31-2D86-E6B2-EBF1955BF1E5}"/>
              </a:ext>
            </a:extLst>
          </p:cNvPr>
          <p:cNvCxnSpPr>
            <a:cxnSpLocks/>
          </p:cNvCxnSpPr>
          <p:nvPr/>
        </p:nvCxnSpPr>
        <p:spPr>
          <a:xfrm>
            <a:off x="4682115" y="4977244"/>
            <a:ext cx="686098" cy="35668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3" name="文字方塊 42">
                <a:extLst>
                  <a:ext uri="{FF2B5EF4-FFF2-40B4-BE49-F238E27FC236}">
                    <a16:creationId xmlns:a16="http://schemas.microsoft.com/office/drawing/2014/main" id="{9322DFDD-EFF0-7244-F30C-F19809A79EB8}"/>
                  </a:ext>
                </a:extLst>
              </p:cNvPr>
              <p:cNvSpPr txBox="1"/>
              <p:nvPr/>
            </p:nvSpPr>
            <p:spPr>
              <a:xfrm>
                <a:off x="5495873" y="3926009"/>
                <a:ext cx="575074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TW" sz="16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−2.9</m:t>
                      </m:r>
                    </m:oMath>
                  </m:oMathPara>
                </a14:m>
                <a:endParaRPr kumimoji="1" lang="zh-TW" altLang="en-US" sz="16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43" name="文字方塊 42">
                <a:extLst>
                  <a:ext uri="{FF2B5EF4-FFF2-40B4-BE49-F238E27FC236}">
                    <a16:creationId xmlns:a16="http://schemas.microsoft.com/office/drawing/2014/main" id="{9322DFDD-EFF0-7244-F30C-F19809A79EB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95873" y="3926009"/>
                <a:ext cx="575074" cy="338554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4" name="文字方塊 43">
                <a:extLst>
                  <a:ext uri="{FF2B5EF4-FFF2-40B4-BE49-F238E27FC236}">
                    <a16:creationId xmlns:a16="http://schemas.microsoft.com/office/drawing/2014/main" id="{08361A65-0546-D0FE-B2EE-A1BC12C81851}"/>
                  </a:ext>
                </a:extLst>
              </p:cNvPr>
              <p:cNvSpPr txBox="1"/>
              <p:nvPr/>
            </p:nvSpPr>
            <p:spPr>
              <a:xfrm>
                <a:off x="5509190" y="5559395"/>
                <a:ext cx="548440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TW" sz="1600" b="0" i="1" smtClean="0">
                          <a:latin typeface="Cambria Math" panose="02040503050406030204" pitchFamily="18" charset="0"/>
                        </a:rPr>
                        <m:t>−3.8</m:t>
                      </m:r>
                    </m:oMath>
                  </m:oMathPara>
                </a14:m>
                <a:endParaRPr kumimoji="1" lang="zh-TW" altLang="en-US" sz="1600" dirty="0"/>
              </a:p>
            </p:txBody>
          </p:sp>
        </mc:Choice>
        <mc:Fallback xmlns="">
          <p:sp>
            <p:nvSpPr>
              <p:cNvPr id="44" name="文字方塊 43">
                <a:extLst>
                  <a:ext uri="{FF2B5EF4-FFF2-40B4-BE49-F238E27FC236}">
                    <a16:creationId xmlns:a16="http://schemas.microsoft.com/office/drawing/2014/main" id="{08361A65-0546-D0FE-B2EE-A1BC12C8185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09190" y="5559395"/>
                <a:ext cx="548440" cy="338554"/>
              </a:xfrm>
              <a:prstGeom prst="rect">
                <a:avLst/>
              </a:prstGeom>
              <a:blipFill>
                <a:blip r:embed="rId12"/>
                <a:stretch>
                  <a:fillRect r="-4444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圓角矩形 1">
            <a:extLst>
              <a:ext uri="{FF2B5EF4-FFF2-40B4-BE49-F238E27FC236}">
                <a16:creationId xmlns:a16="http://schemas.microsoft.com/office/drawing/2014/main" id="{FCC80EAE-A748-DD7C-9D1D-B90050229D28}"/>
              </a:ext>
            </a:extLst>
          </p:cNvPr>
          <p:cNvSpPr/>
          <p:nvPr/>
        </p:nvSpPr>
        <p:spPr>
          <a:xfrm>
            <a:off x="6959306" y="2544320"/>
            <a:ext cx="810689" cy="514110"/>
          </a:xfrm>
          <a:prstGeom prst="roundRect">
            <a:avLst/>
          </a:prstGeom>
          <a:solidFill>
            <a:srgbClr val="C5E0B4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en-US" altLang="zh-TW" sz="1600" dirty="0">
                <a:solidFill>
                  <a:schemeClr val="tx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watch</a:t>
            </a:r>
            <a:endParaRPr kumimoji="1" lang="zh-TW" altLang="en-US" sz="1600" dirty="0">
              <a:solidFill>
                <a:schemeClr val="tx1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16" name="圓角矩形 15">
            <a:extLst>
              <a:ext uri="{FF2B5EF4-FFF2-40B4-BE49-F238E27FC236}">
                <a16:creationId xmlns:a16="http://schemas.microsoft.com/office/drawing/2014/main" id="{624AFD73-A0D9-AE22-080A-91A4FC5F408D}"/>
              </a:ext>
            </a:extLst>
          </p:cNvPr>
          <p:cNvSpPr/>
          <p:nvPr/>
        </p:nvSpPr>
        <p:spPr>
          <a:xfrm>
            <a:off x="6959308" y="1747929"/>
            <a:ext cx="810689" cy="514110"/>
          </a:xfrm>
          <a:prstGeom prst="roundRect">
            <a:avLst/>
          </a:prstGeom>
          <a:solidFill>
            <a:srgbClr val="C5E0B4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en-US" altLang="zh-TW" sz="1600" dirty="0">
                <a:solidFill>
                  <a:schemeClr val="tx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read</a:t>
            </a:r>
            <a:endParaRPr kumimoji="1" lang="zh-TW" altLang="en-US" sz="1600" dirty="0">
              <a:solidFill>
                <a:schemeClr val="tx1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20" name="圓角矩形 19">
            <a:extLst>
              <a:ext uri="{FF2B5EF4-FFF2-40B4-BE49-F238E27FC236}">
                <a16:creationId xmlns:a16="http://schemas.microsoft.com/office/drawing/2014/main" id="{4F17797E-F2DB-5ADF-02FE-E0226F7ACE16}"/>
              </a:ext>
            </a:extLst>
          </p:cNvPr>
          <p:cNvSpPr/>
          <p:nvPr/>
        </p:nvSpPr>
        <p:spPr>
          <a:xfrm>
            <a:off x="6959307" y="3652720"/>
            <a:ext cx="810689" cy="514110"/>
          </a:xfrm>
          <a:prstGeom prst="roundRect">
            <a:avLst/>
          </a:prstGeom>
          <a:solidFill>
            <a:srgbClr val="C5E0B4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en-US" altLang="zh-TW" sz="1600" dirty="0">
                <a:solidFill>
                  <a:schemeClr val="tx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and</a:t>
            </a:r>
            <a:endParaRPr kumimoji="1" lang="zh-TW" altLang="en-US" sz="1600" dirty="0">
              <a:solidFill>
                <a:schemeClr val="tx1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21" name="圓角矩形 20">
            <a:extLst>
              <a:ext uri="{FF2B5EF4-FFF2-40B4-BE49-F238E27FC236}">
                <a16:creationId xmlns:a16="http://schemas.microsoft.com/office/drawing/2014/main" id="{3B819ECA-E0CE-0C5D-FF83-5E3EE687278A}"/>
              </a:ext>
            </a:extLst>
          </p:cNvPr>
          <p:cNvSpPr/>
          <p:nvPr/>
        </p:nvSpPr>
        <p:spPr>
          <a:xfrm>
            <a:off x="6959307" y="4451194"/>
            <a:ext cx="810689" cy="514110"/>
          </a:xfrm>
          <a:prstGeom prst="roundRect">
            <a:avLst/>
          </a:prstGeom>
          <a:solidFill>
            <a:srgbClr val="C5E0B4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en-US" altLang="zh-TW" sz="1600" dirty="0">
                <a:solidFill>
                  <a:schemeClr val="tx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party</a:t>
            </a:r>
            <a:endParaRPr kumimoji="1" lang="zh-TW" altLang="en-US" sz="1600" dirty="0">
              <a:solidFill>
                <a:schemeClr val="tx1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cxnSp>
        <p:nvCxnSpPr>
          <p:cNvPr id="32" name="直線箭頭接點 31">
            <a:extLst>
              <a:ext uri="{FF2B5EF4-FFF2-40B4-BE49-F238E27FC236}">
                <a16:creationId xmlns:a16="http://schemas.microsoft.com/office/drawing/2014/main" id="{FFD04519-C5EE-5166-1A97-1250B554FDCF}"/>
              </a:ext>
            </a:extLst>
          </p:cNvPr>
          <p:cNvCxnSpPr>
            <a:cxnSpLocks/>
          </p:cNvCxnSpPr>
          <p:nvPr/>
        </p:nvCxnSpPr>
        <p:spPr>
          <a:xfrm flipV="1">
            <a:off x="6251880" y="1957795"/>
            <a:ext cx="635929" cy="41489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直線箭頭接點 33">
            <a:extLst>
              <a:ext uri="{FF2B5EF4-FFF2-40B4-BE49-F238E27FC236}">
                <a16:creationId xmlns:a16="http://schemas.microsoft.com/office/drawing/2014/main" id="{6E11CB0D-D77D-45B7-25D6-C3B2C6965F47}"/>
              </a:ext>
            </a:extLst>
          </p:cNvPr>
          <p:cNvCxnSpPr>
            <a:cxnSpLocks/>
          </p:cNvCxnSpPr>
          <p:nvPr/>
        </p:nvCxnSpPr>
        <p:spPr>
          <a:xfrm>
            <a:off x="6259576" y="2420845"/>
            <a:ext cx="628233" cy="462307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直線箭頭接點 47">
            <a:extLst>
              <a:ext uri="{FF2B5EF4-FFF2-40B4-BE49-F238E27FC236}">
                <a16:creationId xmlns:a16="http://schemas.microsoft.com/office/drawing/2014/main" id="{56F25780-7D26-D5A3-3618-1135CB12AAC1}"/>
              </a:ext>
            </a:extLst>
          </p:cNvPr>
          <p:cNvCxnSpPr>
            <a:cxnSpLocks/>
          </p:cNvCxnSpPr>
          <p:nvPr/>
        </p:nvCxnSpPr>
        <p:spPr>
          <a:xfrm>
            <a:off x="6251879" y="3215471"/>
            <a:ext cx="625270" cy="694304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直線箭頭接點 49">
            <a:extLst>
              <a:ext uri="{FF2B5EF4-FFF2-40B4-BE49-F238E27FC236}">
                <a16:creationId xmlns:a16="http://schemas.microsoft.com/office/drawing/2014/main" id="{70EA67BC-FF40-CF85-BF93-26350692CB6F}"/>
              </a:ext>
            </a:extLst>
          </p:cNvPr>
          <p:cNvCxnSpPr>
            <a:cxnSpLocks/>
          </p:cNvCxnSpPr>
          <p:nvPr/>
        </p:nvCxnSpPr>
        <p:spPr>
          <a:xfrm>
            <a:off x="6246934" y="3268249"/>
            <a:ext cx="630215" cy="1499145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2" name="文字方塊 51">
                <a:extLst>
                  <a:ext uri="{FF2B5EF4-FFF2-40B4-BE49-F238E27FC236}">
                    <a16:creationId xmlns:a16="http://schemas.microsoft.com/office/drawing/2014/main" id="{EC0517B7-256E-F152-381C-CE5B518C49B6}"/>
                  </a:ext>
                </a:extLst>
              </p:cNvPr>
              <p:cNvSpPr txBox="1"/>
              <p:nvPr/>
            </p:nvSpPr>
            <p:spPr>
              <a:xfrm>
                <a:off x="6990563" y="1422320"/>
                <a:ext cx="643283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TW" sz="1600" b="0" i="1" smtClean="0">
                          <a:latin typeface="Cambria Math" panose="02040503050406030204" pitchFamily="18" charset="0"/>
                        </a:rPr>
                        <m:t>−4.1</m:t>
                      </m:r>
                    </m:oMath>
                  </m:oMathPara>
                </a14:m>
                <a:endParaRPr kumimoji="1" lang="zh-TW" altLang="en-US" sz="1600" dirty="0"/>
              </a:p>
            </p:txBody>
          </p:sp>
        </mc:Choice>
        <mc:Fallback xmlns="">
          <p:sp>
            <p:nvSpPr>
              <p:cNvPr id="52" name="文字方塊 51">
                <a:extLst>
                  <a:ext uri="{FF2B5EF4-FFF2-40B4-BE49-F238E27FC236}">
                    <a16:creationId xmlns:a16="http://schemas.microsoft.com/office/drawing/2014/main" id="{EC0517B7-256E-F152-381C-CE5B518C49B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90563" y="1422320"/>
                <a:ext cx="643283" cy="338554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3" name="文字方塊 52">
                <a:extLst>
                  <a:ext uri="{FF2B5EF4-FFF2-40B4-BE49-F238E27FC236}">
                    <a16:creationId xmlns:a16="http://schemas.microsoft.com/office/drawing/2014/main" id="{6F906C2F-5027-8893-C1EC-DB34E9C0E2C2}"/>
                  </a:ext>
                </a:extLst>
              </p:cNvPr>
              <p:cNvSpPr txBox="1"/>
              <p:nvPr/>
            </p:nvSpPr>
            <p:spPr>
              <a:xfrm>
                <a:off x="7034878" y="3014097"/>
                <a:ext cx="530678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TW" sz="1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−3.2</m:t>
                      </m:r>
                    </m:oMath>
                  </m:oMathPara>
                </a14:m>
                <a:endParaRPr kumimoji="1" lang="zh-TW" altLang="en-US" sz="16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53" name="文字方塊 52">
                <a:extLst>
                  <a:ext uri="{FF2B5EF4-FFF2-40B4-BE49-F238E27FC236}">
                    <a16:creationId xmlns:a16="http://schemas.microsoft.com/office/drawing/2014/main" id="{6F906C2F-5027-8893-C1EC-DB34E9C0E2C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34878" y="3014097"/>
                <a:ext cx="530678" cy="338554"/>
              </a:xfrm>
              <a:prstGeom prst="rect">
                <a:avLst/>
              </a:prstGeom>
              <a:blipFill>
                <a:blip r:embed="rId14"/>
                <a:stretch>
                  <a:fillRect r="-9302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4" name="文字方塊 53">
                <a:extLst>
                  <a:ext uri="{FF2B5EF4-FFF2-40B4-BE49-F238E27FC236}">
                    <a16:creationId xmlns:a16="http://schemas.microsoft.com/office/drawing/2014/main" id="{16676045-5672-AA81-F226-84FF0BBA8EFB}"/>
                  </a:ext>
                </a:extLst>
              </p:cNvPr>
              <p:cNvSpPr txBox="1"/>
              <p:nvPr/>
            </p:nvSpPr>
            <p:spPr>
              <a:xfrm>
                <a:off x="7034878" y="3380849"/>
                <a:ext cx="530678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TW" sz="1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−3.3</m:t>
                      </m:r>
                    </m:oMath>
                  </m:oMathPara>
                </a14:m>
                <a:endParaRPr kumimoji="1" lang="zh-TW" altLang="en-US" sz="16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54" name="文字方塊 53">
                <a:extLst>
                  <a:ext uri="{FF2B5EF4-FFF2-40B4-BE49-F238E27FC236}">
                    <a16:creationId xmlns:a16="http://schemas.microsoft.com/office/drawing/2014/main" id="{16676045-5672-AA81-F226-84FF0BBA8EF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34878" y="3380849"/>
                <a:ext cx="530678" cy="338554"/>
              </a:xfrm>
              <a:prstGeom prst="rect">
                <a:avLst/>
              </a:prstGeom>
              <a:blipFill>
                <a:blip r:embed="rId15"/>
                <a:stretch>
                  <a:fillRect r="-9302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7" name="文字方塊 56">
                <a:extLst>
                  <a:ext uri="{FF2B5EF4-FFF2-40B4-BE49-F238E27FC236}">
                    <a16:creationId xmlns:a16="http://schemas.microsoft.com/office/drawing/2014/main" id="{F9C59B25-2255-0ACF-CE91-AC14A5AC8D46}"/>
                  </a:ext>
                </a:extLst>
              </p:cNvPr>
              <p:cNvSpPr txBox="1"/>
              <p:nvPr/>
            </p:nvSpPr>
            <p:spPr>
              <a:xfrm>
                <a:off x="7046866" y="4946362"/>
                <a:ext cx="530678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TW" sz="1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−3.5</m:t>
                      </m:r>
                    </m:oMath>
                  </m:oMathPara>
                </a14:m>
                <a:endParaRPr kumimoji="1" lang="zh-TW" altLang="en-US" sz="16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57" name="文字方塊 56">
                <a:extLst>
                  <a:ext uri="{FF2B5EF4-FFF2-40B4-BE49-F238E27FC236}">
                    <a16:creationId xmlns:a16="http://schemas.microsoft.com/office/drawing/2014/main" id="{F9C59B25-2255-0ACF-CE91-AC14A5AC8D4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46866" y="4946362"/>
                <a:ext cx="530678" cy="338554"/>
              </a:xfrm>
              <a:prstGeom prst="rect">
                <a:avLst/>
              </a:prstGeom>
              <a:blipFill>
                <a:blip r:embed="rId16"/>
                <a:stretch>
                  <a:fillRect r="-9302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2" name="圓角矩形 61">
            <a:extLst>
              <a:ext uri="{FF2B5EF4-FFF2-40B4-BE49-F238E27FC236}">
                <a16:creationId xmlns:a16="http://schemas.microsoft.com/office/drawing/2014/main" id="{4B769ABC-2D1E-CB77-8C48-CD005D939EA0}"/>
              </a:ext>
            </a:extLst>
          </p:cNvPr>
          <p:cNvSpPr/>
          <p:nvPr/>
        </p:nvSpPr>
        <p:spPr>
          <a:xfrm>
            <a:off x="8566509" y="2541946"/>
            <a:ext cx="810689" cy="514110"/>
          </a:xfrm>
          <a:prstGeom prst="roundRect">
            <a:avLst/>
          </a:prstGeom>
          <a:solidFill>
            <a:srgbClr val="C5E0B4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en-US" altLang="zh-TW" sz="1300" dirty="0">
                <a:solidFill>
                  <a:schemeClr val="tx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horror</a:t>
            </a:r>
            <a:endParaRPr kumimoji="1" lang="zh-TW" altLang="en-US" sz="1300" dirty="0">
              <a:solidFill>
                <a:schemeClr val="tx1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63" name="圓角矩形 62">
            <a:extLst>
              <a:ext uri="{FF2B5EF4-FFF2-40B4-BE49-F238E27FC236}">
                <a16:creationId xmlns:a16="http://schemas.microsoft.com/office/drawing/2014/main" id="{A18B5995-7936-68CC-EB41-6DE84B364041}"/>
              </a:ext>
            </a:extLst>
          </p:cNvPr>
          <p:cNvSpPr/>
          <p:nvPr/>
        </p:nvSpPr>
        <p:spPr>
          <a:xfrm>
            <a:off x="8566509" y="1745555"/>
            <a:ext cx="810689" cy="514110"/>
          </a:xfrm>
          <a:prstGeom prst="roundRect">
            <a:avLst/>
          </a:prstGeom>
          <a:solidFill>
            <a:srgbClr val="C5E0B4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en-US" altLang="zh-TW" sz="1600" dirty="0">
                <a:solidFill>
                  <a:schemeClr val="tx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tv</a:t>
            </a:r>
            <a:endParaRPr kumimoji="1" lang="zh-TW" altLang="en-US" sz="1600" dirty="0">
              <a:solidFill>
                <a:schemeClr val="tx1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cxnSp>
        <p:nvCxnSpPr>
          <p:cNvPr id="64" name="直線箭頭接點 63">
            <a:extLst>
              <a:ext uri="{FF2B5EF4-FFF2-40B4-BE49-F238E27FC236}">
                <a16:creationId xmlns:a16="http://schemas.microsoft.com/office/drawing/2014/main" id="{F9B8227B-B2AF-EA84-9CAC-78F856341887}"/>
              </a:ext>
            </a:extLst>
          </p:cNvPr>
          <p:cNvCxnSpPr>
            <a:cxnSpLocks/>
          </p:cNvCxnSpPr>
          <p:nvPr/>
        </p:nvCxnSpPr>
        <p:spPr>
          <a:xfrm>
            <a:off x="7868037" y="2801375"/>
            <a:ext cx="583505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直線箭頭接點 67">
            <a:extLst>
              <a:ext uri="{FF2B5EF4-FFF2-40B4-BE49-F238E27FC236}">
                <a16:creationId xmlns:a16="http://schemas.microsoft.com/office/drawing/2014/main" id="{B09A036F-DE62-BB87-4E4C-E2841664A1C1}"/>
              </a:ext>
            </a:extLst>
          </p:cNvPr>
          <p:cNvCxnSpPr>
            <a:cxnSpLocks/>
          </p:cNvCxnSpPr>
          <p:nvPr/>
        </p:nvCxnSpPr>
        <p:spPr>
          <a:xfrm flipV="1">
            <a:off x="7868037" y="2002610"/>
            <a:ext cx="583505" cy="755791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1" name="圓角矩形 70">
            <a:extLst>
              <a:ext uri="{FF2B5EF4-FFF2-40B4-BE49-F238E27FC236}">
                <a16:creationId xmlns:a16="http://schemas.microsoft.com/office/drawing/2014/main" id="{65458D6C-0F40-E54D-7D40-40DE99DB5C0C}"/>
              </a:ext>
            </a:extLst>
          </p:cNvPr>
          <p:cNvSpPr/>
          <p:nvPr/>
        </p:nvSpPr>
        <p:spPr>
          <a:xfrm>
            <a:off x="8566509" y="4434454"/>
            <a:ext cx="810689" cy="514110"/>
          </a:xfrm>
          <a:prstGeom prst="roundRect">
            <a:avLst/>
          </a:prstGeom>
          <a:solidFill>
            <a:srgbClr val="C5E0B4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en-US" altLang="zh-TW" sz="1300" dirty="0">
                <a:solidFill>
                  <a:schemeClr val="tx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horror</a:t>
            </a:r>
            <a:endParaRPr kumimoji="1" lang="zh-TW" altLang="en-US" sz="1300" dirty="0">
              <a:solidFill>
                <a:schemeClr val="tx1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72" name="圓角矩形 71">
            <a:extLst>
              <a:ext uri="{FF2B5EF4-FFF2-40B4-BE49-F238E27FC236}">
                <a16:creationId xmlns:a16="http://schemas.microsoft.com/office/drawing/2014/main" id="{15DC6462-8ECC-218B-B2C6-74CB85517F37}"/>
              </a:ext>
            </a:extLst>
          </p:cNvPr>
          <p:cNvSpPr/>
          <p:nvPr/>
        </p:nvSpPr>
        <p:spPr>
          <a:xfrm>
            <a:off x="8566509" y="3630751"/>
            <a:ext cx="810689" cy="514110"/>
          </a:xfrm>
          <a:prstGeom prst="roundRect">
            <a:avLst/>
          </a:prstGeom>
          <a:solidFill>
            <a:srgbClr val="C5E0B4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en-US" altLang="zh-TW" sz="1600" dirty="0">
                <a:solidFill>
                  <a:schemeClr val="tx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write</a:t>
            </a:r>
            <a:endParaRPr kumimoji="1" lang="zh-TW" altLang="en-US" sz="1300" dirty="0">
              <a:solidFill>
                <a:schemeClr val="tx1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cxnSp>
        <p:nvCxnSpPr>
          <p:cNvPr id="73" name="直線箭頭接點 72">
            <a:extLst>
              <a:ext uri="{FF2B5EF4-FFF2-40B4-BE49-F238E27FC236}">
                <a16:creationId xmlns:a16="http://schemas.microsoft.com/office/drawing/2014/main" id="{DC9CA5F9-443A-548C-D9DC-99EEDDCC1B84}"/>
              </a:ext>
            </a:extLst>
          </p:cNvPr>
          <p:cNvCxnSpPr>
            <a:cxnSpLocks/>
          </p:cNvCxnSpPr>
          <p:nvPr/>
        </p:nvCxnSpPr>
        <p:spPr>
          <a:xfrm>
            <a:off x="7868037" y="3920828"/>
            <a:ext cx="583505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直線箭頭接點 73">
            <a:extLst>
              <a:ext uri="{FF2B5EF4-FFF2-40B4-BE49-F238E27FC236}">
                <a16:creationId xmlns:a16="http://schemas.microsoft.com/office/drawing/2014/main" id="{87D77537-FC62-4357-15D5-8D73B9A85FF0}"/>
              </a:ext>
            </a:extLst>
          </p:cNvPr>
          <p:cNvCxnSpPr>
            <a:cxnSpLocks/>
          </p:cNvCxnSpPr>
          <p:nvPr/>
        </p:nvCxnSpPr>
        <p:spPr>
          <a:xfrm>
            <a:off x="7878102" y="4025792"/>
            <a:ext cx="571276" cy="682457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81" name="文字方塊 80">
                <a:extLst>
                  <a:ext uri="{FF2B5EF4-FFF2-40B4-BE49-F238E27FC236}">
                    <a16:creationId xmlns:a16="http://schemas.microsoft.com/office/drawing/2014/main" id="{AC91EA17-C9D6-FF25-F9B0-AF8763210404}"/>
                  </a:ext>
                </a:extLst>
              </p:cNvPr>
              <p:cNvSpPr txBox="1"/>
              <p:nvPr/>
            </p:nvSpPr>
            <p:spPr>
              <a:xfrm>
                <a:off x="8650211" y="1420109"/>
                <a:ext cx="643283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TW" sz="1600" b="0" i="1" smtClean="0">
                          <a:latin typeface="Cambria Math" panose="02040503050406030204" pitchFamily="18" charset="0"/>
                        </a:rPr>
                        <m:t>−4.8</m:t>
                      </m:r>
                    </m:oMath>
                  </m:oMathPara>
                </a14:m>
                <a:endParaRPr kumimoji="1" lang="zh-TW" altLang="en-US" sz="1600" dirty="0"/>
              </a:p>
            </p:txBody>
          </p:sp>
        </mc:Choice>
        <mc:Fallback xmlns="">
          <p:sp>
            <p:nvSpPr>
              <p:cNvPr id="81" name="文字方塊 80">
                <a:extLst>
                  <a:ext uri="{FF2B5EF4-FFF2-40B4-BE49-F238E27FC236}">
                    <a16:creationId xmlns:a16="http://schemas.microsoft.com/office/drawing/2014/main" id="{AC91EA17-C9D6-FF25-F9B0-AF876321040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50211" y="1420109"/>
                <a:ext cx="643283" cy="338554"/>
              </a:xfrm>
              <a:prstGeom prst="rect">
                <a:avLst/>
              </a:prstGeom>
              <a:blipFill>
                <a:blip r:embed="rId1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2" name="文字方塊 81">
                <a:extLst>
                  <a:ext uri="{FF2B5EF4-FFF2-40B4-BE49-F238E27FC236}">
                    <a16:creationId xmlns:a16="http://schemas.microsoft.com/office/drawing/2014/main" id="{F2BEE332-6CAA-42C9-C270-2622ACB4DF05}"/>
                  </a:ext>
                </a:extLst>
              </p:cNvPr>
              <p:cNvSpPr txBox="1"/>
              <p:nvPr/>
            </p:nvSpPr>
            <p:spPr>
              <a:xfrm>
                <a:off x="8650211" y="3028656"/>
                <a:ext cx="643283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TW" sz="1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−3.7</m:t>
                      </m:r>
                    </m:oMath>
                  </m:oMathPara>
                </a14:m>
                <a:endParaRPr kumimoji="1" lang="zh-TW" altLang="en-US" sz="16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82" name="文字方塊 81">
                <a:extLst>
                  <a:ext uri="{FF2B5EF4-FFF2-40B4-BE49-F238E27FC236}">
                    <a16:creationId xmlns:a16="http://schemas.microsoft.com/office/drawing/2014/main" id="{F2BEE332-6CAA-42C9-C270-2622ACB4DF0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50211" y="3028656"/>
                <a:ext cx="643283" cy="338554"/>
              </a:xfrm>
              <a:prstGeom prst="rect">
                <a:avLst/>
              </a:prstGeom>
              <a:blipFill>
                <a:blip r:embed="rId1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3" name="文字方塊 82">
                <a:extLst>
                  <a:ext uri="{FF2B5EF4-FFF2-40B4-BE49-F238E27FC236}">
                    <a16:creationId xmlns:a16="http://schemas.microsoft.com/office/drawing/2014/main" id="{9CC7B0D0-65C5-0DC6-E08A-EE5DFC359BA6}"/>
                  </a:ext>
                </a:extLst>
              </p:cNvPr>
              <p:cNvSpPr txBox="1"/>
              <p:nvPr/>
            </p:nvSpPr>
            <p:spPr>
              <a:xfrm>
                <a:off x="8653081" y="3354518"/>
                <a:ext cx="643283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TW" sz="1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−4.5</m:t>
                      </m:r>
                    </m:oMath>
                  </m:oMathPara>
                </a14:m>
                <a:endParaRPr kumimoji="1" lang="zh-TW" altLang="en-US" sz="16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83" name="文字方塊 82">
                <a:extLst>
                  <a:ext uri="{FF2B5EF4-FFF2-40B4-BE49-F238E27FC236}">
                    <a16:creationId xmlns:a16="http://schemas.microsoft.com/office/drawing/2014/main" id="{9CC7B0D0-65C5-0DC6-E08A-EE5DFC359BA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53081" y="3354518"/>
                <a:ext cx="643283" cy="338554"/>
              </a:xfrm>
              <a:prstGeom prst="rect">
                <a:avLst/>
              </a:prstGeom>
              <a:blipFill>
                <a:blip r:embed="rId1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4" name="文字方塊 83">
                <a:extLst>
                  <a:ext uri="{FF2B5EF4-FFF2-40B4-BE49-F238E27FC236}">
                    <a16:creationId xmlns:a16="http://schemas.microsoft.com/office/drawing/2014/main" id="{6EFF82DC-8235-5F19-35CB-E35C980CB2F8}"/>
                  </a:ext>
                </a:extLst>
              </p:cNvPr>
              <p:cNvSpPr txBox="1"/>
              <p:nvPr/>
            </p:nvSpPr>
            <p:spPr>
              <a:xfrm>
                <a:off x="8650211" y="4926282"/>
                <a:ext cx="643283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TW" sz="1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−4.3</m:t>
                      </m:r>
                    </m:oMath>
                  </m:oMathPara>
                </a14:m>
                <a:endParaRPr kumimoji="1" lang="zh-TW" altLang="en-US" sz="16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84" name="文字方塊 83">
                <a:extLst>
                  <a:ext uri="{FF2B5EF4-FFF2-40B4-BE49-F238E27FC236}">
                    <a16:creationId xmlns:a16="http://schemas.microsoft.com/office/drawing/2014/main" id="{6EFF82DC-8235-5F19-35CB-E35C980CB2F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50211" y="4926282"/>
                <a:ext cx="643283" cy="338554"/>
              </a:xfrm>
              <a:prstGeom prst="rect">
                <a:avLst/>
              </a:prstGeom>
              <a:blipFill>
                <a:blip r:embed="rId2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7" name="圓角矩形 86">
            <a:extLst>
              <a:ext uri="{FF2B5EF4-FFF2-40B4-BE49-F238E27FC236}">
                <a16:creationId xmlns:a16="http://schemas.microsoft.com/office/drawing/2014/main" id="{2ECEE44B-E1FE-8F53-C2EA-BF6466326A8D}"/>
              </a:ext>
            </a:extLst>
          </p:cNvPr>
          <p:cNvSpPr/>
          <p:nvPr/>
        </p:nvSpPr>
        <p:spPr>
          <a:xfrm>
            <a:off x="10210292" y="4867019"/>
            <a:ext cx="810689" cy="514110"/>
          </a:xfrm>
          <a:prstGeom prst="roundRect">
            <a:avLst/>
          </a:prstGeom>
          <a:solidFill>
            <a:srgbClr val="C5E0B4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en-US" altLang="zh-TW" sz="1300" dirty="0">
                <a:solidFill>
                  <a:schemeClr val="tx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movies</a:t>
            </a:r>
            <a:endParaRPr kumimoji="1" lang="zh-TW" altLang="en-US" sz="1300" dirty="0">
              <a:solidFill>
                <a:schemeClr val="tx1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88" name="圓角矩形 87">
            <a:extLst>
              <a:ext uri="{FF2B5EF4-FFF2-40B4-BE49-F238E27FC236}">
                <a16:creationId xmlns:a16="http://schemas.microsoft.com/office/drawing/2014/main" id="{F777A461-4D4D-A6A3-48E3-DEF3183B7D1E}"/>
              </a:ext>
            </a:extLst>
          </p:cNvPr>
          <p:cNvSpPr/>
          <p:nvPr/>
        </p:nvSpPr>
        <p:spPr>
          <a:xfrm>
            <a:off x="10210294" y="4070628"/>
            <a:ext cx="810689" cy="514110"/>
          </a:xfrm>
          <a:prstGeom prst="roundRect">
            <a:avLst/>
          </a:prstGeom>
          <a:solidFill>
            <a:srgbClr val="C5E0B4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en-US" altLang="zh-TW" sz="1400" dirty="0">
                <a:solidFill>
                  <a:schemeClr val="tx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games</a:t>
            </a:r>
            <a:endParaRPr kumimoji="1" lang="zh-TW" altLang="en-US" sz="1600" dirty="0">
              <a:solidFill>
                <a:schemeClr val="tx1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cxnSp>
        <p:nvCxnSpPr>
          <p:cNvPr id="89" name="直線箭頭接點 88">
            <a:extLst>
              <a:ext uri="{FF2B5EF4-FFF2-40B4-BE49-F238E27FC236}">
                <a16:creationId xmlns:a16="http://schemas.microsoft.com/office/drawing/2014/main" id="{19CB5E83-68B2-EECF-6051-F6B089A593B9}"/>
              </a:ext>
            </a:extLst>
          </p:cNvPr>
          <p:cNvCxnSpPr>
            <a:cxnSpLocks/>
          </p:cNvCxnSpPr>
          <p:nvPr/>
        </p:nvCxnSpPr>
        <p:spPr>
          <a:xfrm flipV="1">
            <a:off x="9502866" y="4280494"/>
            <a:ext cx="635929" cy="41489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" name="直線箭頭接點 89">
            <a:extLst>
              <a:ext uri="{FF2B5EF4-FFF2-40B4-BE49-F238E27FC236}">
                <a16:creationId xmlns:a16="http://schemas.microsoft.com/office/drawing/2014/main" id="{6DCE5A51-6B44-14B3-A16B-A0D864279FFB}"/>
              </a:ext>
            </a:extLst>
          </p:cNvPr>
          <p:cNvCxnSpPr>
            <a:cxnSpLocks/>
          </p:cNvCxnSpPr>
          <p:nvPr/>
        </p:nvCxnSpPr>
        <p:spPr>
          <a:xfrm>
            <a:off x="9510562" y="4743544"/>
            <a:ext cx="628233" cy="462307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91" name="文字方塊 90">
                <a:extLst>
                  <a:ext uri="{FF2B5EF4-FFF2-40B4-BE49-F238E27FC236}">
                    <a16:creationId xmlns:a16="http://schemas.microsoft.com/office/drawing/2014/main" id="{FADD9AFA-BBAF-1373-7669-45A5779F618A}"/>
                  </a:ext>
                </a:extLst>
              </p:cNvPr>
              <p:cNvSpPr txBox="1"/>
              <p:nvPr/>
            </p:nvSpPr>
            <p:spPr>
              <a:xfrm>
                <a:off x="10241549" y="3745019"/>
                <a:ext cx="643283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TW" sz="1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−5.0</m:t>
                      </m:r>
                    </m:oMath>
                  </m:oMathPara>
                </a14:m>
                <a:endParaRPr kumimoji="1" lang="zh-TW" altLang="en-US" sz="16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91" name="文字方塊 90">
                <a:extLst>
                  <a:ext uri="{FF2B5EF4-FFF2-40B4-BE49-F238E27FC236}">
                    <a16:creationId xmlns:a16="http://schemas.microsoft.com/office/drawing/2014/main" id="{FADD9AFA-BBAF-1373-7669-45A5779F618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241549" y="3745019"/>
                <a:ext cx="643283" cy="338554"/>
              </a:xfrm>
              <a:prstGeom prst="rect">
                <a:avLst/>
              </a:prstGeom>
              <a:blipFill>
                <a:blip r:embed="rId2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2" name="文字方塊 91">
                <a:extLst>
                  <a:ext uri="{FF2B5EF4-FFF2-40B4-BE49-F238E27FC236}">
                    <a16:creationId xmlns:a16="http://schemas.microsoft.com/office/drawing/2014/main" id="{6D896CB3-4BA5-6930-4608-455C8C5D9534}"/>
                  </a:ext>
                </a:extLst>
              </p:cNvPr>
              <p:cNvSpPr txBox="1"/>
              <p:nvPr/>
            </p:nvSpPr>
            <p:spPr>
              <a:xfrm>
                <a:off x="10285864" y="5336796"/>
                <a:ext cx="530678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TW" sz="1600" b="0" i="1" smtClean="0">
                          <a:latin typeface="Cambria Math" panose="02040503050406030204" pitchFamily="18" charset="0"/>
                        </a:rPr>
                        <m:t>−5.3</m:t>
                      </m:r>
                    </m:oMath>
                  </m:oMathPara>
                </a14:m>
                <a:endParaRPr kumimoji="1" lang="zh-TW" altLang="en-US" sz="1600" dirty="0"/>
              </a:p>
            </p:txBody>
          </p:sp>
        </mc:Choice>
        <mc:Fallback xmlns="">
          <p:sp>
            <p:nvSpPr>
              <p:cNvPr id="92" name="文字方塊 91">
                <a:extLst>
                  <a:ext uri="{FF2B5EF4-FFF2-40B4-BE49-F238E27FC236}">
                    <a16:creationId xmlns:a16="http://schemas.microsoft.com/office/drawing/2014/main" id="{6D896CB3-4BA5-6930-4608-455C8C5D953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285864" y="5336796"/>
                <a:ext cx="530678" cy="338554"/>
              </a:xfrm>
              <a:prstGeom prst="rect">
                <a:avLst/>
              </a:prstGeom>
              <a:blipFill>
                <a:blip r:embed="rId22"/>
                <a:stretch>
                  <a:fillRect r="-9302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3" name="圓角矩形 92">
            <a:extLst>
              <a:ext uri="{FF2B5EF4-FFF2-40B4-BE49-F238E27FC236}">
                <a16:creationId xmlns:a16="http://schemas.microsoft.com/office/drawing/2014/main" id="{6682415B-AAE3-C480-C984-1FA1C126E1A4}"/>
              </a:ext>
            </a:extLst>
          </p:cNvPr>
          <p:cNvSpPr/>
          <p:nvPr/>
        </p:nvSpPr>
        <p:spPr>
          <a:xfrm>
            <a:off x="10187145" y="2923111"/>
            <a:ext cx="810689" cy="514110"/>
          </a:xfrm>
          <a:prstGeom prst="roundRect">
            <a:avLst/>
          </a:prstGeom>
          <a:solidFill>
            <a:srgbClr val="C5E0B4"/>
          </a:solidFill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en-US" altLang="zh-TW" sz="1300" dirty="0">
                <a:solidFill>
                  <a:srgbClr val="FF0000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movies</a:t>
            </a:r>
            <a:endParaRPr kumimoji="1" lang="zh-TW" altLang="en-US" sz="1300" dirty="0">
              <a:solidFill>
                <a:srgbClr val="FF0000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94" name="圓角矩形 93">
            <a:extLst>
              <a:ext uri="{FF2B5EF4-FFF2-40B4-BE49-F238E27FC236}">
                <a16:creationId xmlns:a16="http://schemas.microsoft.com/office/drawing/2014/main" id="{854E7910-C3A2-1166-8197-6FBABACCD778}"/>
              </a:ext>
            </a:extLst>
          </p:cNvPr>
          <p:cNvSpPr/>
          <p:nvPr/>
        </p:nvSpPr>
        <p:spPr>
          <a:xfrm>
            <a:off x="10187147" y="2126720"/>
            <a:ext cx="810689" cy="514110"/>
          </a:xfrm>
          <a:prstGeom prst="roundRect">
            <a:avLst/>
          </a:prstGeom>
          <a:solidFill>
            <a:srgbClr val="C5E0B4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en-US" altLang="zh-TW" sz="1400" dirty="0">
                <a:solidFill>
                  <a:schemeClr val="tx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things</a:t>
            </a:r>
            <a:endParaRPr kumimoji="1" lang="zh-TW" altLang="en-US" sz="1600" dirty="0">
              <a:solidFill>
                <a:schemeClr val="tx1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cxnSp>
        <p:nvCxnSpPr>
          <p:cNvPr id="95" name="直線箭頭接點 94">
            <a:extLst>
              <a:ext uri="{FF2B5EF4-FFF2-40B4-BE49-F238E27FC236}">
                <a16:creationId xmlns:a16="http://schemas.microsoft.com/office/drawing/2014/main" id="{4F585D2D-48D7-D4DD-06CA-F00CAF494BC3}"/>
              </a:ext>
            </a:extLst>
          </p:cNvPr>
          <p:cNvCxnSpPr>
            <a:cxnSpLocks/>
          </p:cNvCxnSpPr>
          <p:nvPr/>
        </p:nvCxnSpPr>
        <p:spPr>
          <a:xfrm flipV="1">
            <a:off x="9479719" y="2336586"/>
            <a:ext cx="635929" cy="41489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" name="直線箭頭接點 95">
            <a:extLst>
              <a:ext uri="{FF2B5EF4-FFF2-40B4-BE49-F238E27FC236}">
                <a16:creationId xmlns:a16="http://schemas.microsoft.com/office/drawing/2014/main" id="{1A6C486F-EFEC-66D4-8F69-9EF80B3487C8}"/>
              </a:ext>
            </a:extLst>
          </p:cNvPr>
          <p:cNvCxnSpPr>
            <a:cxnSpLocks/>
          </p:cNvCxnSpPr>
          <p:nvPr/>
        </p:nvCxnSpPr>
        <p:spPr>
          <a:xfrm>
            <a:off x="9487415" y="2799636"/>
            <a:ext cx="628233" cy="462307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97" name="文字方塊 96">
                <a:extLst>
                  <a:ext uri="{FF2B5EF4-FFF2-40B4-BE49-F238E27FC236}">
                    <a16:creationId xmlns:a16="http://schemas.microsoft.com/office/drawing/2014/main" id="{45EB6964-E132-3716-7E4D-D7B527BD1E3E}"/>
                  </a:ext>
                </a:extLst>
              </p:cNvPr>
              <p:cNvSpPr txBox="1"/>
              <p:nvPr/>
            </p:nvSpPr>
            <p:spPr>
              <a:xfrm>
                <a:off x="10218402" y="1801111"/>
                <a:ext cx="643283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TW" sz="1600" b="0" i="1" smtClean="0">
                          <a:latin typeface="Cambria Math" panose="02040503050406030204" pitchFamily="18" charset="0"/>
                        </a:rPr>
                        <m:t>−5.1</m:t>
                      </m:r>
                    </m:oMath>
                  </m:oMathPara>
                </a14:m>
                <a:endParaRPr kumimoji="1" lang="zh-TW" altLang="en-US" sz="1600" dirty="0"/>
              </a:p>
            </p:txBody>
          </p:sp>
        </mc:Choice>
        <mc:Fallback xmlns="">
          <p:sp>
            <p:nvSpPr>
              <p:cNvPr id="97" name="文字方塊 96">
                <a:extLst>
                  <a:ext uri="{FF2B5EF4-FFF2-40B4-BE49-F238E27FC236}">
                    <a16:creationId xmlns:a16="http://schemas.microsoft.com/office/drawing/2014/main" id="{45EB6964-E132-3716-7E4D-D7B527BD1E3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218402" y="1801111"/>
                <a:ext cx="643283" cy="338554"/>
              </a:xfrm>
              <a:prstGeom prst="rect">
                <a:avLst/>
              </a:prstGeom>
              <a:blipFill>
                <a:blip r:embed="rId2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8" name="文字方塊 97">
                <a:extLst>
                  <a:ext uri="{FF2B5EF4-FFF2-40B4-BE49-F238E27FC236}">
                    <a16:creationId xmlns:a16="http://schemas.microsoft.com/office/drawing/2014/main" id="{EEC113B5-90C9-8AF8-DA51-2627CD3577FA}"/>
                  </a:ext>
                </a:extLst>
              </p:cNvPr>
              <p:cNvSpPr txBox="1"/>
              <p:nvPr/>
            </p:nvSpPr>
            <p:spPr>
              <a:xfrm>
                <a:off x="10262717" y="3392888"/>
                <a:ext cx="530678" cy="33855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TW" sz="16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−4.6</m:t>
                      </m:r>
                    </m:oMath>
                  </m:oMathPara>
                </a14:m>
                <a:endParaRPr kumimoji="1" lang="zh-TW" altLang="en-US" sz="16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98" name="文字方塊 97">
                <a:extLst>
                  <a:ext uri="{FF2B5EF4-FFF2-40B4-BE49-F238E27FC236}">
                    <a16:creationId xmlns:a16="http://schemas.microsoft.com/office/drawing/2014/main" id="{EEC113B5-90C9-8AF8-DA51-2627CD3577F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262717" y="3392888"/>
                <a:ext cx="530678" cy="338554"/>
              </a:xfrm>
              <a:prstGeom prst="rect">
                <a:avLst/>
              </a:prstGeom>
              <a:blipFill>
                <a:blip r:embed="rId24"/>
                <a:stretch>
                  <a:fillRect r="-6977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6" name="標題 1">
                <a:extLst>
                  <a:ext uri="{FF2B5EF4-FFF2-40B4-BE49-F238E27FC236}">
                    <a16:creationId xmlns:a16="http://schemas.microsoft.com/office/drawing/2014/main" id="{F3BD3995-562D-ABE3-E8A5-3988AB188BA1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644672" y="356088"/>
                <a:ext cx="10511008" cy="1033416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rmAutofit/>
              </a:bodyPr>
              <a:lstStyle>
                <a:lvl1pPr marL="0" algn="l" defTabSz="914400" rtl="0" eaLnBrk="1" latinLnBrk="0" hangingPunct="1">
                  <a:lnSpc>
                    <a:spcPct val="85000"/>
                  </a:lnSpc>
                  <a:spcBef>
                    <a:spcPct val="0"/>
                  </a:spcBef>
                  <a:buNone/>
                  <a:defRPr sz="4800" kern="1200" spc="-5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r>
                  <a:rPr kumimoji="1" lang="en-US" altLang="zh-TW" dirty="0"/>
                  <a:t>Beam Search</a:t>
                </a:r>
                <a:r>
                  <a:rPr kumimoji="1" lang="zh-TW" altLang="en-US" dirty="0"/>
                  <a:t> </a:t>
                </a:r>
                <a:r>
                  <a:rPr kumimoji="1" lang="en-US" altLang="zh-TW" dirty="0"/>
                  <a:t>(</a:t>
                </a:r>
                <a14:m>
                  <m:oMath xmlns:m="http://schemas.openxmlformats.org/officeDocument/2006/math">
                    <m:r>
                      <a:rPr kumimoji="1" lang="en-US" altLang="zh-TW" b="0" i="1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kumimoji="1" lang="en-US" altLang="zh-TW" b="0" i="1" smtClean="0">
                        <a:latin typeface="Cambria Math" panose="02040503050406030204" pitchFamily="18" charset="0"/>
                      </a:rPr>
                      <m:t>=6</m:t>
                    </m:r>
                  </m:oMath>
                </a14:m>
                <a:r>
                  <a:rPr kumimoji="1" lang="en-US" altLang="zh-TW" dirty="0"/>
                  <a:t>)</a:t>
                </a:r>
                <a:endParaRPr lang="zh-TW" altLang="en-US" dirty="0">
                  <a:latin typeface="Times New Roman"/>
                  <a:ea typeface="新細明體"/>
                  <a:cs typeface="Calibri Light"/>
                </a:endParaRPr>
              </a:p>
            </p:txBody>
          </p:sp>
        </mc:Choice>
        <mc:Fallback>
          <p:sp>
            <p:nvSpPr>
              <p:cNvPr id="46" name="標題 1">
                <a:extLst>
                  <a:ext uri="{FF2B5EF4-FFF2-40B4-BE49-F238E27FC236}">
                    <a16:creationId xmlns:a16="http://schemas.microsoft.com/office/drawing/2014/main" id="{F3BD3995-562D-ABE3-E8A5-3988AB188BA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4672" y="356088"/>
                <a:ext cx="10511008" cy="1033416"/>
              </a:xfrm>
              <a:prstGeom prst="rect">
                <a:avLst/>
              </a:prstGeom>
              <a:blipFill>
                <a:blip r:embed="rId25"/>
                <a:stretch>
                  <a:fillRect l="-2654" t="-8434" b="-15663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7" name="文字方塊 46">
            <a:extLst>
              <a:ext uri="{FF2B5EF4-FFF2-40B4-BE49-F238E27FC236}">
                <a16:creationId xmlns:a16="http://schemas.microsoft.com/office/drawing/2014/main" id="{7440E3CD-BFC3-A584-A947-577A7684ADD5}"/>
              </a:ext>
            </a:extLst>
          </p:cNvPr>
          <p:cNvSpPr txBox="1"/>
          <p:nvPr/>
        </p:nvSpPr>
        <p:spPr>
          <a:xfrm>
            <a:off x="9613039" y="688130"/>
            <a:ext cx="1884594" cy="369332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dirty="0"/>
              <a:t>`Beam size` = 2</a:t>
            </a:r>
            <a:endParaRPr kumimoji="1"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273472808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742DD80-FE48-260B-0473-33D8138DDD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Problem of Beam Search (1)</a:t>
            </a:r>
            <a:endParaRPr kumimoji="1"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9AD0BF83-DEDB-6083-2277-A51723171B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40</a:t>
            </a:fld>
            <a:endParaRPr lang="en-US"/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F2F0F3D3-C611-834E-801D-5082C6008856}"/>
              </a:ext>
            </a:extLst>
          </p:cNvPr>
          <p:cNvSpPr txBox="1"/>
          <p:nvPr/>
        </p:nvSpPr>
        <p:spPr>
          <a:xfrm>
            <a:off x="653143" y="1894025"/>
            <a:ext cx="10149744" cy="16970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en-US" altLang="zh-TW" sz="2400" dirty="0">
                <a:solidFill>
                  <a:srgbClr val="FF0000"/>
                </a:solidFill>
              </a:rPr>
              <a:t>Longer</a:t>
            </a:r>
            <a:r>
              <a:rPr kumimoji="1" lang="en-US" altLang="zh-TW" sz="2400" dirty="0"/>
              <a:t> candidates will have </a:t>
            </a:r>
            <a:r>
              <a:rPr kumimoji="1" lang="en-US" altLang="zh-TW" sz="2400" dirty="0">
                <a:solidFill>
                  <a:srgbClr val="FF0000"/>
                </a:solidFill>
              </a:rPr>
              <a:t>lower</a:t>
            </a:r>
            <a:r>
              <a:rPr kumimoji="1" lang="en-US" altLang="zh-TW" sz="2400" dirty="0"/>
              <a:t> scores.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en-US" altLang="zh-TW" sz="2400" dirty="0"/>
              <a:t>Solution: Perform normalization to penalize on length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kumimoji="1" lang="zh-TW" altLang="en-US" sz="2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內容版面配置區 2">
                <a:extLst>
                  <a:ext uri="{FF2B5EF4-FFF2-40B4-BE49-F238E27FC236}">
                    <a16:creationId xmlns:a16="http://schemas.microsoft.com/office/drawing/2014/main" id="{0E8F164D-24E8-0348-E1B1-6193A7F582A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3551068" y="3591093"/>
                <a:ext cx="4821511" cy="943492"/>
              </a:xfrm>
            </p:spPr>
            <p:txBody>
              <a:bodyPr>
                <a:noAutofit/>
              </a:bodyPr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zh-TW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TW" sz="2400" i="1">
                              <a:latin typeface="Cambria Math" panose="02040503050406030204" pitchFamily="18" charset="0"/>
                            </a:rPr>
                            <m:t>𝐿</m:t>
                          </m:r>
                        </m:e>
                        <m:sub>
                          <m:r>
                            <a:rPr kumimoji="1" lang="en-US" altLang="zh-TW" sz="2400" i="1">
                              <a:latin typeface="Cambria Math" panose="02040503050406030204" pitchFamily="18" charset="0"/>
                            </a:rPr>
                            <m:t>𝑚𝑙</m:t>
                          </m:r>
                        </m:sub>
                      </m:sSub>
                      <m:r>
                        <a:rPr kumimoji="1" lang="en-US" altLang="zh-TW" sz="24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kumimoji="1" lang="en-US" altLang="zh-TW" sz="2400" b="0" i="1" smtClean="0"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kumimoji="1" lang="en-US" altLang="zh-TW" sz="240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kumimoji="1" lang="en-US" altLang="zh-TW" sz="2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kumimoji="1" lang="en-US" altLang="zh-TW" sz="2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kumimoji="1" lang="en-US" altLang="zh-TW" sz="240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kumimoji="1" lang="en-US" altLang="zh-TW" sz="240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kumimoji="1" lang="en-US" altLang="zh-TW" sz="2400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kumimoji="1" lang="en-US" altLang="zh-TW" sz="2400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  <m:e>
                          <m:func>
                            <m:funcPr>
                              <m:ctrlPr>
                                <a:rPr kumimoji="1" lang="en-US" altLang="zh-TW" sz="2400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kumimoji="1" lang="en-US" altLang="zh-TW" sz="2400">
                                  <a:latin typeface="Cambria Math" panose="02040503050406030204" pitchFamily="18" charset="0"/>
                                </a:rPr>
                                <m:t>log</m:t>
                              </m:r>
                            </m:fName>
                            <m:e>
                              <m:r>
                                <a:rPr kumimoji="1" lang="en-US" altLang="zh-TW" sz="2400" i="1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  <m:r>
                                <a:rPr kumimoji="1" lang="en-US" altLang="zh-TW" sz="2400" i="1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sSubSup>
                                <m:sSubSupPr>
                                  <m:ctrlPr>
                                    <a:rPr kumimoji="1" lang="en-US" altLang="zh-TW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kumimoji="1" lang="en-US" altLang="zh-TW" sz="2400" i="1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kumimoji="1" lang="en-US" altLang="zh-TW" sz="2400" i="1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sub>
                                <m:sup>
                                  <m:r>
                                    <a:rPr kumimoji="1" lang="en-US" altLang="zh-TW" sz="2400" i="1">
                                      <a:latin typeface="Cambria Math" panose="02040503050406030204" pitchFamily="18" charset="0"/>
                                    </a:rPr>
                                    <m:t>∗</m:t>
                                  </m:r>
                                </m:sup>
                              </m:sSubSup>
                              <m:r>
                                <a:rPr kumimoji="1" lang="en-US" altLang="zh-TW" sz="2400" i="1">
                                  <a:latin typeface="Cambria Math" panose="02040503050406030204" pitchFamily="18" charset="0"/>
                                </a:rPr>
                                <m:t>|</m:t>
                              </m:r>
                              <m:sSubSup>
                                <m:sSubSupPr>
                                  <m:ctrlPr>
                                    <a:rPr kumimoji="1" lang="en-US" altLang="zh-TW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kumimoji="1" lang="en-US" altLang="zh-TW" sz="2400" i="1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kumimoji="1" lang="en-US" altLang="zh-TW" sz="2400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  <m:sup>
                                  <m:r>
                                    <a:rPr kumimoji="1" lang="en-US" altLang="zh-TW" sz="2400" i="1">
                                      <a:latin typeface="Cambria Math" panose="02040503050406030204" pitchFamily="18" charset="0"/>
                                    </a:rPr>
                                    <m:t>∗</m:t>
                                  </m:r>
                                </m:sup>
                              </m:sSubSup>
                              <m:r>
                                <a:rPr kumimoji="1" lang="en-US" altLang="zh-TW" sz="2400" i="1">
                                  <a:latin typeface="Cambria Math" panose="02040503050406030204" pitchFamily="18" charset="0"/>
                                </a:rPr>
                                <m:t>,…,</m:t>
                              </m:r>
                              <m:sSubSup>
                                <m:sSubSupPr>
                                  <m:ctrlPr>
                                    <a:rPr kumimoji="1" lang="en-US" altLang="zh-TW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kumimoji="1" lang="en-US" altLang="zh-TW" sz="2400" i="1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kumimoji="1" lang="en-US" altLang="zh-TW" sz="2400" i="1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  <m:r>
                                    <a:rPr kumimoji="1" lang="en-US" altLang="zh-TW" sz="2400" i="1">
                                      <a:latin typeface="Cambria Math" panose="02040503050406030204" pitchFamily="18" charset="0"/>
                                    </a:rPr>
                                    <m:t>−1</m:t>
                                  </m:r>
                                </m:sub>
                                <m:sup>
                                  <m:r>
                                    <a:rPr kumimoji="1" lang="en-US" altLang="zh-TW" sz="2400" i="1">
                                      <a:latin typeface="Cambria Math" panose="02040503050406030204" pitchFamily="18" charset="0"/>
                                    </a:rPr>
                                    <m:t>∗</m:t>
                                  </m:r>
                                </m:sup>
                              </m:sSubSup>
                              <m:r>
                                <a:rPr kumimoji="1" lang="en-US" altLang="zh-TW" sz="2400" i="1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kumimoji="1" lang="en-US" altLang="zh-TW" sz="24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kumimoji="1" lang="en-US" altLang="zh-TW" sz="2400" i="1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</m:func>
                        </m:e>
                      </m:nary>
                    </m:oMath>
                  </m:oMathPara>
                </a14:m>
                <a:endParaRPr kumimoji="1" lang="zh-TW" altLang="en-US" sz="2800" dirty="0"/>
              </a:p>
            </p:txBody>
          </p:sp>
        </mc:Choice>
        <mc:Fallback xmlns="">
          <p:sp>
            <p:nvSpPr>
              <p:cNvPr id="3" name="內容版面配置區 2">
                <a:extLst>
                  <a:ext uri="{FF2B5EF4-FFF2-40B4-BE49-F238E27FC236}">
                    <a16:creationId xmlns:a16="http://schemas.microsoft.com/office/drawing/2014/main" id="{0E8F164D-24E8-0348-E1B1-6193A7F582A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551068" y="3591093"/>
                <a:ext cx="4821511" cy="943492"/>
              </a:xfrm>
              <a:blipFill>
                <a:blip r:embed="rId3"/>
                <a:stretch>
                  <a:fillRect l="-2100" t="-127632" r="-1837" b="-197368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304492407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80B6B308-E528-1567-412F-2BF52CB92E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dirty="0"/>
              <a:t>41</a:t>
            </a:fld>
            <a:endParaRPr lang="zh-TW" altLang="en-US"/>
          </a:p>
        </p:txBody>
      </p:sp>
      <p:sp>
        <p:nvSpPr>
          <p:cNvPr id="6" name="圓角矩形 5">
            <a:extLst>
              <a:ext uri="{FF2B5EF4-FFF2-40B4-BE49-F238E27FC236}">
                <a16:creationId xmlns:a16="http://schemas.microsoft.com/office/drawing/2014/main" id="{F07E41BB-9C95-5AB2-BA09-AE6796CBB446}"/>
              </a:ext>
            </a:extLst>
          </p:cNvPr>
          <p:cNvSpPr/>
          <p:nvPr/>
        </p:nvSpPr>
        <p:spPr>
          <a:xfrm>
            <a:off x="1234362" y="3920344"/>
            <a:ext cx="613700" cy="514110"/>
          </a:xfrm>
          <a:prstGeom prst="roundRect">
            <a:avLst/>
          </a:prstGeom>
          <a:solidFill>
            <a:srgbClr val="C5E0B4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en-US" altLang="zh-TW" sz="2400" dirty="0">
                <a:solidFill>
                  <a:schemeClr val="tx1"/>
                </a:solidFill>
              </a:rPr>
              <a:t>_</a:t>
            </a:r>
            <a:endParaRPr kumimoji="1" lang="zh-TW" altLang="en-US" sz="2400" dirty="0">
              <a:solidFill>
                <a:schemeClr val="tx1"/>
              </a:solidFill>
            </a:endParaRPr>
          </a:p>
        </p:txBody>
      </p:sp>
      <p:sp>
        <p:nvSpPr>
          <p:cNvPr id="7" name="文字方塊 67">
            <a:extLst>
              <a:ext uri="{FF2B5EF4-FFF2-40B4-BE49-F238E27FC236}">
                <a16:creationId xmlns:a16="http://schemas.microsoft.com/office/drawing/2014/main" id="{B381507F-DC44-2012-7728-330509B5ABA9}"/>
              </a:ext>
            </a:extLst>
          </p:cNvPr>
          <p:cNvSpPr txBox="1"/>
          <p:nvPr/>
        </p:nvSpPr>
        <p:spPr>
          <a:xfrm>
            <a:off x="1158218" y="4472662"/>
            <a:ext cx="77862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en-US" altLang="zh-TW" sz="1600" dirty="0"/>
              <a:t>(Start)</a:t>
            </a:r>
            <a:endParaRPr kumimoji="1" lang="zh-TW" altLang="en-US" sz="1600" dirty="0"/>
          </a:p>
        </p:txBody>
      </p:sp>
      <p:sp>
        <p:nvSpPr>
          <p:cNvPr id="10" name="圓角矩形 9">
            <a:extLst>
              <a:ext uri="{FF2B5EF4-FFF2-40B4-BE49-F238E27FC236}">
                <a16:creationId xmlns:a16="http://schemas.microsoft.com/office/drawing/2014/main" id="{875E7289-05C1-D185-CD20-7A8387DC3548}"/>
              </a:ext>
            </a:extLst>
          </p:cNvPr>
          <p:cNvSpPr/>
          <p:nvPr/>
        </p:nvSpPr>
        <p:spPr>
          <a:xfrm>
            <a:off x="2397436" y="2958733"/>
            <a:ext cx="613700" cy="514110"/>
          </a:xfrm>
          <a:prstGeom prst="roundRect">
            <a:avLst/>
          </a:prstGeom>
          <a:solidFill>
            <a:srgbClr val="C5E0B4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en-US" altLang="zh-TW" sz="1600" dirty="0">
                <a:solidFill>
                  <a:schemeClr val="tx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I</a:t>
            </a:r>
            <a:endParaRPr kumimoji="1" lang="zh-TW" altLang="en-US" sz="1600" dirty="0">
              <a:solidFill>
                <a:schemeClr val="tx1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12" name="圓角矩形 11">
            <a:extLst>
              <a:ext uri="{FF2B5EF4-FFF2-40B4-BE49-F238E27FC236}">
                <a16:creationId xmlns:a16="http://schemas.microsoft.com/office/drawing/2014/main" id="{3C729BBC-BACD-B4BC-5CFD-E43E279BC56D}"/>
              </a:ext>
            </a:extLst>
          </p:cNvPr>
          <p:cNvSpPr/>
          <p:nvPr/>
        </p:nvSpPr>
        <p:spPr>
          <a:xfrm>
            <a:off x="2397436" y="5004890"/>
            <a:ext cx="613700" cy="514110"/>
          </a:xfrm>
          <a:prstGeom prst="roundRect">
            <a:avLst/>
          </a:prstGeom>
          <a:solidFill>
            <a:srgbClr val="C5E0B4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en-US" altLang="zh-TW" sz="1600" dirty="0">
                <a:solidFill>
                  <a:schemeClr val="tx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You</a:t>
            </a:r>
            <a:endParaRPr kumimoji="1" lang="zh-TW" altLang="en-US" sz="1600" dirty="0">
              <a:solidFill>
                <a:schemeClr val="tx1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cxnSp>
        <p:nvCxnSpPr>
          <p:cNvPr id="14" name="直線箭頭接點 13">
            <a:extLst>
              <a:ext uri="{FF2B5EF4-FFF2-40B4-BE49-F238E27FC236}">
                <a16:creationId xmlns:a16="http://schemas.microsoft.com/office/drawing/2014/main" id="{25A5463B-ADA9-FE38-04CD-5FE88700466F}"/>
              </a:ext>
            </a:extLst>
          </p:cNvPr>
          <p:cNvCxnSpPr>
            <a:cxnSpLocks/>
          </p:cNvCxnSpPr>
          <p:nvPr/>
        </p:nvCxnSpPr>
        <p:spPr>
          <a:xfrm flipV="1">
            <a:off x="1871612" y="3159314"/>
            <a:ext cx="467804" cy="951566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線箭頭接點 18">
            <a:extLst>
              <a:ext uri="{FF2B5EF4-FFF2-40B4-BE49-F238E27FC236}">
                <a16:creationId xmlns:a16="http://schemas.microsoft.com/office/drawing/2014/main" id="{9D3CFDC7-E5AB-77B0-FA1A-9D836D4225EE}"/>
              </a:ext>
            </a:extLst>
          </p:cNvPr>
          <p:cNvCxnSpPr>
            <a:cxnSpLocks/>
          </p:cNvCxnSpPr>
          <p:nvPr/>
        </p:nvCxnSpPr>
        <p:spPr>
          <a:xfrm rot="10800000" flipH="1" flipV="1">
            <a:off x="1871612" y="4221432"/>
            <a:ext cx="467804" cy="951566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文字方塊 21">
                <a:extLst>
                  <a:ext uri="{FF2B5EF4-FFF2-40B4-BE49-F238E27FC236}">
                    <a16:creationId xmlns:a16="http://schemas.microsoft.com/office/drawing/2014/main" id="{AE2DCFBE-6018-9076-F2D2-1DB61E6327C0}"/>
                  </a:ext>
                </a:extLst>
              </p:cNvPr>
              <p:cNvSpPr txBox="1"/>
              <p:nvPr/>
            </p:nvSpPr>
            <p:spPr>
              <a:xfrm>
                <a:off x="2397435" y="2625303"/>
                <a:ext cx="613701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TW" sz="1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−0.7</m:t>
                      </m:r>
                    </m:oMath>
                  </m:oMathPara>
                </a14:m>
                <a:endParaRPr kumimoji="1" lang="zh-TW" altLang="en-US" sz="16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2" name="文字方塊 21">
                <a:extLst>
                  <a:ext uri="{FF2B5EF4-FFF2-40B4-BE49-F238E27FC236}">
                    <a16:creationId xmlns:a16="http://schemas.microsoft.com/office/drawing/2014/main" id="{AE2DCFBE-6018-9076-F2D2-1DB61E6327C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97435" y="2625303"/>
                <a:ext cx="613701" cy="338554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文字方塊 22">
                <a:extLst>
                  <a:ext uri="{FF2B5EF4-FFF2-40B4-BE49-F238E27FC236}">
                    <a16:creationId xmlns:a16="http://schemas.microsoft.com/office/drawing/2014/main" id="{FD3DD690-0104-A97A-2C3F-7DF0AC27AFA7}"/>
                  </a:ext>
                </a:extLst>
              </p:cNvPr>
              <p:cNvSpPr txBox="1"/>
              <p:nvPr/>
            </p:nvSpPr>
            <p:spPr>
              <a:xfrm>
                <a:off x="2397435" y="5574359"/>
                <a:ext cx="598355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TW" sz="1600" b="0" i="1" smtClean="0">
                          <a:latin typeface="Cambria Math" panose="02040503050406030204" pitchFamily="18" charset="0"/>
                        </a:rPr>
                        <m:t>−0.9</m:t>
                      </m:r>
                    </m:oMath>
                  </m:oMathPara>
                </a14:m>
                <a:endParaRPr kumimoji="1" lang="zh-TW" altLang="en-US" sz="1600" dirty="0"/>
              </a:p>
            </p:txBody>
          </p:sp>
        </mc:Choice>
        <mc:Fallback xmlns="">
          <p:sp>
            <p:nvSpPr>
              <p:cNvPr id="23" name="文字方塊 22">
                <a:extLst>
                  <a:ext uri="{FF2B5EF4-FFF2-40B4-BE49-F238E27FC236}">
                    <a16:creationId xmlns:a16="http://schemas.microsoft.com/office/drawing/2014/main" id="{FD3DD690-0104-A97A-2C3F-7DF0AC27AFA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97435" y="5574359"/>
                <a:ext cx="598355" cy="338554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圓角矩形 2">
            <a:extLst>
              <a:ext uri="{FF2B5EF4-FFF2-40B4-BE49-F238E27FC236}">
                <a16:creationId xmlns:a16="http://schemas.microsoft.com/office/drawing/2014/main" id="{8F43250E-61CA-2FCD-5713-EEE3A86898A2}"/>
              </a:ext>
            </a:extLst>
          </p:cNvPr>
          <p:cNvSpPr/>
          <p:nvPr/>
        </p:nvSpPr>
        <p:spPr>
          <a:xfrm>
            <a:off x="3848821" y="2545579"/>
            <a:ext cx="732055" cy="514110"/>
          </a:xfrm>
          <a:prstGeom prst="roundRect">
            <a:avLst/>
          </a:prstGeom>
          <a:solidFill>
            <a:srgbClr val="C5E0B4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en-US" altLang="zh-TW" sz="1600" dirty="0">
                <a:solidFill>
                  <a:schemeClr val="tx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like</a:t>
            </a:r>
            <a:endParaRPr kumimoji="1" lang="zh-TW" altLang="en-US" sz="1600" dirty="0">
              <a:solidFill>
                <a:schemeClr val="tx1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4" name="圓角矩形 3">
            <a:extLst>
              <a:ext uri="{FF2B5EF4-FFF2-40B4-BE49-F238E27FC236}">
                <a16:creationId xmlns:a16="http://schemas.microsoft.com/office/drawing/2014/main" id="{AFA1AEDB-F347-04F8-CEE1-E1D35D5B3651}"/>
              </a:ext>
            </a:extLst>
          </p:cNvPr>
          <p:cNvSpPr/>
          <p:nvPr/>
        </p:nvSpPr>
        <p:spPr>
          <a:xfrm>
            <a:off x="3848821" y="3341573"/>
            <a:ext cx="732056" cy="514110"/>
          </a:xfrm>
          <a:prstGeom prst="roundRect">
            <a:avLst/>
          </a:prstGeom>
          <a:solidFill>
            <a:srgbClr val="C5E0B4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en-US" altLang="zh-TW" sz="1600" dirty="0">
                <a:solidFill>
                  <a:schemeClr val="tx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want</a:t>
            </a:r>
            <a:endParaRPr kumimoji="1" lang="zh-TW" altLang="en-US" sz="1600" dirty="0">
              <a:solidFill>
                <a:schemeClr val="tx1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8" name="圓角矩形 7">
            <a:extLst>
              <a:ext uri="{FF2B5EF4-FFF2-40B4-BE49-F238E27FC236}">
                <a16:creationId xmlns:a16="http://schemas.microsoft.com/office/drawing/2014/main" id="{BFA3A0A1-CC3C-EC77-CEC9-146B482EBACE}"/>
              </a:ext>
            </a:extLst>
          </p:cNvPr>
          <p:cNvSpPr/>
          <p:nvPr/>
        </p:nvSpPr>
        <p:spPr>
          <a:xfrm>
            <a:off x="3848820" y="4658888"/>
            <a:ext cx="732056" cy="514110"/>
          </a:xfrm>
          <a:prstGeom prst="roundRect">
            <a:avLst/>
          </a:prstGeom>
          <a:solidFill>
            <a:srgbClr val="C5E0B4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en-US" altLang="zh-TW" sz="1600" dirty="0">
                <a:solidFill>
                  <a:schemeClr val="tx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want</a:t>
            </a:r>
            <a:endParaRPr kumimoji="1" lang="zh-TW" altLang="en-US" sz="1600" dirty="0">
              <a:solidFill>
                <a:schemeClr val="tx1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13" name="圓角矩形 12">
            <a:extLst>
              <a:ext uri="{FF2B5EF4-FFF2-40B4-BE49-F238E27FC236}">
                <a16:creationId xmlns:a16="http://schemas.microsoft.com/office/drawing/2014/main" id="{820CADDD-FB1E-6DA6-D861-460F1DAB89D2}"/>
              </a:ext>
            </a:extLst>
          </p:cNvPr>
          <p:cNvSpPr/>
          <p:nvPr/>
        </p:nvSpPr>
        <p:spPr>
          <a:xfrm>
            <a:off x="3848820" y="5403253"/>
            <a:ext cx="732056" cy="514110"/>
          </a:xfrm>
          <a:prstGeom prst="roundRect">
            <a:avLst/>
          </a:prstGeom>
          <a:solidFill>
            <a:srgbClr val="C5E0B4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en-US" altLang="zh-TW" sz="1600" dirty="0">
                <a:solidFill>
                  <a:schemeClr val="tx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are</a:t>
            </a:r>
            <a:endParaRPr kumimoji="1" lang="zh-TW" altLang="en-US" sz="1600" dirty="0">
              <a:solidFill>
                <a:schemeClr val="tx1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cxnSp>
        <p:nvCxnSpPr>
          <p:cNvPr id="15" name="直線箭頭接點 14">
            <a:extLst>
              <a:ext uri="{FF2B5EF4-FFF2-40B4-BE49-F238E27FC236}">
                <a16:creationId xmlns:a16="http://schemas.microsoft.com/office/drawing/2014/main" id="{8665C6F8-C70B-8089-DEF0-F0BF0A302E1F}"/>
              </a:ext>
            </a:extLst>
          </p:cNvPr>
          <p:cNvCxnSpPr>
            <a:cxnSpLocks/>
          </p:cNvCxnSpPr>
          <p:nvPr/>
        </p:nvCxnSpPr>
        <p:spPr>
          <a:xfrm flipV="1">
            <a:off x="3069156" y="2802634"/>
            <a:ext cx="686098" cy="35668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直線箭頭接點 24">
            <a:extLst>
              <a:ext uri="{FF2B5EF4-FFF2-40B4-BE49-F238E27FC236}">
                <a16:creationId xmlns:a16="http://schemas.microsoft.com/office/drawing/2014/main" id="{7E401430-2CB0-6CDC-4D3E-E2664C968009}"/>
              </a:ext>
            </a:extLst>
          </p:cNvPr>
          <p:cNvCxnSpPr>
            <a:cxnSpLocks/>
          </p:cNvCxnSpPr>
          <p:nvPr/>
        </p:nvCxnSpPr>
        <p:spPr>
          <a:xfrm>
            <a:off x="3086929" y="3269539"/>
            <a:ext cx="686098" cy="35668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直線箭頭接點 25">
            <a:extLst>
              <a:ext uri="{FF2B5EF4-FFF2-40B4-BE49-F238E27FC236}">
                <a16:creationId xmlns:a16="http://schemas.microsoft.com/office/drawing/2014/main" id="{5BEAD4A0-45EF-EF79-2FEC-25625B419A1C}"/>
              </a:ext>
            </a:extLst>
          </p:cNvPr>
          <p:cNvCxnSpPr>
            <a:cxnSpLocks/>
          </p:cNvCxnSpPr>
          <p:nvPr/>
        </p:nvCxnSpPr>
        <p:spPr>
          <a:xfrm>
            <a:off x="3079256" y="5304719"/>
            <a:ext cx="686098" cy="35668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直線箭頭接點 26">
            <a:extLst>
              <a:ext uri="{FF2B5EF4-FFF2-40B4-BE49-F238E27FC236}">
                <a16:creationId xmlns:a16="http://schemas.microsoft.com/office/drawing/2014/main" id="{0C436EAB-E031-DBE5-6881-81A4CA5C9777}"/>
              </a:ext>
            </a:extLst>
          </p:cNvPr>
          <p:cNvCxnSpPr>
            <a:cxnSpLocks/>
          </p:cNvCxnSpPr>
          <p:nvPr/>
        </p:nvCxnSpPr>
        <p:spPr>
          <a:xfrm flipV="1">
            <a:off x="3079256" y="4890148"/>
            <a:ext cx="686098" cy="35668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8" name="文字方塊 27">
                <a:extLst>
                  <a:ext uri="{FF2B5EF4-FFF2-40B4-BE49-F238E27FC236}">
                    <a16:creationId xmlns:a16="http://schemas.microsoft.com/office/drawing/2014/main" id="{4B7D302A-69BB-3B4C-110A-358900750293}"/>
                  </a:ext>
                </a:extLst>
              </p:cNvPr>
              <p:cNvSpPr txBox="1"/>
              <p:nvPr/>
            </p:nvSpPr>
            <p:spPr>
              <a:xfrm>
                <a:off x="3885019" y="2211250"/>
                <a:ext cx="613701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TW" sz="1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−1.7</m:t>
                      </m:r>
                    </m:oMath>
                  </m:oMathPara>
                </a14:m>
                <a:endParaRPr kumimoji="1" lang="zh-TW" altLang="en-US" sz="16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8" name="文字方塊 27">
                <a:extLst>
                  <a:ext uri="{FF2B5EF4-FFF2-40B4-BE49-F238E27FC236}">
                    <a16:creationId xmlns:a16="http://schemas.microsoft.com/office/drawing/2014/main" id="{4B7D302A-69BB-3B4C-110A-35890075029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85019" y="2211250"/>
                <a:ext cx="613701" cy="338554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文字方塊 28">
                <a:extLst>
                  <a:ext uri="{FF2B5EF4-FFF2-40B4-BE49-F238E27FC236}">
                    <a16:creationId xmlns:a16="http://schemas.microsoft.com/office/drawing/2014/main" id="{8F9CE310-A15D-4542-74A8-BF14C20D7734}"/>
                  </a:ext>
                </a:extLst>
              </p:cNvPr>
              <p:cNvSpPr txBox="1"/>
              <p:nvPr/>
            </p:nvSpPr>
            <p:spPr>
              <a:xfrm>
                <a:off x="3885019" y="3844284"/>
                <a:ext cx="613700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TW" sz="1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−2.9</m:t>
                      </m:r>
                    </m:oMath>
                  </m:oMathPara>
                </a14:m>
                <a:endParaRPr kumimoji="1" lang="zh-TW" altLang="en-US" sz="16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9" name="文字方塊 28">
                <a:extLst>
                  <a:ext uri="{FF2B5EF4-FFF2-40B4-BE49-F238E27FC236}">
                    <a16:creationId xmlns:a16="http://schemas.microsoft.com/office/drawing/2014/main" id="{8F9CE310-A15D-4542-74A8-BF14C20D773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85019" y="3844284"/>
                <a:ext cx="613700" cy="338554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" name="文字方塊 29">
                <a:extLst>
                  <a:ext uri="{FF2B5EF4-FFF2-40B4-BE49-F238E27FC236}">
                    <a16:creationId xmlns:a16="http://schemas.microsoft.com/office/drawing/2014/main" id="{1834D209-F6BD-1B0A-BF59-E0500E0C63A1}"/>
                  </a:ext>
                </a:extLst>
              </p:cNvPr>
              <p:cNvSpPr txBox="1"/>
              <p:nvPr/>
            </p:nvSpPr>
            <p:spPr>
              <a:xfrm>
                <a:off x="3885019" y="4345643"/>
                <a:ext cx="613701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TW" sz="1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−1.6</m:t>
                      </m:r>
                    </m:oMath>
                  </m:oMathPara>
                </a14:m>
                <a:endParaRPr kumimoji="1" lang="zh-TW" altLang="en-US" sz="16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0" name="文字方塊 29">
                <a:extLst>
                  <a:ext uri="{FF2B5EF4-FFF2-40B4-BE49-F238E27FC236}">
                    <a16:creationId xmlns:a16="http://schemas.microsoft.com/office/drawing/2014/main" id="{1834D209-F6BD-1B0A-BF59-E0500E0C63A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85019" y="4345643"/>
                <a:ext cx="613701" cy="338554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" name="文字方塊 30">
                <a:extLst>
                  <a:ext uri="{FF2B5EF4-FFF2-40B4-BE49-F238E27FC236}">
                    <a16:creationId xmlns:a16="http://schemas.microsoft.com/office/drawing/2014/main" id="{4D3DAC6B-5B92-1CFD-751E-6687CB641DB3}"/>
                  </a:ext>
                </a:extLst>
              </p:cNvPr>
              <p:cNvSpPr txBox="1"/>
              <p:nvPr/>
            </p:nvSpPr>
            <p:spPr>
              <a:xfrm>
                <a:off x="3848820" y="5910891"/>
                <a:ext cx="686099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TW" sz="1600" b="0" i="1" smtClean="0">
                          <a:latin typeface="Cambria Math" panose="02040503050406030204" pitchFamily="18" charset="0"/>
                        </a:rPr>
                        <m:t>−1.8</m:t>
                      </m:r>
                    </m:oMath>
                  </m:oMathPara>
                </a14:m>
                <a:endParaRPr kumimoji="1" lang="zh-TW" altLang="en-US" sz="1600" dirty="0"/>
              </a:p>
            </p:txBody>
          </p:sp>
        </mc:Choice>
        <mc:Fallback xmlns="">
          <p:sp>
            <p:nvSpPr>
              <p:cNvPr id="31" name="文字方塊 30">
                <a:extLst>
                  <a:ext uri="{FF2B5EF4-FFF2-40B4-BE49-F238E27FC236}">
                    <a16:creationId xmlns:a16="http://schemas.microsoft.com/office/drawing/2014/main" id="{4D3DAC6B-5B92-1CFD-751E-6687CB641DB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48820" y="5910891"/>
                <a:ext cx="686099" cy="338554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" name="圓角矩形 17">
            <a:extLst>
              <a:ext uri="{FF2B5EF4-FFF2-40B4-BE49-F238E27FC236}">
                <a16:creationId xmlns:a16="http://schemas.microsoft.com/office/drawing/2014/main" id="{601EF68D-AB15-2BE7-FB27-3732E7DC8DC8}"/>
              </a:ext>
            </a:extLst>
          </p:cNvPr>
          <p:cNvSpPr/>
          <p:nvPr/>
        </p:nvSpPr>
        <p:spPr>
          <a:xfrm>
            <a:off x="5426258" y="2144666"/>
            <a:ext cx="732055" cy="514110"/>
          </a:xfrm>
          <a:prstGeom prst="roundRect">
            <a:avLst/>
          </a:prstGeom>
          <a:solidFill>
            <a:srgbClr val="C5E0B4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en-US" altLang="zh-TW" sz="1600" dirty="0">
                <a:solidFill>
                  <a:schemeClr val="tx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to</a:t>
            </a:r>
            <a:endParaRPr kumimoji="1" lang="zh-TW" altLang="en-US" sz="1600" dirty="0">
              <a:solidFill>
                <a:schemeClr val="tx1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24" name="圓角矩形 23">
            <a:extLst>
              <a:ext uri="{FF2B5EF4-FFF2-40B4-BE49-F238E27FC236}">
                <a16:creationId xmlns:a16="http://schemas.microsoft.com/office/drawing/2014/main" id="{0CBAD8EE-42E2-E1A6-D756-AFEE80F6B6C3}"/>
              </a:ext>
            </a:extLst>
          </p:cNvPr>
          <p:cNvSpPr/>
          <p:nvPr/>
        </p:nvSpPr>
        <p:spPr>
          <a:xfrm>
            <a:off x="5426258" y="2940660"/>
            <a:ext cx="732056" cy="514110"/>
          </a:xfrm>
          <a:prstGeom prst="roundRect">
            <a:avLst/>
          </a:prstGeom>
          <a:solidFill>
            <a:srgbClr val="C5E0B4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en-US" altLang="zh-TW" sz="1300" dirty="0">
                <a:solidFill>
                  <a:schemeClr val="tx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books</a:t>
            </a:r>
            <a:endParaRPr kumimoji="1" lang="zh-TW" altLang="en-US" sz="1300" dirty="0">
              <a:solidFill>
                <a:schemeClr val="tx1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cxnSp>
        <p:nvCxnSpPr>
          <p:cNvPr id="35" name="直線箭頭接點 34">
            <a:extLst>
              <a:ext uri="{FF2B5EF4-FFF2-40B4-BE49-F238E27FC236}">
                <a16:creationId xmlns:a16="http://schemas.microsoft.com/office/drawing/2014/main" id="{46E46508-67A3-47D1-F2E4-593015865BD2}"/>
              </a:ext>
            </a:extLst>
          </p:cNvPr>
          <p:cNvCxnSpPr>
            <a:cxnSpLocks/>
          </p:cNvCxnSpPr>
          <p:nvPr/>
        </p:nvCxnSpPr>
        <p:spPr>
          <a:xfrm flipV="1">
            <a:off x="4646593" y="2401721"/>
            <a:ext cx="686098" cy="35668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直線箭頭接點 35">
            <a:extLst>
              <a:ext uri="{FF2B5EF4-FFF2-40B4-BE49-F238E27FC236}">
                <a16:creationId xmlns:a16="http://schemas.microsoft.com/office/drawing/2014/main" id="{454CD8D4-70BA-C50F-4173-C4EFAF415F32}"/>
              </a:ext>
            </a:extLst>
          </p:cNvPr>
          <p:cNvCxnSpPr>
            <a:cxnSpLocks/>
          </p:cNvCxnSpPr>
          <p:nvPr/>
        </p:nvCxnSpPr>
        <p:spPr>
          <a:xfrm>
            <a:off x="4664366" y="2868626"/>
            <a:ext cx="686098" cy="35668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7" name="文字方塊 36">
                <a:extLst>
                  <a:ext uri="{FF2B5EF4-FFF2-40B4-BE49-F238E27FC236}">
                    <a16:creationId xmlns:a16="http://schemas.microsoft.com/office/drawing/2014/main" id="{5B72CF1E-2455-77B2-4E63-0388B571BA45}"/>
                  </a:ext>
                </a:extLst>
              </p:cNvPr>
              <p:cNvSpPr txBox="1"/>
              <p:nvPr/>
            </p:nvSpPr>
            <p:spPr>
              <a:xfrm>
                <a:off x="5518071" y="1789852"/>
                <a:ext cx="530678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TW" sz="1600" b="0" i="1" smtClean="0">
                          <a:latin typeface="Cambria Math" panose="02040503050406030204" pitchFamily="18" charset="0"/>
                        </a:rPr>
                        <m:t>−2.8</m:t>
                      </m:r>
                    </m:oMath>
                  </m:oMathPara>
                </a14:m>
                <a:endParaRPr kumimoji="1" lang="zh-TW" altLang="en-US" sz="1600" dirty="0"/>
              </a:p>
            </p:txBody>
          </p:sp>
        </mc:Choice>
        <mc:Fallback xmlns="">
          <p:sp>
            <p:nvSpPr>
              <p:cNvPr id="37" name="文字方塊 36">
                <a:extLst>
                  <a:ext uri="{FF2B5EF4-FFF2-40B4-BE49-F238E27FC236}">
                    <a16:creationId xmlns:a16="http://schemas.microsoft.com/office/drawing/2014/main" id="{5B72CF1E-2455-77B2-4E63-0388B571BA4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18071" y="1789852"/>
                <a:ext cx="530678" cy="338554"/>
              </a:xfrm>
              <a:prstGeom prst="rect">
                <a:avLst/>
              </a:prstGeom>
              <a:blipFill>
                <a:blip r:embed="rId9"/>
                <a:stretch>
                  <a:fillRect r="-9302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8" name="文字方塊 37">
                <a:extLst>
                  <a:ext uri="{FF2B5EF4-FFF2-40B4-BE49-F238E27FC236}">
                    <a16:creationId xmlns:a16="http://schemas.microsoft.com/office/drawing/2014/main" id="{75DED9B6-F0F3-1533-17C3-AE4E8F2376DC}"/>
                  </a:ext>
                </a:extLst>
              </p:cNvPr>
              <p:cNvSpPr txBox="1"/>
              <p:nvPr/>
            </p:nvSpPr>
            <p:spPr>
              <a:xfrm>
                <a:off x="5500315" y="3428408"/>
                <a:ext cx="566190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TW" sz="1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−2.</m:t>
                      </m:r>
                      <m:r>
                        <a:rPr kumimoji="1" lang="en-US" altLang="zh-TW" sz="1600" b="0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5</m:t>
                      </m:r>
                    </m:oMath>
                  </m:oMathPara>
                </a14:m>
                <a:endParaRPr kumimoji="1" lang="zh-TW" altLang="en-US" sz="16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8" name="文字方塊 37">
                <a:extLst>
                  <a:ext uri="{FF2B5EF4-FFF2-40B4-BE49-F238E27FC236}">
                    <a16:creationId xmlns:a16="http://schemas.microsoft.com/office/drawing/2014/main" id="{75DED9B6-F0F3-1533-17C3-AE4E8F2376D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00315" y="3428408"/>
                <a:ext cx="566190" cy="338554"/>
              </a:xfrm>
              <a:prstGeom prst="rect">
                <a:avLst/>
              </a:prstGeom>
              <a:blipFill>
                <a:blip r:embed="rId10"/>
                <a:stretch>
                  <a:fillRect r="-4348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9" name="圓角矩形 38">
            <a:extLst>
              <a:ext uri="{FF2B5EF4-FFF2-40B4-BE49-F238E27FC236}">
                <a16:creationId xmlns:a16="http://schemas.microsoft.com/office/drawing/2014/main" id="{8D37F53C-38B0-72B7-761E-CCE30BD3F6A2}"/>
              </a:ext>
            </a:extLst>
          </p:cNvPr>
          <p:cNvSpPr/>
          <p:nvPr/>
        </p:nvSpPr>
        <p:spPr>
          <a:xfrm>
            <a:off x="5444007" y="4253284"/>
            <a:ext cx="732055" cy="514110"/>
          </a:xfrm>
          <a:prstGeom prst="roundRect">
            <a:avLst/>
          </a:prstGeom>
          <a:solidFill>
            <a:srgbClr val="C5E0B4"/>
          </a:solidFill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en-US" altLang="zh-TW" sz="1600" dirty="0">
                <a:solidFill>
                  <a:srgbClr val="FF0000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to</a:t>
            </a:r>
            <a:endParaRPr kumimoji="1" lang="zh-TW" altLang="en-US" sz="1600" dirty="0">
              <a:solidFill>
                <a:srgbClr val="FF0000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40" name="圓角矩形 39">
            <a:extLst>
              <a:ext uri="{FF2B5EF4-FFF2-40B4-BE49-F238E27FC236}">
                <a16:creationId xmlns:a16="http://schemas.microsoft.com/office/drawing/2014/main" id="{A3DAE183-4DB4-FB98-30FA-C42FE80C7E5C}"/>
              </a:ext>
            </a:extLst>
          </p:cNvPr>
          <p:cNvSpPr/>
          <p:nvPr/>
        </p:nvSpPr>
        <p:spPr>
          <a:xfrm>
            <a:off x="5444007" y="5049278"/>
            <a:ext cx="732056" cy="514110"/>
          </a:xfrm>
          <a:prstGeom prst="roundRect">
            <a:avLst/>
          </a:prstGeom>
          <a:solidFill>
            <a:srgbClr val="C5E0B4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en-US" altLang="zh-TW" sz="1600" dirty="0">
                <a:solidFill>
                  <a:schemeClr val="tx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tea</a:t>
            </a:r>
            <a:endParaRPr kumimoji="1" lang="zh-TW" altLang="en-US" sz="1600" dirty="0">
              <a:solidFill>
                <a:schemeClr val="tx1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cxnSp>
        <p:nvCxnSpPr>
          <p:cNvPr id="41" name="直線箭頭接點 40">
            <a:extLst>
              <a:ext uri="{FF2B5EF4-FFF2-40B4-BE49-F238E27FC236}">
                <a16:creationId xmlns:a16="http://schemas.microsoft.com/office/drawing/2014/main" id="{02DB8DA1-DF6A-7639-0750-34AB62672E0C}"/>
              </a:ext>
            </a:extLst>
          </p:cNvPr>
          <p:cNvCxnSpPr>
            <a:cxnSpLocks/>
          </p:cNvCxnSpPr>
          <p:nvPr/>
        </p:nvCxnSpPr>
        <p:spPr>
          <a:xfrm flipV="1">
            <a:off x="4664342" y="4510339"/>
            <a:ext cx="686098" cy="35668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直線箭頭接點 41">
            <a:extLst>
              <a:ext uri="{FF2B5EF4-FFF2-40B4-BE49-F238E27FC236}">
                <a16:creationId xmlns:a16="http://schemas.microsoft.com/office/drawing/2014/main" id="{C5EC476E-EC31-2D86-E6B2-EBF1955BF1E5}"/>
              </a:ext>
            </a:extLst>
          </p:cNvPr>
          <p:cNvCxnSpPr>
            <a:cxnSpLocks/>
          </p:cNvCxnSpPr>
          <p:nvPr/>
        </p:nvCxnSpPr>
        <p:spPr>
          <a:xfrm>
            <a:off x="4682115" y="4977244"/>
            <a:ext cx="686098" cy="35668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3" name="文字方塊 42">
                <a:extLst>
                  <a:ext uri="{FF2B5EF4-FFF2-40B4-BE49-F238E27FC236}">
                    <a16:creationId xmlns:a16="http://schemas.microsoft.com/office/drawing/2014/main" id="{9322DFDD-EFF0-7244-F30C-F19809A79EB8}"/>
                  </a:ext>
                </a:extLst>
              </p:cNvPr>
              <p:cNvSpPr txBox="1"/>
              <p:nvPr/>
            </p:nvSpPr>
            <p:spPr>
              <a:xfrm>
                <a:off x="4963600" y="3914296"/>
                <a:ext cx="1563531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kumimoji="1" lang="en-US" altLang="zh-TW" sz="16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−2.9 </m:t>
                    </m:r>
                  </m:oMath>
                </a14:m>
                <a:r>
                  <a:rPr kumimoji="1" lang="en-US" altLang="zh-TW" sz="1600" dirty="0">
                    <a:solidFill>
                      <a:srgbClr val="FF0000"/>
                    </a:solidFill>
                  </a:rPr>
                  <a:t>/ 3 = -0.97</a:t>
                </a:r>
                <a:endParaRPr kumimoji="1" lang="zh-TW" altLang="en-US" sz="16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43" name="文字方塊 42">
                <a:extLst>
                  <a:ext uri="{FF2B5EF4-FFF2-40B4-BE49-F238E27FC236}">
                    <a16:creationId xmlns:a16="http://schemas.microsoft.com/office/drawing/2014/main" id="{9322DFDD-EFF0-7244-F30C-F19809A79EB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63600" y="3914296"/>
                <a:ext cx="1563531" cy="338554"/>
              </a:xfrm>
              <a:prstGeom prst="rect">
                <a:avLst/>
              </a:prstGeom>
              <a:blipFill>
                <a:blip r:embed="rId11"/>
                <a:stretch>
                  <a:fillRect t="-7143" b="-1785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4" name="文字方塊 43">
                <a:extLst>
                  <a:ext uri="{FF2B5EF4-FFF2-40B4-BE49-F238E27FC236}">
                    <a16:creationId xmlns:a16="http://schemas.microsoft.com/office/drawing/2014/main" id="{08361A65-0546-D0FE-B2EE-A1BC12C81851}"/>
                  </a:ext>
                </a:extLst>
              </p:cNvPr>
              <p:cNvSpPr txBox="1"/>
              <p:nvPr/>
            </p:nvSpPr>
            <p:spPr>
              <a:xfrm>
                <a:off x="5509190" y="5559395"/>
                <a:ext cx="548440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TW" sz="1600" b="0" i="1" smtClean="0">
                          <a:latin typeface="Cambria Math" panose="02040503050406030204" pitchFamily="18" charset="0"/>
                        </a:rPr>
                        <m:t>−3.8</m:t>
                      </m:r>
                    </m:oMath>
                  </m:oMathPara>
                </a14:m>
                <a:endParaRPr kumimoji="1" lang="zh-TW" altLang="en-US" sz="1600" dirty="0"/>
              </a:p>
            </p:txBody>
          </p:sp>
        </mc:Choice>
        <mc:Fallback xmlns="">
          <p:sp>
            <p:nvSpPr>
              <p:cNvPr id="44" name="文字方塊 43">
                <a:extLst>
                  <a:ext uri="{FF2B5EF4-FFF2-40B4-BE49-F238E27FC236}">
                    <a16:creationId xmlns:a16="http://schemas.microsoft.com/office/drawing/2014/main" id="{08361A65-0546-D0FE-B2EE-A1BC12C8185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09190" y="5559395"/>
                <a:ext cx="548440" cy="338554"/>
              </a:xfrm>
              <a:prstGeom prst="rect">
                <a:avLst/>
              </a:prstGeom>
              <a:blipFill>
                <a:blip r:embed="rId12"/>
                <a:stretch>
                  <a:fillRect r="-4444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圓角矩形 1">
            <a:extLst>
              <a:ext uri="{FF2B5EF4-FFF2-40B4-BE49-F238E27FC236}">
                <a16:creationId xmlns:a16="http://schemas.microsoft.com/office/drawing/2014/main" id="{FCC80EAE-A748-DD7C-9D1D-B90050229D28}"/>
              </a:ext>
            </a:extLst>
          </p:cNvPr>
          <p:cNvSpPr/>
          <p:nvPr/>
        </p:nvSpPr>
        <p:spPr>
          <a:xfrm>
            <a:off x="6959306" y="2544320"/>
            <a:ext cx="810689" cy="514110"/>
          </a:xfrm>
          <a:prstGeom prst="roundRect">
            <a:avLst/>
          </a:prstGeom>
          <a:solidFill>
            <a:srgbClr val="C5E0B4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en-US" altLang="zh-TW" sz="1600" dirty="0">
                <a:solidFill>
                  <a:schemeClr val="tx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watch</a:t>
            </a:r>
            <a:endParaRPr kumimoji="1" lang="zh-TW" altLang="en-US" sz="1600" dirty="0">
              <a:solidFill>
                <a:schemeClr val="tx1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16" name="圓角矩形 15">
            <a:extLst>
              <a:ext uri="{FF2B5EF4-FFF2-40B4-BE49-F238E27FC236}">
                <a16:creationId xmlns:a16="http://schemas.microsoft.com/office/drawing/2014/main" id="{624AFD73-A0D9-AE22-080A-91A4FC5F408D}"/>
              </a:ext>
            </a:extLst>
          </p:cNvPr>
          <p:cNvSpPr/>
          <p:nvPr/>
        </p:nvSpPr>
        <p:spPr>
          <a:xfrm>
            <a:off x="6959308" y="1747929"/>
            <a:ext cx="810689" cy="514110"/>
          </a:xfrm>
          <a:prstGeom prst="roundRect">
            <a:avLst/>
          </a:prstGeom>
          <a:solidFill>
            <a:srgbClr val="C5E0B4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en-US" altLang="zh-TW" sz="1600" dirty="0">
                <a:solidFill>
                  <a:schemeClr val="tx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read</a:t>
            </a:r>
            <a:endParaRPr kumimoji="1" lang="zh-TW" altLang="en-US" sz="1600" dirty="0">
              <a:solidFill>
                <a:schemeClr val="tx1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20" name="圓角矩形 19">
            <a:extLst>
              <a:ext uri="{FF2B5EF4-FFF2-40B4-BE49-F238E27FC236}">
                <a16:creationId xmlns:a16="http://schemas.microsoft.com/office/drawing/2014/main" id="{4F17797E-F2DB-5ADF-02FE-E0226F7ACE16}"/>
              </a:ext>
            </a:extLst>
          </p:cNvPr>
          <p:cNvSpPr/>
          <p:nvPr/>
        </p:nvSpPr>
        <p:spPr>
          <a:xfrm>
            <a:off x="6959307" y="3652720"/>
            <a:ext cx="810689" cy="514110"/>
          </a:xfrm>
          <a:prstGeom prst="roundRect">
            <a:avLst/>
          </a:prstGeom>
          <a:solidFill>
            <a:srgbClr val="C5E0B4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en-US" altLang="zh-TW" sz="1600" dirty="0">
                <a:solidFill>
                  <a:schemeClr val="tx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and</a:t>
            </a:r>
            <a:endParaRPr kumimoji="1" lang="zh-TW" altLang="en-US" sz="1600" dirty="0">
              <a:solidFill>
                <a:schemeClr val="tx1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21" name="圓角矩形 20">
            <a:extLst>
              <a:ext uri="{FF2B5EF4-FFF2-40B4-BE49-F238E27FC236}">
                <a16:creationId xmlns:a16="http://schemas.microsoft.com/office/drawing/2014/main" id="{3B819ECA-E0CE-0C5D-FF83-5E3EE687278A}"/>
              </a:ext>
            </a:extLst>
          </p:cNvPr>
          <p:cNvSpPr/>
          <p:nvPr/>
        </p:nvSpPr>
        <p:spPr>
          <a:xfrm>
            <a:off x="6959307" y="4451194"/>
            <a:ext cx="810689" cy="514110"/>
          </a:xfrm>
          <a:prstGeom prst="roundRect">
            <a:avLst/>
          </a:prstGeom>
          <a:solidFill>
            <a:srgbClr val="C5E0B4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en-US" altLang="zh-TW" sz="1600" dirty="0">
                <a:solidFill>
                  <a:schemeClr val="tx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party</a:t>
            </a:r>
            <a:endParaRPr kumimoji="1" lang="zh-TW" altLang="en-US" sz="1600" dirty="0">
              <a:solidFill>
                <a:schemeClr val="tx1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cxnSp>
        <p:nvCxnSpPr>
          <p:cNvPr id="32" name="直線箭頭接點 31">
            <a:extLst>
              <a:ext uri="{FF2B5EF4-FFF2-40B4-BE49-F238E27FC236}">
                <a16:creationId xmlns:a16="http://schemas.microsoft.com/office/drawing/2014/main" id="{FFD04519-C5EE-5166-1A97-1250B554FDCF}"/>
              </a:ext>
            </a:extLst>
          </p:cNvPr>
          <p:cNvCxnSpPr>
            <a:cxnSpLocks/>
          </p:cNvCxnSpPr>
          <p:nvPr/>
        </p:nvCxnSpPr>
        <p:spPr>
          <a:xfrm flipV="1">
            <a:off x="6251880" y="1957795"/>
            <a:ext cx="635929" cy="41489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直線箭頭接點 33">
            <a:extLst>
              <a:ext uri="{FF2B5EF4-FFF2-40B4-BE49-F238E27FC236}">
                <a16:creationId xmlns:a16="http://schemas.microsoft.com/office/drawing/2014/main" id="{6E11CB0D-D77D-45B7-25D6-C3B2C6965F47}"/>
              </a:ext>
            </a:extLst>
          </p:cNvPr>
          <p:cNvCxnSpPr>
            <a:cxnSpLocks/>
          </p:cNvCxnSpPr>
          <p:nvPr/>
        </p:nvCxnSpPr>
        <p:spPr>
          <a:xfrm>
            <a:off x="6259576" y="2420845"/>
            <a:ext cx="628233" cy="462307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直線箭頭接點 47">
            <a:extLst>
              <a:ext uri="{FF2B5EF4-FFF2-40B4-BE49-F238E27FC236}">
                <a16:creationId xmlns:a16="http://schemas.microsoft.com/office/drawing/2014/main" id="{56F25780-7D26-D5A3-3618-1135CB12AAC1}"/>
              </a:ext>
            </a:extLst>
          </p:cNvPr>
          <p:cNvCxnSpPr>
            <a:cxnSpLocks/>
          </p:cNvCxnSpPr>
          <p:nvPr/>
        </p:nvCxnSpPr>
        <p:spPr>
          <a:xfrm>
            <a:off x="6251879" y="3215471"/>
            <a:ext cx="625270" cy="694304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直線箭頭接點 49">
            <a:extLst>
              <a:ext uri="{FF2B5EF4-FFF2-40B4-BE49-F238E27FC236}">
                <a16:creationId xmlns:a16="http://schemas.microsoft.com/office/drawing/2014/main" id="{70EA67BC-FF40-CF85-BF93-26350692CB6F}"/>
              </a:ext>
            </a:extLst>
          </p:cNvPr>
          <p:cNvCxnSpPr>
            <a:cxnSpLocks/>
          </p:cNvCxnSpPr>
          <p:nvPr/>
        </p:nvCxnSpPr>
        <p:spPr>
          <a:xfrm>
            <a:off x="6246934" y="3268249"/>
            <a:ext cx="630215" cy="1499145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2" name="文字方塊 51">
                <a:extLst>
                  <a:ext uri="{FF2B5EF4-FFF2-40B4-BE49-F238E27FC236}">
                    <a16:creationId xmlns:a16="http://schemas.microsoft.com/office/drawing/2014/main" id="{EC0517B7-256E-F152-381C-CE5B518C49B6}"/>
                  </a:ext>
                </a:extLst>
              </p:cNvPr>
              <p:cNvSpPr txBox="1"/>
              <p:nvPr/>
            </p:nvSpPr>
            <p:spPr>
              <a:xfrm>
                <a:off x="6990563" y="1422320"/>
                <a:ext cx="643283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TW" sz="1600" b="0" i="1" smtClean="0">
                          <a:latin typeface="Cambria Math" panose="02040503050406030204" pitchFamily="18" charset="0"/>
                        </a:rPr>
                        <m:t>−4.1</m:t>
                      </m:r>
                    </m:oMath>
                  </m:oMathPara>
                </a14:m>
                <a:endParaRPr kumimoji="1" lang="zh-TW" altLang="en-US" sz="1600" dirty="0"/>
              </a:p>
            </p:txBody>
          </p:sp>
        </mc:Choice>
        <mc:Fallback xmlns="">
          <p:sp>
            <p:nvSpPr>
              <p:cNvPr id="52" name="文字方塊 51">
                <a:extLst>
                  <a:ext uri="{FF2B5EF4-FFF2-40B4-BE49-F238E27FC236}">
                    <a16:creationId xmlns:a16="http://schemas.microsoft.com/office/drawing/2014/main" id="{EC0517B7-256E-F152-381C-CE5B518C49B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90563" y="1422320"/>
                <a:ext cx="643283" cy="338554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3" name="文字方塊 52">
                <a:extLst>
                  <a:ext uri="{FF2B5EF4-FFF2-40B4-BE49-F238E27FC236}">
                    <a16:creationId xmlns:a16="http://schemas.microsoft.com/office/drawing/2014/main" id="{6F906C2F-5027-8893-C1EC-DB34E9C0E2C2}"/>
                  </a:ext>
                </a:extLst>
              </p:cNvPr>
              <p:cNvSpPr txBox="1"/>
              <p:nvPr/>
            </p:nvSpPr>
            <p:spPr>
              <a:xfrm>
                <a:off x="7034878" y="3014097"/>
                <a:ext cx="530678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TW" sz="1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−3.2</m:t>
                      </m:r>
                    </m:oMath>
                  </m:oMathPara>
                </a14:m>
                <a:endParaRPr kumimoji="1" lang="zh-TW" altLang="en-US" sz="16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53" name="文字方塊 52">
                <a:extLst>
                  <a:ext uri="{FF2B5EF4-FFF2-40B4-BE49-F238E27FC236}">
                    <a16:creationId xmlns:a16="http://schemas.microsoft.com/office/drawing/2014/main" id="{6F906C2F-5027-8893-C1EC-DB34E9C0E2C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34878" y="3014097"/>
                <a:ext cx="530678" cy="338554"/>
              </a:xfrm>
              <a:prstGeom prst="rect">
                <a:avLst/>
              </a:prstGeom>
              <a:blipFill>
                <a:blip r:embed="rId14"/>
                <a:stretch>
                  <a:fillRect r="-9302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4" name="文字方塊 53">
                <a:extLst>
                  <a:ext uri="{FF2B5EF4-FFF2-40B4-BE49-F238E27FC236}">
                    <a16:creationId xmlns:a16="http://schemas.microsoft.com/office/drawing/2014/main" id="{16676045-5672-AA81-F226-84FF0BBA8EFB}"/>
                  </a:ext>
                </a:extLst>
              </p:cNvPr>
              <p:cNvSpPr txBox="1"/>
              <p:nvPr/>
            </p:nvSpPr>
            <p:spPr>
              <a:xfrm>
                <a:off x="7034878" y="3380849"/>
                <a:ext cx="530678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TW" sz="1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−3.3</m:t>
                      </m:r>
                    </m:oMath>
                  </m:oMathPara>
                </a14:m>
                <a:endParaRPr kumimoji="1" lang="zh-TW" altLang="en-US" sz="16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54" name="文字方塊 53">
                <a:extLst>
                  <a:ext uri="{FF2B5EF4-FFF2-40B4-BE49-F238E27FC236}">
                    <a16:creationId xmlns:a16="http://schemas.microsoft.com/office/drawing/2014/main" id="{16676045-5672-AA81-F226-84FF0BBA8EF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34878" y="3380849"/>
                <a:ext cx="530678" cy="338554"/>
              </a:xfrm>
              <a:prstGeom prst="rect">
                <a:avLst/>
              </a:prstGeom>
              <a:blipFill>
                <a:blip r:embed="rId15"/>
                <a:stretch>
                  <a:fillRect r="-9302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7" name="文字方塊 56">
                <a:extLst>
                  <a:ext uri="{FF2B5EF4-FFF2-40B4-BE49-F238E27FC236}">
                    <a16:creationId xmlns:a16="http://schemas.microsoft.com/office/drawing/2014/main" id="{F9C59B25-2255-0ACF-CE91-AC14A5AC8D46}"/>
                  </a:ext>
                </a:extLst>
              </p:cNvPr>
              <p:cNvSpPr txBox="1"/>
              <p:nvPr/>
            </p:nvSpPr>
            <p:spPr>
              <a:xfrm>
                <a:off x="7046866" y="4946362"/>
                <a:ext cx="530678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TW" sz="1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−3.5</m:t>
                      </m:r>
                    </m:oMath>
                  </m:oMathPara>
                </a14:m>
                <a:endParaRPr kumimoji="1" lang="zh-TW" altLang="en-US" sz="16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57" name="文字方塊 56">
                <a:extLst>
                  <a:ext uri="{FF2B5EF4-FFF2-40B4-BE49-F238E27FC236}">
                    <a16:creationId xmlns:a16="http://schemas.microsoft.com/office/drawing/2014/main" id="{F9C59B25-2255-0ACF-CE91-AC14A5AC8D4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46866" y="4946362"/>
                <a:ext cx="530678" cy="338554"/>
              </a:xfrm>
              <a:prstGeom prst="rect">
                <a:avLst/>
              </a:prstGeom>
              <a:blipFill>
                <a:blip r:embed="rId16"/>
                <a:stretch>
                  <a:fillRect r="-9302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2" name="圓角矩形 61">
            <a:extLst>
              <a:ext uri="{FF2B5EF4-FFF2-40B4-BE49-F238E27FC236}">
                <a16:creationId xmlns:a16="http://schemas.microsoft.com/office/drawing/2014/main" id="{4B769ABC-2D1E-CB77-8C48-CD005D939EA0}"/>
              </a:ext>
            </a:extLst>
          </p:cNvPr>
          <p:cNvSpPr/>
          <p:nvPr/>
        </p:nvSpPr>
        <p:spPr>
          <a:xfrm>
            <a:off x="8566509" y="2541946"/>
            <a:ext cx="810689" cy="514110"/>
          </a:xfrm>
          <a:prstGeom prst="roundRect">
            <a:avLst/>
          </a:prstGeom>
          <a:solidFill>
            <a:srgbClr val="C5E0B4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en-US" altLang="zh-TW" sz="1300" dirty="0">
                <a:solidFill>
                  <a:schemeClr val="tx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horror</a:t>
            </a:r>
            <a:endParaRPr kumimoji="1" lang="zh-TW" altLang="en-US" sz="1300" dirty="0">
              <a:solidFill>
                <a:schemeClr val="tx1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63" name="圓角矩形 62">
            <a:extLst>
              <a:ext uri="{FF2B5EF4-FFF2-40B4-BE49-F238E27FC236}">
                <a16:creationId xmlns:a16="http://schemas.microsoft.com/office/drawing/2014/main" id="{A18B5995-7936-68CC-EB41-6DE84B364041}"/>
              </a:ext>
            </a:extLst>
          </p:cNvPr>
          <p:cNvSpPr/>
          <p:nvPr/>
        </p:nvSpPr>
        <p:spPr>
          <a:xfrm>
            <a:off x="8566509" y="1745555"/>
            <a:ext cx="810689" cy="514110"/>
          </a:xfrm>
          <a:prstGeom prst="roundRect">
            <a:avLst/>
          </a:prstGeom>
          <a:solidFill>
            <a:srgbClr val="C5E0B4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en-US" altLang="zh-TW" sz="1600" dirty="0">
                <a:solidFill>
                  <a:schemeClr val="tx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tv</a:t>
            </a:r>
            <a:endParaRPr kumimoji="1" lang="zh-TW" altLang="en-US" sz="1600" dirty="0">
              <a:solidFill>
                <a:schemeClr val="tx1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cxnSp>
        <p:nvCxnSpPr>
          <p:cNvPr id="64" name="直線箭頭接點 63">
            <a:extLst>
              <a:ext uri="{FF2B5EF4-FFF2-40B4-BE49-F238E27FC236}">
                <a16:creationId xmlns:a16="http://schemas.microsoft.com/office/drawing/2014/main" id="{F9B8227B-B2AF-EA84-9CAC-78F856341887}"/>
              </a:ext>
            </a:extLst>
          </p:cNvPr>
          <p:cNvCxnSpPr>
            <a:cxnSpLocks/>
          </p:cNvCxnSpPr>
          <p:nvPr/>
        </p:nvCxnSpPr>
        <p:spPr>
          <a:xfrm>
            <a:off x="7868037" y="2801375"/>
            <a:ext cx="583505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直線箭頭接點 67">
            <a:extLst>
              <a:ext uri="{FF2B5EF4-FFF2-40B4-BE49-F238E27FC236}">
                <a16:creationId xmlns:a16="http://schemas.microsoft.com/office/drawing/2014/main" id="{B09A036F-DE62-BB87-4E4C-E2841664A1C1}"/>
              </a:ext>
            </a:extLst>
          </p:cNvPr>
          <p:cNvCxnSpPr>
            <a:cxnSpLocks/>
          </p:cNvCxnSpPr>
          <p:nvPr/>
        </p:nvCxnSpPr>
        <p:spPr>
          <a:xfrm flipV="1">
            <a:off x="7868037" y="2002610"/>
            <a:ext cx="583505" cy="755791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1" name="圓角矩形 70">
            <a:extLst>
              <a:ext uri="{FF2B5EF4-FFF2-40B4-BE49-F238E27FC236}">
                <a16:creationId xmlns:a16="http://schemas.microsoft.com/office/drawing/2014/main" id="{65458D6C-0F40-E54D-7D40-40DE99DB5C0C}"/>
              </a:ext>
            </a:extLst>
          </p:cNvPr>
          <p:cNvSpPr/>
          <p:nvPr/>
        </p:nvSpPr>
        <p:spPr>
          <a:xfrm>
            <a:off x="8566509" y="4434454"/>
            <a:ext cx="810689" cy="514110"/>
          </a:xfrm>
          <a:prstGeom prst="roundRect">
            <a:avLst/>
          </a:prstGeom>
          <a:solidFill>
            <a:srgbClr val="C5E0B4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en-US" altLang="zh-TW" sz="1300" dirty="0">
                <a:solidFill>
                  <a:schemeClr val="tx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horror</a:t>
            </a:r>
            <a:endParaRPr kumimoji="1" lang="zh-TW" altLang="en-US" sz="1300" dirty="0">
              <a:solidFill>
                <a:schemeClr val="tx1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72" name="圓角矩形 71">
            <a:extLst>
              <a:ext uri="{FF2B5EF4-FFF2-40B4-BE49-F238E27FC236}">
                <a16:creationId xmlns:a16="http://schemas.microsoft.com/office/drawing/2014/main" id="{15DC6462-8ECC-218B-B2C6-74CB85517F37}"/>
              </a:ext>
            </a:extLst>
          </p:cNvPr>
          <p:cNvSpPr/>
          <p:nvPr/>
        </p:nvSpPr>
        <p:spPr>
          <a:xfrm>
            <a:off x="8566509" y="3630751"/>
            <a:ext cx="810689" cy="514110"/>
          </a:xfrm>
          <a:prstGeom prst="roundRect">
            <a:avLst/>
          </a:prstGeom>
          <a:solidFill>
            <a:srgbClr val="C5E0B4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en-US" altLang="zh-TW" sz="1600" dirty="0">
                <a:solidFill>
                  <a:schemeClr val="tx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write</a:t>
            </a:r>
            <a:endParaRPr kumimoji="1" lang="zh-TW" altLang="en-US" sz="1300" dirty="0">
              <a:solidFill>
                <a:schemeClr val="tx1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cxnSp>
        <p:nvCxnSpPr>
          <p:cNvPr id="73" name="直線箭頭接點 72">
            <a:extLst>
              <a:ext uri="{FF2B5EF4-FFF2-40B4-BE49-F238E27FC236}">
                <a16:creationId xmlns:a16="http://schemas.microsoft.com/office/drawing/2014/main" id="{DC9CA5F9-443A-548C-D9DC-99EEDDCC1B84}"/>
              </a:ext>
            </a:extLst>
          </p:cNvPr>
          <p:cNvCxnSpPr>
            <a:cxnSpLocks/>
          </p:cNvCxnSpPr>
          <p:nvPr/>
        </p:nvCxnSpPr>
        <p:spPr>
          <a:xfrm>
            <a:off x="7868037" y="3920828"/>
            <a:ext cx="583505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直線箭頭接點 73">
            <a:extLst>
              <a:ext uri="{FF2B5EF4-FFF2-40B4-BE49-F238E27FC236}">
                <a16:creationId xmlns:a16="http://schemas.microsoft.com/office/drawing/2014/main" id="{87D77537-FC62-4357-15D5-8D73B9A85FF0}"/>
              </a:ext>
            </a:extLst>
          </p:cNvPr>
          <p:cNvCxnSpPr>
            <a:cxnSpLocks/>
          </p:cNvCxnSpPr>
          <p:nvPr/>
        </p:nvCxnSpPr>
        <p:spPr>
          <a:xfrm>
            <a:off x="7878102" y="4025792"/>
            <a:ext cx="571276" cy="682457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81" name="文字方塊 80">
                <a:extLst>
                  <a:ext uri="{FF2B5EF4-FFF2-40B4-BE49-F238E27FC236}">
                    <a16:creationId xmlns:a16="http://schemas.microsoft.com/office/drawing/2014/main" id="{AC91EA17-C9D6-FF25-F9B0-AF8763210404}"/>
                  </a:ext>
                </a:extLst>
              </p:cNvPr>
              <p:cNvSpPr txBox="1"/>
              <p:nvPr/>
            </p:nvSpPr>
            <p:spPr>
              <a:xfrm>
                <a:off x="8650211" y="1420109"/>
                <a:ext cx="643283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TW" sz="1600" b="0" i="1" smtClean="0">
                          <a:latin typeface="Cambria Math" panose="02040503050406030204" pitchFamily="18" charset="0"/>
                        </a:rPr>
                        <m:t>−4.8</m:t>
                      </m:r>
                    </m:oMath>
                  </m:oMathPara>
                </a14:m>
                <a:endParaRPr kumimoji="1" lang="zh-TW" altLang="en-US" sz="1600" dirty="0"/>
              </a:p>
            </p:txBody>
          </p:sp>
        </mc:Choice>
        <mc:Fallback xmlns="">
          <p:sp>
            <p:nvSpPr>
              <p:cNvPr id="81" name="文字方塊 80">
                <a:extLst>
                  <a:ext uri="{FF2B5EF4-FFF2-40B4-BE49-F238E27FC236}">
                    <a16:creationId xmlns:a16="http://schemas.microsoft.com/office/drawing/2014/main" id="{AC91EA17-C9D6-FF25-F9B0-AF876321040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50211" y="1420109"/>
                <a:ext cx="643283" cy="338554"/>
              </a:xfrm>
              <a:prstGeom prst="rect">
                <a:avLst/>
              </a:prstGeom>
              <a:blipFill>
                <a:blip r:embed="rId1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2" name="文字方塊 81">
                <a:extLst>
                  <a:ext uri="{FF2B5EF4-FFF2-40B4-BE49-F238E27FC236}">
                    <a16:creationId xmlns:a16="http://schemas.microsoft.com/office/drawing/2014/main" id="{F2BEE332-6CAA-42C9-C270-2622ACB4DF05}"/>
                  </a:ext>
                </a:extLst>
              </p:cNvPr>
              <p:cNvSpPr txBox="1"/>
              <p:nvPr/>
            </p:nvSpPr>
            <p:spPr>
              <a:xfrm>
                <a:off x="8650211" y="3028656"/>
                <a:ext cx="643283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TW" sz="1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−3.7</m:t>
                      </m:r>
                    </m:oMath>
                  </m:oMathPara>
                </a14:m>
                <a:endParaRPr kumimoji="1" lang="zh-TW" altLang="en-US" sz="16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82" name="文字方塊 81">
                <a:extLst>
                  <a:ext uri="{FF2B5EF4-FFF2-40B4-BE49-F238E27FC236}">
                    <a16:creationId xmlns:a16="http://schemas.microsoft.com/office/drawing/2014/main" id="{F2BEE332-6CAA-42C9-C270-2622ACB4DF0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50211" y="3028656"/>
                <a:ext cx="643283" cy="338554"/>
              </a:xfrm>
              <a:prstGeom prst="rect">
                <a:avLst/>
              </a:prstGeom>
              <a:blipFill>
                <a:blip r:embed="rId1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3" name="文字方塊 82">
                <a:extLst>
                  <a:ext uri="{FF2B5EF4-FFF2-40B4-BE49-F238E27FC236}">
                    <a16:creationId xmlns:a16="http://schemas.microsoft.com/office/drawing/2014/main" id="{9CC7B0D0-65C5-0DC6-E08A-EE5DFC359BA6}"/>
                  </a:ext>
                </a:extLst>
              </p:cNvPr>
              <p:cNvSpPr txBox="1"/>
              <p:nvPr/>
            </p:nvSpPr>
            <p:spPr>
              <a:xfrm>
                <a:off x="8653081" y="3354518"/>
                <a:ext cx="643283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TW" sz="1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−4.5</m:t>
                      </m:r>
                    </m:oMath>
                  </m:oMathPara>
                </a14:m>
                <a:endParaRPr kumimoji="1" lang="zh-TW" altLang="en-US" sz="16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83" name="文字方塊 82">
                <a:extLst>
                  <a:ext uri="{FF2B5EF4-FFF2-40B4-BE49-F238E27FC236}">
                    <a16:creationId xmlns:a16="http://schemas.microsoft.com/office/drawing/2014/main" id="{9CC7B0D0-65C5-0DC6-E08A-EE5DFC359BA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53081" y="3354518"/>
                <a:ext cx="643283" cy="338554"/>
              </a:xfrm>
              <a:prstGeom prst="rect">
                <a:avLst/>
              </a:prstGeom>
              <a:blipFill>
                <a:blip r:embed="rId1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4" name="文字方塊 83">
                <a:extLst>
                  <a:ext uri="{FF2B5EF4-FFF2-40B4-BE49-F238E27FC236}">
                    <a16:creationId xmlns:a16="http://schemas.microsoft.com/office/drawing/2014/main" id="{6EFF82DC-8235-5F19-35CB-E35C980CB2F8}"/>
                  </a:ext>
                </a:extLst>
              </p:cNvPr>
              <p:cNvSpPr txBox="1"/>
              <p:nvPr/>
            </p:nvSpPr>
            <p:spPr>
              <a:xfrm>
                <a:off x="8650211" y="4926282"/>
                <a:ext cx="643283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TW" sz="1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−4.3</m:t>
                      </m:r>
                    </m:oMath>
                  </m:oMathPara>
                </a14:m>
                <a:endParaRPr kumimoji="1" lang="zh-TW" altLang="en-US" sz="16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84" name="文字方塊 83">
                <a:extLst>
                  <a:ext uri="{FF2B5EF4-FFF2-40B4-BE49-F238E27FC236}">
                    <a16:creationId xmlns:a16="http://schemas.microsoft.com/office/drawing/2014/main" id="{6EFF82DC-8235-5F19-35CB-E35C980CB2F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50211" y="4926282"/>
                <a:ext cx="643283" cy="338554"/>
              </a:xfrm>
              <a:prstGeom prst="rect">
                <a:avLst/>
              </a:prstGeom>
              <a:blipFill>
                <a:blip r:embed="rId2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7" name="圓角矩形 86">
            <a:extLst>
              <a:ext uri="{FF2B5EF4-FFF2-40B4-BE49-F238E27FC236}">
                <a16:creationId xmlns:a16="http://schemas.microsoft.com/office/drawing/2014/main" id="{2ECEE44B-E1FE-8F53-C2EA-BF6466326A8D}"/>
              </a:ext>
            </a:extLst>
          </p:cNvPr>
          <p:cNvSpPr/>
          <p:nvPr/>
        </p:nvSpPr>
        <p:spPr>
          <a:xfrm>
            <a:off x="10210292" y="4867019"/>
            <a:ext cx="810689" cy="514110"/>
          </a:xfrm>
          <a:prstGeom prst="roundRect">
            <a:avLst/>
          </a:prstGeom>
          <a:solidFill>
            <a:srgbClr val="C5E0B4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en-US" altLang="zh-TW" sz="1300" dirty="0">
                <a:solidFill>
                  <a:schemeClr val="tx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movies</a:t>
            </a:r>
            <a:endParaRPr kumimoji="1" lang="zh-TW" altLang="en-US" sz="1300" dirty="0">
              <a:solidFill>
                <a:schemeClr val="tx1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88" name="圓角矩形 87">
            <a:extLst>
              <a:ext uri="{FF2B5EF4-FFF2-40B4-BE49-F238E27FC236}">
                <a16:creationId xmlns:a16="http://schemas.microsoft.com/office/drawing/2014/main" id="{F777A461-4D4D-A6A3-48E3-DEF3183B7D1E}"/>
              </a:ext>
            </a:extLst>
          </p:cNvPr>
          <p:cNvSpPr/>
          <p:nvPr/>
        </p:nvSpPr>
        <p:spPr>
          <a:xfrm>
            <a:off x="10210294" y="4070628"/>
            <a:ext cx="810689" cy="514110"/>
          </a:xfrm>
          <a:prstGeom prst="roundRect">
            <a:avLst/>
          </a:prstGeom>
          <a:solidFill>
            <a:srgbClr val="C5E0B4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en-US" altLang="zh-TW" sz="1400" dirty="0">
                <a:solidFill>
                  <a:schemeClr val="tx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games</a:t>
            </a:r>
            <a:endParaRPr kumimoji="1" lang="zh-TW" altLang="en-US" sz="1600" dirty="0">
              <a:solidFill>
                <a:schemeClr val="tx1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cxnSp>
        <p:nvCxnSpPr>
          <p:cNvPr id="89" name="直線箭頭接點 88">
            <a:extLst>
              <a:ext uri="{FF2B5EF4-FFF2-40B4-BE49-F238E27FC236}">
                <a16:creationId xmlns:a16="http://schemas.microsoft.com/office/drawing/2014/main" id="{19CB5E83-68B2-EECF-6051-F6B089A593B9}"/>
              </a:ext>
            </a:extLst>
          </p:cNvPr>
          <p:cNvCxnSpPr>
            <a:cxnSpLocks/>
          </p:cNvCxnSpPr>
          <p:nvPr/>
        </p:nvCxnSpPr>
        <p:spPr>
          <a:xfrm flipV="1">
            <a:off x="9502866" y="4280494"/>
            <a:ext cx="635929" cy="41489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" name="直線箭頭接點 89">
            <a:extLst>
              <a:ext uri="{FF2B5EF4-FFF2-40B4-BE49-F238E27FC236}">
                <a16:creationId xmlns:a16="http://schemas.microsoft.com/office/drawing/2014/main" id="{6DCE5A51-6B44-14B3-A16B-A0D864279FFB}"/>
              </a:ext>
            </a:extLst>
          </p:cNvPr>
          <p:cNvCxnSpPr>
            <a:cxnSpLocks/>
          </p:cNvCxnSpPr>
          <p:nvPr/>
        </p:nvCxnSpPr>
        <p:spPr>
          <a:xfrm>
            <a:off x="9510562" y="4743544"/>
            <a:ext cx="628233" cy="462307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91" name="文字方塊 90">
                <a:extLst>
                  <a:ext uri="{FF2B5EF4-FFF2-40B4-BE49-F238E27FC236}">
                    <a16:creationId xmlns:a16="http://schemas.microsoft.com/office/drawing/2014/main" id="{FADD9AFA-BBAF-1373-7669-45A5779F618A}"/>
                  </a:ext>
                </a:extLst>
              </p:cNvPr>
              <p:cNvSpPr txBox="1"/>
              <p:nvPr/>
            </p:nvSpPr>
            <p:spPr>
              <a:xfrm>
                <a:off x="10241549" y="3745019"/>
                <a:ext cx="643283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TW" sz="1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−5.0</m:t>
                      </m:r>
                    </m:oMath>
                  </m:oMathPara>
                </a14:m>
                <a:endParaRPr kumimoji="1" lang="zh-TW" altLang="en-US" sz="16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91" name="文字方塊 90">
                <a:extLst>
                  <a:ext uri="{FF2B5EF4-FFF2-40B4-BE49-F238E27FC236}">
                    <a16:creationId xmlns:a16="http://schemas.microsoft.com/office/drawing/2014/main" id="{FADD9AFA-BBAF-1373-7669-45A5779F618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241549" y="3745019"/>
                <a:ext cx="643283" cy="338554"/>
              </a:xfrm>
              <a:prstGeom prst="rect">
                <a:avLst/>
              </a:prstGeom>
              <a:blipFill>
                <a:blip r:embed="rId2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2" name="文字方塊 91">
                <a:extLst>
                  <a:ext uri="{FF2B5EF4-FFF2-40B4-BE49-F238E27FC236}">
                    <a16:creationId xmlns:a16="http://schemas.microsoft.com/office/drawing/2014/main" id="{6D896CB3-4BA5-6930-4608-455C8C5D9534}"/>
                  </a:ext>
                </a:extLst>
              </p:cNvPr>
              <p:cNvSpPr txBox="1"/>
              <p:nvPr/>
            </p:nvSpPr>
            <p:spPr>
              <a:xfrm>
                <a:off x="10285864" y="5336796"/>
                <a:ext cx="530678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TW" sz="1600" b="0" i="1" smtClean="0">
                          <a:latin typeface="Cambria Math" panose="02040503050406030204" pitchFamily="18" charset="0"/>
                        </a:rPr>
                        <m:t>−5.3</m:t>
                      </m:r>
                    </m:oMath>
                  </m:oMathPara>
                </a14:m>
                <a:endParaRPr kumimoji="1" lang="zh-TW" altLang="en-US" sz="1600" dirty="0"/>
              </a:p>
            </p:txBody>
          </p:sp>
        </mc:Choice>
        <mc:Fallback xmlns="">
          <p:sp>
            <p:nvSpPr>
              <p:cNvPr id="92" name="文字方塊 91">
                <a:extLst>
                  <a:ext uri="{FF2B5EF4-FFF2-40B4-BE49-F238E27FC236}">
                    <a16:creationId xmlns:a16="http://schemas.microsoft.com/office/drawing/2014/main" id="{6D896CB3-4BA5-6930-4608-455C8C5D953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285864" y="5336796"/>
                <a:ext cx="530678" cy="338554"/>
              </a:xfrm>
              <a:prstGeom prst="rect">
                <a:avLst/>
              </a:prstGeom>
              <a:blipFill>
                <a:blip r:embed="rId22"/>
                <a:stretch>
                  <a:fillRect r="-9302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3" name="圓角矩形 92">
            <a:extLst>
              <a:ext uri="{FF2B5EF4-FFF2-40B4-BE49-F238E27FC236}">
                <a16:creationId xmlns:a16="http://schemas.microsoft.com/office/drawing/2014/main" id="{6682415B-AAE3-C480-C984-1FA1C126E1A4}"/>
              </a:ext>
            </a:extLst>
          </p:cNvPr>
          <p:cNvSpPr/>
          <p:nvPr/>
        </p:nvSpPr>
        <p:spPr>
          <a:xfrm>
            <a:off x="10187145" y="2923111"/>
            <a:ext cx="810689" cy="514110"/>
          </a:xfrm>
          <a:prstGeom prst="roundRect">
            <a:avLst/>
          </a:prstGeom>
          <a:solidFill>
            <a:srgbClr val="C5E0B4"/>
          </a:solidFill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en-US" altLang="zh-TW" sz="1300" dirty="0">
                <a:solidFill>
                  <a:srgbClr val="FF0000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movies</a:t>
            </a:r>
            <a:endParaRPr kumimoji="1" lang="zh-TW" altLang="en-US" sz="1300" dirty="0">
              <a:solidFill>
                <a:srgbClr val="FF0000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94" name="圓角矩形 93">
            <a:extLst>
              <a:ext uri="{FF2B5EF4-FFF2-40B4-BE49-F238E27FC236}">
                <a16:creationId xmlns:a16="http://schemas.microsoft.com/office/drawing/2014/main" id="{854E7910-C3A2-1166-8197-6FBABACCD778}"/>
              </a:ext>
            </a:extLst>
          </p:cNvPr>
          <p:cNvSpPr/>
          <p:nvPr/>
        </p:nvSpPr>
        <p:spPr>
          <a:xfrm>
            <a:off x="10187147" y="2126720"/>
            <a:ext cx="810689" cy="514110"/>
          </a:xfrm>
          <a:prstGeom prst="roundRect">
            <a:avLst/>
          </a:prstGeom>
          <a:solidFill>
            <a:srgbClr val="C5E0B4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en-US" altLang="zh-TW" sz="1400" dirty="0">
                <a:solidFill>
                  <a:schemeClr val="tx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things</a:t>
            </a:r>
            <a:endParaRPr kumimoji="1" lang="zh-TW" altLang="en-US" sz="1600" dirty="0">
              <a:solidFill>
                <a:schemeClr val="tx1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cxnSp>
        <p:nvCxnSpPr>
          <p:cNvPr id="95" name="直線箭頭接點 94">
            <a:extLst>
              <a:ext uri="{FF2B5EF4-FFF2-40B4-BE49-F238E27FC236}">
                <a16:creationId xmlns:a16="http://schemas.microsoft.com/office/drawing/2014/main" id="{4F585D2D-48D7-D4DD-06CA-F00CAF494BC3}"/>
              </a:ext>
            </a:extLst>
          </p:cNvPr>
          <p:cNvCxnSpPr>
            <a:cxnSpLocks/>
          </p:cNvCxnSpPr>
          <p:nvPr/>
        </p:nvCxnSpPr>
        <p:spPr>
          <a:xfrm flipV="1">
            <a:off x="9479719" y="2336586"/>
            <a:ext cx="635929" cy="41489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" name="直線箭頭接點 95">
            <a:extLst>
              <a:ext uri="{FF2B5EF4-FFF2-40B4-BE49-F238E27FC236}">
                <a16:creationId xmlns:a16="http://schemas.microsoft.com/office/drawing/2014/main" id="{1A6C486F-EFEC-66D4-8F69-9EF80B3487C8}"/>
              </a:ext>
            </a:extLst>
          </p:cNvPr>
          <p:cNvCxnSpPr>
            <a:cxnSpLocks/>
          </p:cNvCxnSpPr>
          <p:nvPr/>
        </p:nvCxnSpPr>
        <p:spPr>
          <a:xfrm>
            <a:off x="9487415" y="2799636"/>
            <a:ext cx="628233" cy="462307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97" name="文字方塊 96">
                <a:extLst>
                  <a:ext uri="{FF2B5EF4-FFF2-40B4-BE49-F238E27FC236}">
                    <a16:creationId xmlns:a16="http://schemas.microsoft.com/office/drawing/2014/main" id="{45EB6964-E132-3716-7E4D-D7B527BD1E3E}"/>
                  </a:ext>
                </a:extLst>
              </p:cNvPr>
              <p:cNvSpPr txBox="1"/>
              <p:nvPr/>
            </p:nvSpPr>
            <p:spPr>
              <a:xfrm>
                <a:off x="10218402" y="1801111"/>
                <a:ext cx="643283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TW" sz="1600" b="0" i="1" smtClean="0">
                          <a:latin typeface="Cambria Math" panose="02040503050406030204" pitchFamily="18" charset="0"/>
                        </a:rPr>
                        <m:t>−5.1</m:t>
                      </m:r>
                    </m:oMath>
                  </m:oMathPara>
                </a14:m>
                <a:endParaRPr kumimoji="1" lang="zh-TW" altLang="en-US" sz="1600" dirty="0"/>
              </a:p>
            </p:txBody>
          </p:sp>
        </mc:Choice>
        <mc:Fallback xmlns="">
          <p:sp>
            <p:nvSpPr>
              <p:cNvPr id="97" name="文字方塊 96">
                <a:extLst>
                  <a:ext uri="{FF2B5EF4-FFF2-40B4-BE49-F238E27FC236}">
                    <a16:creationId xmlns:a16="http://schemas.microsoft.com/office/drawing/2014/main" id="{45EB6964-E132-3716-7E4D-D7B527BD1E3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218402" y="1801111"/>
                <a:ext cx="643283" cy="338554"/>
              </a:xfrm>
              <a:prstGeom prst="rect">
                <a:avLst/>
              </a:prstGeom>
              <a:blipFill>
                <a:blip r:embed="rId2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8" name="文字方塊 97">
                <a:extLst>
                  <a:ext uri="{FF2B5EF4-FFF2-40B4-BE49-F238E27FC236}">
                    <a16:creationId xmlns:a16="http://schemas.microsoft.com/office/drawing/2014/main" id="{EEC113B5-90C9-8AF8-DA51-2627CD3577FA}"/>
                  </a:ext>
                </a:extLst>
              </p:cNvPr>
              <p:cNvSpPr txBox="1"/>
              <p:nvPr/>
            </p:nvSpPr>
            <p:spPr>
              <a:xfrm>
                <a:off x="9843132" y="3422037"/>
                <a:ext cx="1539645" cy="33855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kumimoji="1" lang="en-US" altLang="zh-TW" sz="16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−4.6</m:t>
                    </m:r>
                  </m:oMath>
                </a14:m>
                <a:r>
                  <a:rPr kumimoji="1" lang="en-US" altLang="zh-TW" sz="1600" dirty="0">
                    <a:solidFill>
                      <a:schemeClr val="tx1"/>
                    </a:solidFill>
                  </a:rPr>
                  <a:t> </a:t>
                </a:r>
                <a:r>
                  <a:rPr kumimoji="1" lang="en-US" altLang="zh-TW" sz="1600" dirty="0">
                    <a:solidFill>
                      <a:srgbClr val="FF0000"/>
                    </a:solidFill>
                  </a:rPr>
                  <a:t>/ 6 = -0.77</a:t>
                </a:r>
                <a:endParaRPr kumimoji="1" lang="zh-TW" altLang="en-US" sz="16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98" name="文字方塊 97">
                <a:extLst>
                  <a:ext uri="{FF2B5EF4-FFF2-40B4-BE49-F238E27FC236}">
                    <a16:creationId xmlns:a16="http://schemas.microsoft.com/office/drawing/2014/main" id="{EEC113B5-90C9-8AF8-DA51-2627CD3577F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43132" y="3422037"/>
                <a:ext cx="1539645" cy="338554"/>
              </a:xfrm>
              <a:prstGeom prst="rect">
                <a:avLst/>
              </a:prstGeom>
              <a:blipFill>
                <a:blip r:embed="rId24"/>
                <a:stretch>
                  <a:fillRect t="-7143" b="-17857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6" name="標題 1">
                <a:extLst>
                  <a:ext uri="{FF2B5EF4-FFF2-40B4-BE49-F238E27FC236}">
                    <a16:creationId xmlns:a16="http://schemas.microsoft.com/office/drawing/2014/main" id="{B3CF6D12-5E62-A535-67F0-BA892A514630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644672" y="356088"/>
                <a:ext cx="10511008" cy="1033416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rmAutofit/>
              </a:bodyPr>
              <a:lstStyle>
                <a:lvl1pPr marL="0" algn="l" defTabSz="914400" rtl="0" eaLnBrk="1" latinLnBrk="0" hangingPunct="1">
                  <a:lnSpc>
                    <a:spcPct val="85000"/>
                  </a:lnSpc>
                  <a:spcBef>
                    <a:spcPct val="0"/>
                  </a:spcBef>
                  <a:buNone/>
                  <a:defRPr sz="4800" kern="1200" spc="-5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r>
                  <a:rPr kumimoji="1" lang="en-US" altLang="zh-TW" dirty="0"/>
                  <a:t>Beam Search</a:t>
                </a:r>
                <a:r>
                  <a:rPr kumimoji="1" lang="zh-TW" altLang="en-US" dirty="0"/>
                  <a:t> </a:t>
                </a:r>
                <a:r>
                  <a:rPr kumimoji="1" lang="en-US" altLang="zh-TW" dirty="0"/>
                  <a:t>(</a:t>
                </a:r>
                <a14:m>
                  <m:oMath xmlns:m="http://schemas.openxmlformats.org/officeDocument/2006/math">
                    <m:r>
                      <a:rPr kumimoji="1" lang="en-US" altLang="zh-TW" b="0" i="1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kumimoji="1" lang="en-US" altLang="zh-TW" b="0" i="1" smtClean="0">
                        <a:latin typeface="Cambria Math" panose="02040503050406030204" pitchFamily="18" charset="0"/>
                      </a:rPr>
                      <m:t>=6</m:t>
                    </m:r>
                  </m:oMath>
                </a14:m>
                <a:r>
                  <a:rPr kumimoji="1" lang="en-US" altLang="zh-TW" dirty="0"/>
                  <a:t>)</a:t>
                </a:r>
                <a:endParaRPr lang="zh-TW" altLang="en-US" dirty="0">
                  <a:latin typeface="Times New Roman"/>
                  <a:ea typeface="新細明體"/>
                  <a:cs typeface="Calibri Light"/>
                </a:endParaRPr>
              </a:p>
            </p:txBody>
          </p:sp>
        </mc:Choice>
        <mc:Fallback>
          <p:sp>
            <p:nvSpPr>
              <p:cNvPr id="46" name="標題 1">
                <a:extLst>
                  <a:ext uri="{FF2B5EF4-FFF2-40B4-BE49-F238E27FC236}">
                    <a16:creationId xmlns:a16="http://schemas.microsoft.com/office/drawing/2014/main" id="{B3CF6D12-5E62-A535-67F0-BA892A51463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4672" y="356088"/>
                <a:ext cx="10511008" cy="1033416"/>
              </a:xfrm>
              <a:prstGeom prst="rect">
                <a:avLst/>
              </a:prstGeom>
              <a:blipFill>
                <a:blip r:embed="rId25"/>
                <a:stretch>
                  <a:fillRect l="-2654" t="-8434" b="-15663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7" name="文字方塊 46">
            <a:extLst>
              <a:ext uri="{FF2B5EF4-FFF2-40B4-BE49-F238E27FC236}">
                <a16:creationId xmlns:a16="http://schemas.microsoft.com/office/drawing/2014/main" id="{B59EA56F-7E65-5CCE-5B7D-2DBA6B0FF1CC}"/>
              </a:ext>
            </a:extLst>
          </p:cNvPr>
          <p:cNvSpPr txBox="1"/>
          <p:nvPr/>
        </p:nvSpPr>
        <p:spPr>
          <a:xfrm>
            <a:off x="9613039" y="688130"/>
            <a:ext cx="1884594" cy="369332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dirty="0"/>
              <a:t>`Beam size` = 2</a:t>
            </a:r>
            <a:endParaRPr kumimoji="1"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987561330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742DD80-FE48-260B-0473-33D8138DDD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Problem of Beam Search (2)</a:t>
            </a:r>
            <a:endParaRPr kumimoji="1"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9AD0BF83-DEDB-6083-2277-A51723171B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42</a:t>
            </a:fld>
            <a:endParaRPr lang="en-US"/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F2F0F3D3-C611-834E-801D-5082C6008856}"/>
              </a:ext>
            </a:extLst>
          </p:cNvPr>
          <p:cNvSpPr txBox="1"/>
          <p:nvPr/>
        </p:nvSpPr>
        <p:spPr>
          <a:xfrm>
            <a:off x="653142" y="1731932"/>
            <a:ext cx="10918371" cy="22398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en-US" altLang="zh-TW" sz="2400" dirty="0"/>
              <a:t>Decoding strategies that optimize for output with high probability, such as beam search, lead to text that is </a:t>
            </a:r>
            <a:r>
              <a:rPr kumimoji="1" lang="en-US" altLang="zh-TW" sz="2400" dirty="0">
                <a:solidFill>
                  <a:srgbClr val="FF0000"/>
                </a:solidFill>
              </a:rPr>
              <a:t>incredibly degenerate (e.g., repetitive words)</a:t>
            </a:r>
            <a:r>
              <a:rPr kumimoji="1" lang="en-US" altLang="zh-TW" sz="2400" dirty="0"/>
              <a:t>, even when using state-of-the-art models such as GPT-2 Large (in 2020).</a:t>
            </a:r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C56598DA-BFEF-5CE8-1F13-6BCB261347C8}"/>
              </a:ext>
            </a:extLst>
          </p:cNvPr>
          <p:cNvSpPr txBox="1"/>
          <p:nvPr/>
        </p:nvSpPr>
        <p:spPr>
          <a:xfrm>
            <a:off x="2520363" y="5760720"/>
            <a:ext cx="712089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" altLang="zh-TW" sz="1400" dirty="0"/>
              <a:t>Holtzman, Ari, et al. "The Curious Case of Neural Text Degeneration." International Conference on Learning Representations (ICLR). 2020.</a:t>
            </a:r>
            <a:endParaRPr kumimoji="1" lang="zh-TW" altLang="en-US" sz="1400" dirty="0"/>
          </a:p>
        </p:txBody>
      </p:sp>
    </p:spTree>
    <p:extLst>
      <p:ext uri="{BB962C8B-B14F-4D97-AF65-F5344CB8AC3E}">
        <p14:creationId xmlns:p14="http://schemas.microsoft.com/office/powerpoint/2010/main" val="2506974199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9AD0BF83-DEDB-6083-2277-A51723171B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43</a:t>
            </a:fld>
            <a:endParaRPr lang="en-US"/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C56598DA-BFEF-5CE8-1F13-6BCB261347C8}"/>
              </a:ext>
            </a:extLst>
          </p:cNvPr>
          <p:cNvSpPr txBox="1"/>
          <p:nvPr/>
        </p:nvSpPr>
        <p:spPr>
          <a:xfrm>
            <a:off x="2937051" y="6257465"/>
            <a:ext cx="712089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" altLang="zh-TW" sz="1400" dirty="0"/>
              <a:t>Holtzman, Ari, et al. "The Curious Case of Neural Text Degeneration." International Conference on Learning Representations (ICLR). 2020.</a:t>
            </a:r>
            <a:endParaRPr kumimoji="1" lang="zh-TW" altLang="en-US" sz="1400" dirty="0"/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A43BB4C8-FD42-7A09-FD6E-DE9711AC2F3E}"/>
              </a:ext>
            </a:extLst>
          </p:cNvPr>
          <p:cNvSpPr txBox="1"/>
          <p:nvPr/>
        </p:nvSpPr>
        <p:spPr>
          <a:xfrm>
            <a:off x="1310640" y="1784760"/>
            <a:ext cx="9673590" cy="923330"/>
          </a:xfrm>
          <a:prstGeom prst="rect">
            <a:avLst/>
          </a:prstGeom>
          <a:noFill/>
          <a:ln>
            <a:solidFill>
              <a:srgbClr val="0070C0"/>
            </a:solidFill>
          </a:ln>
        </p:spPr>
        <p:txBody>
          <a:bodyPr wrap="square" rtlCol="0">
            <a:spAutoFit/>
          </a:bodyPr>
          <a:lstStyle/>
          <a:p>
            <a:r>
              <a:rPr kumimoji="1" lang="en-US" altLang="zh-TW" b="1" dirty="0"/>
              <a:t>Context: </a:t>
            </a:r>
            <a:r>
              <a:rPr kumimoji="1" lang="en-US" altLang="zh-TW" dirty="0"/>
              <a:t>In a shocking finding, scientist discovered a herd of unicorns living in a remote, previously unexplored valley, in the Andes Mountains. Even more surprising to the researchers was the fact that the unicorns spoke perfect English.</a:t>
            </a:r>
            <a:endParaRPr kumimoji="1" lang="zh-TW" altLang="en-US" dirty="0"/>
          </a:p>
        </p:txBody>
      </p:sp>
      <p:pic>
        <p:nvPicPr>
          <p:cNvPr id="11" name="圖片 10">
            <a:extLst>
              <a:ext uri="{FF2B5EF4-FFF2-40B4-BE49-F238E27FC236}">
                <a16:creationId xmlns:a16="http://schemas.microsoft.com/office/drawing/2014/main" id="{1F06F358-0BDB-8C7E-36B1-10FD3D10FF8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56733" y="3244728"/>
            <a:ext cx="4700268" cy="1906332"/>
          </a:xfrm>
          <a:prstGeom prst="rect">
            <a:avLst/>
          </a:prstGeom>
        </p:spPr>
      </p:pic>
      <p:sp>
        <p:nvSpPr>
          <p:cNvPr id="6" name="標題 1">
            <a:extLst>
              <a:ext uri="{FF2B5EF4-FFF2-40B4-BE49-F238E27FC236}">
                <a16:creationId xmlns:a16="http://schemas.microsoft.com/office/drawing/2014/main" id="{F0A8F262-FFFF-0E7F-BFAA-1C5330B596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3143" y="356088"/>
            <a:ext cx="10918371" cy="1033416"/>
          </a:xfrm>
        </p:spPr>
        <p:txBody>
          <a:bodyPr/>
          <a:lstStyle/>
          <a:p>
            <a:r>
              <a:rPr kumimoji="1" lang="en-US" altLang="zh-TW" dirty="0"/>
              <a:t>Problem of Beam Search (3)</a:t>
            </a:r>
            <a:endParaRPr kumimoji="1"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124487744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076D2A0-A40D-E919-4D41-45FBD5C883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 dirty="0"/>
              <a:t>思考 </a:t>
            </a:r>
            <a:r>
              <a:rPr kumimoji="1" lang="en-US" altLang="zh-TW" dirty="0"/>
              <a:t>Greedy Decoding</a:t>
            </a:r>
            <a:r>
              <a:rPr kumimoji="1" lang="zh-TW" altLang="en-US" dirty="0"/>
              <a:t> 的問題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F13A65F4-FC14-90CD-F9AB-B67ADBDE8C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44</a:t>
            </a:fld>
            <a:endParaRPr lang="en-US" dirty="0"/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7399BFC7-45D5-8949-4837-C8FBEA14509A}"/>
              </a:ext>
            </a:extLst>
          </p:cNvPr>
          <p:cNvSpPr txBox="1"/>
          <p:nvPr/>
        </p:nvSpPr>
        <p:spPr>
          <a:xfrm>
            <a:off x="653143" y="1865748"/>
            <a:ext cx="10418277" cy="28028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zh-TW" altLang="en-US" sz="2400" dirty="0">
                <a:ea typeface="Microsoft JhengHei" panose="020B0604030504040204" pitchFamily="34" charset="-120"/>
              </a:rPr>
              <a:t>現代語言模型通常使用</a:t>
            </a:r>
            <a:r>
              <a:rPr kumimoji="1" lang="en-US" altLang="zh-TW" sz="2400" dirty="0">
                <a:ea typeface="Microsoft JhengHei" panose="020B0604030504040204" pitchFamily="34" charset="-120"/>
              </a:rPr>
              <a:t> maximum likelihood </a:t>
            </a:r>
            <a:r>
              <a:rPr kumimoji="1" lang="zh-TW" altLang="en-US" sz="2400" dirty="0">
                <a:ea typeface="Microsoft JhengHei" panose="020B0604030504040204" pitchFamily="34" charset="-120"/>
              </a:rPr>
              <a:t>的方式 </a:t>
            </a:r>
            <a:r>
              <a:rPr kumimoji="1" lang="en-US" altLang="zh-TW" sz="2400" dirty="0">
                <a:ea typeface="Microsoft JhengHei" panose="020B0604030504040204" pitchFamily="34" charset="-120"/>
              </a:rPr>
              <a:t>(language modeling) </a:t>
            </a:r>
            <a:r>
              <a:rPr kumimoji="1" lang="zh-TW" altLang="en-US" sz="2400" dirty="0">
                <a:ea typeface="Microsoft JhengHei" panose="020B0604030504040204" pitchFamily="34" charset="-120"/>
              </a:rPr>
              <a:t>進行訓練，這會導致模型過度偏向常見或高頻 </a:t>
            </a:r>
            <a:r>
              <a:rPr kumimoji="1" lang="en-US" altLang="zh-TW" sz="2400" dirty="0">
                <a:ea typeface="Microsoft JhengHei" panose="020B0604030504040204" pitchFamily="34" charset="-120"/>
              </a:rPr>
              <a:t>tokens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zh-TW" altLang="en-US" sz="2400" dirty="0">
                <a:ea typeface="Microsoft JhengHei" panose="020B0604030504040204" pitchFamily="34" charset="-120"/>
              </a:rPr>
              <a:t>當模型在 </a:t>
            </a:r>
            <a:r>
              <a:rPr kumimoji="1" lang="en-US" altLang="zh-TW" sz="2400" dirty="0">
                <a:ea typeface="Microsoft JhengHei" panose="020B0604030504040204" pitchFamily="34" charset="-120"/>
              </a:rPr>
              <a:t>early steps </a:t>
            </a:r>
            <a:r>
              <a:rPr kumimoji="1" lang="zh-TW" altLang="en-US" sz="2400" dirty="0">
                <a:ea typeface="Microsoft JhengHei" panose="020B0604030504040204" pitchFamily="34" charset="-120"/>
              </a:rPr>
              <a:t>中對某些 </a:t>
            </a:r>
            <a:r>
              <a:rPr kumimoji="1" lang="en-US" altLang="zh-TW" sz="2400" dirty="0">
                <a:ea typeface="Microsoft JhengHei" panose="020B0604030504040204" pitchFamily="34" charset="-120"/>
              </a:rPr>
              <a:t>tokens </a:t>
            </a:r>
            <a:r>
              <a:rPr kumimoji="1" lang="zh-TW" altLang="en-US" sz="2400" dirty="0">
                <a:ea typeface="Microsoft JhengHei" panose="020B0604030504040204" pitchFamily="34" charset="-120"/>
              </a:rPr>
              <a:t>給予極高機率時，這些 </a:t>
            </a:r>
            <a:r>
              <a:rPr kumimoji="1" lang="en-US" altLang="zh-TW" sz="2400" dirty="0">
                <a:ea typeface="Microsoft JhengHei" panose="020B0604030504040204" pitchFamily="34" charset="-120"/>
              </a:rPr>
              <a:t>tokens </a:t>
            </a:r>
            <a:r>
              <a:rPr kumimoji="1" lang="zh-TW" altLang="en-US" sz="2400" dirty="0">
                <a:ea typeface="Microsoft JhengHei" panose="020B0604030504040204" pitchFamily="34" charset="-120"/>
              </a:rPr>
              <a:t>所在的路徑就會大幅壓制了其他</a:t>
            </a:r>
            <a:r>
              <a:rPr kumimoji="1" lang="en-US" altLang="zh-TW" sz="2400" dirty="0">
                <a:ea typeface="Microsoft JhengHei" panose="020B0604030504040204" pitchFamily="34" charset="-120"/>
              </a:rPr>
              <a:t> candidate tokens</a:t>
            </a:r>
            <a:r>
              <a:rPr kumimoji="1" lang="zh-TW" altLang="en-US" sz="2400" dirty="0">
                <a:ea typeface="Microsoft JhengHei" panose="020B0604030504040204" pitchFamily="34" charset="-120"/>
              </a:rPr>
              <a:t>，導致生成缺少多樣性，甚至進入重複生成的</a:t>
            </a:r>
            <a:r>
              <a:rPr kumimoji="1" lang="en-US" altLang="zh-TW" sz="2400" dirty="0">
                <a:ea typeface="Microsoft JhengHei" panose="020B0604030504040204" pitchFamily="34" charset="-120"/>
              </a:rPr>
              <a:t>loop (</a:t>
            </a:r>
            <a:r>
              <a:rPr kumimoji="1" lang="zh-TW" altLang="en-US" sz="2400" dirty="0">
                <a:ea typeface="Microsoft JhengHei" panose="020B0604030504040204" pitchFamily="34" charset="-120"/>
              </a:rPr>
              <a:t>例如 </a:t>
            </a:r>
            <a:r>
              <a:rPr kumimoji="1" lang="en-US" altLang="zh-TW" sz="2400" dirty="0">
                <a:ea typeface="Microsoft JhengHei" panose="020B0604030504040204" pitchFamily="34" charset="-120"/>
              </a:rPr>
              <a:t>I don’t know I don’t know I don’t know …)</a:t>
            </a:r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2E030DB9-17A1-FD79-460A-118582795F1E}"/>
              </a:ext>
            </a:extLst>
          </p:cNvPr>
          <p:cNvSpPr txBox="1"/>
          <p:nvPr/>
        </p:nvSpPr>
        <p:spPr>
          <a:xfrm>
            <a:off x="2520363" y="6043529"/>
            <a:ext cx="712089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" altLang="zh-TW" sz="1400" dirty="0"/>
              <a:t>Holtzman, Ari, et al. "The Curious Case of Neural Text Degeneration." International Conference on Learning Representations (ICLR). 2020.</a:t>
            </a:r>
            <a:endParaRPr kumimoji="1" lang="zh-TW" altLang="en-US" sz="1400" dirty="0"/>
          </a:p>
        </p:txBody>
      </p:sp>
    </p:spTree>
    <p:extLst>
      <p:ext uri="{BB962C8B-B14F-4D97-AF65-F5344CB8AC3E}">
        <p14:creationId xmlns:p14="http://schemas.microsoft.com/office/powerpoint/2010/main" val="1037933959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F55A832-AD59-BD12-A6F2-174F8C85D9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[Summary] Strategy for MLE decoding</a:t>
            </a:r>
            <a:endParaRPr kumimoji="1"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80B68D03-A603-D238-F93B-94FC07CDD38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kumimoji="1" lang="en" altLang="zh-TW" sz="2800" dirty="0"/>
              <a:t>Maximum Likelihood Estimation (MLE): greedy decoding, beam search</a:t>
            </a:r>
          </a:p>
          <a:p>
            <a:r>
              <a:rPr kumimoji="1" lang="zh-TW" altLang="en-US" sz="28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既然機率值最高的不是我們想要的字詞</a:t>
            </a:r>
            <a:endParaRPr kumimoji="1" lang="en-US" altLang="zh-TW" sz="2800" dirty="0"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  <a:p>
            <a:endParaRPr kumimoji="1" lang="zh-TW" altLang="en-US" sz="2800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78C4D93D-5F40-0DEF-9B5E-E90DD93E69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45</a:t>
            </a:fld>
            <a:endParaRPr lang="en-US" dirty="0"/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A983F722-7178-7CF1-5506-78A259B0C78A}"/>
              </a:ext>
            </a:extLst>
          </p:cNvPr>
          <p:cNvSpPr txBox="1"/>
          <p:nvPr/>
        </p:nvSpPr>
        <p:spPr>
          <a:xfrm>
            <a:off x="653143" y="3256117"/>
            <a:ext cx="609442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en-US" altLang="zh-TW" sz="2800" dirty="0">
                <a:solidFill>
                  <a:srgbClr val="FF0000"/>
                </a:solidFill>
              </a:rPr>
              <a:t>Strategy: Add more randomness!</a:t>
            </a:r>
            <a:endParaRPr kumimoji="1" lang="zh-TW" altLang="en-US" sz="28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587960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20CB9AE-2782-ED15-A783-EE99CE1B45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kumimoji="1" lang="en-US" altLang="zh-TW" dirty="0"/>
              <a:t>Strategy for MLE decoding: </a:t>
            </a:r>
            <a:r>
              <a:rPr kumimoji="1" lang="zh-TW" altLang="en-US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改用</a:t>
            </a:r>
            <a:r>
              <a:rPr kumimoji="1" lang="zh-TW" altLang="en-US" dirty="0"/>
              <a:t> </a:t>
            </a:r>
            <a:r>
              <a:rPr kumimoji="1" lang="en-US" altLang="zh-TW" dirty="0">
                <a:solidFill>
                  <a:srgbClr val="FF0000"/>
                </a:solidFill>
              </a:rPr>
              <a:t>Sampling</a:t>
            </a:r>
            <a:endParaRPr kumimoji="1" lang="zh-TW" altLang="en-US" dirty="0">
              <a:solidFill>
                <a:srgbClr val="FF0000"/>
              </a:solidFill>
            </a:endParaRP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95A8C118-0C08-4D1E-9D2B-21E16B9E18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46</a:t>
            </a:fld>
            <a:endParaRPr lang="en-US" dirty="0"/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65ABC28D-4055-7A2A-177A-6D32BB6115F2}"/>
              </a:ext>
            </a:extLst>
          </p:cNvPr>
          <p:cNvSpPr txBox="1"/>
          <p:nvPr/>
        </p:nvSpPr>
        <p:spPr>
          <a:xfrm>
            <a:off x="672221" y="1734177"/>
            <a:ext cx="10847558" cy="16948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en" altLang="zh-TW" sz="2400" dirty="0">
                <a:ea typeface="Microsoft JhengHei" panose="020B0604030504040204" pitchFamily="34" charset="-120"/>
              </a:rPr>
              <a:t>Sampling </a:t>
            </a:r>
            <a:r>
              <a:rPr kumimoji="1" lang="zh-TW" altLang="en-US" sz="2400" dirty="0">
                <a:ea typeface="Microsoft JhengHei" panose="020B0604030504040204" pitchFamily="34" charset="-120"/>
              </a:rPr>
              <a:t>就是「讓模型隨機選下一個詞，而不是每次都選最有可能的那個詞」。</a:t>
            </a:r>
            <a:endParaRPr kumimoji="1" lang="en-US" altLang="zh-TW" sz="2400" dirty="0">
              <a:ea typeface="Microsoft JhengHei" panose="020B0604030504040204" pitchFamily="34" charset="-120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en" altLang="zh-TW" sz="2400" dirty="0">
                <a:ea typeface="Microsoft JhengHei" panose="020B0604030504040204" pitchFamily="34" charset="-120"/>
              </a:rPr>
              <a:t>Sampling </a:t>
            </a:r>
            <a:r>
              <a:rPr kumimoji="1" lang="zh-TW" altLang="en-US" sz="2400" dirty="0">
                <a:ea typeface="Microsoft JhengHei" panose="020B0604030504040204" pitchFamily="34" charset="-120"/>
              </a:rPr>
              <a:t>是根據模型對每個詞給出的 機率分布 來進行「隨機抽樣」</a:t>
            </a:r>
            <a:endParaRPr kumimoji="1" lang="en-US" altLang="zh-TW" sz="2400" dirty="0">
              <a:ea typeface="Microsoft JhengHei" panose="020B0604030504040204" pitchFamily="34" charset="-120"/>
            </a:endParaRPr>
          </a:p>
        </p:txBody>
      </p:sp>
      <p:graphicFrame>
        <p:nvGraphicFramePr>
          <p:cNvPr id="6" name="表格 6">
            <a:extLst>
              <a:ext uri="{FF2B5EF4-FFF2-40B4-BE49-F238E27FC236}">
                <a16:creationId xmlns:a16="http://schemas.microsoft.com/office/drawing/2014/main" id="{00DA992A-091D-2435-F5E4-409E65CA340F}"/>
              </a:ext>
            </a:extLst>
          </p:cNvPr>
          <p:cNvGraphicFramePr>
            <a:graphicFrameLocks noGrp="1"/>
          </p:cNvGraphicFramePr>
          <p:nvPr/>
        </p:nvGraphicFramePr>
        <p:xfrm>
          <a:off x="1042186" y="3886820"/>
          <a:ext cx="348268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41340">
                  <a:extLst>
                    <a:ext uri="{9D8B030D-6E8A-4147-A177-3AD203B41FA5}">
                      <a16:colId xmlns:a16="http://schemas.microsoft.com/office/drawing/2014/main" val="3107275244"/>
                    </a:ext>
                  </a:extLst>
                </a:gridCol>
                <a:gridCol w="1741340">
                  <a:extLst>
                    <a:ext uri="{9D8B030D-6E8A-4147-A177-3AD203B41FA5}">
                      <a16:colId xmlns:a16="http://schemas.microsoft.com/office/drawing/2014/main" val="3943062138"/>
                    </a:ext>
                  </a:extLst>
                </a:gridCol>
              </a:tblGrid>
              <a:tr h="338965">
                <a:tc>
                  <a:txBody>
                    <a:bodyPr/>
                    <a:lstStyle/>
                    <a:p>
                      <a:r>
                        <a:rPr lang="en-US" altLang="zh-TW" dirty="0"/>
                        <a:t>Token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Probability (p)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40017145"/>
                  </a:ext>
                </a:extLst>
              </a:tr>
              <a:tr h="338965">
                <a:tc>
                  <a:txBody>
                    <a:bodyPr/>
                    <a:lstStyle/>
                    <a:p>
                      <a:r>
                        <a:rPr lang="en-US" altLang="zh-TW" dirty="0"/>
                        <a:t>cat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0.5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06471651"/>
                  </a:ext>
                </a:extLst>
              </a:tr>
              <a:tr h="338965">
                <a:tc>
                  <a:txBody>
                    <a:bodyPr/>
                    <a:lstStyle/>
                    <a:p>
                      <a:r>
                        <a:rPr lang="en-US" altLang="zh-TW" dirty="0"/>
                        <a:t>dog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0.3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49465654"/>
                  </a:ext>
                </a:extLst>
              </a:tr>
              <a:tr h="338965">
                <a:tc>
                  <a:txBody>
                    <a:bodyPr/>
                    <a:lstStyle/>
                    <a:p>
                      <a:r>
                        <a:rPr lang="en-US" altLang="zh-TW" dirty="0"/>
                        <a:t>car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0.15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87512913"/>
                  </a:ext>
                </a:extLst>
              </a:tr>
              <a:tr h="338965">
                <a:tc>
                  <a:txBody>
                    <a:bodyPr/>
                    <a:lstStyle/>
                    <a:p>
                      <a:r>
                        <a:rPr lang="en-US" altLang="zh-TW" dirty="0"/>
                        <a:t>book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0.05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7149416"/>
                  </a:ext>
                </a:extLst>
              </a:tr>
            </a:tbl>
          </a:graphicData>
        </a:graphic>
      </p:graphicFrame>
      <p:sp>
        <p:nvSpPr>
          <p:cNvPr id="7" name="文字方塊 6">
            <a:extLst>
              <a:ext uri="{FF2B5EF4-FFF2-40B4-BE49-F238E27FC236}">
                <a16:creationId xmlns:a16="http://schemas.microsoft.com/office/drawing/2014/main" id="{3310EA4C-6406-3497-FD26-21E38253770A}"/>
              </a:ext>
            </a:extLst>
          </p:cNvPr>
          <p:cNvSpPr txBox="1"/>
          <p:nvPr/>
        </p:nvSpPr>
        <p:spPr>
          <a:xfrm>
            <a:off x="4817321" y="5335373"/>
            <a:ext cx="687191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dirty="0">
                <a:ea typeface="Microsoft JhengHei" panose="020B0604030504040204" pitchFamily="34" charset="-120"/>
              </a:rPr>
              <a:t>Sampling </a:t>
            </a:r>
            <a:r>
              <a:rPr kumimoji="1" lang="zh-TW" altLang="en-US" dirty="0">
                <a:ea typeface="Microsoft JhengHei" panose="020B0604030504040204" pitchFamily="34" charset="-120"/>
              </a:rPr>
              <a:t>不是亂抽！</a:t>
            </a:r>
            <a:endParaRPr kumimoji="1" lang="en-US" altLang="zh-TW" dirty="0">
              <a:ea typeface="Microsoft JhengHei" panose="020B0604030504040204" pitchFamily="34" charset="-120"/>
            </a:endParaRPr>
          </a:p>
          <a:p>
            <a:r>
              <a:rPr kumimoji="1" lang="zh-TW" altLang="en-US" dirty="0">
                <a:ea typeface="Microsoft JhengHei" panose="020B0604030504040204" pitchFamily="34" charset="-120"/>
              </a:rPr>
              <a:t>而是</a:t>
            </a:r>
            <a:r>
              <a:rPr kumimoji="1" lang="zh-TW" altLang="en-US" dirty="0">
                <a:solidFill>
                  <a:srgbClr val="FF0000"/>
                </a:solidFill>
                <a:ea typeface="Microsoft JhengHei" panose="020B0604030504040204" pitchFamily="34" charset="-120"/>
              </a:rPr>
              <a:t>根據機率 </a:t>
            </a:r>
            <a:r>
              <a:rPr kumimoji="1" lang="en-US" altLang="zh-TW" dirty="0">
                <a:solidFill>
                  <a:srgbClr val="FF0000"/>
                </a:solidFill>
                <a:ea typeface="Microsoft JhengHei" panose="020B0604030504040204" pitchFamily="34" charset="-120"/>
              </a:rPr>
              <a:t>(</a:t>
            </a:r>
            <a:r>
              <a:rPr kumimoji="1" lang="zh-TW" altLang="en-US" dirty="0">
                <a:solidFill>
                  <a:srgbClr val="FF0000"/>
                </a:solidFill>
                <a:ea typeface="Microsoft JhengHei" panose="020B0604030504040204" pitchFamily="34" charset="-120"/>
              </a:rPr>
              <a:t>模型的信心</a:t>
            </a:r>
            <a:r>
              <a:rPr kumimoji="1" lang="en-US" altLang="zh-TW" dirty="0">
                <a:solidFill>
                  <a:srgbClr val="FF0000"/>
                </a:solidFill>
                <a:ea typeface="Microsoft JhengHei" panose="020B0604030504040204" pitchFamily="34" charset="-120"/>
              </a:rPr>
              <a:t>) </a:t>
            </a:r>
            <a:r>
              <a:rPr kumimoji="1" lang="zh-TW" altLang="en-US" dirty="0">
                <a:solidFill>
                  <a:srgbClr val="FF0000"/>
                </a:solidFill>
                <a:ea typeface="Microsoft JhengHei" panose="020B0604030504040204" pitchFamily="34" charset="-120"/>
              </a:rPr>
              <a:t>來產生下一次生成</a:t>
            </a:r>
          </a:p>
        </p:txBody>
      </p:sp>
    </p:spTree>
    <p:extLst>
      <p:ext uri="{BB962C8B-B14F-4D97-AF65-F5344CB8AC3E}">
        <p14:creationId xmlns:p14="http://schemas.microsoft.com/office/powerpoint/2010/main" val="2536813340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DD38BD1-A353-EDA6-7142-F0C754E85E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en-US" altLang="zh-TW" dirty="0"/>
              <a:t>Summary and the Thinking Route</a:t>
            </a:r>
            <a:endParaRPr kumimoji="1"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0B9E5F79-B867-B1A7-5565-CAD8DF064D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47</a:t>
            </a:fld>
            <a:endParaRPr lang="en-US"/>
          </a:p>
        </p:txBody>
      </p:sp>
      <p:sp>
        <p:nvSpPr>
          <p:cNvPr id="12" name="圓角矩形 11">
            <a:extLst>
              <a:ext uri="{FF2B5EF4-FFF2-40B4-BE49-F238E27FC236}">
                <a16:creationId xmlns:a16="http://schemas.microsoft.com/office/drawing/2014/main" id="{15ABA2D3-F549-1738-AAEB-A5C79291133B}"/>
              </a:ext>
            </a:extLst>
          </p:cNvPr>
          <p:cNvSpPr/>
          <p:nvPr/>
        </p:nvSpPr>
        <p:spPr>
          <a:xfrm>
            <a:off x="2079826" y="3531057"/>
            <a:ext cx="1600200" cy="742950"/>
          </a:xfrm>
          <a:prstGeom prst="roundRect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dirty="0">
                <a:solidFill>
                  <a:schemeClr val="tx1"/>
                </a:solidFill>
              </a:rPr>
              <a:t>Beam Search</a:t>
            </a:r>
            <a:endParaRPr kumimoji="1" lang="zh-TW" altLang="en-US" dirty="0">
              <a:solidFill>
                <a:schemeClr val="tx1"/>
              </a:solidFill>
            </a:endParaRPr>
          </a:p>
        </p:txBody>
      </p:sp>
      <p:sp>
        <p:nvSpPr>
          <p:cNvPr id="13" name="圓角矩形 12">
            <a:extLst>
              <a:ext uri="{FF2B5EF4-FFF2-40B4-BE49-F238E27FC236}">
                <a16:creationId xmlns:a16="http://schemas.microsoft.com/office/drawing/2014/main" id="{44E4D143-7756-D108-26AD-715858B9C4D4}"/>
              </a:ext>
            </a:extLst>
          </p:cNvPr>
          <p:cNvSpPr/>
          <p:nvPr/>
        </p:nvSpPr>
        <p:spPr>
          <a:xfrm>
            <a:off x="2079826" y="2369479"/>
            <a:ext cx="1600200" cy="742950"/>
          </a:xfrm>
          <a:prstGeom prst="roundRect">
            <a:avLst/>
          </a:prstGeom>
          <a:noFill/>
          <a:ln w="1905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dirty="0">
                <a:solidFill>
                  <a:schemeClr val="tx1"/>
                </a:solidFill>
              </a:rPr>
              <a:t>Greedy Decoding</a:t>
            </a:r>
            <a:endParaRPr kumimoji="1" lang="zh-TW" altLang="en-US" dirty="0">
              <a:solidFill>
                <a:schemeClr val="tx1"/>
              </a:solidFill>
            </a:endParaRPr>
          </a:p>
        </p:txBody>
      </p:sp>
      <p:sp>
        <p:nvSpPr>
          <p:cNvPr id="14" name="圓角矩形 13">
            <a:extLst>
              <a:ext uri="{FF2B5EF4-FFF2-40B4-BE49-F238E27FC236}">
                <a16:creationId xmlns:a16="http://schemas.microsoft.com/office/drawing/2014/main" id="{C5A18AFC-D84A-E3D2-6414-F54CDABDF091}"/>
              </a:ext>
            </a:extLst>
          </p:cNvPr>
          <p:cNvSpPr/>
          <p:nvPr/>
        </p:nvSpPr>
        <p:spPr>
          <a:xfrm>
            <a:off x="2079826" y="4692635"/>
            <a:ext cx="1600200" cy="742950"/>
          </a:xfrm>
          <a:prstGeom prst="roundRect">
            <a:avLst/>
          </a:prstGeom>
          <a:noFill/>
          <a:ln w="1905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dirty="0">
                <a:solidFill>
                  <a:schemeClr val="tx1"/>
                </a:solidFill>
              </a:rPr>
              <a:t>Sampling</a:t>
            </a:r>
            <a:endParaRPr kumimoji="1" lang="zh-TW" altLang="en-US" dirty="0">
              <a:solidFill>
                <a:schemeClr val="tx1"/>
              </a:solidFill>
            </a:endParaRPr>
          </a:p>
        </p:txBody>
      </p:sp>
      <p:cxnSp>
        <p:nvCxnSpPr>
          <p:cNvPr id="5" name="肘形接點 4">
            <a:extLst>
              <a:ext uri="{FF2B5EF4-FFF2-40B4-BE49-F238E27FC236}">
                <a16:creationId xmlns:a16="http://schemas.microsoft.com/office/drawing/2014/main" id="{1ABDF74E-6D39-CA74-25B8-80EA51C1A7BE}"/>
              </a:ext>
            </a:extLst>
          </p:cNvPr>
          <p:cNvCxnSpPr>
            <a:cxnSpLocks/>
          </p:cNvCxnSpPr>
          <p:nvPr/>
        </p:nvCxnSpPr>
        <p:spPr>
          <a:xfrm>
            <a:off x="3680026" y="2649514"/>
            <a:ext cx="12700" cy="1161578"/>
          </a:xfrm>
          <a:prstGeom prst="bentConnector3">
            <a:avLst>
              <a:gd name="adj1" fmla="val 4590000"/>
            </a:avLst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肘形接點 6">
            <a:extLst>
              <a:ext uri="{FF2B5EF4-FFF2-40B4-BE49-F238E27FC236}">
                <a16:creationId xmlns:a16="http://schemas.microsoft.com/office/drawing/2014/main" id="{F7B4984B-1377-B4FD-FA27-71A287A854F9}"/>
              </a:ext>
            </a:extLst>
          </p:cNvPr>
          <p:cNvCxnSpPr>
            <a:cxnSpLocks/>
          </p:cNvCxnSpPr>
          <p:nvPr/>
        </p:nvCxnSpPr>
        <p:spPr>
          <a:xfrm>
            <a:off x="3692726" y="3885916"/>
            <a:ext cx="12700" cy="1161578"/>
          </a:xfrm>
          <a:prstGeom prst="bentConnector3">
            <a:avLst>
              <a:gd name="adj1" fmla="val 4590000"/>
            </a:avLst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文字方塊 8">
            <a:extLst>
              <a:ext uri="{FF2B5EF4-FFF2-40B4-BE49-F238E27FC236}">
                <a16:creationId xmlns:a16="http://schemas.microsoft.com/office/drawing/2014/main" id="{EC7512EA-58D1-EC73-C4F0-05814C014790}"/>
              </a:ext>
            </a:extLst>
          </p:cNvPr>
          <p:cNvSpPr txBox="1"/>
          <p:nvPr/>
        </p:nvSpPr>
        <p:spPr>
          <a:xfrm>
            <a:off x="4467656" y="2884726"/>
            <a:ext cx="605409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dirty="0"/>
              <a:t>Greedy decoding always selects the best choice at each time step and becomes problematic for early mistakes.</a:t>
            </a:r>
            <a:endParaRPr kumimoji="1" lang="zh-TW" altLang="en-US" dirty="0"/>
          </a:p>
        </p:txBody>
      </p:sp>
      <p:sp>
        <p:nvSpPr>
          <p:cNvPr id="10" name="文字方塊 9">
            <a:extLst>
              <a:ext uri="{FF2B5EF4-FFF2-40B4-BE49-F238E27FC236}">
                <a16:creationId xmlns:a16="http://schemas.microsoft.com/office/drawing/2014/main" id="{610C92C5-8453-E0DA-30D7-9CF4F05FC5C9}"/>
              </a:ext>
            </a:extLst>
          </p:cNvPr>
          <p:cNvSpPr txBox="1"/>
          <p:nvPr/>
        </p:nvSpPr>
        <p:spPr>
          <a:xfrm>
            <a:off x="4467656" y="4143539"/>
            <a:ext cx="533457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dirty="0"/>
              <a:t>Models can fall into repetitive loops with beam search, especially for longer text.</a:t>
            </a:r>
            <a:endParaRPr kumimoji="1"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757789966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742DD80-FE48-260B-0473-33D8138DDD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Problem of Pure Sampling</a:t>
            </a:r>
            <a:endParaRPr kumimoji="1"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9AD0BF83-DEDB-6083-2277-A51723171B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48</a:t>
            </a:fld>
            <a:endParaRPr lang="en-US"/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A43BB4C8-FD42-7A09-FD6E-DE9711AC2F3E}"/>
              </a:ext>
            </a:extLst>
          </p:cNvPr>
          <p:cNvSpPr txBox="1"/>
          <p:nvPr/>
        </p:nvSpPr>
        <p:spPr>
          <a:xfrm>
            <a:off x="1310640" y="1784760"/>
            <a:ext cx="9673590" cy="923330"/>
          </a:xfrm>
          <a:prstGeom prst="rect">
            <a:avLst/>
          </a:prstGeom>
          <a:noFill/>
          <a:ln>
            <a:solidFill>
              <a:srgbClr val="0070C0"/>
            </a:solidFill>
          </a:ln>
        </p:spPr>
        <p:txBody>
          <a:bodyPr wrap="square" rtlCol="0">
            <a:spAutoFit/>
          </a:bodyPr>
          <a:lstStyle/>
          <a:p>
            <a:r>
              <a:rPr kumimoji="1" lang="en-US" altLang="zh-TW" b="1" dirty="0"/>
              <a:t>Context: </a:t>
            </a:r>
            <a:r>
              <a:rPr kumimoji="1" lang="en-US" altLang="zh-TW" dirty="0"/>
              <a:t>In a shocking finding, scientist discovered a herd of unicorns living in a remote, previously unexplored valley, in the Andes Mountains. Even more surprising to the researchers was the fact that the unicorns spoke perfect English.</a:t>
            </a:r>
            <a:endParaRPr kumimoji="1" lang="zh-TW" altLang="en-US" dirty="0"/>
          </a:p>
        </p:txBody>
      </p:sp>
      <p:pic>
        <p:nvPicPr>
          <p:cNvPr id="11" name="圖片 10">
            <a:extLst>
              <a:ext uri="{FF2B5EF4-FFF2-40B4-BE49-F238E27FC236}">
                <a16:creationId xmlns:a16="http://schemas.microsoft.com/office/drawing/2014/main" id="{1F06F358-0BDB-8C7E-36B1-10FD3D10FF8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56733" y="3684567"/>
            <a:ext cx="4700268" cy="1906332"/>
          </a:xfrm>
          <a:prstGeom prst="rect">
            <a:avLst/>
          </a:prstGeom>
        </p:spPr>
      </p:pic>
      <p:pic>
        <p:nvPicPr>
          <p:cNvPr id="3" name="圖片 2">
            <a:extLst>
              <a:ext uri="{FF2B5EF4-FFF2-40B4-BE49-F238E27FC236}">
                <a16:creationId xmlns:a16="http://schemas.microsoft.com/office/drawing/2014/main" id="{DF5D8F2A-4ED6-0AFF-0A3A-25E030F2A40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95697" y="3703876"/>
            <a:ext cx="5039304" cy="1867714"/>
          </a:xfrm>
          <a:prstGeom prst="rect">
            <a:avLst/>
          </a:prstGeom>
        </p:spPr>
      </p:pic>
      <p:sp>
        <p:nvSpPr>
          <p:cNvPr id="6" name="文字方塊 5">
            <a:extLst>
              <a:ext uri="{FF2B5EF4-FFF2-40B4-BE49-F238E27FC236}">
                <a16:creationId xmlns:a16="http://schemas.microsoft.com/office/drawing/2014/main" id="{D3EC46E9-379E-3E89-8DC8-29B169436C26}"/>
              </a:ext>
            </a:extLst>
          </p:cNvPr>
          <p:cNvSpPr txBox="1"/>
          <p:nvPr/>
        </p:nvSpPr>
        <p:spPr>
          <a:xfrm>
            <a:off x="2520363" y="6119536"/>
            <a:ext cx="712089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" altLang="zh-TW" sz="1400" dirty="0"/>
              <a:t>Holtzman, Ari, et al. "The Curious Case of Neural Text Degeneration." International Conference on Learning Representations (ICLR). 2020.</a:t>
            </a:r>
            <a:endParaRPr kumimoji="1" lang="zh-TW" altLang="en-US" sz="1400" dirty="0"/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A6F8FD51-1A52-BD77-A25C-AD5045CDF461}"/>
              </a:ext>
            </a:extLst>
          </p:cNvPr>
          <p:cNvSpPr txBox="1"/>
          <p:nvPr/>
        </p:nvSpPr>
        <p:spPr>
          <a:xfrm>
            <a:off x="1595769" y="3050319"/>
            <a:ext cx="470026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TW" altLang="en-US" sz="2800" dirty="0">
                <a:solidFill>
                  <a:srgbClr val="FF0000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如果完全 </a:t>
            </a:r>
            <a:r>
              <a:rPr kumimoji="1" lang="en-US" altLang="zh-TW" sz="2800" dirty="0">
                <a:solidFill>
                  <a:srgbClr val="FF0000"/>
                </a:solidFill>
              </a:rPr>
              <a:t>random sampling</a:t>
            </a:r>
            <a:endParaRPr kumimoji="1" lang="zh-TW" altLang="en-US" sz="2800" dirty="0">
              <a:solidFill>
                <a:srgbClr val="FF0000"/>
              </a:solidFill>
            </a:endParaRPr>
          </a:p>
        </p:txBody>
      </p:sp>
      <p:sp>
        <p:nvSpPr>
          <p:cNvPr id="10" name="文字方塊 9">
            <a:extLst>
              <a:ext uri="{FF2B5EF4-FFF2-40B4-BE49-F238E27FC236}">
                <a16:creationId xmlns:a16="http://schemas.microsoft.com/office/drawing/2014/main" id="{D1564450-A7F4-2C22-9F4D-75C26ACF157F}"/>
              </a:ext>
            </a:extLst>
          </p:cNvPr>
          <p:cNvSpPr txBox="1"/>
          <p:nvPr/>
        </p:nvSpPr>
        <p:spPr>
          <a:xfrm>
            <a:off x="6383105" y="3684567"/>
            <a:ext cx="5466388" cy="233910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TW" altLang="en-US" sz="16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它們是被稱為「</a:t>
            </a:r>
            <a:r>
              <a:rPr kumimoji="1" lang="zh-TW" altLang="en-US" sz="1600" dirty="0">
                <a:solidFill>
                  <a:srgbClr val="FF0000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玻利維亞騎士</a:t>
            </a:r>
            <a:r>
              <a:rPr kumimoji="1" lang="zh-TW" altLang="en-US" sz="16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」的牛；他們住在</a:t>
            </a:r>
          </a:p>
          <a:p>
            <a:r>
              <a:rPr kumimoji="1" lang="zh-TW" altLang="en-US" sz="1600" dirty="0">
                <a:solidFill>
                  <a:srgbClr val="FF0000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遠離城鎮</a:t>
            </a:r>
            <a:r>
              <a:rPr kumimoji="1" lang="zh-TW" altLang="en-US" sz="16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的偏遠沙漠，他們說話</a:t>
            </a:r>
            <a:r>
              <a:rPr kumimoji="1" lang="zh-TW" altLang="en-US" sz="1600" dirty="0">
                <a:solidFill>
                  <a:srgbClr val="FF0000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很大聲</a:t>
            </a:r>
            <a:r>
              <a:rPr kumimoji="1" lang="zh-TW" altLang="en-US" sz="16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，</a:t>
            </a:r>
          </a:p>
          <a:p>
            <a:r>
              <a:rPr kumimoji="1" lang="zh-TW" altLang="en-US" sz="1600" dirty="0">
                <a:solidFill>
                  <a:srgbClr val="FF0000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美麗、天堂般的玻利維亞語言</a:t>
            </a:r>
            <a:r>
              <a:rPr kumimoji="1" lang="zh-TW" altLang="en-US" sz="16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。他們說，</a:t>
            </a:r>
          </a:p>
          <a:p>
            <a:r>
              <a:rPr kumimoji="1" lang="zh-TW" altLang="en-US" sz="16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「</a:t>
            </a:r>
            <a:r>
              <a:rPr kumimoji="1" lang="zh-TW" altLang="en-US" sz="1600" dirty="0">
                <a:solidFill>
                  <a:srgbClr val="FF0000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吃午餐了，瑪姬。</a:t>
            </a:r>
            <a:r>
              <a:rPr kumimoji="1" lang="zh-TW" altLang="en-US" sz="16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」</a:t>
            </a:r>
            <a:r>
              <a:rPr kumimoji="1" lang="zh-TW" altLang="en-US" sz="1600" dirty="0">
                <a:solidFill>
                  <a:srgbClr val="FF0000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他們沒有告訴午餐是什麼，</a:t>
            </a:r>
            <a:r>
              <a:rPr kumimoji="1" lang="zh-TW" altLang="en-US" sz="16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」導演</a:t>
            </a:r>
          </a:p>
          <a:p>
            <a:r>
              <a:rPr kumimoji="1" lang="zh-TW" altLang="en-US" sz="16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丘佩拉斯</a:t>
            </a:r>
            <a:r>
              <a:rPr kumimoji="1" lang="en-US" altLang="zh-TW" sz="16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·</a:t>
            </a:r>
            <a:r>
              <a:rPr kumimoji="1" lang="zh-TW" altLang="en-US" sz="16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奧姆威爾教授告訴天空新聞。 「</a:t>
            </a:r>
            <a:r>
              <a:rPr kumimoji="1" lang="zh-TW" altLang="en-US" sz="1600" dirty="0">
                <a:solidFill>
                  <a:srgbClr val="FF0000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他們只是</a:t>
            </a:r>
          </a:p>
          <a:p>
            <a:r>
              <a:rPr kumimoji="1" lang="zh-TW" altLang="en-US" sz="1600" dirty="0">
                <a:solidFill>
                  <a:srgbClr val="FF0000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和科學家交談，就像接受電視採訪一樣</a:t>
            </a:r>
          </a:p>
          <a:p>
            <a:r>
              <a:rPr kumimoji="1" lang="zh-TW" altLang="en-US" sz="1600" dirty="0">
                <a:solidFill>
                  <a:srgbClr val="FF0000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記者。我們甚至沒有留下來接受採訪</a:t>
            </a:r>
          </a:p>
          <a:p>
            <a:r>
              <a:rPr kumimoji="1" lang="zh-TW" altLang="en-US" sz="1600" dirty="0">
                <a:solidFill>
                  <a:srgbClr val="FF0000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電視記者。也許這就是他們發現他們</a:t>
            </a:r>
          </a:p>
          <a:p>
            <a:r>
              <a:rPr kumimoji="1" lang="zh-TW" altLang="en-US" sz="1600" dirty="0">
                <a:solidFill>
                  <a:srgbClr val="FF0000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扮演玻利維亞騎士。 </a:t>
            </a:r>
            <a:r>
              <a:rPr kumimoji="1" lang="zh-TW" altLang="en-US" sz="16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」</a:t>
            </a:r>
          </a:p>
        </p:txBody>
      </p:sp>
      <p:sp>
        <p:nvSpPr>
          <p:cNvPr id="13" name="文字方塊 12">
            <a:extLst>
              <a:ext uri="{FF2B5EF4-FFF2-40B4-BE49-F238E27FC236}">
                <a16:creationId xmlns:a16="http://schemas.microsoft.com/office/drawing/2014/main" id="{10EC73C0-F750-A823-9421-978AB962ACBC}"/>
              </a:ext>
            </a:extLst>
          </p:cNvPr>
          <p:cNvSpPr txBox="1"/>
          <p:nvPr/>
        </p:nvSpPr>
        <p:spPr>
          <a:xfrm>
            <a:off x="6826166" y="1564516"/>
            <a:ext cx="108920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1" lang="zh-TW" altLang="en-US" dirty="0">
                <a:solidFill>
                  <a:srgbClr val="FF0000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獨角獸</a:t>
            </a:r>
            <a:endParaRPr lang="zh-TW" altLang="en-US" dirty="0"/>
          </a:p>
        </p:txBody>
      </p:sp>
      <p:sp>
        <p:nvSpPr>
          <p:cNvPr id="14" name="文字方塊 13">
            <a:extLst>
              <a:ext uri="{FF2B5EF4-FFF2-40B4-BE49-F238E27FC236}">
                <a16:creationId xmlns:a16="http://schemas.microsoft.com/office/drawing/2014/main" id="{2FBAD4D2-E444-301D-00A2-7E170EF7F8D7}"/>
              </a:ext>
            </a:extLst>
          </p:cNvPr>
          <p:cNvSpPr txBox="1"/>
          <p:nvPr/>
        </p:nvSpPr>
        <p:spPr>
          <a:xfrm>
            <a:off x="7782409" y="2340679"/>
            <a:ext cx="92026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1" lang="zh-TW" altLang="en-US" dirty="0">
                <a:solidFill>
                  <a:srgbClr val="FF0000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英語</a:t>
            </a:r>
            <a:endParaRPr lang="zh-TW" altLang="en-US" dirty="0"/>
          </a:p>
        </p:txBody>
      </p:sp>
      <p:sp>
        <p:nvSpPr>
          <p:cNvPr id="15" name="文字方塊 14">
            <a:extLst>
              <a:ext uri="{FF2B5EF4-FFF2-40B4-BE49-F238E27FC236}">
                <a16:creationId xmlns:a16="http://schemas.microsoft.com/office/drawing/2014/main" id="{5B95B623-8CA6-A554-9A20-4563E27AF5CF}"/>
              </a:ext>
            </a:extLst>
          </p:cNvPr>
          <p:cNvSpPr txBox="1"/>
          <p:nvPr/>
        </p:nvSpPr>
        <p:spPr>
          <a:xfrm>
            <a:off x="3434167" y="2205700"/>
            <a:ext cx="108920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1" lang="zh-TW" altLang="en-US" dirty="0">
                <a:solidFill>
                  <a:srgbClr val="FF0000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山谷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4480043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3" grpId="0"/>
      <p:bldP spid="14" grpId="0"/>
      <p:bldP spid="15" grpId="0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0B0C4F5-13AB-9D74-511D-40958F6329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en-US" altLang="zh-TW" dirty="0"/>
              <a:t>Why is Pure Sampling</a:t>
            </a:r>
            <a:r>
              <a:rPr kumimoji="1" lang="zh-TW" altLang="en-US" dirty="0"/>
              <a:t> </a:t>
            </a:r>
            <a:r>
              <a:rPr kumimoji="1" lang="en-US" altLang="zh-TW" dirty="0"/>
              <a:t>so weak?</a:t>
            </a:r>
            <a:endParaRPr kumimoji="1"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442BA0B4-0E73-279A-C232-9D6A366C15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49</a:t>
            </a:fld>
            <a:endParaRPr lang="en-US"/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F5CD8E5E-4C7F-2BFE-C144-BA2FAF36F523}"/>
              </a:ext>
            </a:extLst>
          </p:cNvPr>
          <p:cNvSpPr txBox="1"/>
          <p:nvPr/>
        </p:nvSpPr>
        <p:spPr>
          <a:xfrm>
            <a:off x="653143" y="1855809"/>
            <a:ext cx="4856117" cy="33590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en-US" altLang="zh-TW" sz="2400" dirty="0"/>
              <a:t>Pure Sampling does not show repetitive loop, but the result becomes incoherent and almost unrelated to the context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en-US" altLang="zh-TW" sz="2400" dirty="0"/>
              <a:t>Why? -&gt; </a:t>
            </a:r>
            <a:r>
              <a:rPr kumimoji="1" lang="en-US" altLang="zh-TW" sz="2400" dirty="0">
                <a:solidFill>
                  <a:srgbClr val="FF0000"/>
                </a:solidFill>
              </a:rPr>
              <a:t>Unreliable tail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kumimoji="1" lang="zh-TW" altLang="en-US" sz="2400" dirty="0"/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9577C8A7-E80F-79B9-0194-674DF3B145E6}"/>
              </a:ext>
            </a:extLst>
          </p:cNvPr>
          <p:cNvSpPr txBox="1"/>
          <p:nvPr/>
        </p:nvSpPr>
        <p:spPr>
          <a:xfrm>
            <a:off x="8161020" y="2125755"/>
            <a:ext cx="1726651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dirty="0">
                <a:ea typeface="Microsoft JhengHei" panose="020B0604030504040204" pitchFamily="34" charset="-120"/>
              </a:rPr>
              <a:t>the</a:t>
            </a:r>
          </a:p>
          <a:p>
            <a:r>
              <a:rPr kumimoji="1" lang="en-US" altLang="zh-TW" dirty="0"/>
              <a:t>am</a:t>
            </a:r>
          </a:p>
          <a:p>
            <a:r>
              <a:rPr kumimoji="1" lang="en-US" altLang="zh-TW" dirty="0">
                <a:ea typeface="Microsoft JhengHei" panose="020B0604030504040204" pitchFamily="34" charset="-120"/>
              </a:rPr>
              <a:t>no</a:t>
            </a:r>
          </a:p>
          <a:p>
            <a:r>
              <a:rPr kumimoji="1" lang="en" altLang="zh-TW" dirty="0">
                <a:ea typeface="Microsoft JhengHei" panose="020B0604030504040204" pitchFamily="34" charset="-120"/>
              </a:rPr>
              <a:t>a</a:t>
            </a:r>
          </a:p>
          <a:p>
            <a:r>
              <a:rPr kumimoji="1" lang="en-US" altLang="zh-TW" dirty="0">
                <a:ea typeface="Microsoft JhengHei" panose="020B0604030504040204" pitchFamily="34" charset="-120"/>
              </a:rPr>
              <a:t>/</a:t>
            </a:r>
          </a:p>
          <a:p>
            <a:r>
              <a:rPr kumimoji="1" lang="en-US" altLang="zh-TW" dirty="0"/>
              <a:t>...</a:t>
            </a:r>
          </a:p>
          <a:p>
            <a:r>
              <a:rPr kumimoji="1" lang="en-US" altLang="zh-TW" dirty="0"/>
              <a:t>...</a:t>
            </a:r>
          </a:p>
          <a:p>
            <a:r>
              <a:rPr kumimoji="1" lang="en-US" altLang="zh-TW" dirty="0"/>
              <a:t>...</a:t>
            </a:r>
          </a:p>
          <a:p>
            <a:r>
              <a:rPr kumimoji="1" lang="en-US" altLang="zh-TW" dirty="0">
                <a:ea typeface="Microsoft JhengHei" panose="020B0604030504040204" pitchFamily="34" charset="-120"/>
              </a:rPr>
              <a:t>...</a:t>
            </a:r>
          </a:p>
          <a:p>
            <a:r>
              <a:rPr kumimoji="1" lang="en-US" altLang="zh-TW" dirty="0"/>
              <a:t>...</a:t>
            </a:r>
          </a:p>
          <a:p>
            <a:r>
              <a:rPr kumimoji="1" lang="en-US" altLang="zh-TW" dirty="0">
                <a:ea typeface="Microsoft JhengHei" panose="020B0604030504040204" pitchFamily="34" charset="-120"/>
              </a:rPr>
              <a:t>...</a:t>
            </a:r>
          </a:p>
          <a:p>
            <a:r>
              <a:rPr kumimoji="1" lang="en-US" altLang="zh-TW" dirty="0"/>
              <a:t>...</a:t>
            </a:r>
          </a:p>
          <a:p>
            <a:r>
              <a:rPr kumimoji="1" lang="en-US" altLang="zh-TW" dirty="0"/>
              <a:t>...</a:t>
            </a:r>
          </a:p>
          <a:p>
            <a:r>
              <a:rPr kumimoji="1" lang="en-US" altLang="zh-TW" dirty="0"/>
              <a:t>...</a:t>
            </a:r>
            <a:endParaRPr kumimoji="1" lang="zh-TW" altLang="en-US" dirty="0"/>
          </a:p>
        </p:txBody>
      </p:sp>
      <p:sp>
        <p:nvSpPr>
          <p:cNvPr id="10" name="文字方塊 9">
            <a:extLst>
              <a:ext uri="{FF2B5EF4-FFF2-40B4-BE49-F238E27FC236}">
                <a16:creationId xmlns:a16="http://schemas.microsoft.com/office/drawing/2014/main" id="{B5CD191E-CE16-A19D-7365-E2984132E6F8}"/>
              </a:ext>
            </a:extLst>
          </p:cNvPr>
          <p:cNvSpPr txBox="1"/>
          <p:nvPr/>
        </p:nvSpPr>
        <p:spPr>
          <a:xfrm>
            <a:off x="9236134" y="2125755"/>
            <a:ext cx="1246720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dirty="0">
                <a:solidFill>
                  <a:srgbClr val="FF0000"/>
                </a:solidFill>
              </a:rPr>
              <a:t>0.0011</a:t>
            </a:r>
          </a:p>
          <a:p>
            <a:r>
              <a:rPr kumimoji="1" lang="en-US" altLang="zh-TW" dirty="0">
                <a:solidFill>
                  <a:srgbClr val="FF0000"/>
                </a:solidFill>
              </a:rPr>
              <a:t>0.0012</a:t>
            </a:r>
          </a:p>
          <a:p>
            <a:r>
              <a:rPr kumimoji="1" lang="en-US" altLang="zh-TW" dirty="0">
                <a:solidFill>
                  <a:srgbClr val="FF0000"/>
                </a:solidFill>
              </a:rPr>
              <a:t>0.0013</a:t>
            </a:r>
          </a:p>
          <a:p>
            <a:r>
              <a:rPr kumimoji="1" lang="en-US" altLang="zh-TW" dirty="0">
                <a:solidFill>
                  <a:srgbClr val="FF0000"/>
                </a:solidFill>
              </a:rPr>
              <a:t>0.0014</a:t>
            </a:r>
          </a:p>
          <a:p>
            <a:r>
              <a:rPr kumimoji="1" lang="en-US" altLang="zh-TW" dirty="0">
                <a:solidFill>
                  <a:srgbClr val="FF0000"/>
                </a:solidFill>
              </a:rPr>
              <a:t>0.0015</a:t>
            </a:r>
          </a:p>
          <a:p>
            <a:r>
              <a:rPr kumimoji="1" lang="en-US" altLang="zh-TW" dirty="0"/>
              <a:t>...</a:t>
            </a:r>
          </a:p>
          <a:p>
            <a:r>
              <a:rPr kumimoji="1" lang="en-US" altLang="zh-TW" dirty="0"/>
              <a:t>...</a:t>
            </a:r>
          </a:p>
          <a:p>
            <a:r>
              <a:rPr kumimoji="1" lang="en-US" altLang="zh-TW" dirty="0"/>
              <a:t>...</a:t>
            </a:r>
          </a:p>
          <a:p>
            <a:r>
              <a:rPr kumimoji="1" lang="en-US" altLang="zh-TW" dirty="0"/>
              <a:t>...</a:t>
            </a:r>
            <a:endParaRPr kumimoji="1" lang="en-US" altLang="zh-TW" dirty="0">
              <a:solidFill>
                <a:srgbClr val="FF0000"/>
              </a:solidFill>
            </a:endParaRPr>
          </a:p>
          <a:p>
            <a:r>
              <a:rPr kumimoji="1" lang="en-US" altLang="zh-TW" dirty="0"/>
              <a:t>...</a:t>
            </a:r>
          </a:p>
          <a:p>
            <a:r>
              <a:rPr kumimoji="1" lang="en-US" altLang="zh-TW" dirty="0"/>
              <a:t>...</a:t>
            </a:r>
            <a:endParaRPr kumimoji="1" lang="en-US" altLang="zh-TW" dirty="0">
              <a:solidFill>
                <a:srgbClr val="FF0000"/>
              </a:solidFill>
            </a:endParaRPr>
          </a:p>
          <a:p>
            <a:r>
              <a:rPr kumimoji="1" lang="en-US" altLang="zh-TW" dirty="0"/>
              <a:t>...</a:t>
            </a:r>
          </a:p>
          <a:p>
            <a:r>
              <a:rPr kumimoji="1" lang="en-US" altLang="zh-TW" dirty="0"/>
              <a:t>...</a:t>
            </a:r>
          </a:p>
          <a:p>
            <a:r>
              <a:rPr kumimoji="1" lang="en-US" altLang="zh-TW" dirty="0"/>
              <a:t>...</a:t>
            </a:r>
          </a:p>
        </p:txBody>
      </p:sp>
      <p:sp>
        <p:nvSpPr>
          <p:cNvPr id="11" name="右大括弧 10">
            <a:extLst>
              <a:ext uri="{FF2B5EF4-FFF2-40B4-BE49-F238E27FC236}">
                <a16:creationId xmlns:a16="http://schemas.microsoft.com/office/drawing/2014/main" id="{C464BB94-372C-B179-D5F7-6AE0350AEEAD}"/>
              </a:ext>
            </a:extLst>
          </p:cNvPr>
          <p:cNvSpPr/>
          <p:nvPr/>
        </p:nvSpPr>
        <p:spPr>
          <a:xfrm>
            <a:off x="10208933" y="2219570"/>
            <a:ext cx="373278" cy="3782688"/>
          </a:xfrm>
          <a:prstGeom prst="rightBrac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13" name="文字方塊 12">
            <a:extLst>
              <a:ext uri="{FF2B5EF4-FFF2-40B4-BE49-F238E27FC236}">
                <a16:creationId xmlns:a16="http://schemas.microsoft.com/office/drawing/2014/main" id="{D31308AD-23F9-38D9-01C1-65B82F326E5B}"/>
              </a:ext>
            </a:extLst>
          </p:cNvPr>
          <p:cNvSpPr txBox="1"/>
          <p:nvPr/>
        </p:nvSpPr>
        <p:spPr>
          <a:xfrm>
            <a:off x="9221270" y="1730190"/>
            <a:ext cx="8396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dirty="0">
                <a:solidFill>
                  <a:srgbClr val="0070C0"/>
                </a:solidFill>
              </a:rPr>
              <a:t>Prob</a:t>
            </a:r>
          </a:p>
        </p:txBody>
      </p:sp>
      <p:sp>
        <p:nvSpPr>
          <p:cNvPr id="14" name="文字方塊 13">
            <a:extLst>
              <a:ext uri="{FF2B5EF4-FFF2-40B4-BE49-F238E27FC236}">
                <a16:creationId xmlns:a16="http://schemas.microsoft.com/office/drawing/2014/main" id="{CB523BCF-B66F-E8AC-9A84-60D173C23F3A}"/>
              </a:ext>
            </a:extLst>
          </p:cNvPr>
          <p:cNvSpPr txBox="1"/>
          <p:nvPr/>
        </p:nvSpPr>
        <p:spPr>
          <a:xfrm>
            <a:off x="10582211" y="3807451"/>
            <a:ext cx="116609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dirty="0"/>
              <a:t>Example</a:t>
            </a:r>
          </a:p>
          <a:p>
            <a:pPr algn="ctr"/>
            <a:r>
              <a:rPr kumimoji="1" lang="en-US" altLang="zh-TW" dirty="0"/>
              <a:t>Vocab</a:t>
            </a:r>
          </a:p>
        </p:txBody>
      </p:sp>
      <p:sp>
        <p:nvSpPr>
          <p:cNvPr id="15" name="文字方塊 14">
            <a:extLst>
              <a:ext uri="{FF2B5EF4-FFF2-40B4-BE49-F238E27FC236}">
                <a16:creationId xmlns:a16="http://schemas.microsoft.com/office/drawing/2014/main" id="{507A1373-A551-1DD6-9435-40AC274E81F5}"/>
              </a:ext>
            </a:extLst>
          </p:cNvPr>
          <p:cNvSpPr txBox="1"/>
          <p:nvPr/>
        </p:nvSpPr>
        <p:spPr>
          <a:xfrm>
            <a:off x="5720747" y="2502031"/>
            <a:ext cx="22734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dirty="0">
                <a:solidFill>
                  <a:srgbClr val="FF0000"/>
                </a:solidFill>
              </a:rPr>
              <a:t>Words that have low probabilities</a:t>
            </a:r>
            <a:endParaRPr kumimoji="1" lang="zh-TW" altLang="en-US" dirty="0">
              <a:solidFill>
                <a:srgbClr val="FF0000"/>
              </a:solidFill>
            </a:endParaRPr>
          </a:p>
        </p:txBody>
      </p:sp>
      <p:cxnSp>
        <p:nvCxnSpPr>
          <p:cNvPr id="5" name="肘形接點 4">
            <a:extLst>
              <a:ext uri="{FF2B5EF4-FFF2-40B4-BE49-F238E27FC236}">
                <a16:creationId xmlns:a16="http://schemas.microsoft.com/office/drawing/2014/main" id="{6C177ECE-4133-D8A9-615C-7F060621BB89}"/>
              </a:ext>
            </a:extLst>
          </p:cNvPr>
          <p:cNvCxnSpPr>
            <a:endCxn id="15" idx="2"/>
          </p:cNvCxnSpPr>
          <p:nvPr/>
        </p:nvCxnSpPr>
        <p:spPr>
          <a:xfrm flipV="1">
            <a:off x="4145472" y="3148362"/>
            <a:ext cx="2711975" cy="1305420"/>
          </a:xfrm>
          <a:prstGeom prst="bentConnector2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文字方塊 6">
            <a:extLst>
              <a:ext uri="{FF2B5EF4-FFF2-40B4-BE49-F238E27FC236}">
                <a16:creationId xmlns:a16="http://schemas.microsoft.com/office/drawing/2014/main" id="{DD76BCE8-7FF2-E53A-87AE-F4FDACAA4884}"/>
              </a:ext>
            </a:extLst>
          </p:cNvPr>
          <p:cNvSpPr txBox="1"/>
          <p:nvPr/>
        </p:nvSpPr>
        <p:spPr>
          <a:xfrm>
            <a:off x="8032675" y="1730190"/>
            <a:ext cx="8396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dirty="0">
                <a:solidFill>
                  <a:srgbClr val="0070C0"/>
                </a:solidFill>
              </a:rPr>
              <a:t>Token</a:t>
            </a:r>
          </a:p>
        </p:txBody>
      </p:sp>
    </p:spTree>
    <p:extLst>
      <p:ext uri="{BB962C8B-B14F-4D97-AF65-F5344CB8AC3E}">
        <p14:creationId xmlns:p14="http://schemas.microsoft.com/office/powerpoint/2010/main" val="3191105417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0B0C4F5-13AB-9D74-511D-40958F6329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en" altLang="zh-TW" dirty="0"/>
              <a:t>[Summary] Strategy for Sampling</a:t>
            </a:r>
            <a:endParaRPr kumimoji="1"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442BA0B4-0E73-279A-C232-9D6A366C15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50</a:t>
            </a:fld>
            <a:endParaRPr lang="en-US"/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9577C8A7-E80F-79B9-0194-674DF3B145E6}"/>
              </a:ext>
            </a:extLst>
          </p:cNvPr>
          <p:cNvSpPr txBox="1"/>
          <p:nvPr/>
        </p:nvSpPr>
        <p:spPr>
          <a:xfrm>
            <a:off x="7218336" y="2125755"/>
            <a:ext cx="1726651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dirty="0">
                <a:ea typeface="Microsoft JhengHei" panose="020B0604030504040204" pitchFamily="34" charset="-120"/>
              </a:rPr>
              <a:t>Bolivian</a:t>
            </a:r>
          </a:p>
          <a:p>
            <a:r>
              <a:rPr kumimoji="1" lang="en-US" altLang="zh-TW" dirty="0"/>
              <a:t>Chinese</a:t>
            </a:r>
          </a:p>
          <a:p>
            <a:r>
              <a:rPr kumimoji="1" lang="en-US" altLang="zh-TW" dirty="0">
                <a:ea typeface="Microsoft JhengHei" panose="020B0604030504040204" pitchFamily="34" charset="-120"/>
              </a:rPr>
              <a:t>Egyptian</a:t>
            </a:r>
          </a:p>
          <a:p>
            <a:r>
              <a:rPr kumimoji="1" lang="en-US" altLang="zh-TW" dirty="0"/>
              <a:t>...</a:t>
            </a:r>
            <a:endParaRPr kumimoji="1" lang="en" altLang="zh-TW" dirty="0">
              <a:ea typeface="Microsoft JhengHei" panose="020B0604030504040204" pitchFamily="34" charset="-120"/>
            </a:endParaRPr>
          </a:p>
          <a:p>
            <a:r>
              <a:rPr kumimoji="1" lang="en-US" altLang="zh-TW" dirty="0"/>
              <a:t>...</a:t>
            </a:r>
            <a:endParaRPr kumimoji="1" lang="en-US" altLang="zh-TW" dirty="0">
              <a:ea typeface="Microsoft JhengHei" panose="020B0604030504040204" pitchFamily="34" charset="-120"/>
            </a:endParaRPr>
          </a:p>
          <a:p>
            <a:r>
              <a:rPr kumimoji="1" lang="en-US" altLang="zh-TW" dirty="0"/>
              <a:t>...</a:t>
            </a:r>
          </a:p>
          <a:p>
            <a:r>
              <a:rPr kumimoji="1" lang="en-US" altLang="zh-TW" dirty="0"/>
              <a:t>...</a:t>
            </a:r>
          </a:p>
          <a:p>
            <a:r>
              <a:rPr kumimoji="1" lang="en-US" altLang="zh-TW" dirty="0"/>
              <a:t>...</a:t>
            </a:r>
          </a:p>
          <a:p>
            <a:r>
              <a:rPr kumimoji="1" lang="en-US" altLang="zh-TW" dirty="0">
                <a:ea typeface="Microsoft JhengHei" panose="020B0604030504040204" pitchFamily="34" charset="-120"/>
              </a:rPr>
              <a:t>...</a:t>
            </a:r>
          </a:p>
          <a:p>
            <a:r>
              <a:rPr kumimoji="1" lang="en-US" altLang="zh-TW" dirty="0"/>
              <a:t>...</a:t>
            </a:r>
          </a:p>
          <a:p>
            <a:r>
              <a:rPr kumimoji="1" lang="en-US" altLang="zh-TW" dirty="0">
                <a:ea typeface="Microsoft JhengHei" panose="020B0604030504040204" pitchFamily="34" charset="-120"/>
              </a:rPr>
              <a:t>...</a:t>
            </a:r>
          </a:p>
          <a:p>
            <a:r>
              <a:rPr kumimoji="1" lang="en-US" altLang="zh-TW" dirty="0"/>
              <a:t>...</a:t>
            </a:r>
          </a:p>
          <a:p>
            <a:r>
              <a:rPr kumimoji="1" lang="en-US" altLang="zh-TW" dirty="0"/>
              <a:t>Scottish</a:t>
            </a:r>
          </a:p>
          <a:p>
            <a:r>
              <a:rPr kumimoji="1" lang="en-US" altLang="zh-TW" dirty="0"/>
              <a:t>English</a:t>
            </a:r>
            <a:endParaRPr kumimoji="1" lang="zh-TW" altLang="en-US" dirty="0"/>
          </a:p>
        </p:txBody>
      </p:sp>
      <p:sp>
        <p:nvSpPr>
          <p:cNvPr id="10" name="文字方塊 9">
            <a:extLst>
              <a:ext uri="{FF2B5EF4-FFF2-40B4-BE49-F238E27FC236}">
                <a16:creationId xmlns:a16="http://schemas.microsoft.com/office/drawing/2014/main" id="{B5CD191E-CE16-A19D-7365-E2984132E6F8}"/>
              </a:ext>
            </a:extLst>
          </p:cNvPr>
          <p:cNvSpPr txBox="1"/>
          <p:nvPr/>
        </p:nvSpPr>
        <p:spPr>
          <a:xfrm>
            <a:off x="8293450" y="2125755"/>
            <a:ext cx="1246720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dirty="0">
                <a:solidFill>
                  <a:srgbClr val="FF0000"/>
                </a:solidFill>
              </a:rPr>
              <a:t>0.0011</a:t>
            </a:r>
          </a:p>
          <a:p>
            <a:r>
              <a:rPr kumimoji="1" lang="en-US" altLang="zh-TW" dirty="0">
                <a:solidFill>
                  <a:srgbClr val="FF0000"/>
                </a:solidFill>
              </a:rPr>
              <a:t>0.0012</a:t>
            </a:r>
          </a:p>
          <a:p>
            <a:r>
              <a:rPr kumimoji="1" lang="en-US" altLang="zh-TW" dirty="0">
                <a:solidFill>
                  <a:srgbClr val="FF0000"/>
                </a:solidFill>
              </a:rPr>
              <a:t>0.0013</a:t>
            </a:r>
          </a:p>
          <a:p>
            <a:r>
              <a:rPr kumimoji="1" lang="en-US" altLang="zh-TW" dirty="0"/>
              <a:t>...</a:t>
            </a:r>
          </a:p>
          <a:p>
            <a:r>
              <a:rPr kumimoji="1" lang="en-US" altLang="zh-TW" dirty="0"/>
              <a:t>...</a:t>
            </a:r>
            <a:endParaRPr kumimoji="1" lang="en-US" altLang="zh-TW" dirty="0">
              <a:solidFill>
                <a:srgbClr val="FF0000"/>
              </a:solidFill>
            </a:endParaRPr>
          </a:p>
          <a:p>
            <a:r>
              <a:rPr kumimoji="1" lang="en-US" altLang="zh-TW" dirty="0"/>
              <a:t>...</a:t>
            </a:r>
          </a:p>
          <a:p>
            <a:r>
              <a:rPr kumimoji="1" lang="en-US" altLang="zh-TW" dirty="0"/>
              <a:t>...</a:t>
            </a:r>
          </a:p>
          <a:p>
            <a:r>
              <a:rPr kumimoji="1" lang="en-US" altLang="zh-TW" dirty="0"/>
              <a:t>...</a:t>
            </a:r>
          </a:p>
          <a:p>
            <a:r>
              <a:rPr kumimoji="1" lang="en-US" altLang="zh-TW" dirty="0"/>
              <a:t>...</a:t>
            </a:r>
            <a:endParaRPr kumimoji="1" lang="en-US" altLang="zh-TW" dirty="0">
              <a:solidFill>
                <a:srgbClr val="FF0000"/>
              </a:solidFill>
            </a:endParaRPr>
          </a:p>
          <a:p>
            <a:r>
              <a:rPr kumimoji="1" lang="en-US" altLang="zh-TW" dirty="0"/>
              <a:t>...</a:t>
            </a:r>
          </a:p>
          <a:p>
            <a:r>
              <a:rPr kumimoji="1" lang="en-US" altLang="zh-TW" dirty="0"/>
              <a:t>...</a:t>
            </a:r>
            <a:endParaRPr kumimoji="1" lang="en-US" altLang="zh-TW" dirty="0">
              <a:solidFill>
                <a:srgbClr val="FF0000"/>
              </a:solidFill>
            </a:endParaRPr>
          </a:p>
          <a:p>
            <a:r>
              <a:rPr kumimoji="1" lang="en-US" altLang="zh-TW" dirty="0"/>
              <a:t>...</a:t>
            </a:r>
          </a:p>
          <a:p>
            <a:r>
              <a:rPr kumimoji="1" lang="en-US" altLang="zh-TW" dirty="0"/>
              <a:t>0.09</a:t>
            </a:r>
          </a:p>
          <a:p>
            <a:r>
              <a:rPr kumimoji="1" lang="en-US" altLang="zh-TW" dirty="0"/>
              <a:t>0.10</a:t>
            </a:r>
          </a:p>
        </p:txBody>
      </p:sp>
      <p:sp>
        <p:nvSpPr>
          <p:cNvPr id="11" name="右大括弧 10">
            <a:extLst>
              <a:ext uri="{FF2B5EF4-FFF2-40B4-BE49-F238E27FC236}">
                <a16:creationId xmlns:a16="http://schemas.microsoft.com/office/drawing/2014/main" id="{C464BB94-372C-B179-D5F7-6AE0350AEEAD}"/>
              </a:ext>
            </a:extLst>
          </p:cNvPr>
          <p:cNvSpPr/>
          <p:nvPr/>
        </p:nvSpPr>
        <p:spPr>
          <a:xfrm>
            <a:off x="9266249" y="2219570"/>
            <a:ext cx="373278" cy="1504018"/>
          </a:xfrm>
          <a:prstGeom prst="rightBrac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zh-TW" altLang="en-US" dirty="0"/>
          </a:p>
        </p:txBody>
      </p:sp>
      <p:sp>
        <p:nvSpPr>
          <p:cNvPr id="12" name="文字方塊 11">
            <a:extLst>
              <a:ext uri="{FF2B5EF4-FFF2-40B4-BE49-F238E27FC236}">
                <a16:creationId xmlns:a16="http://schemas.microsoft.com/office/drawing/2014/main" id="{32A74CFE-0465-2409-63BD-5548D219685F}"/>
              </a:ext>
            </a:extLst>
          </p:cNvPr>
          <p:cNvSpPr txBox="1"/>
          <p:nvPr/>
        </p:nvSpPr>
        <p:spPr>
          <a:xfrm>
            <a:off x="7129787" y="1730190"/>
            <a:ext cx="8396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dirty="0">
                <a:solidFill>
                  <a:srgbClr val="0070C0"/>
                </a:solidFill>
              </a:rPr>
              <a:t>Token</a:t>
            </a:r>
          </a:p>
        </p:txBody>
      </p:sp>
      <p:sp>
        <p:nvSpPr>
          <p:cNvPr id="13" name="文字方塊 12">
            <a:extLst>
              <a:ext uri="{FF2B5EF4-FFF2-40B4-BE49-F238E27FC236}">
                <a16:creationId xmlns:a16="http://schemas.microsoft.com/office/drawing/2014/main" id="{D31308AD-23F9-38D9-01C1-65B82F326E5B}"/>
              </a:ext>
            </a:extLst>
          </p:cNvPr>
          <p:cNvSpPr txBox="1"/>
          <p:nvPr/>
        </p:nvSpPr>
        <p:spPr>
          <a:xfrm>
            <a:off x="8278586" y="1730190"/>
            <a:ext cx="8396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dirty="0">
                <a:solidFill>
                  <a:srgbClr val="0070C0"/>
                </a:solidFill>
              </a:rPr>
              <a:t>Prob</a:t>
            </a:r>
          </a:p>
        </p:txBody>
      </p:sp>
      <p:sp>
        <p:nvSpPr>
          <p:cNvPr id="14" name="文字方塊 13">
            <a:extLst>
              <a:ext uri="{FF2B5EF4-FFF2-40B4-BE49-F238E27FC236}">
                <a16:creationId xmlns:a16="http://schemas.microsoft.com/office/drawing/2014/main" id="{CB523BCF-B66F-E8AC-9A84-60D173C23F3A}"/>
              </a:ext>
            </a:extLst>
          </p:cNvPr>
          <p:cNvSpPr txBox="1"/>
          <p:nvPr/>
        </p:nvSpPr>
        <p:spPr>
          <a:xfrm>
            <a:off x="9630100" y="2247851"/>
            <a:ext cx="215640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dirty="0"/>
              <a:t>Bad</a:t>
            </a:r>
            <a:r>
              <a:rPr kumimoji="1" lang="zh-TW" altLang="en-US" dirty="0"/>
              <a:t> </a:t>
            </a:r>
            <a:r>
              <a:rPr kumimoji="1" lang="en-US" altLang="zh-TW" dirty="0"/>
              <a:t>candidates</a:t>
            </a:r>
          </a:p>
          <a:p>
            <a:pPr algn="ctr"/>
            <a:r>
              <a:rPr kumimoji="1" lang="zh-TW" altLang="en-US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可能有很多字</a:t>
            </a:r>
            <a:endParaRPr kumimoji="1" lang="en-US" altLang="zh-TW" dirty="0"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  <a:p>
            <a:pPr algn="ctr"/>
            <a:r>
              <a:rPr kumimoji="1" lang="zh-TW" altLang="en-US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但機率總和才</a:t>
            </a:r>
            <a:r>
              <a:rPr kumimoji="1" lang="en-US" altLang="zh-TW" dirty="0"/>
              <a:t>10%</a:t>
            </a:r>
          </a:p>
        </p:txBody>
      </p:sp>
      <p:pic>
        <p:nvPicPr>
          <p:cNvPr id="7" name="圖片 6">
            <a:extLst>
              <a:ext uri="{FF2B5EF4-FFF2-40B4-BE49-F238E27FC236}">
                <a16:creationId xmlns:a16="http://schemas.microsoft.com/office/drawing/2014/main" id="{27A37CB2-1EAE-DB3A-5FFB-08F8374CB3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3210" y="1931920"/>
            <a:ext cx="5668636" cy="2100963"/>
          </a:xfrm>
          <a:prstGeom prst="rect">
            <a:avLst/>
          </a:prstGeom>
        </p:spPr>
      </p:pic>
      <p:sp>
        <p:nvSpPr>
          <p:cNvPr id="8" name="矩形 7">
            <a:extLst>
              <a:ext uri="{FF2B5EF4-FFF2-40B4-BE49-F238E27FC236}">
                <a16:creationId xmlns:a16="http://schemas.microsoft.com/office/drawing/2014/main" id="{8CA4BC07-AE50-BCD6-0E7D-78554C3B0062}"/>
              </a:ext>
            </a:extLst>
          </p:cNvPr>
          <p:cNvSpPr/>
          <p:nvPr/>
        </p:nvSpPr>
        <p:spPr>
          <a:xfrm>
            <a:off x="2845646" y="2561946"/>
            <a:ext cx="727113" cy="218961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17" name="右大括弧 16">
            <a:extLst>
              <a:ext uri="{FF2B5EF4-FFF2-40B4-BE49-F238E27FC236}">
                <a16:creationId xmlns:a16="http://schemas.microsoft.com/office/drawing/2014/main" id="{DF3D1B42-5364-00A6-17D0-CEFCD8242D3B}"/>
              </a:ext>
            </a:extLst>
          </p:cNvPr>
          <p:cNvSpPr/>
          <p:nvPr/>
        </p:nvSpPr>
        <p:spPr>
          <a:xfrm>
            <a:off x="9266493" y="5175325"/>
            <a:ext cx="373278" cy="797968"/>
          </a:xfrm>
          <a:prstGeom prst="rightBrac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zh-TW" altLang="en-US" dirty="0"/>
          </a:p>
        </p:txBody>
      </p:sp>
      <p:sp>
        <p:nvSpPr>
          <p:cNvPr id="18" name="文字方塊 17">
            <a:extLst>
              <a:ext uri="{FF2B5EF4-FFF2-40B4-BE49-F238E27FC236}">
                <a16:creationId xmlns:a16="http://schemas.microsoft.com/office/drawing/2014/main" id="{73FDF950-88EC-93AD-3506-082B63A7CB05}"/>
              </a:ext>
            </a:extLst>
          </p:cNvPr>
          <p:cNvSpPr txBox="1"/>
          <p:nvPr/>
        </p:nvSpPr>
        <p:spPr>
          <a:xfrm>
            <a:off x="9639527" y="5115952"/>
            <a:ext cx="215640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dirty="0"/>
              <a:t>Good</a:t>
            </a:r>
            <a:r>
              <a:rPr kumimoji="1" lang="zh-TW" altLang="en-US" dirty="0"/>
              <a:t> </a:t>
            </a:r>
            <a:r>
              <a:rPr kumimoji="1" lang="en-US" altLang="zh-TW" dirty="0"/>
              <a:t>candidates</a:t>
            </a:r>
          </a:p>
          <a:p>
            <a:pPr algn="ctr"/>
            <a:r>
              <a:rPr kumimoji="1" lang="zh-TW" altLang="en-US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可能沒有很多字</a:t>
            </a:r>
            <a:endParaRPr kumimoji="1" lang="en-US" altLang="zh-TW" dirty="0"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  <a:p>
            <a:pPr algn="ctr"/>
            <a:r>
              <a:rPr kumimoji="1" lang="zh-TW" altLang="en-US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但機率總和有</a:t>
            </a:r>
            <a:r>
              <a:rPr kumimoji="1" lang="en-US" altLang="zh-TW" dirty="0"/>
              <a:t>90%</a:t>
            </a:r>
          </a:p>
        </p:txBody>
      </p:sp>
      <p:sp>
        <p:nvSpPr>
          <p:cNvPr id="19" name="文字方塊 18">
            <a:extLst>
              <a:ext uri="{FF2B5EF4-FFF2-40B4-BE49-F238E27FC236}">
                <a16:creationId xmlns:a16="http://schemas.microsoft.com/office/drawing/2014/main" id="{E5773023-9ED0-C115-AD19-A67A0677BCCB}"/>
              </a:ext>
            </a:extLst>
          </p:cNvPr>
          <p:cNvSpPr txBox="1"/>
          <p:nvPr/>
        </p:nvSpPr>
        <p:spPr>
          <a:xfrm>
            <a:off x="694272" y="5450073"/>
            <a:ext cx="536104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sz="2800" dirty="0">
                <a:solidFill>
                  <a:srgbClr val="FF0000"/>
                </a:solidFill>
              </a:rPr>
              <a:t>Let’s truncate the vocabulary!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7E826F43-6397-B33C-F3BC-ECC2D416ADA1}"/>
              </a:ext>
            </a:extLst>
          </p:cNvPr>
          <p:cNvSpPr/>
          <p:nvPr/>
        </p:nvSpPr>
        <p:spPr>
          <a:xfrm>
            <a:off x="7060676" y="4939645"/>
            <a:ext cx="4735256" cy="1348033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18946851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2" grpId="0" animBg="1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DD38BD1-A353-EDA6-7142-F0C754E85E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en-US" altLang="zh-TW" dirty="0"/>
              <a:t>Summary and the Thinking Route</a:t>
            </a:r>
            <a:endParaRPr kumimoji="1"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0B9E5F79-B867-B1A7-5565-CAD8DF064D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51</a:t>
            </a:fld>
            <a:endParaRPr lang="en-US"/>
          </a:p>
        </p:txBody>
      </p:sp>
      <p:sp>
        <p:nvSpPr>
          <p:cNvPr id="12" name="圓角矩形 11">
            <a:extLst>
              <a:ext uri="{FF2B5EF4-FFF2-40B4-BE49-F238E27FC236}">
                <a16:creationId xmlns:a16="http://schemas.microsoft.com/office/drawing/2014/main" id="{15ABA2D3-F549-1738-AAEB-A5C79291133B}"/>
              </a:ext>
            </a:extLst>
          </p:cNvPr>
          <p:cNvSpPr/>
          <p:nvPr/>
        </p:nvSpPr>
        <p:spPr>
          <a:xfrm>
            <a:off x="2114550" y="2972380"/>
            <a:ext cx="1600200" cy="742950"/>
          </a:xfrm>
          <a:prstGeom prst="roundRect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dirty="0">
                <a:solidFill>
                  <a:schemeClr val="tx1"/>
                </a:solidFill>
              </a:rPr>
              <a:t>Beam Search</a:t>
            </a:r>
            <a:endParaRPr kumimoji="1" lang="zh-TW" altLang="en-US" dirty="0">
              <a:solidFill>
                <a:schemeClr val="tx1"/>
              </a:solidFill>
            </a:endParaRPr>
          </a:p>
        </p:txBody>
      </p:sp>
      <p:sp>
        <p:nvSpPr>
          <p:cNvPr id="13" name="圓角矩形 12">
            <a:extLst>
              <a:ext uri="{FF2B5EF4-FFF2-40B4-BE49-F238E27FC236}">
                <a16:creationId xmlns:a16="http://schemas.microsoft.com/office/drawing/2014/main" id="{44E4D143-7756-D108-26AD-715858B9C4D4}"/>
              </a:ext>
            </a:extLst>
          </p:cNvPr>
          <p:cNvSpPr/>
          <p:nvPr/>
        </p:nvSpPr>
        <p:spPr>
          <a:xfrm>
            <a:off x="2114550" y="1810802"/>
            <a:ext cx="1600200" cy="742950"/>
          </a:xfrm>
          <a:prstGeom prst="roundRect">
            <a:avLst/>
          </a:prstGeom>
          <a:noFill/>
          <a:ln w="1905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dirty="0">
                <a:solidFill>
                  <a:schemeClr val="tx1"/>
                </a:solidFill>
              </a:rPr>
              <a:t>Greedy Decoding</a:t>
            </a:r>
            <a:endParaRPr kumimoji="1" lang="zh-TW" altLang="en-US" dirty="0">
              <a:solidFill>
                <a:schemeClr val="tx1"/>
              </a:solidFill>
            </a:endParaRPr>
          </a:p>
        </p:txBody>
      </p:sp>
      <p:sp>
        <p:nvSpPr>
          <p:cNvPr id="14" name="圓角矩形 13">
            <a:extLst>
              <a:ext uri="{FF2B5EF4-FFF2-40B4-BE49-F238E27FC236}">
                <a16:creationId xmlns:a16="http://schemas.microsoft.com/office/drawing/2014/main" id="{C5A18AFC-D84A-E3D2-6414-F54CDABDF091}"/>
              </a:ext>
            </a:extLst>
          </p:cNvPr>
          <p:cNvSpPr/>
          <p:nvPr/>
        </p:nvSpPr>
        <p:spPr>
          <a:xfrm>
            <a:off x="2114550" y="4133958"/>
            <a:ext cx="1600200" cy="742950"/>
          </a:xfrm>
          <a:prstGeom prst="roundRect">
            <a:avLst/>
          </a:prstGeom>
          <a:noFill/>
          <a:ln w="1905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dirty="0">
                <a:solidFill>
                  <a:schemeClr val="tx1"/>
                </a:solidFill>
              </a:rPr>
              <a:t>Sampling</a:t>
            </a:r>
            <a:endParaRPr kumimoji="1" lang="zh-TW" altLang="en-US" dirty="0">
              <a:solidFill>
                <a:schemeClr val="tx1"/>
              </a:solidFill>
            </a:endParaRPr>
          </a:p>
        </p:txBody>
      </p:sp>
      <p:sp>
        <p:nvSpPr>
          <p:cNvPr id="15" name="圓角矩形 14">
            <a:extLst>
              <a:ext uri="{FF2B5EF4-FFF2-40B4-BE49-F238E27FC236}">
                <a16:creationId xmlns:a16="http://schemas.microsoft.com/office/drawing/2014/main" id="{FBF1A92F-7143-5C58-56BE-B63FF3C7BB1C}"/>
              </a:ext>
            </a:extLst>
          </p:cNvPr>
          <p:cNvSpPr/>
          <p:nvPr/>
        </p:nvSpPr>
        <p:spPr>
          <a:xfrm>
            <a:off x="2114550" y="5295536"/>
            <a:ext cx="1600200" cy="742950"/>
          </a:xfrm>
          <a:prstGeom prst="round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dirty="0">
                <a:solidFill>
                  <a:srgbClr val="FF0000"/>
                </a:solidFill>
              </a:rPr>
              <a:t>Truncated</a:t>
            </a:r>
            <a:r>
              <a:rPr kumimoji="1" lang="en-US" altLang="zh-TW" dirty="0">
                <a:solidFill>
                  <a:schemeClr val="tx1"/>
                </a:solidFill>
              </a:rPr>
              <a:t> Sampling</a:t>
            </a:r>
            <a:endParaRPr kumimoji="1" lang="zh-TW" altLang="en-US" dirty="0">
              <a:solidFill>
                <a:schemeClr val="tx1"/>
              </a:solidFill>
            </a:endParaRPr>
          </a:p>
        </p:txBody>
      </p:sp>
      <p:cxnSp>
        <p:nvCxnSpPr>
          <p:cNvPr id="5" name="肘形接點 4">
            <a:extLst>
              <a:ext uri="{FF2B5EF4-FFF2-40B4-BE49-F238E27FC236}">
                <a16:creationId xmlns:a16="http://schemas.microsoft.com/office/drawing/2014/main" id="{1ABDF74E-6D39-CA74-25B8-80EA51C1A7BE}"/>
              </a:ext>
            </a:extLst>
          </p:cNvPr>
          <p:cNvCxnSpPr>
            <a:cxnSpLocks/>
          </p:cNvCxnSpPr>
          <p:nvPr/>
        </p:nvCxnSpPr>
        <p:spPr>
          <a:xfrm>
            <a:off x="3714750" y="2090837"/>
            <a:ext cx="12700" cy="1161578"/>
          </a:xfrm>
          <a:prstGeom prst="bentConnector3">
            <a:avLst>
              <a:gd name="adj1" fmla="val 4590000"/>
            </a:avLst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肘形接點 6">
            <a:extLst>
              <a:ext uri="{FF2B5EF4-FFF2-40B4-BE49-F238E27FC236}">
                <a16:creationId xmlns:a16="http://schemas.microsoft.com/office/drawing/2014/main" id="{F7B4984B-1377-B4FD-FA27-71A287A854F9}"/>
              </a:ext>
            </a:extLst>
          </p:cNvPr>
          <p:cNvCxnSpPr>
            <a:cxnSpLocks/>
          </p:cNvCxnSpPr>
          <p:nvPr/>
        </p:nvCxnSpPr>
        <p:spPr>
          <a:xfrm>
            <a:off x="3727450" y="3327239"/>
            <a:ext cx="12700" cy="1161578"/>
          </a:xfrm>
          <a:prstGeom prst="bentConnector3">
            <a:avLst>
              <a:gd name="adj1" fmla="val 4590000"/>
            </a:avLst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肘形接點 7">
            <a:extLst>
              <a:ext uri="{FF2B5EF4-FFF2-40B4-BE49-F238E27FC236}">
                <a16:creationId xmlns:a16="http://schemas.microsoft.com/office/drawing/2014/main" id="{19788496-611F-9C41-8B25-569410397D8B}"/>
              </a:ext>
            </a:extLst>
          </p:cNvPr>
          <p:cNvCxnSpPr>
            <a:cxnSpLocks/>
          </p:cNvCxnSpPr>
          <p:nvPr/>
        </p:nvCxnSpPr>
        <p:spPr>
          <a:xfrm>
            <a:off x="3740150" y="4566157"/>
            <a:ext cx="12700" cy="1161578"/>
          </a:xfrm>
          <a:prstGeom prst="bentConnector3">
            <a:avLst>
              <a:gd name="adj1" fmla="val 4590000"/>
            </a:avLst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文字方塊 8">
            <a:extLst>
              <a:ext uri="{FF2B5EF4-FFF2-40B4-BE49-F238E27FC236}">
                <a16:creationId xmlns:a16="http://schemas.microsoft.com/office/drawing/2014/main" id="{EC7512EA-58D1-EC73-C4F0-05814C014790}"/>
              </a:ext>
            </a:extLst>
          </p:cNvPr>
          <p:cNvSpPr txBox="1"/>
          <p:nvPr/>
        </p:nvSpPr>
        <p:spPr>
          <a:xfrm>
            <a:off x="4502380" y="2326049"/>
            <a:ext cx="605409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dirty="0"/>
              <a:t>Greedy decoding always selects the best choice at each time step and becomes problematic for early mistakes.</a:t>
            </a:r>
            <a:endParaRPr kumimoji="1" lang="zh-TW" altLang="en-US" dirty="0"/>
          </a:p>
        </p:txBody>
      </p:sp>
      <p:sp>
        <p:nvSpPr>
          <p:cNvPr id="10" name="文字方塊 9">
            <a:extLst>
              <a:ext uri="{FF2B5EF4-FFF2-40B4-BE49-F238E27FC236}">
                <a16:creationId xmlns:a16="http://schemas.microsoft.com/office/drawing/2014/main" id="{610C92C5-8453-E0DA-30D7-9CF4F05FC5C9}"/>
              </a:ext>
            </a:extLst>
          </p:cNvPr>
          <p:cNvSpPr txBox="1"/>
          <p:nvPr/>
        </p:nvSpPr>
        <p:spPr>
          <a:xfrm>
            <a:off x="4502380" y="3715330"/>
            <a:ext cx="533457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dirty="0"/>
              <a:t>Models can fall into repetitive loops with beam search, especially for longer text.</a:t>
            </a:r>
            <a:endParaRPr kumimoji="1" lang="zh-TW" altLang="en-US" dirty="0"/>
          </a:p>
        </p:txBody>
      </p:sp>
      <p:sp>
        <p:nvSpPr>
          <p:cNvPr id="11" name="文字方塊 10">
            <a:extLst>
              <a:ext uri="{FF2B5EF4-FFF2-40B4-BE49-F238E27FC236}">
                <a16:creationId xmlns:a16="http://schemas.microsoft.com/office/drawing/2014/main" id="{FFA58DF5-579F-1D84-3AC6-F63C4C753FA3}"/>
              </a:ext>
            </a:extLst>
          </p:cNvPr>
          <p:cNvSpPr txBox="1"/>
          <p:nvPr/>
        </p:nvSpPr>
        <p:spPr>
          <a:xfrm>
            <a:off x="4565880" y="4835210"/>
            <a:ext cx="533457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dirty="0"/>
              <a:t>Random sampling takes words with low probabilities into considerations.</a:t>
            </a:r>
            <a:endParaRPr kumimoji="1"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365065876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F9F9FED-F36E-501B-F83A-B17BF46056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/>
              <a:t>Top-p </a:t>
            </a:r>
            <a:r>
              <a:rPr kumimoji="1" lang="en-US" altLang="zh-TW" dirty="0"/>
              <a:t>Sampling</a:t>
            </a:r>
            <a:endParaRPr kumimoji="1"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FA090CB-7F52-C9F5-4941-68BEC361A8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52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文字方塊 7">
                <a:extLst>
                  <a:ext uri="{FF2B5EF4-FFF2-40B4-BE49-F238E27FC236}">
                    <a16:creationId xmlns:a16="http://schemas.microsoft.com/office/drawing/2014/main" id="{26D54A39-D928-2CBC-8D9F-03F37CB4C6E7}"/>
                  </a:ext>
                </a:extLst>
              </p:cNvPr>
              <p:cNvSpPr txBox="1"/>
              <p:nvPr/>
            </p:nvSpPr>
            <p:spPr>
              <a:xfrm>
                <a:off x="4245000" y="4223179"/>
                <a:ext cx="3399837" cy="68287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limLoc m:val="subSup"/>
                          <m:supHide m:val="on"/>
                          <m:ctrlPr>
                            <a:rPr kumimoji="1" lang="en-US" altLang="zh-TW" sz="24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kumimoji="1" lang="en-US" altLang="zh-TW" sz="2400" i="1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kumimoji="1" lang="en-US" altLang="zh-TW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∈</m:t>
                          </m:r>
                          <m:sSup>
                            <m:sSupPr>
                              <m:ctrlPr>
                                <a:rPr kumimoji="1" lang="en-US" altLang="zh-TW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kumimoji="1" lang="en-US" altLang="zh-TW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𝑉</m:t>
                              </m:r>
                            </m:e>
                            <m:sup>
                              <m:r>
                                <a:rPr kumimoji="1" lang="en-US" altLang="zh-TW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kumimoji="1" lang="en-US" altLang="zh-TW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𝑝</m:t>
                              </m:r>
                              <m:r>
                                <a:rPr kumimoji="1" lang="en-US" altLang="zh-TW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)</m:t>
                              </m:r>
                            </m:sup>
                          </m:sSup>
                        </m:sub>
                        <m:sup/>
                        <m:e>
                          <m:r>
                            <a:rPr kumimoji="1" lang="en-US" altLang="zh-TW" sz="2400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  <m:r>
                            <a:rPr kumimoji="1" lang="en-US" altLang="zh-TW" sz="2400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kumimoji="1" lang="en-US" altLang="zh-TW" sz="2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kumimoji="1" lang="en-US" altLang="zh-TW" sz="2400" b="0" i="1" smtClean="0">
                              <a:latin typeface="Cambria Math" panose="02040503050406030204" pitchFamily="18" charset="0"/>
                            </a:rPr>
                            <m:t>|</m:t>
                          </m:r>
                          <m:sSub>
                            <m:sSubPr>
                              <m:ctrlPr>
                                <a:rPr kumimoji="1" lang="en-US" altLang="zh-TW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kumimoji="1" lang="en-US" altLang="zh-TW" sz="24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kumimoji="1" lang="en-US" altLang="zh-TW" sz="2400" i="1">
                                  <a:latin typeface="Cambria Math" panose="02040503050406030204" pitchFamily="18" charset="0"/>
                                </a:rPr>
                                <m:t>1:</m:t>
                              </m:r>
                              <m:r>
                                <a:rPr kumimoji="1" lang="en-US" altLang="zh-TW" sz="24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kumimoji="1" lang="en-US" altLang="zh-TW" sz="2400" i="1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b>
                          </m:sSub>
                          <m:r>
                            <a:rPr kumimoji="1" lang="en-US" altLang="zh-TW" sz="2400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  <m:r>
                            <a:rPr kumimoji="1" lang="en-US" altLang="zh-TW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≥</m:t>
                          </m:r>
                          <m:r>
                            <a:rPr kumimoji="1" lang="en-US" altLang="zh-TW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𝑝</m:t>
                          </m:r>
                        </m:e>
                      </m:nary>
                    </m:oMath>
                  </m:oMathPara>
                </a14:m>
                <a:endParaRPr kumimoji="1" lang="zh-TW" altLang="en-US" sz="1600" dirty="0"/>
              </a:p>
            </p:txBody>
          </p:sp>
        </mc:Choice>
        <mc:Fallback xmlns="">
          <p:sp>
            <p:nvSpPr>
              <p:cNvPr id="8" name="文字方塊 7">
                <a:extLst>
                  <a:ext uri="{FF2B5EF4-FFF2-40B4-BE49-F238E27FC236}">
                    <a16:creationId xmlns:a16="http://schemas.microsoft.com/office/drawing/2014/main" id="{26D54A39-D928-2CBC-8D9F-03F37CB4C6E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45000" y="4223179"/>
                <a:ext cx="3399837" cy="682879"/>
              </a:xfrm>
              <a:prstGeom prst="rect">
                <a:avLst/>
              </a:prstGeom>
              <a:blipFill>
                <a:blip r:embed="rId2"/>
                <a:stretch>
                  <a:fillRect l="-32090" t="-203636" r="-746" b="-283636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文字方塊 8">
                <a:extLst>
                  <a:ext uri="{FF2B5EF4-FFF2-40B4-BE49-F238E27FC236}">
                    <a16:creationId xmlns:a16="http://schemas.microsoft.com/office/drawing/2014/main" id="{D0E6B305-D625-C6BC-15A3-6D8195F2CB62}"/>
                  </a:ext>
                </a:extLst>
              </p:cNvPr>
              <p:cNvSpPr txBox="1"/>
              <p:nvPr/>
            </p:nvSpPr>
            <p:spPr>
              <a:xfrm>
                <a:off x="653143" y="2202855"/>
                <a:ext cx="10918370" cy="156966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342900" indent="-342900" algn="just">
                  <a:buFont typeface="Arial" panose="020B0604020202020204" pitchFamily="34" charset="0"/>
                  <a:buChar char="•"/>
                </a:pPr>
                <a:r>
                  <a:rPr kumimoji="1" lang="en-US" altLang="zh-TW" sz="2400" dirty="0"/>
                  <a:t>Core idea: truncate the vocabulary based on </a:t>
                </a:r>
                <a:r>
                  <a:rPr kumimoji="1" lang="en-US" altLang="zh-TW" sz="2400" dirty="0">
                    <a:solidFill>
                      <a:srgbClr val="0070C0"/>
                    </a:solidFill>
                  </a:rPr>
                  <a:t>probability mass</a:t>
                </a:r>
              </a:p>
              <a:p>
                <a:pPr marL="342900" indent="-342900" algn="just">
                  <a:buFont typeface="Arial" panose="020B0604020202020204" pitchFamily="34" charset="0"/>
                  <a:buChar char="•"/>
                </a:pPr>
                <a:r>
                  <a:rPr kumimoji="1" lang="en-US" altLang="zh-TW" sz="2400" dirty="0"/>
                  <a:t>Steps:</a:t>
                </a:r>
              </a:p>
              <a:p>
                <a:pPr marL="914400" lvl="1" indent="-457200" algn="just">
                  <a:buFont typeface="+mj-lt"/>
                  <a:buAutoNum type="arabicPeriod"/>
                </a:pPr>
                <a:r>
                  <a:rPr kumimoji="1" lang="en-US" altLang="zh-TW" sz="2400" dirty="0">
                    <a:solidFill>
                      <a:schemeClr val="tx1"/>
                    </a:solidFill>
                  </a:rPr>
                  <a:t>Define a value </a:t>
                </a:r>
                <a14:m>
                  <m:oMath xmlns:m="http://schemas.openxmlformats.org/officeDocument/2006/math">
                    <m:r>
                      <a:rPr kumimoji="1" lang="en-US" altLang="zh-TW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kumimoji="1" lang="en-US" altLang="zh-TW" sz="2400" dirty="0">
                    <a:solidFill>
                      <a:schemeClr val="tx1"/>
                    </a:solidFill>
                  </a:rPr>
                  <a:t> as the </a:t>
                </a:r>
                <a:r>
                  <a:rPr kumimoji="1" lang="en-US" altLang="zh-TW" sz="2400" dirty="0">
                    <a:solidFill>
                      <a:srgbClr val="FF0000"/>
                    </a:solidFill>
                  </a:rPr>
                  <a:t>probability</a:t>
                </a:r>
                <a:r>
                  <a:rPr kumimoji="1" lang="en-US" altLang="zh-TW" sz="2400" dirty="0">
                    <a:solidFill>
                      <a:schemeClr val="tx1"/>
                    </a:solidFill>
                  </a:rPr>
                  <a:t> threshold.</a:t>
                </a:r>
              </a:p>
              <a:p>
                <a:pPr marL="914400" lvl="1" indent="-457200" algn="just">
                  <a:buFont typeface="+mj-lt"/>
                  <a:buAutoNum type="arabicPeriod"/>
                </a:pPr>
                <a:r>
                  <a:rPr kumimoji="1" lang="en-US" altLang="zh-TW" sz="2400" dirty="0">
                    <a:solidFill>
                      <a:srgbClr val="FF0000"/>
                    </a:solidFill>
                  </a:rPr>
                  <a:t>Truncate the vocabulary whose sum of probabilities is greater than </a:t>
                </a:r>
                <a:r>
                  <a:rPr kumimoji="1" lang="en-US" altLang="zh-TW" sz="2400" i="1" dirty="0">
                    <a:solidFill>
                      <a:srgbClr val="FF0000"/>
                    </a:solidFill>
                  </a:rPr>
                  <a:t>p</a:t>
                </a:r>
                <a:r>
                  <a:rPr kumimoji="1" lang="en-US" altLang="zh-TW" sz="2400" dirty="0">
                    <a:solidFill>
                      <a:srgbClr val="FF0000"/>
                    </a:solidFill>
                  </a:rPr>
                  <a:t> :</a:t>
                </a:r>
              </a:p>
            </p:txBody>
          </p:sp>
        </mc:Choice>
        <mc:Fallback xmlns="">
          <p:sp>
            <p:nvSpPr>
              <p:cNvPr id="9" name="文字方塊 8">
                <a:extLst>
                  <a:ext uri="{FF2B5EF4-FFF2-40B4-BE49-F238E27FC236}">
                    <a16:creationId xmlns:a16="http://schemas.microsoft.com/office/drawing/2014/main" id="{D0E6B305-D625-C6BC-15A3-6D8195F2CB6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3143" y="2202855"/>
                <a:ext cx="10918370" cy="1569660"/>
              </a:xfrm>
              <a:prstGeom prst="rect">
                <a:avLst/>
              </a:prstGeom>
              <a:blipFill>
                <a:blip r:embed="rId3"/>
                <a:stretch>
                  <a:fillRect l="-697" t="-3200" b="-7200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文字方塊 9">
                <a:extLst>
                  <a:ext uri="{FF2B5EF4-FFF2-40B4-BE49-F238E27FC236}">
                    <a16:creationId xmlns:a16="http://schemas.microsoft.com/office/drawing/2014/main" id="{7549D9B9-02A0-D4FC-C5B2-A385CEB31CCA}"/>
                  </a:ext>
                </a:extLst>
              </p:cNvPr>
              <p:cNvSpPr txBox="1"/>
              <p:nvPr/>
            </p:nvSpPr>
            <p:spPr>
              <a:xfrm>
                <a:off x="1970525" y="5293220"/>
                <a:ext cx="8642429" cy="86164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kumimoji="1" lang="en-US" altLang="zh-TW" sz="2400" dirty="0">
                    <a:solidFill>
                      <a:schemeClr val="tx1"/>
                    </a:solidFill>
                  </a:rPr>
                  <a:t>where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kumimoji="1" lang="en-US" altLang="zh-TW" sz="24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kumimoji="1" lang="en-US" altLang="zh-TW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p>
                        <m:r>
                          <a:rPr kumimoji="1" lang="en-US" altLang="zh-TW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kumimoji="1" lang="en-US" altLang="zh-TW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a:rPr kumimoji="1" lang="en-US" altLang="zh-TW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sup>
                    </m:sSup>
                    <m:r>
                      <a:rPr kumimoji="1" lang="en-US" altLang="zh-TW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⊂</m:t>
                    </m:r>
                    <m:r>
                      <a:rPr kumimoji="1" lang="en-US" altLang="zh-TW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𝑉</m:t>
                    </m:r>
                  </m:oMath>
                </a14:m>
                <a:r>
                  <a:rPr kumimoji="1" lang="en-US" altLang="zh-TW" sz="2400" dirty="0">
                    <a:solidFill>
                      <a:schemeClr val="tx1"/>
                    </a:solidFill>
                  </a:rPr>
                  <a:t> is the </a:t>
                </a:r>
                <a:r>
                  <a:rPr kumimoji="1" lang="en-US" altLang="zh-TW" sz="2400" dirty="0">
                    <a:solidFill>
                      <a:srgbClr val="FF0000"/>
                    </a:solidFill>
                  </a:rPr>
                  <a:t>smallest</a:t>
                </a:r>
                <a:r>
                  <a:rPr kumimoji="1" lang="en-US" altLang="zh-TW" sz="2400" dirty="0">
                    <a:solidFill>
                      <a:schemeClr val="tx1"/>
                    </a:solidFill>
                  </a:rPr>
                  <a:t> set that fulfills the equation.</a:t>
                </a:r>
              </a:p>
              <a:p>
                <a:r>
                  <a:rPr kumimoji="1" lang="en-US" altLang="zh-TW" sz="2400" dirty="0">
                    <a:solidFill>
                      <a:schemeClr val="tx1"/>
                    </a:solidFill>
                  </a:rPr>
                  <a:t>Now you get a new truncated vocabulary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kumimoji="1" lang="en-US" altLang="zh-TW" sz="24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kumimoji="1" lang="en-US" altLang="zh-TW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p>
                        <m:r>
                          <a:rPr kumimoji="1" lang="en-US" altLang="zh-TW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kumimoji="1" lang="en-US" altLang="zh-TW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a:rPr kumimoji="1" lang="en-US" altLang="zh-TW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sup>
                    </m:sSup>
                  </m:oMath>
                </a14:m>
                <a:r>
                  <a:rPr kumimoji="1" lang="en-US" altLang="zh-TW" sz="2400" dirty="0">
                    <a:solidFill>
                      <a:schemeClr val="tx1"/>
                    </a:solidFill>
                  </a:rPr>
                  <a:t>.</a:t>
                </a:r>
                <a:endParaRPr lang="zh-TW" altLang="en-US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0" name="文字方塊 9">
                <a:extLst>
                  <a:ext uri="{FF2B5EF4-FFF2-40B4-BE49-F238E27FC236}">
                    <a16:creationId xmlns:a16="http://schemas.microsoft.com/office/drawing/2014/main" id="{7549D9B9-02A0-D4FC-C5B2-A385CEB31CC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70525" y="5293220"/>
                <a:ext cx="8642429" cy="861646"/>
              </a:xfrm>
              <a:prstGeom prst="rect">
                <a:avLst/>
              </a:prstGeom>
              <a:blipFill>
                <a:blip r:embed="rId4"/>
                <a:stretch>
                  <a:fillRect l="-1175" t="-2899" b="-15942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文字方塊 4">
            <a:extLst>
              <a:ext uri="{FF2B5EF4-FFF2-40B4-BE49-F238E27FC236}">
                <a16:creationId xmlns:a16="http://schemas.microsoft.com/office/drawing/2014/main" id="{799C3715-261F-F7B7-BA8F-C6A3108F2959}"/>
              </a:ext>
            </a:extLst>
          </p:cNvPr>
          <p:cNvSpPr txBox="1"/>
          <p:nvPr/>
        </p:nvSpPr>
        <p:spPr>
          <a:xfrm>
            <a:off x="5944918" y="666229"/>
            <a:ext cx="584895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" altLang="zh-TW" sz="1400" dirty="0"/>
              <a:t>Holtzman, Ari, et al. "The Curious Case of Neural Text Degeneration." International Conference on Learning Representations. 2020.</a:t>
            </a:r>
            <a:endParaRPr kumimoji="1" lang="zh-TW" altLang="en-US" sz="1400" dirty="0"/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798AF4CD-D1E6-1253-C5DC-C025561341A5}"/>
              </a:ext>
            </a:extLst>
          </p:cNvPr>
          <p:cNvSpPr txBox="1"/>
          <p:nvPr/>
        </p:nvSpPr>
        <p:spPr>
          <a:xfrm>
            <a:off x="653143" y="1688191"/>
            <a:ext cx="1091837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kumimoji="1" lang="zh-TW" altLang="en-US" sz="24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又稱作 </a:t>
            </a:r>
            <a:r>
              <a:rPr kumimoji="1" lang="en-US" altLang="zh-TW" sz="2400" dirty="0"/>
              <a:t>Nucleus Sampling</a:t>
            </a:r>
            <a:endParaRPr kumimoji="1" lang="en-US" altLang="zh-TW" sz="24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737450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9" grpId="0"/>
      <p:bldP spid="10" grpId="0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F9F9FED-F36E-501B-F83A-B17BF46056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Top-p Sampling</a:t>
            </a:r>
            <a:endParaRPr kumimoji="1"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FA090CB-7F52-C9F5-4941-68BEC361A8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53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文字方塊 4">
                <a:extLst>
                  <a:ext uri="{FF2B5EF4-FFF2-40B4-BE49-F238E27FC236}">
                    <a16:creationId xmlns:a16="http://schemas.microsoft.com/office/drawing/2014/main" id="{5621A175-86C9-C16F-87A1-2527A6135131}"/>
                  </a:ext>
                </a:extLst>
              </p:cNvPr>
              <p:cNvSpPr txBox="1"/>
              <p:nvPr/>
            </p:nvSpPr>
            <p:spPr>
              <a:xfrm>
                <a:off x="4723831" y="5454399"/>
                <a:ext cx="4791633" cy="686535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p>
                        <m:sSupPr>
                          <m:ctrlPr>
                            <a:rPr kumimoji="1" lang="en-US" altLang="zh-TW" sz="20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kumimoji="1" lang="en-US" altLang="zh-TW" sz="2000" smtClean="0">
                              <a:latin typeface="Cambria Math" panose="02040503050406030204" pitchFamily="18" charset="0"/>
                            </a:rPr>
                            <m:t>P</m:t>
                          </m:r>
                        </m:e>
                        <m:sup>
                          <m:r>
                            <a:rPr kumimoji="1" lang="en-US" altLang="zh-TW" sz="2000" b="0" i="0" smtClean="0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d>
                        <m:dPr>
                          <m:ctrlPr>
                            <a:rPr kumimoji="1" lang="en-US" altLang="zh-TW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kumimoji="1" lang="en-US" altLang="zh-TW" sz="2000" b="0" i="0" smtClean="0">
                              <a:latin typeface="Cambria Math" panose="02040503050406030204" pitchFamily="18" charset="0"/>
                            </a:rPr>
                            <m:t>x</m:t>
                          </m:r>
                        </m:e>
                        <m:e>
                          <m:sSub>
                            <m:sSubPr>
                              <m:ctrlPr>
                                <a:rPr kumimoji="1" lang="en-US" altLang="zh-TW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kumimoji="1" lang="en-US" altLang="zh-TW" sz="20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kumimoji="1" lang="en-US" altLang="zh-TW" sz="2000" b="0" i="1" smtClean="0">
                                  <a:latin typeface="Cambria Math" panose="02040503050406030204" pitchFamily="18" charset="0"/>
                                </a:rPr>
                                <m:t>1:</m:t>
                              </m:r>
                              <m:r>
                                <a:rPr kumimoji="1" lang="en-US" altLang="zh-TW" sz="20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kumimoji="1" lang="en-US" altLang="zh-TW" sz="2000" b="0" i="1" smtClean="0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b>
                          </m:sSub>
                        </m:e>
                      </m:d>
                      <m:r>
                        <a:rPr kumimoji="1" lang="en-US" altLang="zh-TW" sz="2000" b="0" i="0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"/>
                          <m:ctrlPr>
                            <a:rPr kumimoji="1" lang="en-US" altLang="zh-TW" sz="20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kumimoji="1" lang="en-US" altLang="zh-TW" sz="2000" i="1" smtClean="0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kumimoji="1" lang="en-US" altLang="zh-TW" sz="2000" b="0" i="1" smtClean="0"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  <m:r>
                                <a:rPr kumimoji="1" lang="en-US" altLang="zh-TW" sz="2000" b="0" i="1" smtClean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kumimoji="1" lang="en-US" altLang="zh-TW" sz="20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kumimoji="1" lang="en-US" altLang="zh-TW" sz="2000" b="0" i="1" smtClean="0">
                                  <a:latin typeface="Cambria Math" panose="02040503050406030204" pitchFamily="18" charset="0"/>
                                </a:rPr>
                                <m:t>|</m:t>
                              </m:r>
                              <m:sSub>
                                <m:sSubPr>
                                  <m:ctrlPr>
                                    <a:rPr kumimoji="1" lang="en-US" altLang="zh-TW" sz="2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kumimoji="1" lang="en-US" altLang="zh-TW" sz="2000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kumimoji="1" lang="en-US" altLang="zh-TW" sz="2000" b="0" i="1" smtClean="0">
                                      <a:latin typeface="Cambria Math" panose="02040503050406030204" pitchFamily="18" charset="0"/>
                                    </a:rPr>
                                    <m:t>1:</m:t>
                                  </m:r>
                                  <m:r>
                                    <a:rPr kumimoji="1" lang="en-US" altLang="zh-TW" sz="2000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  <m:r>
                                    <a:rPr kumimoji="1" lang="en-US" altLang="zh-TW" sz="2000" b="0" i="1" smtClean="0">
                                      <a:latin typeface="Cambria Math" panose="02040503050406030204" pitchFamily="18" charset="0"/>
                                    </a:rPr>
                                    <m:t>−1</m:t>
                                  </m:r>
                                </m:sub>
                              </m:sSub>
                              <m:r>
                                <a:rPr kumimoji="1" lang="en-US" altLang="zh-TW" sz="2000" b="0" i="1" smtClean="0">
                                  <a:latin typeface="Cambria Math" panose="02040503050406030204" pitchFamily="18" charset="0"/>
                                </a:rPr>
                                <m:t>/</m:t>
                              </m:r>
                              <m:r>
                                <a:rPr kumimoji="1" lang="en-US" altLang="zh-TW" sz="2000" b="0" i="1" smtClean="0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  <m:r>
                                <a:rPr kumimoji="1" lang="en-US" altLang="zh-TW" sz="2000" b="0" i="1" smtClean="0">
                                  <a:latin typeface="Cambria Math" panose="02040503050406030204" pitchFamily="18" charset="0"/>
                                </a:rPr>
                                <m:t>′)</m:t>
                              </m:r>
                            </m:e>
                            <m:e>
                              <m:r>
                                <a:rPr kumimoji="1" lang="en-US" altLang="zh-TW" sz="20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kumimoji="1" lang="zh-TW" altLang="en-US" sz="2000" dirty="0"/>
              </a:p>
            </p:txBody>
          </p:sp>
        </mc:Choice>
        <mc:Fallback xmlns="">
          <p:sp>
            <p:nvSpPr>
              <p:cNvPr id="5" name="文字方塊 4">
                <a:extLst>
                  <a:ext uri="{FF2B5EF4-FFF2-40B4-BE49-F238E27FC236}">
                    <a16:creationId xmlns:a16="http://schemas.microsoft.com/office/drawing/2014/main" id="{5621A175-86C9-C16F-87A1-2527A613513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23831" y="5454399"/>
                <a:ext cx="4791633" cy="686535"/>
              </a:xfrm>
              <a:prstGeom prst="rect">
                <a:avLst/>
              </a:prstGeom>
              <a:blipFill>
                <a:blip r:embed="rId2"/>
                <a:stretch>
                  <a:fillRect t="-225455" b="-325455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文字方塊 5">
                <a:extLst>
                  <a:ext uri="{FF2B5EF4-FFF2-40B4-BE49-F238E27FC236}">
                    <a16:creationId xmlns:a16="http://schemas.microsoft.com/office/drawing/2014/main" id="{76164C81-9C98-1FED-D812-CFC4C57FEB06}"/>
                  </a:ext>
                </a:extLst>
              </p:cNvPr>
              <p:cNvSpPr txBox="1"/>
              <p:nvPr/>
            </p:nvSpPr>
            <p:spPr>
              <a:xfrm>
                <a:off x="8882642" y="5475560"/>
                <a:ext cx="2205990" cy="41293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kumimoji="1" lang="en-US" altLang="zh-TW" sz="2000" dirty="0"/>
                  <a:t>if </a:t>
                </a:r>
                <a14:m>
                  <m:oMath xmlns:m="http://schemas.openxmlformats.org/officeDocument/2006/math">
                    <m:r>
                      <a:rPr kumimoji="1" lang="en-US" altLang="zh-TW" sz="20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kumimoji="1" lang="en-US" altLang="zh-TW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kumimoji="1" lang="en-US" altLang="zh-TW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kumimoji="1" lang="en-US" altLang="zh-TW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𝑉</m:t>
                        </m:r>
                      </m:e>
                      <m:sup>
                        <m:r>
                          <a:rPr kumimoji="1" lang="en-US" altLang="zh-TW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(</m:t>
                        </m:r>
                        <m:r>
                          <a:rPr kumimoji="1" lang="en-US" altLang="zh-TW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𝑝</m:t>
                        </m:r>
                        <m:r>
                          <a:rPr kumimoji="1" lang="en-US" altLang="zh-TW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)</m:t>
                        </m:r>
                      </m:sup>
                    </m:sSup>
                  </m:oMath>
                </a14:m>
                <a:endParaRPr kumimoji="1" lang="zh-TW" altLang="en-US" sz="2000" dirty="0"/>
              </a:p>
            </p:txBody>
          </p:sp>
        </mc:Choice>
        <mc:Fallback xmlns="">
          <p:sp>
            <p:nvSpPr>
              <p:cNvPr id="6" name="文字方塊 5">
                <a:extLst>
                  <a:ext uri="{FF2B5EF4-FFF2-40B4-BE49-F238E27FC236}">
                    <a16:creationId xmlns:a16="http://schemas.microsoft.com/office/drawing/2014/main" id="{76164C81-9C98-1FED-D812-CFC4C57FEB0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82642" y="5475560"/>
                <a:ext cx="2205990" cy="412934"/>
              </a:xfrm>
              <a:prstGeom prst="rect">
                <a:avLst/>
              </a:prstGeom>
              <a:blipFill>
                <a:blip r:embed="rId3"/>
                <a:stretch>
                  <a:fillRect l="-2857" t="-6061" b="-24242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文字方塊 6">
            <a:extLst>
              <a:ext uri="{FF2B5EF4-FFF2-40B4-BE49-F238E27FC236}">
                <a16:creationId xmlns:a16="http://schemas.microsoft.com/office/drawing/2014/main" id="{170D7B6E-F39B-BD00-604E-5AF99C28D756}"/>
              </a:ext>
            </a:extLst>
          </p:cNvPr>
          <p:cNvSpPr txBox="1"/>
          <p:nvPr/>
        </p:nvSpPr>
        <p:spPr>
          <a:xfrm>
            <a:off x="8890442" y="5786317"/>
            <a:ext cx="220599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sz="2000" dirty="0"/>
              <a:t>otherwise</a:t>
            </a:r>
            <a:endParaRPr kumimoji="1" lang="zh-TW" altLang="en-US" sz="20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文字方塊 7">
                <a:extLst>
                  <a:ext uri="{FF2B5EF4-FFF2-40B4-BE49-F238E27FC236}">
                    <a16:creationId xmlns:a16="http://schemas.microsoft.com/office/drawing/2014/main" id="{26D54A39-D928-2CBC-8D9F-03F37CB4C6E7}"/>
                  </a:ext>
                </a:extLst>
              </p:cNvPr>
              <p:cNvSpPr txBox="1"/>
              <p:nvPr/>
            </p:nvSpPr>
            <p:spPr>
              <a:xfrm>
                <a:off x="4467775" y="4615428"/>
                <a:ext cx="4791633" cy="56906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p>
                        <m:sSupPr>
                          <m:ctrlPr>
                            <a:rPr kumimoji="1" lang="en-US" altLang="zh-TW" sz="20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kumimoji="1" lang="en-US" altLang="zh-TW" sz="2000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p>
                          <m:r>
                            <a:rPr kumimoji="1" lang="en-US" altLang="zh-TW" sz="2000" b="0" i="0" smtClean="0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r>
                        <a:rPr kumimoji="1" lang="en-US" altLang="zh-TW" sz="2000" b="0" i="0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limLoc m:val="subSup"/>
                          <m:supHide m:val="on"/>
                          <m:ctrlPr>
                            <a:rPr kumimoji="1" lang="en-US" altLang="zh-TW" sz="20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kumimoji="1" lang="en-US" altLang="zh-TW" sz="2000" i="1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kumimoji="1" lang="en-US" altLang="zh-TW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∈</m:t>
                          </m:r>
                          <m:sSup>
                            <m:sSupPr>
                              <m:ctrlPr>
                                <a:rPr kumimoji="1" lang="en-US" altLang="zh-TW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kumimoji="1" lang="en-US" altLang="zh-TW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𝑉</m:t>
                              </m:r>
                            </m:e>
                            <m:sup>
                              <m:r>
                                <a:rPr kumimoji="1" lang="en-US" altLang="zh-TW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kumimoji="1" lang="en-US" altLang="zh-TW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𝑝</m:t>
                              </m:r>
                              <m:r>
                                <a:rPr kumimoji="1" lang="en-US" altLang="zh-TW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)</m:t>
                              </m:r>
                            </m:sup>
                          </m:sSup>
                        </m:sub>
                        <m:sup/>
                        <m:e>
                          <m:r>
                            <a:rPr kumimoji="1" lang="en-US" altLang="zh-TW" sz="2000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  <m:r>
                            <a:rPr kumimoji="1" lang="en-US" altLang="zh-TW" sz="2000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kumimoji="1" lang="en-US" altLang="zh-TW" sz="20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kumimoji="1" lang="en-US" altLang="zh-TW" sz="2000" b="0" i="1" smtClean="0">
                              <a:latin typeface="Cambria Math" panose="02040503050406030204" pitchFamily="18" charset="0"/>
                            </a:rPr>
                            <m:t>|</m:t>
                          </m:r>
                          <m:sSub>
                            <m:sSubPr>
                              <m:ctrlPr>
                                <a:rPr kumimoji="1" lang="en-US" altLang="zh-TW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kumimoji="1" lang="en-US" altLang="zh-TW" sz="20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kumimoji="1" lang="en-US" altLang="zh-TW" sz="2000" i="1">
                                  <a:latin typeface="Cambria Math" panose="02040503050406030204" pitchFamily="18" charset="0"/>
                                </a:rPr>
                                <m:t>1:</m:t>
                              </m:r>
                              <m:r>
                                <a:rPr kumimoji="1" lang="en-US" altLang="zh-TW" sz="20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kumimoji="1" lang="en-US" altLang="zh-TW" sz="2000" i="1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b>
                          </m:sSub>
                          <m:r>
                            <a:rPr kumimoji="1" lang="en-US" altLang="zh-TW" sz="2000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nary>
                    </m:oMath>
                  </m:oMathPara>
                </a14:m>
                <a:endParaRPr kumimoji="1" lang="zh-TW" altLang="en-US" sz="2000" dirty="0"/>
              </a:p>
            </p:txBody>
          </p:sp>
        </mc:Choice>
        <mc:Fallback xmlns="">
          <p:sp>
            <p:nvSpPr>
              <p:cNvPr id="8" name="文字方塊 7">
                <a:extLst>
                  <a:ext uri="{FF2B5EF4-FFF2-40B4-BE49-F238E27FC236}">
                    <a16:creationId xmlns:a16="http://schemas.microsoft.com/office/drawing/2014/main" id="{26D54A39-D928-2CBC-8D9F-03F37CB4C6E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67775" y="4615428"/>
                <a:ext cx="4791633" cy="569067"/>
              </a:xfrm>
              <a:prstGeom prst="rect">
                <a:avLst/>
              </a:prstGeom>
              <a:blipFill>
                <a:blip r:embed="rId4"/>
                <a:stretch>
                  <a:fillRect t="-200000" b="-280435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文字方塊 8">
                <a:extLst>
                  <a:ext uri="{FF2B5EF4-FFF2-40B4-BE49-F238E27FC236}">
                    <a16:creationId xmlns:a16="http://schemas.microsoft.com/office/drawing/2014/main" id="{D0E6B305-D625-C6BC-15A3-6D8195F2CB62}"/>
                  </a:ext>
                </a:extLst>
              </p:cNvPr>
              <p:cNvSpPr txBox="1"/>
              <p:nvPr/>
            </p:nvSpPr>
            <p:spPr>
              <a:xfrm>
                <a:off x="653144" y="1659408"/>
                <a:ext cx="10918370" cy="264970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342900" indent="-342900" algn="just">
                  <a:buFont typeface="Arial" panose="020B0604020202020204" pitchFamily="34" charset="0"/>
                  <a:buChar char="•"/>
                </a:pPr>
                <a:r>
                  <a:rPr kumimoji="1" lang="en-US" altLang="zh-TW" sz="2400" dirty="0"/>
                  <a:t>Core idea: truncate the vocabulary based on </a:t>
                </a:r>
                <a:r>
                  <a:rPr kumimoji="1" lang="en-US" altLang="zh-TW" sz="2400" dirty="0">
                    <a:solidFill>
                      <a:srgbClr val="0070C0"/>
                    </a:solidFill>
                  </a:rPr>
                  <a:t>probability mass</a:t>
                </a:r>
                <a:endParaRPr kumimoji="1" lang="en-US" altLang="zh-TW" sz="2400" dirty="0"/>
              </a:p>
              <a:p>
                <a:pPr marL="342900" indent="-342900" algn="just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kumimoji="1" lang="en-US" altLang="zh-TW" sz="2400" dirty="0"/>
                  <a:t>Steps:</a:t>
                </a:r>
                <a:endParaRPr kumimoji="1" lang="en-US" altLang="zh-TW" sz="2400" dirty="0">
                  <a:solidFill>
                    <a:srgbClr val="FF0000"/>
                  </a:solidFill>
                </a:endParaRPr>
              </a:p>
              <a:p>
                <a:pPr lvl="1" algn="just">
                  <a:lnSpc>
                    <a:spcPct val="150000"/>
                  </a:lnSpc>
                </a:pPr>
                <a:r>
                  <a:rPr kumimoji="1" lang="en-US" altLang="zh-TW" sz="2400" dirty="0"/>
                  <a:t>3. Re-build the probability distribution based on the following normalization:</a:t>
                </a:r>
              </a:p>
              <a:p>
                <a:pPr lvl="2" algn="just">
                  <a:lnSpc>
                    <a:spcPct val="150000"/>
                  </a:lnSpc>
                </a:pPr>
                <a:r>
                  <a:rPr kumimoji="1" lang="en-US" altLang="zh-TW" sz="2400" dirty="0">
                    <a:solidFill>
                      <a:srgbClr val="FF0000"/>
                    </a:solidFill>
                    <a:ea typeface="Microsoft JhengHei" panose="020B0604030504040204" pitchFamily="34" charset="-120"/>
                  </a:rPr>
                  <a:t>3-1. </a:t>
                </a:r>
                <a:r>
                  <a:rPr kumimoji="1" lang="zh-TW" altLang="en-US" sz="2400" dirty="0">
                    <a:solidFill>
                      <a:srgbClr val="FF0000"/>
                    </a:solidFill>
                    <a:ea typeface="Microsoft JhengHei" panose="020B0604030504040204" pitchFamily="34" charset="-120"/>
                  </a:rPr>
                  <a:t>把</a:t>
                </a:r>
                <a:r>
                  <a:rPr kumimoji="1" lang="en-US" altLang="zh-TW" sz="2400" dirty="0">
                    <a:solidFill>
                      <a:srgbClr val="FF0000"/>
                    </a:solidFill>
                    <a:ea typeface="Microsoft JhengHei" panose="020B0604030504040204" pitchFamily="34" charset="-120"/>
                  </a:rPr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kumimoji="1" lang="en-US" altLang="zh-TW" sz="240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kumimoji="1" lang="en-US" altLang="zh-TW" sz="24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p>
                        <m:r>
                          <a:rPr kumimoji="1" lang="en-US" altLang="zh-TW" sz="24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kumimoji="1" lang="en-US" altLang="zh-TW" sz="24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a:rPr kumimoji="1" lang="en-US" altLang="zh-TW" sz="24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sup>
                    </m:sSup>
                  </m:oMath>
                </a14:m>
                <a:r>
                  <a:rPr kumimoji="1" lang="en-US" altLang="zh-TW" sz="2400" dirty="0">
                    <a:solidFill>
                      <a:srgbClr val="FF0000"/>
                    </a:solidFill>
                    <a:ea typeface="Microsoft JhengHei" panose="020B0604030504040204" pitchFamily="34" charset="-120"/>
                  </a:rPr>
                  <a:t> </a:t>
                </a:r>
                <a:r>
                  <a:rPr kumimoji="1" lang="zh-TW" altLang="en-US" sz="2400" dirty="0">
                    <a:solidFill>
                      <a:srgbClr val="FF0000"/>
                    </a:solidFill>
                    <a:ea typeface="Microsoft JhengHei" panose="020B0604030504040204" pitchFamily="34" charset="-120"/>
                  </a:rPr>
                  <a:t>的機率值加總</a:t>
                </a:r>
                <a:endParaRPr kumimoji="1" lang="en-US" altLang="zh-TW" sz="2400" dirty="0">
                  <a:solidFill>
                    <a:srgbClr val="FF0000"/>
                  </a:solidFill>
                  <a:ea typeface="Microsoft JhengHei" panose="020B0604030504040204" pitchFamily="34" charset="-120"/>
                </a:endParaRPr>
              </a:p>
              <a:p>
                <a:pPr lvl="2" algn="just">
                  <a:lnSpc>
                    <a:spcPct val="150000"/>
                  </a:lnSpc>
                </a:pPr>
                <a:r>
                  <a:rPr kumimoji="1" lang="en-US" altLang="zh-TW" sz="2400" dirty="0">
                    <a:solidFill>
                      <a:srgbClr val="FF0000"/>
                    </a:solidFill>
                    <a:ea typeface="Microsoft JhengHei" panose="020B0604030504040204" pitchFamily="34" charset="-120"/>
                  </a:rPr>
                  <a:t>3-2.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kumimoji="1" lang="en-US" altLang="zh-TW" sz="240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kumimoji="1" lang="en-US" altLang="zh-TW" sz="24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p>
                        <m:r>
                          <a:rPr kumimoji="1" lang="en-US" altLang="zh-TW" sz="24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kumimoji="1" lang="en-US" altLang="zh-TW" sz="24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a:rPr kumimoji="1" lang="en-US" altLang="zh-TW" sz="24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sup>
                    </m:sSup>
                  </m:oMath>
                </a14:m>
                <a:r>
                  <a:rPr kumimoji="1" lang="zh-TW" altLang="en-US" sz="2400" dirty="0">
                    <a:solidFill>
                      <a:srgbClr val="FF0000"/>
                    </a:solidFill>
                    <a:ea typeface="Microsoft JhengHei" panose="020B0604030504040204" pitchFamily="34" charset="-120"/>
                  </a:rPr>
                  <a:t> 內的每個機率值</a:t>
                </a:r>
                <a:r>
                  <a:rPr kumimoji="1" lang="en-US" altLang="zh-TW" sz="2400" dirty="0">
                    <a:solidFill>
                      <a:srgbClr val="FF0000"/>
                    </a:solidFill>
                    <a:ea typeface="Microsoft JhengHei" panose="020B0604030504040204" pitchFamily="34" charset="-120"/>
                  </a:rPr>
                  <a:t>/</a:t>
                </a:r>
                <a:r>
                  <a:rPr kumimoji="1" lang="zh-TW" altLang="en-US" sz="2400" dirty="0">
                    <a:solidFill>
                      <a:srgbClr val="FF0000"/>
                    </a:solidFill>
                    <a:ea typeface="Microsoft JhengHei" panose="020B0604030504040204" pitchFamily="34" charset="-120"/>
                  </a:rPr>
                  <a:t>加總</a:t>
                </a:r>
                <a:endParaRPr kumimoji="1" lang="en-US" altLang="zh-TW" sz="24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9" name="文字方塊 8">
                <a:extLst>
                  <a:ext uri="{FF2B5EF4-FFF2-40B4-BE49-F238E27FC236}">
                    <a16:creationId xmlns:a16="http://schemas.microsoft.com/office/drawing/2014/main" id="{D0E6B305-D625-C6BC-15A3-6D8195F2CB6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3144" y="1659408"/>
                <a:ext cx="10918370" cy="2649700"/>
              </a:xfrm>
              <a:prstGeom prst="rect">
                <a:avLst/>
              </a:prstGeom>
              <a:blipFill>
                <a:blip r:embed="rId5"/>
                <a:stretch>
                  <a:fillRect l="-697" t="-1905" b="-4286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94514123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79018C0-1A9F-B638-8E44-34573FB150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機率重新調整 </a:t>
            </a:r>
            <a:r>
              <a:rPr kumimoji="1" lang="en-US" altLang="zh-TW" dirty="0">
                <a:ea typeface="Microsoft JhengHei" panose="020B0604030504040204" pitchFamily="34" charset="-120"/>
              </a:rPr>
              <a:t>toy example</a:t>
            </a:r>
            <a:endParaRPr kumimoji="1" lang="zh-TW" altLang="en-US" dirty="0">
              <a:ea typeface="Microsoft JhengHei" panose="020B0604030504040204" pitchFamily="34" charset="-120"/>
            </a:endParaRP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FAA4BC89-14C5-3062-55C0-5137E485A5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54</a:t>
            </a:fld>
            <a:endParaRPr lang="en-US" dirty="0"/>
          </a:p>
        </p:txBody>
      </p:sp>
      <p:sp>
        <p:nvSpPr>
          <p:cNvPr id="5" name="橢圓 4">
            <a:extLst>
              <a:ext uri="{FF2B5EF4-FFF2-40B4-BE49-F238E27FC236}">
                <a16:creationId xmlns:a16="http://schemas.microsoft.com/office/drawing/2014/main" id="{3E2A1081-1C84-EB88-9D9D-D7EB34B1283F}"/>
              </a:ext>
            </a:extLst>
          </p:cNvPr>
          <p:cNvSpPr/>
          <p:nvPr/>
        </p:nvSpPr>
        <p:spPr>
          <a:xfrm>
            <a:off x="876300" y="1946910"/>
            <a:ext cx="3299460" cy="186309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11" name="文字方塊 10">
            <a:extLst>
              <a:ext uri="{FF2B5EF4-FFF2-40B4-BE49-F238E27FC236}">
                <a16:creationId xmlns:a16="http://schemas.microsoft.com/office/drawing/2014/main" id="{2ED168C0-408B-7FDA-0279-3264F7B8821F}"/>
              </a:ext>
            </a:extLst>
          </p:cNvPr>
          <p:cNvSpPr txBox="1"/>
          <p:nvPr/>
        </p:nvSpPr>
        <p:spPr>
          <a:xfrm>
            <a:off x="4876799" y="2461260"/>
            <a:ext cx="27494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TW" altLang="en-US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任意門的機率</a:t>
            </a:r>
            <a:r>
              <a:rPr kumimoji="1" lang="zh-TW" altLang="en-US" dirty="0"/>
              <a:t>：</a:t>
            </a:r>
            <a:r>
              <a:rPr kumimoji="1" lang="en-US" altLang="zh-TW" dirty="0"/>
              <a:t>1/4</a:t>
            </a:r>
            <a:endParaRPr kumimoji="1" lang="zh-TW" altLang="en-US" dirty="0"/>
          </a:p>
        </p:txBody>
      </p:sp>
      <p:sp>
        <p:nvSpPr>
          <p:cNvPr id="22" name="文字方塊 21">
            <a:extLst>
              <a:ext uri="{FF2B5EF4-FFF2-40B4-BE49-F238E27FC236}">
                <a16:creationId xmlns:a16="http://schemas.microsoft.com/office/drawing/2014/main" id="{294D70EE-F83B-5661-9B7B-DD4C88A4FFDA}"/>
              </a:ext>
            </a:extLst>
          </p:cNvPr>
          <p:cNvSpPr txBox="1"/>
          <p:nvPr/>
        </p:nvSpPr>
        <p:spPr>
          <a:xfrm>
            <a:off x="4876799" y="4713208"/>
            <a:ext cx="517217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TW" altLang="en-US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任意門的機率</a:t>
            </a:r>
            <a:r>
              <a:rPr kumimoji="1" lang="zh-TW" altLang="en-US" dirty="0"/>
              <a:t>：</a:t>
            </a:r>
            <a:r>
              <a:rPr kumimoji="1" lang="en-US" altLang="zh-TW" dirty="0"/>
              <a:t>0.25 / (0.25+0.25+0.25) = 1/3</a:t>
            </a:r>
            <a:endParaRPr kumimoji="1" lang="zh-TW" altLang="en-US" dirty="0"/>
          </a:p>
        </p:txBody>
      </p:sp>
      <p:sp>
        <p:nvSpPr>
          <p:cNvPr id="23" name="文字方塊 22">
            <a:extLst>
              <a:ext uri="{FF2B5EF4-FFF2-40B4-BE49-F238E27FC236}">
                <a16:creationId xmlns:a16="http://schemas.microsoft.com/office/drawing/2014/main" id="{E4D5D61C-4B52-8B94-9588-1F9CF3142572}"/>
              </a:ext>
            </a:extLst>
          </p:cNvPr>
          <p:cNvSpPr txBox="1"/>
          <p:nvPr/>
        </p:nvSpPr>
        <p:spPr>
          <a:xfrm>
            <a:off x="1322070" y="2630805"/>
            <a:ext cx="411480" cy="3657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dirty="0">
                <a:solidFill>
                  <a:schemeClr val="bg1"/>
                </a:solidFill>
              </a:rPr>
              <a:t>A</a:t>
            </a:r>
            <a:endParaRPr kumimoji="1" lang="zh-TW" altLang="en-US" dirty="0">
              <a:solidFill>
                <a:schemeClr val="bg1"/>
              </a:solidFill>
            </a:endParaRPr>
          </a:p>
        </p:txBody>
      </p:sp>
      <p:sp>
        <p:nvSpPr>
          <p:cNvPr id="24" name="文字方塊 23">
            <a:extLst>
              <a:ext uri="{FF2B5EF4-FFF2-40B4-BE49-F238E27FC236}">
                <a16:creationId xmlns:a16="http://schemas.microsoft.com/office/drawing/2014/main" id="{87C88FFF-A5E3-5A0D-C939-75FFFA284A8E}"/>
              </a:ext>
            </a:extLst>
          </p:cNvPr>
          <p:cNvSpPr txBox="1"/>
          <p:nvPr/>
        </p:nvSpPr>
        <p:spPr>
          <a:xfrm>
            <a:off x="1714500" y="3242862"/>
            <a:ext cx="4114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dirty="0">
                <a:solidFill>
                  <a:schemeClr val="bg1"/>
                </a:solidFill>
              </a:rPr>
              <a:t>B</a:t>
            </a:r>
            <a:endParaRPr kumimoji="1" lang="zh-TW" altLang="en-US" dirty="0">
              <a:solidFill>
                <a:schemeClr val="bg1"/>
              </a:solidFill>
            </a:endParaRPr>
          </a:p>
        </p:txBody>
      </p:sp>
      <p:sp>
        <p:nvSpPr>
          <p:cNvPr id="25" name="文字方塊 24">
            <a:extLst>
              <a:ext uri="{FF2B5EF4-FFF2-40B4-BE49-F238E27FC236}">
                <a16:creationId xmlns:a16="http://schemas.microsoft.com/office/drawing/2014/main" id="{647DF1E9-EA9E-A3EE-ECE9-3915384D48CB}"/>
              </a:ext>
            </a:extLst>
          </p:cNvPr>
          <p:cNvSpPr txBox="1"/>
          <p:nvPr/>
        </p:nvSpPr>
        <p:spPr>
          <a:xfrm>
            <a:off x="3173730" y="3185398"/>
            <a:ext cx="4114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dirty="0">
                <a:solidFill>
                  <a:schemeClr val="bg1"/>
                </a:solidFill>
              </a:rPr>
              <a:t>C</a:t>
            </a:r>
            <a:endParaRPr kumimoji="1" lang="zh-TW" altLang="en-US" dirty="0">
              <a:solidFill>
                <a:schemeClr val="bg1"/>
              </a:solidFill>
            </a:endParaRPr>
          </a:p>
        </p:txBody>
      </p:sp>
      <p:sp>
        <p:nvSpPr>
          <p:cNvPr id="27" name="橢圓 26">
            <a:extLst>
              <a:ext uri="{FF2B5EF4-FFF2-40B4-BE49-F238E27FC236}">
                <a16:creationId xmlns:a16="http://schemas.microsoft.com/office/drawing/2014/main" id="{AE5BA1D7-DF11-C97A-A923-391E8EA1C771}"/>
              </a:ext>
            </a:extLst>
          </p:cNvPr>
          <p:cNvSpPr/>
          <p:nvPr/>
        </p:nvSpPr>
        <p:spPr>
          <a:xfrm>
            <a:off x="1676400" y="5011297"/>
            <a:ext cx="350520" cy="35052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29" name="橢圓 28">
            <a:extLst>
              <a:ext uri="{FF2B5EF4-FFF2-40B4-BE49-F238E27FC236}">
                <a16:creationId xmlns:a16="http://schemas.microsoft.com/office/drawing/2014/main" id="{28FA5CF7-956B-3286-1C78-B96F220F6249}"/>
              </a:ext>
            </a:extLst>
          </p:cNvPr>
          <p:cNvSpPr/>
          <p:nvPr/>
        </p:nvSpPr>
        <p:spPr>
          <a:xfrm>
            <a:off x="2125980" y="5598038"/>
            <a:ext cx="350520" cy="35052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31" name="文字方塊 30">
            <a:extLst>
              <a:ext uri="{FF2B5EF4-FFF2-40B4-BE49-F238E27FC236}">
                <a16:creationId xmlns:a16="http://schemas.microsoft.com/office/drawing/2014/main" id="{86656436-4103-EBFD-4886-08B64FEB561A}"/>
              </a:ext>
            </a:extLst>
          </p:cNvPr>
          <p:cNvSpPr txBox="1"/>
          <p:nvPr/>
        </p:nvSpPr>
        <p:spPr>
          <a:xfrm>
            <a:off x="1322070" y="5058922"/>
            <a:ext cx="411480" cy="3657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dirty="0">
                <a:solidFill>
                  <a:schemeClr val="bg1"/>
                </a:solidFill>
              </a:rPr>
              <a:t>A</a:t>
            </a:r>
            <a:endParaRPr kumimoji="1" lang="zh-TW" altLang="en-US" dirty="0">
              <a:solidFill>
                <a:schemeClr val="bg1"/>
              </a:solidFill>
            </a:endParaRPr>
          </a:p>
        </p:txBody>
      </p:sp>
      <p:sp>
        <p:nvSpPr>
          <p:cNvPr id="32" name="文字方塊 31">
            <a:extLst>
              <a:ext uri="{FF2B5EF4-FFF2-40B4-BE49-F238E27FC236}">
                <a16:creationId xmlns:a16="http://schemas.microsoft.com/office/drawing/2014/main" id="{5DB9FECC-1021-7A5B-4E22-AA0533C075B6}"/>
              </a:ext>
            </a:extLst>
          </p:cNvPr>
          <p:cNvSpPr txBox="1"/>
          <p:nvPr/>
        </p:nvSpPr>
        <p:spPr>
          <a:xfrm>
            <a:off x="1764030" y="5569462"/>
            <a:ext cx="4114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dirty="0">
                <a:solidFill>
                  <a:schemeClr val="bg1"/>
                </a:solidFill>
              </a:rPr>
              <a:t>B</a:t>
            </a:r>
            <a:endParaRPr kumimoji="1" lang="zh-TW" altLang="en-US" dirty="0">
              <a:solidFill>
                <a:schemeClr val="bg1"/>
              </a:solidFill>
            </a:endParaRPr>
          </a:p>
        </p:txBody>
      </p:sp>
      <p:sp>
        <p:nvSpPr>
          <p:cNvPr id="34" name="文字方塊 33">
            <a:extLst>
              <a:ext uri="{FF2B5EF4-FFF2-40B4-BE49-F238E27FC236}">
                <a16:creationId xmlns:a16="http://schemas.microsoft.com/office/drawing/2014/main" id="{5AB1E5AD-9720-7825-51AF-C6C667245077}"/>
              </a:ext>
            </a:extLst>
          </p:cNvPr>
          <p:cNvSpPr txBox="1"/>
          <p:nvPr/>
        </p:nvSpPr>
        <p:spPr>
          <a:xfrm>
            <a:off x="4876800" y="5121906"/>
            <a:ext cx="530414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TW" altLang="en-US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竹蜻蜓</a:t>
            </a:r>
            <a:r>
              <a:rPr kumimoji="1" lang="en-US" altLang="zh-TW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A</a:t>
            </a:r>
            <a:r>
              <a:rPr kumimoji="1" lang="zh-TW" altLang="en-US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機率</a:t>
            </a:r>
            <a:r>
              <a:rPr kumimoji="1" lang="zh-TW" altLang="en-US" dirty="0"/>
              <a:t>：</a:t>
            </a:r>
            <a:r>
              <a:rPr kumimoji="1" lang="en-US" altLang="zh-TW" dirty="0"/>
              <a:t>0.25 / (0.25+0.25+0.25) = 1/3</a:t>
            </a:r>
          </a:p>
          <a:p>
            <a:r>
              <a:rPr kumimoji="1" lang="zh-TW" altLang="en-US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竹蜻蜓Ｂ機率</a:t>
            </a:r>
            <a:r>
              <a:rPr kumimoji="1" lang="zh-TW" altLang="en-US" dirty="0"/>
              <a:t>：</a:t>
            </a:r>
            <a:r>
              <a:rPr kumimoji="1" lang="en-US" altLang="zh-TW" dirty="0"/>
              <a:t>0.25 / (0.25+0.25+0.25) = 1/3</a:t>
            </a:r>
            <a:endParaRPr kumimoji="1" lang="zh-TW" altLang="en-US" dirty="0"/>
          </a:p>
        </p:txBody>
      </p:sp>
      <p:grpSp>
        <p:nvGrpSpPr>
          <p:cNvPr id="42" name="群組 41">
            <a:extLst>
              <a:ext uri="{FF2B5EF4-FFF2-40B4-BE49-F238E27FC236}">
                <a16:creationId xmlns:a16="http://schemas.microsoft.com/office/drawing/2014/main" id="{51F42EB1-CE8F-D25E-D278-168B116E48FC}"/>
              </a:ext>
            </a:extLst>
          </p:cNvPr>
          <p:cNvGrpSpPr/>
          <p:nvPr/>
        </p:nvGrpSpPr>
        <p:grpSpPr>
          <a:xfrm>
            <a:off x="2781300" y="3018852"/>
            <a:ext cx="563880" cy="458466"/>
            <a:chOff x="3192780" y="2330900"/>
            <a:chExt cx="563880" cy="458466"/>
          </a:xfrm>
        </p:grpSpPr>
        <p:cxnSp>
          <p:nvCxnSpPr>
            <p:cNvPr id="37" name="直線接點 36">
              <a:extLst>
                <a:ext uri="{FF2B5EF4-FFF2-40B4-BE49-F238E27FC236}">
                  <a16:creationId xmlns:a16="http://schemas.microsoft.com/office/drawing/2014/main" id="{4C5D9A7C-D568-A11B-7937-0E6158B9BC0C}"/>
                </a:ext>
              </a:extLst>
            </p:cNvPr>
            <p:cNvCxnSpPr>
              <a:cxnSpLocks/>
            </p:cNvCxnSpPr>
            <p:nvPr/>
          </p:nvCxnSpPr>
          <p:spPr>
            <a:xfrm>
              <a:off x="3192780" y="2330900"/>
              <a:ext cx="563880" cy="64444"/>
            </a:xfrm>
            <a:prstGeom prst="line">
              <a:avLst/>
            </a:prstGeom>
            <a:ln w="28575">
              <a:solidFill>
                <a:srgbClr val="FFBE3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直線接點 37">
              <a:extLst>
                <a:ext uri="{FF2B5EF4-FFF2-40B4-BE49-F238E27FC236}">
                  <a16:creationId xmlns:a16="http://schemas.microsoft.com/office/drawing/2014/main" id="{4F80CAF4-39EE-DB77-A2D0-42E81CB5F123}"/>
                </a:ext>
              </a:extLst>
            </p:cNvPr>
            <p:cNvCxnSpPr>
              <a:cxnSpLocks/>
            </p:cNvCxnSpPr>
            <p:nvPr/>
          </p:nvCxnSpPr>
          <p:spPr>
            <a:xfrm>
              <a:off x="3474720" y="2363122"/>
              <a:ext cx="0" cy="426244"/>
            </a:xfrm>
            <a:prstGeom prst="line">
              <a:avLst/>
            </a:prstGeom>
            <a:ln w="28575">
              <a:solidFill>
                <a:srgbClr val="FFBE3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3" name="群組 42">
            <a:extLst>
              <a:ext uri="{FF2B5EF4-FFF2-40B4-BE49-F238E27FC236}">
                <a16:creationId xmlns:a16="http://schemas.microsoft.com/office/drawing/2014/main" id="{372ED4F9-BEF5-3528-B7BF-82D8C93DC781}"/>
              </a:ext>
            </a:extLst>
          </p:cNvPr>
          <p:cNvGrpSpPr/>
          <p:nvPr/>
        </p:nvGrpSpPr>
        <p:grpSpPr>
          <a:xfrm>
            <a:off x="1914525" y="3115590"/>
            <a:ext cx="563880" cy="458466"/>
            <a:chOff x="3192780" y="2330900"/>
            <a:chExt cx="563880" cy="458466"/>
          </a:xfrm>
        </p:grpSpPr>
        <p:cxnSp>
          <p:nvCxnSpPr>
            <p:cNvPr id="44" name="直線接點 43">
              <a:extLst>
                <a:ext uri="{FF2B5EF4-FFF2-40B4-BE49-F238E27FC236}">
                  <a16:creationId xmlns:a16="http://schemas.microsoft.com/office/drawing/2014/main" id="{B5CC43DA-949A-5963-1967-0B75970CB21D}"/>
                </a:ext>
              </a:extLst>
            </p:cNvPr>
            <p:cNvCxnSpPr>
              <a:cxnSpLocks/>
            </p:cNvCxnSpPr>
            <p:nvPr/>
          </p:nvCxnSpPr>
          <p:spPr>
            <a:xfrm>
              <a:off x="3192780" y="2330900"/>
              <a:ext cx="563880" cy="64444"/>
            </a:xfrm>
            <a:prstGeom prst="line">
              <a:avLst/>
            </a:prstGeom>
            <a:ln w="28575">
              <a:solidFill>
                <a:srgbClr val="FFBE3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直線接點 44">
              <a:extLst>
                <a:ext uri="{FF2B5EF4-FFF2-40B4-BE49-F238E27FC236}">
                  <a16:creationId xmlns:a16="http://schemas.microsoft.com/office/drawing/2014/main" id="{522ECEEF-3A8B-DED8-6097-09E2A0FDCC3B}"/>
                </a:ext>
              </a:extLst>
            </p:cNvPr>
            <p:cNvCxnSpPr>
              <a:cxnSpLocks/>
            </p:cNvCxnSpPr>
            <p:nvPr/>
          </p:nvCxnSpPr>
          <p:spPr>
            <a:xfrm>
              <a:off x="3474720" y="2363122"/>
              <a:ext cx="0" cy="426244"/>
            </a:xfrm>
            <a:prstGeom prst="line">
              <a:avLst/>
            </a:prstGeom>
            <a:ln w="28575">
              <a:solidFill>
                <a:srgbClr val="FFBE3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6" name="群組 45">
            <a:extLst>
              <a:ext uri="{FF2B5EF4-FFF2-40B4-BE49-F238E27FC236}">
                <a16:creationId xmlns:a16="http://schemas.microsoft.com/office/drawing/2014/main" id="{4B3FD234-7A94-2F1F-1991-1020E3294E2B}"/>
              </a:ext>
            </a:extLst>
          </p:cNvPr>
          <p:cNvGrpSpPr/>
          <p:nvPr/>
        </p:nvGrpSpPr>
        <p:grpSpPr>
          <a:xfrm>
            <a:off x="1451610" y="2523749"/>
            <a:ext cx="563880" cy="458466"/>
            <a:chOff x="3192780" y="2330900"/>
            <a:chExt cx="563880" cy="458466"/>
          </a:xfrm>
        </p:grpSpPr>
        <p:cxnSp>
          <p:nvCxnSpPr>
            <p:cNvPr id="47" name="直線接點 46">
              <a:extLst>
                <a:ext uri="{FF2B5EF4-FFF2-40B4-BE49-F238E27FC236}">
                  <a16:creationId xmlns:a16="http://schemas.microsoft.com/office/drawing/2014/main" id="{98277F3E-117A-31A9-8B45-B1C494804F38}"/>
                </a:ext>
              </a:extLst>
            </p:cNvPr>
            <p:cNvCxnSpPr>
              <a:cxnSpLocks/>
            </p:cNvCxnSpPr>
            <p:nvPr/>
          </p:nvCxnSpPr>
          <p:spPr>
            <a:xfrm>
              <a:off x="3192780" y="2330900"/>
              <a:ext cx="563880" cy="64444"/>
            </a:xfrm>
            <a:prstGeom prst="line">
              <a:avLst/>
            </a:prstGeom>
            <a:ln w="28575">
              <a:solidFill>
                <a:srgbClr val="FFBE3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直線接點 47">
              <a:extLst>
                <a:ext uri="{FF2B5EF4-FFF2-40B4-BE49-F238E27FC236}">
                  <a16:creationId xmlns:a16="http://schemas.microsoft.com/office/drawing/2014/main" id="{934B781E-9AA2-9067-DA22-5576FD0136F0}"/>
                </a:ext>
              </a:extLst>
            </p:cNvPr>
            <p:cNvCxnSpPr>
              <a:cxnSpLocks/>
            </p:cNvCxnSpPr>
            <p:nvPr/>
          </p:nvCxnSpPr>
          <p:spPr>
            <a:xfrm>
              <a:off x="3474720" y="2363122"/>
              <a:ext cx="0" cy="426244"/>
            </a:xfrm>
            <a:prstGeom prst="line">
              <a:avLst/>
            </a:prstGeom>
            <a:ln w="28575">
              <a:solidFill>
                <a:srgbClr val="FFBE3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50" name="圖形 49" descr="關上的門 以實心填滿">
            <a:extLst>
              <a:ext uri="{FF2B5EF4-FFF2-40B4-BE49-F238E27FC236}">
                <a16:creationId xmlns:a16="http://schemas.microsoft.com/office/drawing/2014/main" id="{9B9CDD66-3378-434B-FBDD-303D6AF3E96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371280" y="2243269"/>
            <a:ext cx="560960" cy="560960"/>
          </a:xfrm>
          <a:prstGeom prst="rect">
            <a:avLst/>
          </a:prstGeom>
        </p:spPr>
      </p:pic>
      <p:sp>
        <p:nvSpPr>
          <p:cNvPr id="51" name="橢圓 50">
            <a:extLst>
              <a:ext uri="{FF2B5EF4-FFF2-40B4-BE49-F238E27FC236}">
                <a16:creationId xmlns:a16="http://schemas.microsoft.com/office/drawing/2014/main" id="{AA5703F0-2508-4D9B-82E1-8A7FA952DB9D}"/>
              </a:ext>
            </a:extLst>
          </p:cNvPr>
          <p:cNvSpPr/>
          <p:nvPr/>
        </p:nvSpPr>
        <p:spPr>
          <a:xfrm>
            <a:off x="876300" y="4485293"/>
            <a:ext cx="3299460" cy="186309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52" name="文字方塊 51">
            <a:extLst>
              <a:ext uri="{FF2B5EF4-FFF2-40B4-BE49-F238E27FC236}">
                <a16:creationId xmlns:a16="http://schemas.microsoft.com/office/drawing/2014/main" id="{50EE90A9-B308-1DE7-A3DF-3356BB220B32}"/>
              </a:ext>
            </a:extLst>
          </p:cNvPr>
          <p:cNvSpPr txBox="1"/>
          <p:nvPr/>
        </p:nvSpPr>
        <p:spPr>
          <a:xfrm>
            <a:off x="1322070" y="5169188"/>
            <a:ext cx="411480" cy="3657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dirty="0">
                <a:solidFill>
                  <a:schemeClr val="bg1"/>
                </a:solidFill>
              </a:rPr>
              <a:t>A</a:t>
            </a:r>
            <a:endParaRPr kumimoji="1" lang="zh-TW" altLang="en-US" dirty="0">
              <a:solidFill>
                <a:schemeClr val="bg1"/>
              </a:solidFill>
            </a:endParaRPr>
          </a:p>
        </p:txBody>
      </p:sp>
      <p:sp>
        <p:nvSpPr>
          <p:cNvPr id="53" name="文字方塊 52">
            <a:extLst>
              <a:ext uri="{FF2B5EF4-FFF2-40B4-BE49-F238E27FC236}">
                <a16:creationId xmlns:a16="http://schemas.microsoft.com/office/drawing/2014/main" id="{C7689753-FEDB-A6A5-0354-48BD74354D3E}"/>
              </a:ext>
            </a:extLst>
          </p:cNvPr>
          <p:cNvSpPr txBox="1"/>
          <p:nvPr/>
        </p:nvSpPr>
        <p:spPr>
          <a:xfrm>
            <a:off x="1714500" y="5781245"/>
            <a:ext cx="4114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dirty="0">
                <a:solidFill>
                  <a:schemeClr val="bg1"/>
                </a:solidFill>
              </a:rPr>
              <a:t>B</a:t>
            </a:r>
            <a:endParaRPr kumimoji="1" lang="zh-TW" altLang="en-US" dirty="0">
              <a:solidFill>
                <a:schemeClr val="bg1"/>
              </a:solidFill>
            </a:endParaRPr>
          </a:p>
        </p:txBody>
      </p:sp>
      <p:grpSp>
        <p:nvGrpSpPr>
          <p:cNvPr id="58" name="群組 57">
            <a:extLst>
              <a:ext uri="{FF2B5EF4-FFF2-40B4-BE49-F238E27FC236}">
                <a16:creationId xmlns:a16="http://schemas.microsoft.com/office/drawing/2014/main" id="{B9D527F0-F63B-9D86-3A61-0B975A4A8E6E}"/>
              </a:ext>
            </a:extLst>
          </p:cNvPr>
          <p:cNvGrpSpPr/>
          <p:nvPr/>
        </p:nvGrpSpPr>
        <p:grpSpPr>
          <a:xfrm>
            <a:off x="1914525" y="5653973"/>
            <a:ext cx="563880" cy="458466"/>
            <a:chOff x="3192780" y="2330900"/>
            <a:chExt cx="563880" cy="458466"/>
          </a:xfrm>
        </p:grpSpPr>
        <p:cxnSp>
          <p:nvCxnSpPr>
            <p:cNvPr id="59" name="直線接點 58">
              <a:extLst>
                <a:ext uri="{FF2B5EF4-FFF2-40B4-BE49-F238E27FC236}">
                  <a16:creationId xmlns:a16="http://schemas.microsoft.com/office/drawing/2014/main" id="{03FEF4E6-492F-0E97-06E9-8A4C0C77421A}"/>
                </a:ext>
              </a:extLst>
            </p:cNvPr>
            <p:cNvCxnSpPr>
              <a:cxnSpLocks/>
            </p:cNvCxnSpPr>
            <p:nvPr/>
          </p:nvCxnSpPr>
          <p:spPr>
            <a:xfrm>
              <a:off x="3192780" y="2330900"/>
              <a:ext cx="563880" cy="64444"/>
            </a:xfrm>
            <a:prstGeom prst="line">
              <a:avLst/>
            </a:prstGeom>
            <a:ln w="28575">
              <a:solidFill>
                <a:srgbClr val="FFBE3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直線接點 59">
              <a:extLst>
                <a:ext uri="{FF2B5EF4-FFF2-40B4-BE49-F238E27FC236}">
                  <a16:creationId xmlns:a16="http://schemas.microsoft.com/office/drawing/2014/main" id="{2D1A9A2C-AB7C-F74D-8C0A-D2F4755932CD}"/>
                </a:ext>
              </a:extLst>
            </p:cNvPr>
            <p:cNvCxnSpPr>
              <a:cxnSpLocks/>
            </p:cNvCxnSpPr>
            <p:nvPr/>
          </p:nvCxnSpPr>
          <p:spPr>
            <a:xfrm>
              <a:off x="3474720" y="2363122"/>
              <a:ext cx="0" cy="426244"/>
            </a:xfrm>
            <a:prstGeom prst="line">
              <a:avLst/>
            </a:prstGeom>
            <a:ln w="28575">
              <a:solidFill>
                <a:srgbClr val="FFBE3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1" name="群組 60">
            <a:extLst>
              <a:ext uri="{FF2B5EF4-FFF2-40B4-BE49-F238E27FC236}">
                <a16:creationId xmlns:a16="http://schemas.microsoft.com/office/drawing/2014/main" id="{B0F3F1FD-04E5-03A1-2CED-741770609A92}"/>
              </a:ext>
            </a:extLst>
          </p:cNvPr>
          <p:cNvGrpSpPr/>
          <p:nvPr/>
        </p:nvGrpSpPr>
        <p:grpSpPr>
          <a:xfrm>
            <a:off x="1451610" y="5062132"/>
            <a:ext cx="563880" cy="458466"/>
            <a:chOff x="3192780" y="2330900"/>
            <a:chExt cx="563880" cy="458466"/>
          </a:xfrm>
        </p:grpSpPr>
        <p:cxnSp>
          <p:nvCxnSpPr>
            <p:cNvPr id="62" name="直線接點 61">
              <a:extLst>
                <a:ext uri="{FF2B5EF4-FFF2-40B4-BE49-F238E27FC236}">
                  <a16:creationId xmlns:a16="http://schemas.microsoft.com/office/drawing/2014/main" id="{A2A7F8C5-A5BC-ECDD-4151-5AEA767DC081}"/>
                </a:ext>
              </a:extLst>
            </p:cNvPr>
            <p:cNvCxnSpPr>
              <a:cxnSpLocks/>
            </p:cNvCxnSpPr>
            <p:nvPr/>
          </p:nvCxnSpPr>
          <p:spPr>
            <a:xfrm>
              <a:off x="3192780" y="2330900"/>
              <a:ext cx="563880" cy="64444"/>
            </a:xfrm>
            <a:prstGeom prst="line">
              <a:avLst/>
            </a:prstGeom>
            <a:ln w="28575">
              <a:solidFill>
                <a:srgbClr val="FFBE3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直線接點 62">
              <a:extLst>
                <a:ext uri="{FF2B5EF4-FFF2-40B4-BE49-F238E27FC236}">
                  <a16:creationId xmlns:a16="http://schemas.microsoft.com/office/drawing/2014/main" id="{5BDE573F-8749-3952-0138-0F55724005EC}"/>
                </a:ext>
              </a:extLst>
            </p:cNvPr>
            <p:cNvCxnSpPr>
              <a:cxnSpLocks/>
            </p:cNvCxnSpPr>
            <p:nvPr/>
          </p:nvCxnSpPr>
          <p:spPr>
            <a:xfrm>
              <a:off x="3474720" y="2363122"/>
              <a:ext cx="0" cy="426244"/>
            </a:xfrm>
            <a:prstGeom prst="line">
              <a:avLst/>
            </a:prstGeom>
            <a:ln w="28575">
              <a:solidFill>
                <a:srgbClr val="FFBE3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1024" name="圖形 1023" descr="關上的門 以實心填滿">
            <a:extLst>
              <a:ext uri="{FF2B5EF4-FFF2-40B4-BE49-F238E27FC236}">
                <a16:creationId xmlns:a16="http://schemas.microsoft.com/office/drawing/2014/main" id="{049267F0-385C-F770-4A38-C5EDD281526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371280" y="4781652"/>
            <a:ext cx="560960" cy="5609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93863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22" grpId="0"/>
      <p:bldP spid="27" grpId="0" animBg="1"/>
      <p:bldP spid="29" grpId="0" animBg="1"/>
      <p:bldP spid="31" grpId="0"/>
      <p:bldP spid="32" grpId="0"/>
      <p:bldP spid="34" grpId="0"/>
      <p:bldP spid="51" grpId="0" animBg="1"/>
      <p:bldP spid="52" grpId="0"/>
      <p:bldP spid="53" grpId="0"/>
    </p:bld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95216E0-0CF9-A7C5-AD66-52E381D32A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" altLang="zh-TW" dirty="0"/>
              <a:t>Top-p Sampling example</a:t>
            </a:r>
            <a:endParaRPr kumimoji="1"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407FA4B4-9F19-ADBB-13CD-580902154A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55</a:t>
            </a:fld>
            <a:endParaRPr lang="en-US" dirty="0"/>
          </a:p>
        </p:txBody>
      </p:sp>
      <p:graphicFrame>
        <p:nvGraphicFramePr>
          <p:cNvPr id="5" name="表格 6">
            <a:extLst>
              <a:ext uri="{FF2B5EF4-FFF2-40B4-BE49-F238E27FC236}">
                <a16:creationId xmlns:a16="http://schemas.microsoft.com/office/drawing/2014/main" id="{3969D554-220C-0034-E39D-5C7488E709BD}"/>
              </a:ext>
            </a:extLst>
          </p:cNvPr>
          <p:cNvGraphicFramePr>
            <a:graphicFrameLocks noGrp="1"/>
          </p:cNvGraphicFramePr>
          <p:nvPr/>
        </p:nvGraphicFramePr>
        <p:xfrm>
          <a:off x="759382" y="2406812"/>
          <a:ext cx="348268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41340">
                  <a:extLst>
                    <a:ext uri="{9D8B030D-6E8A-4147-A177-3AD203B41FA5}">
                      <a16:colId xmlns:a16="http://schemas.microsoft.com/office/drawing/2014/main" val="3107275244"/>
                    </a:ext>
                  </a:extLst>
                </a:gridCol>
                <a:gridCol w="1741340">
                  <a:extLst>
                    <a:ext uri="{9D8B030D-6E8A-4147-A177-3AD203B41FA5}">
                      <a16:colId xmlns:a16="http://schemas.microsoft.com/office/drawing/2014/main" val="3943062138"/>
                    </a:ext>
                  </a:extLst>
                </a:gridCol>
              </a:tblGrid>
              <a:tr h="338965">
                <a:tc>
                  <a:txBody>
                    <a:bodyPr/>
                    <a:lstStyle/>
                    <a:p>
                      <a:r>
                        <a:rPr lang="en-US" altLang="zh-TW" dirty="0"/>
                        <a:t>Token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Probability (p)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40017145"/>
                  </a:ext>
                </a:extLst>
              </a:tr>
              <a:tr h="338965">
                <a:tc>
                  <a:txBody>
                    <a:bodyPr/>
                    <a:lstStyle/>
                    <a:p>
                      <a:r>
                        <a:rPr lang="en-US" altLang="zh-TW" dirty="0"/>
                        <a:t>cat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0.5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06471651"/>
                  </a:ext>
                </a:extLst>
              </a:tr>
              <a:tr h="338965">
                <a:tc>
                  <a:txBody>
                    <a:bodyPr/>
                    <a:lstStyle/>
                    <a:p>
                      <a:r>
                        <a:rPr lang="en-US" altLang="zh-TW" dirty="0"/>
                        <a:t>dog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0.3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49465654"/>
                  </a:ext>
                </a:extLst>
              </a:tr>
              <a:tr h="338965">
                <a:tc>
                  <a:txBody>
                    <a:bodyPr/>
                    <a:lstStyle/>
                    <a:p>
                      <a:r>
                        <a:rPr lang="en-US" altLang="zh-TW" dirty="0"/>
                        <a:t>car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0.15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87512913"/>
                  </a:ext>
                </a:extLst>
              </a:tr>
              <a:tr h="338965">
                <a:tc>
                  <a:txBody>
                    <a:bodyPr/>
                    <a:lstStyle/>
                    <a:p>
                      <a:r>
                        <a:rPr lang="en-US" altLang="zh-TW" dirty="0"/>
                        <a:t>book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0.05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7149416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6" name="文字方塊 5">
                <a:extLst>
                  <a:ext uri="{FF2B5EF4-FFF2-40B4-BE49-F238E27FC236}">
                    <a16:creationId xmlns:a16="http://schemas.microsoft.com/office/drawing/2014/main" id="{C704C636-4D8F-6CCC-F3E3-CC2D09557546}"/>
                  </a:ext>
                </a:extLst>
              </p:cNvPr>
              <p:cNvSpPr txBox="1"/>
              <p:nvPr/>
            </p:nvSpPr>
            <p:spPr>
              <a:xfrm>
                <a:off x="4939645" y="2875726"/>
                <a:ext cx="5099902" cy="7207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kumimoji="1" lang="zh-TW" altLang="en-US" sz="2000" dirty="0">
                    <a:ea typeface="Microsoft JhengHei" panose="020B0604030504040204" pitchFamily="34" charset="-120"/>
                  </a:rPr>
                  <a:t>設 </a:t>
                </a:r>
                <a:r>
                  <a:rPr kumimoji="1" lang="en-US" altLang="zh-TW" sz="2000" dirty="0">
                    <a:ea typeface="Microsoft JhengHei" panose="020B0604030504040204" pitchFamily="34" charset="-120"/>
                  </a:rPr>
                  <a:t>p</a:t>
                </a:r>
                <a:r>
                  <a:rPr kumimoji="1" lang="zh-TW" altLang="en-US" sz="2000" dirty="0">
                    <a:ea typeface="Microsoft JhengHei" panose="020B0604030504040204" pitchFamily="34" charset="-120"/>
                  </a:rPr>
                  <a:t> 為</a:t>
                </a:r>
                <a:r>
                  <a:rPr kumimoji="1" lang="en-US" altLang="zh-TW" sz="2000" dirty="0">
                    <a:ea typeface="Microsoft JhengHei" panose="020B0604030504040204" pitchFamily="34" charset="-120"/>
                  </a:rPr>
                  <a:t> 0.8</a:t>
                </a:r>
              </a:p>
              <a:p>
                <a:pPr marL="800100" lvl="1" indent="-342900">
                  <a:buFont typeface="Arial" panose="020B0604020202020204" pitchFamily="34" charset="0"/>
                  <a:buChar char="•"/>
                </a:pPr>
                <a:r>
                  <a:rPr kumimoji="1" lang="zh-TW" altLang="en-US" sz="2000" dirty="0">
                    <a:ea typeface="Microsoft JhengHei" panose="020B0604030504040204" pitchFamily="34" charset="-120"/>
                  </a:rPr>
                  <a:t>那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kumimoji="1" lang="en-US" altLang="zh-TW" sz="200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kumimoji="1" lang="en-US" altLang="zh-TW" sz="20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p>
                        <m:r>
                          <a:rPr kumimoji="1" lang="en-US" altLang="zh-TW" sz="20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kumimoji="1" lang="en-US" altLang="zh-TW" sz="20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a:rPr kumimoji="1" lang="en-US" altLang="zh-TW" sz="20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sup>
                    </m:sSup>
                  </m:oMath>
                </a14:m>
                <a:r>
                  <a:rPr kumimoji="1" lang="en-US" altLang="zh-TW" sz="2000" dirty="0">
                    <a:ea typeface="Microsoft JhengHei" panose="020B0604030504040204" pitchFamily="34" charset="-120"/>
                  </a:rPr>
                  <a:t> </a:t>
                </a:r>
                <a:r>
                  <a:rPr kumimoji="1" lang="zh-TW" altLang="en-US" sz="2000" dirty="0">
                    <a:ea typeface="Microsoft JhengHei" panose="020B0604030504040204" pitchFamily="34" charset="-120"/>
                  </a:rPr>
                  <a:t>中只會有 </a:t>
                </a:r>
                <a:r>
                  <a:rPr kumimoji="1" lang="en-US" altLang="zh-TW" sz="2000" dirty="0">
                    <a:ea typeface="Microsoft JhengHei" panose="020B0604030504040204" pitchFamily="34" charset="-120"/>
                  </a:rPr>
                  <a:t>cat </a:t>
                </a:r>
                <a:r>
                  <a:rPr kumimoji="1" lang="zh-TW" altLang="en-US" sz="2000" dirty="0">
                    <a:ea typeface="Microsoft JhengHei" panose="020B0604030504040204" pitchFamily="34" charset="-120"/>
                  </a:rPr>
                  <a:t>和 </a:t>
                </a:r>
                <a:r>
                  <a:rPr kumimoji="1" lang="en-US" altLang="zh-TW" sz="2000" dirty="0">
                    <a:ea typeface="Microsoft JhengHei" panose="020B0604030504040204" pitchFamily="34" charset="-120"/>
                  </a:rPr>
                  <a:t>dog</a:t>
                </a:r>
                <a:r>
                  <a:rPr kumimoji="1" lang="zh-TW" altLang="en-US" sz="2000" dirty="0">
                    <a:ea typeface="Microsoft JhengHei" panose="020B0604030504040204" pitchFamily="34" charset="-120"/>
                  </a:rPr>
                  <a:t> 兩個詞</a:t>
                </a:r>
              </a:p>
            </p:txBody>
          </p:sp>
        </mc:Choice>
        <mc:Fallback xmlns="">
          <p:sp>
            <p:nvSpPr>
              <p:cNvPr id="6" name="文字方塊 5">
                <a:extLst>
                  <a:ext uri="{FF2B5EF4-FFF2-40B4-BE49-F238E27FC236}">
                    <a16:creationId xmlns:a16="http://schemas.microsoft.com/office/drawing/2014/main" id="{C704C636-4D8F-6CCC-F3E3-CC2D0955754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39645" y="2875726"/>
                <a:ext cx="5099902" cy="720710"/>
              </a:xfrm>
              <a:prstGeom prst="rect">
                <a:avLst/>
              </a:prstGeom>
              <a:blipFill>
                <a:blip r:embed="rId2"/>
                <a:stretch>
                  <a:fillRect l="-993" t="-5172" b="-13793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85981715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F9F9FED-F36E-501B-F83A-B17BF46056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Top-k Sampling</a:t>
            </a:r>
            <a:endParaRPr kumimoji="1"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FA090CB-7F52-C9F5-4941-68BEC361A8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56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文字方塊 4">
                <a:extLst>
                  <a:ext uri="{FF2B5EF4-FFF2-40B4-BE49-F238E27FC236}">
                    <a16:creationId xmlns:a16="http://schemas.microsoft.com/office/drawing/2014/main" id="{C079F991-495E-FE42-0B09-D3DFE93BA962}"/>
                  </a:ext>
                </a:extLst>
              </p:cNvPr>
              <p:cNvSpPr txBox="1"/>
              <p:nvPr/>
            </p:nvSpPr>
            <p:spPr>
              <a:xfrm>
                <a:off x="653144" y="1638639"/>
                <a:ext cx="10357364" cy="378866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342900" indent="-342900" algn="just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kumimoji="1" lang="en-US" altLang="zh-TW" sz="2000" dirty="0">
                    <a:ea typeface="Microsoft JhengHei" panose="020B0604030504040204" pitchFamily="34" charset="-120"/>
                  </a:rPr>
                  <a:t>Core idea: truncate the vocabulary with </a:t>
                </a:r>
                <a:r>
                  <a:rPr kumimoji="1" lang="en-US" altLang="zh-TW" sz="2000" dirty="0">
                    <a:solidFill>
                      <a:srgbClr val="0070C0"/>
                    </a:solidFill>
                    <a:ea typeface="Microsoft JhengHei" panose="020B0604030504040204" pitchFamily="34" charset="-120"/>
                  </a:rPr>
                  <a:t>the most probable words</a:t>
                </a:r>
              </a:p>
              <a:p>
                <a:pPr marL="342900" indent="-342900" algn="just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kumimoji="1" lang="en-US" altLang="zh-TW" sz="2000" dirty="0">
                    <a:ea typeface="Microsoft JhengHei" panose="020B0604030504040204" pitchFamily="34" charset="-120"/>
                  </a:rPr>
                  <a:t>Steps:</a:t>
                </a:r>
              </a:p>
              <a:p>
                <a:pPr marL="914400" lvl="1" indent="-457200" algn="just">
                  <a:lnSpc>
                    <a:spcPct val="150000"/>
                  </a:lnSpc>
                  <a:buFont typeface="+mj-lt"/>
                  <a:buAutoNum type="arabicPeriod"/>
                </a:pPr>
                <a:r>
                  <a:rPr kumimoji="1" lang="en-US" altLang="zh-TW" sz="2000" dirty="0">
                    <a:solidFill>
                      <a:schemeClr val="tx1"/>
                    </a:solidFill>
                    <a:ea typeface="Microsoft JhengHei" panose="020B0604030504040204" pitchFamily="34" charset="-120"/>
                  </a:rPr>
                  <a:t>Define a value </a:t>
                </a:r>
                <a14:m>
                  <m:oMath xmlns:m="http://schemas.openxmlformats.org/officeDocument/2006/math">
                    <m:r>
                      <a:rPr kumimoji="1" lang="en-US" altLang="zh-TW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kumimoji="1" lang="en-US" altLang="zh-TW" sz="2000" dirty="0">
                    <a:solidFill>
                      <a:schemeClr val="tx1"/>
                    </a:solidFill>
                    <a:ea typeface="Microsoft JhengHei" panose="020B0604030504040204" pitchFamily="34" charset="-120"/>
                  </a:rPr>
                  <a:t> as the size of truncated vocabulary.</a:t>
                </a:r>
              </a:p>
              <a:p>
                <a:pPr marL="914400" lvl="1" indent="-457200" algn="just">
                  <a:lnSpc>
                    <a:spcPct val="150000"/>
                  </a:lnSpc>
                  <a:buFont typeface="+mj-lt"/>
                  <a:buAutoNum type="arabicPeriod"/>
                </a:pPr>
                <a:r>
                  <a:rPr kumimoji="1" lang="en-US" altLang="zh-TW" sz="2000" dirty="0">
                    <a:solidFill>
                      <a:schemeClr val="tx1"/>
                    </a:solidFill>
                    <a:ea typeface="Microsoft JhengHei" panose="020B0604030504040204" pitchFamily="34" charset="-120"/>
                  </a:rPr>
                  <a:t>Leave the </a:t>
                </a:r>
                <a14:m>
                  <m:oMath xmlns:m="http://schemas.openxmlformats.org/officeDocument/2006/math">
                    <m:r>
                      <a:rPr kumimoji="1" lang="en-US" altLang="zh-TW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kumimoji="1" lang="en-US" altLang="zh-TW" sz="2000" dirty="0">
                    <a:solidFill>
                      <a:schemeClr val="tx1"/>
                    </a:solidFill>
                    <a:ea typeface="Microsoft JhengHei" panose="020B0604030504040204" pitchFamily="34" charset="-120"/>
                  </a:rPr>
                  <a:t> words with the highest probabilities. Now you get a new truncated vocabulary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kumimoji="1" lang="en-US" altLang="zh-TW" sz="20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kumimoji="1" lang="en-US" altLang="zh-TW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p>
                        <m:r>
                          <a:rPr kumimoji="1" lang="en-US" altLang="zh-TW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kumimoji="1" lang="en-US" altLang="zh-TW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kumimoji="1" lang="en-US" altLang="zh-TW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sup>
                    </m:sSup>
                  </m:oMath>
                </a14:m>
                <a:r>
                  <a:rPr kumimoji="1" lang="en-US" altLang="zh-TW" sz="2000" dirty="0">
                    <a:solidFill>
                      <a:schemeClr val="tx1"/>
                    </a:solidFill>
                    <a:ea typeface="Microsoft JhengHei" panose="020B0604030504040204" pitchFamily="34" charset="-120"/>
                  </a:rPr>
                  <a:t>. (</a:t>
                </a:r>
                <a:r>
                  <a:rPr kumimoji="1" lang="zh-TW" altLang="en-US" sz="2000" dirty="0">
                    <a:solidFill>
                      <a:schemeClr val="tx1"/>
                    </a:solidFill>
                    <a:ea typeface="Microsoft JhengHei" panose="020B0604030504040204" pitchFamily="34" charset="-120"/>
                  </a:rPr>
                  <a:t>假設</a:t>
                </a:r>
                <a:r>
                  <a:rPr kumimoji="1" lang="en-US" altLang="zh-TW" sz="2000" dirty="0">
                    <a:solidFill>
                      <a:schemeClr val="tx1"/>
                    </a:solidFill>
                    <a:ea typeface="Microsoft JhengHei" panose="020B0604030504040204" pitchFamily="34" charset="-120"/>
                  </a:rPr>
                  <a:t>k=40</a:t>
                </a:r>
                <a:r>
                  <a:rPr kumimoji="1" lang="zh-TW" altLang="en-US" sz="2000" dirty="0">
                    <a:solidFill>
                      <a:schemeClr val="tx1"/>
                    </a:solidFill>
                    <a:ea typeface="Microsoft JhengHei" panose="020B0604030504040204" pitchFamily="34" charset="-120"/>
                  </a:rPr>
                  <a:t>，那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kumimoji="1" lang="en-US" altLang="zh-TW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kumimoji="1" lang="en-US" altLang="zh-TW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p>
                        <m:r>
                          <a:rPr kumimoji="1" lang="en-US" altLang="zh-TW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kumimoji="1" lang="en-US" altLang="zh-TW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kumimoji="1" lang="en-US" altLang="zh-TW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sup>
                    </m:sSup>
                  </m:oMath>
                </a14:m>
                <a:r>
                  <a:rPr kumimoji="1" lang="zh-TW" altLang="en-US" sz="2000" dirty="0">
                    <a:solidFill>
                      <a:schemeClr val="tx1"/>
                    </a:solidFill>
                    <a:ea typeface="Microsoft JhengHei" panose="020B0604030504040204" pitchFamily="34" charset="-120"/>
                  </a:rPr>
                  <a:t>就只剩</a:t>
                </a:r>
                <a:r>
                  <a:rPr kumimoji="1" lang="en-US" altLang="zh-TW" sz="2000" dirty="0">
                    <a:solidFill>
                      <a:schemeClr val="tx1"/>
                    </a:solidFill>
                    <a:ea typeface="Microsoft JhengHei" panose="020B0604030504040204" pitchFamily="34" charset="-120"/>
                  </a:rPr>
                  <a:t>40</a:t>
                </a:r>
                <a:r>
                  <a:rPr kumimoji="1" lang="zh-TW" altLang="en-US" sz="2000" dirty="0">
                    <a:solidFill>
                      <a:schemeClr val="tx1"/>
                    </a:solidFill>
                    <a:ea typeface="Microsoft JhengHei" panose="020B0604030504040204" pitchFamily="34" charset="-120"/>
                  </a:rPr>
                  <a:t>個</a:t>
                </a:r>
                <a:r>
                  <a:rPr kumimoji="1" lang="en-US" altLang="zh-TW" sz="2000" dirty="0">
                    <a:solidFill>
                      <a:schemeClr val="tx1"/>
                    </a:solidFill>
                    <a:ea typeface="Microsoft JhengHei" panose="020B0604030504040204" pitchFamily="34" charset="-120"/>
                  </a:rPr>
                  <a:t> tokens)</a:t>
                </a:r>
              </a:p>
              <a:p>
                <a:pPr marL="914400" lvl="1" indent="-457200" algn="just">
                  <a:lnSpc>
                    <a:spcPct val="150000"/>
                  </a:lnSpc>
                  <a:buFont typeface="+mj-lt"/>
                  <a:buAutoNum type="arabicPeriod"/>
                </a:pPr>
                <a:r>
                  <a:rPr kumimoji="1" lang="en-US" altLang="zh-TW" sz="2000" dirty="0">
                    <a:solidFill>
                      <a:schemeClr val="tx1"/>
                    </a:solidFill>
                    <a:ea typeface="Microsoft JhengHei" panose="020B0604030504040204" pitchFamily="34" charset="-120"/>
                  </a:rPr>
                  <a:t>Re-build the probability distribution based on the following normalization:</a:t>
                </a:r>
              </a:p>
              <a:p>
                <a:pPr lvl="2" algn="just">
                  <a:lnSpc>
                    <a:spcPct val="150000"/>
                  </a:lnSpc>
                </a:pPr>
                <a:r>
                  <a:rPr kumimoji="1" lang="en-US" altLang="zh-TW" sz="2000" dirty="0">
                    <a:solidFill>
                      <a:srgbClr val="FF0000"/>
                    </a:solidFill>
                    <a:ea typeface="Microsoft JhengHei" panose="020B0604030504040204" pitchFamily="34" charset="-120"/>
                  </a:rPr>
                  <a:t>3-1. </a:t>
                </a:r>
                <a:r>
                  <a:rPr kumimoji="1" lang="zh-TW" altLang="en-US" sz="2000" dirty="0">
                    <a:solidFill>
                      <a:srgbClr val="FF0000"/>
                    </a:solidFill>
                    <a:ea typeface="Microsoft JhengHei" panose="020B0604030504040204" pitchFamily="34" charset="-120"/>
                  </a:rPr>
                  <a:t>把</a:t>
                </a:r>
                <a:r>
                  <a:rPr kumimoji="1" lang="en-US" altLang="zh-TW" sz="2000" dirty="0">
                    <a:solidFill>
                      <a:srgbClr val="FF0000"/>
                    </a:solidFill>
                    <a:ea typeface="Microsoft JhengHei" panose="020B0604030504040204" pitchFamily="34" charset="-120"/>
                  </a:rPr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kumimoji="1" lang="en-US" altLang="zh-TW" sz="200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kumimoji="1" lang="en-US" altLang="zh-TW" sz="20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p>
                        <m:r>
                          <a:rPr kumimoji="1" lang="en-US" altLang="zh-TW" sz="20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kumimoji="1" lang="en-US" altLang="zh-TW" sz="20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kumimoji="1" lang="en-US" altLang="zh-TW" sz="20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sup>
                    </m:sSup>
                  </m:oMath>
                </a14:m>
                <a:r>
                  <a:rPr kumimoji="1" lang="en-US" altLang="zh-TW" sz="2000" dirty="0">
                    <a:solidFill>
                      <a:srgbClr val="FF0000"/>
                    </a:solidFill>
                    <a:ea typeface="Microsoft JhengHei" panose="020B0604030504040204" pitchFamily="34" charset="-120"/>
                  </a:rPr>
                  <a:t> </a:t>
                </a:r>
                <a:r>
                  <a:rPr kumimoji="1" lang="zh-TW" altLang="en-US" sz="2000" dirty="0">
                    <a:solidFill>
                      <a:srgbClr val="FF0000"/>
                    </a:solidFill>
                    <a:ea typeface="Microsoft JhengHei" panose="020B0604030504040204" pitchFamily="34" charset="-120"/>
                  </a:rPr>
                  <a:t>的機率值加總</a:t>
                </a:r>
                <a:endParaRPr kumimoji="1" lang="en-US" altLang="zh-TW" sz="2000" dirty="0">
                  <a:solidFill>
                    <a:srgbClr val="FF0000"/>
                  </a:solidFill>
                  <a:ea typeface="Microsoft JhengHei" panose="020B0604030504040204" pitchFamily="34" charset="-120"/>
                </a:endParaRPr>
              </a:p>
              <a:p>
                <a:pPr lvl="2" algn="just">
                  <a:lnSpc>
                    <a:spcPct val="150000"/>
                  </a:lnSpc>
                </a:pPr>
                <a:r>
                  <a:rPr kumimoji="1" lang="en-US" altLang="zh-TW" sz="2000" dirty="0">
                    <a:solidFill>
                      <a:srgbClr val="FF0000"/>
                    </a:solidFill>
                    <a:ea typeface="Microsoft JhengHei" panose="020B0604030504040204" pitchFamily="34" charset="-120"/>
                  </a:rPr>
                  <a:t>3-2.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kumimoji="1" lang="en-US" altLang="zh-TW" sz="200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kumimoji="1" lang="en-US" altLang="zh-TW" sz="20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p>
                        <m:r>
                          <a:rPr kumimoji="1" lang="en-US" altLang="zh-TW" sz="20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kumimoji="1" lang="en-US" altLang="zh-TW" sz="20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kumimoji="1" lang="en-US" altLang="zh-TW" sz="20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sup>
                    </m:sSup>
                  </m:oMath>
                </a14:m>
                <a:r>
                  <a:rPr kumimoji="1" lang="zh-TW" altLang="en-US" sz="2000" dirty="0">
                    <a:solidFill>
                      <a:srgbClr val="FF0000"/>
                    </a:solidFill>
                    <a:ea typeface="Microsoft JhengHei" panose="020B0604030504040204" pitchFamily="34" charset="-120"/>
                  </a:rPr>
                  <a:t> 內的每個機率值</a:t>
                </a:r>
                <a:r>
                  <a:rPr kumimoji="1" lang="en-US" altLang="zh-TW" sz="2000" dirty="0">
                    <a:solidFill>
                      <a:srgbClr val="FF0000"/>
                    </a:solidFill>
                    <a:ea typeface="Microsoft JhengHei" panose="020B0604030504040204" pitchFamily="34" charset="-120"/>
                  </a:rPr>
                  <a:t>/</a:t>
                </a:r>
                <a:r>
                  <a:rPr kumimoji="1" lang="zh-TW" altLang="en-US" sz="2000" dirty="0">
                    <a:solidFill>
                      <a:srgbClr val="FF0000"/>
                    </a:solidFill>
                    <a:ea typeface="Microsoft JhengHei" panose="020B0604030504040204" pitchFamily="34" charset="-120"/>
                  </a:rPr>
                  <a:t>加總</a:t>
                </a:r>
                <a:endParaRPr kumimoji="1" lang="en-US" altLang="zh-TW" sz="2000" dirty="0">
                  <a:solidFill>
                    <a:srgbClr val="FF0000"/>
                  </a:solidFill>
                  <a:ea typeface="Microsoft JhengHei" panose="020B0604030504040204" pitchFamily="34" charset="-120"/>
                </a:endParaRPr>
              </a:p>
            </p:txBody>
          </p:sp>
        </mc:Choice>
        <mc:Fallback xmlns="">
          <p:sp>
            <p:nvSpPr>
              <p:cNvPr id="5" name="文字方塊 4">
                <a:extLst>
                  <a:ext uri="{FF2B5EF4-FFF2-40B4-BE49-F238E27FC236}">
                    <a16:creationId xmlns:a16="http://schemas.microsoft.com/office/drawing/2014/main" id="{C079F991-495E-FE42-0B09-D3DFE93BA96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3144" y="1638639"/>
                <a:ext cx="10357364" cy="3788666"/>
              </a:xfrm>
              <a:prstGeom prst="rect">
                <a:avLst/>
              </a:prstGeom>
              <a:blipFill>
                <a:blip r:embed="rId2"/>
                <a:stretch>
                  <a:fillRect l="-490" r="-735" b="-1672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1" name="群組 10">
            <a:extLst>
              <a:ext uri="{FF2B5EF4-FFF2-40B4-BE49-F238E27FC236}">
                <a16:creationId xmlns:a16="http://schemas.microsoft.com/office/drawing/2014/main" id="{14D8C8A5-98C9-0442-07A6-A61E9E6E21C3}"/>
              </a:ext>
            </a:extLst>
          </p:cNvPr>
          <p:cNvGrpSpPr/>
          <p:nvPr/>
        </p:nvGrpSpPr>
        <p:grpSpPr>
          <a:xfrm>
            <a:off x="5882390" y="5484218"/>
            <a:ext cx="5719060" cy="732288"/>
            <a:chOff x="4893895" y="5194759"/>
            <a:chExt cx="5719060" cy="732288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" name="文字方塊 5">
                  <a:extLst>
                    <a:ext uri="{FF2B5EF4-FFF2-40B4-BE49-F238E27FC236}">
                      <a16:creationId xmlns:a16="http://schemas.microsoft.com/office/drawing/2014/main" id="{8A26D608-1594-FEFA-01BC-40058A3120DE}"/>
                    </a:ext>
                  </a:extLst>
                </p:cNvPr>
                <p:cNvSpPr txBox="1"/>
                <p:nvPr/>
              </p:nvSpPr>
              <p:spPr>
                <a:xfrm>
                  <a:off x="4893895" y="5194759"/>
                  <a:ext cx="3450742" cy="686535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kumimoji="1" lang="en-US" altLang="zh-TW" sz="20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m:rPr>
                                <m:sty m:val="p"/>
                              </m:rPr>
                              <a:rPr kumimoji="1" lang="en-US" altLang="zh-TW" sz="2000" smtClean="0">
                                <a:latin typeface="Cambria Math" panose="02040503050406030204" pitchFamily="18" charset="0"/>
                              </a:rPr>
                              <m:t>P</m:t>
                            </m:r>
                          </m:e>
                          <m:sup>
                            <m:r>
                              <a:rPr kumimoji="1" lang="en-US" altLang="zh-TW" sz="2000" b="0" i="0" smtClean="0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  <m:d>
                          <m:dPr>
                            <m:ctrlPr>
                              <a:rPr kumimoji="1" lang="en-US" altLang="zh-TW" sz="20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m:rPr>
                                <m:sty m:val="p"/>
                              </m:rPr>
                              <a:rPr kumimoji="1" lang="en-US" altLang="zh-TW" sz="2000" b="0" i="0" smtClean="0">
                                <a:latin typeface="Cambria Math" panose="02040503050406030204" pitchFamily="18" charset="0"/>
                              </a:rPr>
                              <m:t>x</m:t>
                            </m:r>
                          </m:e>
                          <m:e>
                            <m:sSub>
                              <m:sSubPr>
                                <m:ctrlPr>
                                  <a:rPr kumimoji="1" lang="en-US" altLang="zh-TW" sz="20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kumimoji="1" lang="en-US" altLang="zh-TW" sz="2000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kumimoji="1" lang="en-US" altLang="zh-TW" sz="2000" b="0" i="1" smtClean="0">
                                    <a:latin typeface="Cambria Math" panose="02040503050406030204" pitchFamily="18" charset="0"/>
                                  </a:rPr>
                                  <m:t>1:</m:t>
                                </m:r>
                                <m:r>
                                  <a:rPr kumimoji="1" lang="en-US" altLang="zh-TW" sz="2000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kumimoji="1" lang="en-US" altLang="zh-TW" sz="2000" b="0" i="1" smtClean="0">
                                    <a:latin typeface="Cambria Math" panose="02040503050406030204" pitchFamily="18" charset="0"/>
                                  </a:rPr>
                                  <m:t>−1</m:t>
                                </m:r>
                              </m:sub>
                            </m:sSub>
                          </m:e>
                        </m:d>
                        <m:r>
                          <a:rPr kumimoji="1" lang="en-US" altLang="zh-TW" sz="2000" b="0" i="0" smtClean="0">
                            <a:latin typeface="Cambria Math" panose="02040503050406030204" pitchFamily="18" charset="0"/>
                          </a:rPr>
                          <m:t>=</m:t>
                        </m:r>
                        <m:d>
                          <m:dPr>
                            <m:begChr m:val="{"/>
                            <m:endChr m:val=""/>
                            <m:ctrlPr>
                              <a:rPr kumimoji="1" lang="en-US" altLang="zh-TW" sz="200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eqArr>
                              <m:eqArrPr>
                                <m:ctrlPr>
                                  <a:rPr kumimoji="1" lang="en-US" altLang="zh-TW" sz="2000" i="1" smtClean="0">
                                    <a:latin typeface="Cambria Math" panose="02040503050406030204" pitchFamily="18" charset="0"/>
                                  </a:rPr>
                                </m:ctrlPr>
                              </m:eqArrPr>
                              <m:e>
                                <m:r>
                                  <a:rPr kumimoji="1" lang="en-US" altLang="zh-TW" sz="2000" b="0" i="1" smtClean="0">
                                    <a:latin typeface="Cambria Math" panose="02040503050406030204" pitchFamily="18" charset="0"/>
                                  </a:rPr>
                                  <m:t>𝑃</m:t>
                                </m:r>
                                <m:r>
                                  <a:rPr kumimoji="1" lang="en-US" altLang="zh-TW" sz="2000" b="0" i="1" smtClean="0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kumimoji="1" lang="en-US" altLang="zh-TW" sz="2000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kumimoji="1" lang="en-US" altLang="zh-TW" sz="2000" b="0" i="1" smtClean="0">
                                    <a:latin typeface="Cambria Math" panose="02040503050406030204" pitchFamily="18" charset="0"/>
                                  </a:rPr>
                                  <m:t>|</m:t>
                                </m:r>
                                <m:sSub>
                                  <m:sSubPr>
                                    <m:ctrlPr>
                                      <a:rPr kumimoji="1" lang="en-US" altLang="zh-TW" sz="20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1" lang="en-US" altLang="zh-TW" sz="2000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kumimoji="1" lang="en-US" altLang="zh-TW" sz="2000" b="0" i="1" smtClean="0">
                                        <a:latin typeface="Cambria Math" panose="02040503050406030204" pitchFamily="18" charset="0"/>
                                      </a:rPr>
                                      <m:t>1:</m:t>
                                    </m:r>
                                    <m:r>
                                      <a:rPr kumimoji="1" lang="en-US" altLang="zh-TW" sz="2000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  <m:r>
                                      <a:rPr kumimoji="1" lang="en-US" altLang="zh-TW" sz="2000" b="0" i="1" smtClean="0">
                                        <a:latin typeface="Cambria Math" panose="02040503050406030204" pitchFamily="18" charset="0"/>
                                      </a:rPr>
                                      <m:t>−1</m:t>
                                    </m:r>
                                  </m:sub>
                                </m:sSub>
                                <m:r>
                                  <a:rPr kumimoji="1" lang="en-US" altLang="zh-TW" sz="2000" b="0" i="1" smtClean="0">
                                    <a:latin typeface="Cambria Math" panose="02040503050406030204" pitchFamily="18" charset="0"/>
                                  </a:rPr>
                                  <m:t>)/</m:t>
                                </m:r>
                                <m:r>
                                  <a:rPr kumimoji="1" lang="en-US" altLang="zh-TW" sz="2000" b="0" i="1" smtClean="0"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  <m:r>
                                  <a:rPr kumimoji="1" lang="en-US" altLang="zh-TW" sz="2000" b="0" i="1" smtClean="0">
                                    <a:latin typeface="Cambria Math" panose="02040503050406030204" pitchFamily="18" charset="0"/>
                                  </a:rPr>
                                  <m:t>′</m:t>
                                </m:r>
                              </m:e>
                              <m:e>
                                <m:r>
                                  <a:rPr kumimoji="1" lang="en-US" altLang="zh-TW" sz="20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eqArr>
                          </m:e>
                        </m:d>
                      </m:oMath>
                    </m:oMathPara>
                  </a14:m>
                  <a:endParaRPr kumimoji="1" lang="zh-TW" altLang="en-US" sz="2000" dirty="0"/>
                </a:p>
              </p:txBody>
            </p:sp>
          </mc:Choice>
          <mc:Fallback xmlns="">
            <p:sp>
              <p:nvSpPr>
                <p:cNvPr id="6" name="文字方塊 5">
                  <a:extLst>
                    <a:ext uri="{FF2B5EF4-FFF2-40B4-BE49-F238E27FC236}">
                      <a16:creationId xmlns:a16="http://schemas.microsoft.com/office/drawing/2014/main" id="{8A26D608-1594-FEFA-01BC-40058A3120D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893895" y="5194759"/>
                  <a:ext cx="3450742" cy="686535"/>
                </a:xfrm>
                <a:prstGeom prst="rect">
                  <a:avLst/>
                </a:prstGeom>
                <a:blipFill>
                  <a:blip r:embed="rId3"/>
                  <a:stretch>
                    <a:fillRect l="-735" t="-231481" r="-1838" b="-333333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" name="文字方塊 6">
                  <a:extLst>
                    <a:ext uri="{FF2B5EF4-FFF2-40B4-BE49-F238E27FC236}">
                      <a16:creationId xmlns:a16="http://schemas.microsoft.com/office/drawing/2014/main" id="{08E64718-DCDA-C7F3-A694-E3AA07FAD357}"/>
                    </a:ext>
                  </a:extLst>
                </p:cNvPr>
                <p:cNvSpPr txBox="1"/>
                <p:nvPr/>
              </p:nvSpPr>
              <p:spPr>
                <a:xfrm>
                  <a:off x="8398846" y="5212828"/>
                  <a:ext cx="2205990" cy="41293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kumimoji="1" lang="en-US" altLang="zh-TW" sz="2000" dirty="0"/>
                    <a:t>if </a:t>
                  </a:r>
                  <a14:m>
                    <m:oMath xmlns:m="http://schemas.openxmlformats.org/officeDocument/2006/math">
                      <m:r>
                        <a:rPr kumimoji="1" lang="en-US" altLang="zh-TW" sz="20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kumimoji="1" lang="en-US" altLang="zh-TW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∈</m:t>
                      </m:r>
                      <m:sSup>
                        <m:sSupPr>
                          <m:ctrlPr>
                            <a:rPr kumimoji="1" lang="en-US" altLang="zh-TW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kumimoji="1" lang="en-US" altLang="zh-TW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𝑉</m:t>
                          </m:r>
                        </m:e>
                        <m:sup>
                          <m:r>
                            <a:rPr kumimoji="1" lang="en-US" altLang="zh-TW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</m:t>
                          </m:r>
                          <m:r>
                            <a:rPr kumimoji="1" lang="en-US" altLang="zh-TW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𝑘</m:t>
                          </m:r>
                          <m:r>
                            <a:rPr kumimoji="1" lang="en-US" altLang="zh-TW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)</m:t>
                          </m:r>
                        </m:sup>
                      </m:sSup>
                    </m:oMath>
                  </a14:m>
                  <a:endParaRPr kumimoji="1" lang="zh-TW" altLang="en-US" sz="2000" dirty="0"/>
                </a:p>
              </p:txBody>
            </p:sp>
          </mc:Choice>
          <mc:Fallback xmlns="">
            <p:sp>
              <p:nvSpPr>
                <p:cNvPr id="7" name="文字方塊 6">
                  <a:extLst>
                    <a:ext uri="{FF2B5EF4-FFF2-40B4-BE49-F238E27FC236}">
                      <a16:creationId xmlns:a16="http://schemas.microsoft.com/office/drawing/2014/main" id="{08E64718-DCDA-C7F3-A694-E3AA07FAD35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398846" y="5212828"/>
                  <a:ext cx="2205990" cy="412934"/>
                </a:xfrm>
                <a:prstGeom prst="rect">
                  <a:avLst/>
                </a:prstGeom>
                <a:blipFill>
                  <a:blip r:embed="rId4"/>
                  <a:stretch>
                    <a:fillRect l="-3448" t="-6061" b="-27273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8" name="文字方塊 7">
              <a:extLst>
                <a:ext uri="{FF2B5EF4-FFF2-40B4-BE49-F238E27FC236}">
                  <a16:creationId xmlns:a16="http://schemas.microsoft.com/office/drawing/2014/main" id="{D27A4DCD-A76E-1DFE-C4AB-4C5DF2827CDD}"/>
                </a:ext>
              </a:extLst>
            </p:cNvPr>
            <p:cNvSpPr txBox="1"/>
            <p:nvPr/>
          </p:nvSpPr>
          <p:spPr>
            <a:xfrm>
              <a:off x="8406965" y="5526937"/>
              <a:ext cx="220599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TW" sz="2000" dirty="0"/>
                <a:t>otherwise</a:t>
              </a:r>
              <a:endParaRPr kumimoji="1" lang="zh-TW" altLang="en-US" sz="2000" dirty="0"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文字方塊 8">
                <a:extLst>
                  <a:ext uri="{FF2B5EF4-FFF2-40B4-BE49-F238E27FC236}">
                    <a16:creationId xmlns:a16="http://schemas.microsoft.com/office/drawing/2014/main" id="{21DC8FF9-69EF-7839-8AE6-F42E90325D73}"/>
                  </a:ext>
                </a:extLst>
              </p:cNvPr>
              <p:cNvSpPr txBox="1"/>
              <p:nvPr/>
            </p:nvSpPr>
            <p:spPr>
              <a:xfrm>
                <a:off x="5618225" y="4790583"/>
                <a:ext cx="3450742" cy="56906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p>
                        <m:sSupPr>
                          <m:ctrlPr>
                            <a:rPr kumimoji="1" lang="en-US" altLang="zh-TW" sz="20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kumimoji="1" lang="en-US" altLang="zh-TW" sz="2000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p>
                          <m:r>
                            <a:rPr kumimoji="1" lang="en-US" altLang="zh-TW" sz="2000" b="0" i="0" smtClean="0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r>
                        <a:rPr kumimoji="1" lang="en-US" altLang="zh-TW" sz="2000" b="0" i="0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limLoc m:val="subSup"/>
                          <m:supHide m:val="on"/>
                          <m:ctrlPr>
                            <a:rPr kumimoji="1" lang="en-US" altLang="zh-TW" sz="20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kumimoji="1" lang="en-US" altLang="zh-TW" sz="2000" i="1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kumimoji="1" lang="en-US" altLang="zh-TW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∈</m:t>
                          </m:r>
                          <m:sSup>
                            <m:sSupPr>
                              <m:ctrlPr>
                                <a:rPr kumimoji="1" lang="en-US" altLang="zh-TW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kumimoji="1" lang="en-US" altLang="zh-TW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𝑉</m:t>
                              </m:r>
                            </m:e>
                            <m:sup>
                              <m:r>
                                <a:rPr kumimoji="1" lang="en-US" altLang="zh-TW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kumimoji="1" lang="en-US" altLang="zh-TW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𝑘</m:t>
                              </m:r>
                              <m:r>
                                <a:rPr kumimoji="1" lang="en-US" altLang="zh-TW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)</m:t>
                              </m:r>
                            </m:sup>
                          </m:sSup>
                        </m:sub>
                        <m:sup/>
                        <m:e>
                          <m:r>
                            <a:rPr kumimoji="1" lang="en-US" altLang="zh-TW" sz="2000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  <m:r>
                            <a:rPr kumimoji="1" lang="en-US" altLang="zh-TW" sz="2000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kumimoji="1" lang="en-US" altLang="zh-TW" sz="20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kumimoji="1" lang="en-US" altLang="zh-TW" sz="2000" b="0" i="1" smtClean="0">
                              <a:latin typeface="Cambria Math" panose="02040503050406030204" pitchFamily="18" charset="0"/>
                            </a:rPr>
                            <m:t>|</m:t>
                          </m:r>
                          <m:sSub>
                            <m:sSubPr>
                              <m:ctrlPr>
                                <a:rPr kumimoji="1" lang="en-US" altLang="zh-TW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kumimoji="1" lang="en-US" altLang="zh-TW" sz="20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kumimoji="1" lang="en-US" altLang="zh-TW" sz="2000" i="1">
                                  <a:latin typeface="Cambria Math" panose="02040503050406030204" pitchFamily="18" charset="0"/>
                                </a:rPr>
                                <m:t>1:</m:t>
                              </m:r>
                              <m:r>
                                <a:rPr kumimoji="1" lang="en-US" altLang="zh-TW" sz="20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kumimoji="1" lang="en-US" altLang="zh-TW" sz="2000" i="1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b>
                          </m:sSub>
                          <m:r>
                            <a:rPr kumimoji="1" lang="en-US" altLang="zh-TW" sz="2000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nary>
                    </m:oMath>
                  </m:oMathPara>
                </a14:m>
                <a:endParaRPr kumimoji="1" lang="zh-TW" altLang="en-US" dirty="0"/>
              </a:p>
            </p:txBody>
          </p:sp>
        </mc:Choice>
        <mc:Fallback xmlns="">
          <p:sp>
            <p:nvSpPr>
              <p:cNvPr id="9" name="文字方塊 8">
                <a:extLst>
                  <a:ext uri="{FF2B5EF4-FFF2-40B4-BE49-F238E27FC236}">
                    <a16:creationId xmlns:a16="http://schemas.microsoft.com/office/drawing/2014/main" id="{21DC8FF9-69EF-7839-8AE6-F42E90325D7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18225" y="4790583"/>
                <a:ext cx="3450742" cy="569067"/>
              </a:xfrm>
              <a:prstGeom prst="rect">
                <a:avLst/>
              </a:prstGeom>
              <a:blipFill>
                <a:blip r:embed="rId5"/>
                <a:stretch>
                  <a:fillRect l="-2198" t="-204444" b="-288889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163394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圖片 8">
            <a:extLst>
              <a:ext uri="{FF2B5EF4-FFF2-40B4-BE49-F238E27FC236}">
                <a16:creationId xmlns:a16="http://schemas.microsoft.com/office/drawing/2014/main" id="{0A13C010-5411-6155-5639-C3C0C1FE067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42279"/>
          <a:stretch/>
        </p:blipFill>
        <p:spPr>
          <a:xfrm>
            <a:off x="5219701" y="2572494"/>
            <a:ext cx="5956691" cy="3300156"/>
          </a:xfrm>
          <a:prstGeom prst="rect">
            <a:avLst/>
          </a:prstGeom>
        </p:spPr>
      </p:pic>
      <p:sp>
        <p:nvSpPr>
          <p:cNvPr id="2" name="標題 1">
            <a:extLst>
              <a:ext uri="{FF2B5EF4-FFF2-40B4-BE49-F238E27FC236}">
                <a16:creationId xmlns:a16="http://schemas.microsoft.com/office/drawing/2014/main" id="{DC8B1EC0-9BAD-9403-D501-16024AE65D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" altLang="zh-TW" dirty="0"/>
              <a:t>Problem of Top-k Sampling </a:t>
            </a:r>
            <a:endParaRPr kumimoji="1"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1AD9400D-E340-7BC3-4B50-23437CB82B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57</a:t>
            </a:fld>
            <a:endParaRPr lang="en-US" dirty="0"/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A9A732E6-6E7E-890C-11A1-97B156E8F7D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57901"/>
          <a:stretch/>
        </p:blipFill>
        <p:spPr>
          <a:xfrm>
            <a:off x="936069" y="2572494"/>
            <a:ext cx="4344592" cy="3300156"/>
          </a:xfrm>
          <a:prstGeom prst="rect">
            <a:avLst/>
          </a:prstGeom>
        </p:spPr>
      </p:pic>
      <p:sp>
        <p:nvSpPr>
          <p:cNvPr id="6" name="文字方塊 5">
            <a:extLst>
              <a:ext uri="{FF2B5EF4-FFF2-40B4-BE49-F238E27FC236}">
                <a16:creationId xmlns:a16="http://schemas.microsoft.com/office/drawing/2014/main" id="{94E1E5B0-DDE4-5362-011A-ECD31ABA823C}"/>
              </a:ext>
            </a:extLst>
          </p:cNvPr>
          <p:cNvSpPr txBox="1"/>
          <p:nvPr/>
        </p:nvSpPr>
        <p:spPr>
          <a:xfrm>
            <a:off x="733277" y="1716149"/>
            <a:ext cx="977255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kumimoji="1" lang="en-US" altLang="zh-TW" sz="2400" dirty="0"/>
              <a:t>Top-k sampling </a:t>
            </a:r>
            <a:r>
              <a:rPr kumimoji="1" lang="zh-TW" altLang="en-US" sz="24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的</a:t>
            </a:r>
            <a:r>
              <a:rPr kumimoji="1" lang="en-US" altLang="zh-TW" sz="2400" dirty="0">
                <a:ea typeface="Microsoft JhengHei" panose="020B0604030504040204" pitchFamily="34" charset="-120"/>
              </a:rPr>
              <a:t> k </a:t>
            </a:r>
            <a:r>
              <a:rPr kumimoji="1" lang="zh-TW" altLang="en-US" sz="24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值需根據情況調整</a:t>
            </a:r>
            <a:endParaRPr kumimoji="1" lang="en-US" altLang="zh-TW" sz="2400" dirty="0">
              <a:solidFill>
                <a:srgbClr val="FF0000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96282DAA-761C-34B6-27BB-7104DA1DF515}"/>
              </a:ext>
            </a:extLst>
          </p:cNvPr>
          <p:cNvSpPr txBox="1"/>
          <p:nvPr/>
        </p:nvSpPr>
        <p:spPr>
          <a:xfrm>
            <a:off x="3970020" y="2461260"/>
            <a:ext cx="107442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zh-TW" altLang="en-US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下一個機率值</a:t>
            </a:r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54CA9995-CAC8-3BB1-8968-F6D0C06384E6}"/>
              </a:ext>
            </a:extLst>
          </p:cNvPr>
          <p:cNvSpPr txBox="1"/>
          <p:nvPr/>
        </p:nvSpPr>
        <p:spPr>
          <a:xfrm>
            <a:off x="8854440" y="2461260"/>
            <a:ext cx="107442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zh-TW" altLang="en-US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下一個機率值</a:t>
            </a:r>
          </a:p>
        </p:txBody>
      </p:sp>
      <p:sp>
        <p:nvSpPr>
          <p:cNvPr id="10" name="文字方塊 9">
            <a:extLst>
              <a:ext uri="{FF2B5EF4-FFF2-40B4-BE49-F238E27FC236}">
                <a16:creationId xmlns:a16="http://schemas.microsoft.com/office/drawing/2014/main" id="{16F20B48-625E-1B28-8070-870F5D55E1E5}"/>
              </a:ext>
            </a:extLst>
          </p:cNvPr>
          <p:cNvSpPr txBox="1"/>
          <p:nvPr/>
        </p:nvSpPr>
        <p:spPr>
          <a:xfrm>
            <a:off x="1020485" y="5911120"/>
            <a:ext cx="417576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TW" altLang="en-US" dirty="0">
                <a:ea typeface="Microsoft JhengHei" panose="020B0604030504040204" pitchFamily="34" charset="-120"/>
              </a:rPr>
              <a:t>此時</a:t>
            </a:r>
            <a:r>
              <a:rPr kumimoji="1" lang="en-US" altLang="zh-TW" dirty="0">
                <a:ea typeface="Microsoft JhengHei" panose="020B0604030504040204" pitchFamily="34" charset="-120"/>
              </a:rPr>
              <a:t> k </a:t>
            </a:r>
            <a:r>
              <a:rPr kumimoji="1" lang="zh-TW" altLang="en-US" dirty="0">
                <a:ea typeface="Microsoft JhengHei" panose="020B0604030504040204" pitchFamily="34" charset="-120"/>
              </a:rPr>
              <a:t>如果太小的話，容易錯過最正確的字 </a:t>
            </a:r>
            <a:r>
              <a:rPr kumimoji="1" lang="en-US" altLang="zh-TW" dirty="0">
                <a:ea typeface="Microsoft JhengHei" panose="020B0604030504040204" pitchFamily="34" charset="-120"/>
              </a:rPr>
              <a:t>-&gt; k</a:t>
            </a:r>
            <a:r>
              <a:rPr kumimoji="1" lang="zh-TW" altLang="en-US" dirty="0">
                <a:ea typeface="Microsoft JhengHei" panose="020B0604030504040204" pitchFamily="34" charset="-120"/>
              </a:rPr>
              <a:t> 要設大一點</a:t>
            </a:r>
          </a:p>
        </p:txBody>
      </p:sp>
      <p:sp>
        <p:nvSpPr>
          <p:cNvPr id="11" name="文字方塊 10">
            <a:extLst>
              <a:ext uri="{FF2B5EF4-FFF2-40B4-BE49-F238E27FC236}">
                <a16:creationId xmlns:a16="http://schemas.microsoft.com/office/drawing/2014/main" id="{578D41ED-41E2-EB4B-EB55-DA226326CDE4}"/>
              </a:ext>
            </a:extLst>
          </p:cNvPr>
          <p:cNvSpPr txBox="1"/>
          <p:nvPr/>
        </p:nvSpPr>
        <p:spPr>
          <a:xfrm>
            <a:off x="6128656" y="5911120"/>
            <a:ext cx="417576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TW" altLang="en-US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此時</a:t>
            </a:r>
            <a:r>
              <a:rPr kumimoji="1" lang="en-US" altLang="zh-TW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k </a:t>
            </a:r>
            <a:r>
              <a:rPr kumimoji="1" lang="zh-TW" altLang="en-US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如果太大的話，容易取到與上下文無關的字</a:t>
            </a:r>
            <a:r>
              <a:rPr kumimoji="1" lang="en-US" altLang="zh-TW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-&gt; </a:t>
            </a:r>
            <a:r>
              <a:rPr kumimoji="1" lang="en-US" altLang="zh-TW" dirty="0">
                <a:ea typeface="Microsoft JhengHei" panose="020B0604030504040204" pitchFamily="34" charset="-120"/>
              </a:rPr>
              <a:t>k</a:t>
            </a:r>
            <a:r>
              <a:rPr kumimoji="1" lang="zh-TW" altLang="en-US" dirty="0">
                <a:ea typeface="Microsoft JhengHei" panose="020B0604030504040204" pitchFamily="34" charset="-120"/>
              </a:rPr>
              <a:t> 要設小一點</a:t>
            </a:r>
            <a:endParaRPr kumimoji="1" lang="zh-TW" altLang="en-US" dirty="0"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41737931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  <p:bldP spid="10" grpId="0"/>
      <p:bldP spid="11" grpId="0"/>
    </p:bld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圖片 8">
            <a:extLst>
              <a:ext uri="{FF2B5EF4-FFF2-40B4-BE49-F238E27FC236}">
                <a16:creationId xmlns:a16="http://schemas.microsoft.com/office/drawing/2014/main" id="{0A13C010-5411-6155-5639-C3C0C1FE067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42279"/>
          <a:stretch/>
        </p:blipFill>
        <p:spPr>
          <a:xfrm>
            <a:off x="5219701" y="2572494"/>
            <a:ext cx="5956691" cy="3300156"/>
          </a:xfrm>
          <a:prstGeom prst="rect">
            <a:avLst/>
          </a:prstGeom>
        </p:spPr>
      </p:pic>
      <p:sp>
        <p:nvSpPr>
          <p:cNvPr id="2" name="標題 1">
            <a:extLst>
              <a:ext uri="{FF2B5EF4-FFF2-40B4-BE49-F238E27FC236}">
                <a16:creationId xmlns:a16="http://schemas.microsoft.com/office/drawing/2014/main" id="{DC8B1EC0-9BAD-9403-D501-16024AE65D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" altLang="zh-TW" dirty="0"/>
              <a:t>Problem of Top-k Sampling</a:t>
            </a:r>
            <a:r>
              <a:rPr kumimoji="1" lang="zh-TW" altLang="en-US" dirty="0"/>
              <a:t> </a:t>
            </a:r>
            <a:r>
              <a:rPr kumimoji="1" lang="en-US" altLang="zh-TW" dirty="0"/>
              <a:t>(</a:t>
            </a:r>
            <a:r>
              <a:rPr kumimoji="1" lang="zh-TW" altLang="en-US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看看</a:t>
            </a:r>
            <a:r>
              <a:rPr kumimoji="1" lang="zh-TW" altLang="en-US" dirty="0"/>
              <a:t> </a:t>
            </a:r>
            <a:r>
              <a:rPr kumimoji="1" lang="en-US" altLang="zh-TW" dirty="0"/>
              <a:t>Top-p)</a:t>
            </a:r>
            <a:r>
              <a:rPr kumimoji="1" lang="en" altLang="zh-TW" dirty="0"/>
              <a:t> </a:t>
            </a:r>
            <a:endParaRPr kumimoji="1"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1AD9400D-E340-7BC3-4B50-23437CB82B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58</a:t>
            </a:fld>
            <a:endParaRPr lang="en-US" dirty="0"/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A9A732E6-6E7E-890C-11A1-97B156E8F7D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57901"/>
          <a:stretch/>
        </p:blipFill>
        <p:spPr>
          <a:xfrm>
            <a:off x="936069" y="2572494"/>
            <a:ext cx="4344592" cy="3300156"/>
          </a:xfrm>
          <a:prstGeom prst="rect">
            <a:avLst/>
          </a:prstGeom>
        </p:spPr>
      </p:pic>
      <p:sp>
        <p:nvSpPr>
          <p:cNvPr id="6" name="文字方塊 5">
            <a:extLst>
              <a:ext uri="{FF2B5EF4-FFF2-40B4-BE49-F238E27FC236}">
                <a16:creationId xmlns:a16="http://schemas.microsoft.com/office/drawing/2014/main" id="{94E1E5B0-DDE4-5362-011A-ECD31ABA823C}"/>
              </a:ext>
            </a:extLst>
          </p:cNvPr>
          <p:cNvSpPr txBox="1"/>
          <p:nvPr/>
        </p:nvSpPr>
        <p:spPr>
          <a:xfrm>
            <a:off x="733277" y="1716149"/>
            <a:ext cx="977255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kumimoji="1" lang="zh-TW" altLang="en-US" sz="2400" dirty="0">
                <a:ea typeface="Microsoft JhengHei" panose="020B0604030504040204" pitchFamily="34" charset="-120"/>
              </a:rPr>
              <a:t>假設</a:t>
            </a:r>
            <a:r>
              <a:rPr kumimoji="1" lang="en-US" altLang="zh-TW" sz="2400" dirty="0">
                <a:ea typeface="Microsoft JhengHei" panose="020B0604030504040204" pitchFamily="34" charset="-120"/>
              </a:rPr>
              <a:t> p = </a:t>
            </a:r>
            <a:r>
              <a:rPr kumimoji="1" lang="en-US" altLang="zh-TW" sz="2400" dirty="0">
                <a:solidFill>
                  <a:srgbClr val="FF0000"/>
                </a:solidFill>
                <a:ea typeface="Microsoft JhengHei" panose="020B0604030504040204" pitchFamily="34" charset="-120"/>
              </a:rPr>
              <a:t>0.9</a:t>
            </a:r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96282DAA-761C-34B6-27BB-7104DA1DF515}"/>
              </a:ext>
            </a:extLst>
          </p:cNvPr>
          <p:cNvSpPr txBox="1"/>
          <p:nvPr/>
        </p:nvSpPr>
        <p:spPr>
          <a:xfrm>
            <a:off x="3970020" y="2461260"/>
            <a:ext cx="107442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zh-TW" altLang="en-US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下一個機率值</a:t>
            </a:r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54CA9995-CAC8-3BB1-8968-F6D0C06384E6}"/>
              </a:ext>
            </a:extLst>
          </p:cNvPr>
          <p:cNvSpPr txBox="1"/>
          <p:nvPr/>
        </p:nvSpPr>
        <p:spPr>
          <a:xfrm>
            <a:off x="8854440" y="2461260"/>
            <a:ext cx="107442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zh-TW" altLang="en-US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下一個機率值</a:t>
            </a:r>
          </a:p>
        </p:txBody>
      </p:sp>
      <p:sp>
        <p:nvSpPr>
          <p:cNvPr id="10" name="文字方塊 9">
            <a:extLst>
              <a:ext uri="{FF2B5EF4-FFF2-40B4-BE49-F238E27FC236}">
                <a16:creationId xmlns:a16="http://schemas.microsoft.com/office/drawing/2014/main" id="{16F20B48-625E-1B28-8070-870F5D55E1E5}"/>
              </a:ext>
            </a:extLst>
          </p:cNvPr>
          <p:cNvSpPr txBox="1"/>
          <p:nvPr/>
        </p:nvSpPr>
        <p:spPr>
          <a:xfrm>
            <a:off x="1020485" y="5911120"/>
            <a:ext cx="417576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TW" altLang="en-US" dirty="0">
                <a:ea typeface="Microsoft JhengHei" panose="020B0604030504040204" pitchFamily="34" charset="-120"/>
              </a:rPr>
              <a:t>此時</a:t>
            </a:r>
            <a:r>
              <a:rPr kumimoji="1" lang="en-US" altLang="zh-TW" dirty="0">
                <a:ea typeface="Microsoft JhengHei" panose="020B0604030504040204" pitchFamily="34" charset="-120"/>
              </a:rPr>
              <a:t> k </a:t>
            </a:r>
            <a:r>
              <a:rPr kumimoji="1" lang="zh-TW" altLang="en-US" dirty="0">
                <a:ea typeface="Microsoft JhengHei" panose="020B0604030504040204" pitchFamily="34" charset="-120"/>
              </a:rPr>
              <a:t>如果太小的話，容易錯過最正確的字 </a:t>
            </a:r>
            <a:r>
              <a:rPr kumimoji="1" lang="en-US" altLang="zh-TW" dirty="0">
                <a:ea typeface="Microsoft JhengHei" panose="020B0604030504040204" pitchFamily="34" charset="-120"/>
              </a:rPr>
              <a:t>-&gt; </a:t>
            </a:r>
            <a:r>
              <a:rPr kumimoji="1" lang="en-US" altLang="zh-TW" dirty="0">
                <a:solidFill>
                  <a:srgbClr val="FF0000"/>
                </a:solidFill>
                <a:ea typeface="Microsoft JhengHei" panose="020B0604030504040204" pitchFamily="34" charset="-120"/>
              </a:rPr>
              <a:t>k</a:t>
            </a:r>
            <a:r>
              <a:rPr kumimoji="1" lang="zh-TW" altLang="en-US" dirty="0">
                <a:solidFill>
                  <a:srgbClr val="FF0000"/>
                </a:solidFill>
                <a:ea typeface="Microsoft JhengHei" panose="020B0604030504040204" pitchFamily="34" charset="-120"/>
              </a:rPr>
              <a:t> 要設大一點</a:t>
            </a:r>
          </a:p>
        </p:txBody>
      </p:sp>
      <p:sp>
        <p:nvSpPr>
          <p:cNvPr id="11" name="文字方塊 10">
            <a:extLst>
              <a:ext uri="{FF2B5EF4-FFF2-40B4-BE49-F238E27FC236}">
                <a16:creationId xmlns:a16="http://schemas.microsoft.com/office/drawing/2014/main" id="{578D41ED-41E2-EB4B-EB55-DA226326CDE4}"/>
              </a:ext>
            </a:extLst>
          </p:cNvPr>
          <p:cNvSpPr txBox="1"/>
          <p:nvPr/>
        </p:nvSpPr>
        <p:spPr>
          <a:xfrm>
            <a:off x="6128656" y="5911120"/>
            <a:ext cx="417576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TW" altLang="en-US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此時</a:t>
            </a:r>
            <a:r>
              <a:rPr kumimoji="1" lang="en-US" altLang="zh-TW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k </a:t>
            </a:r>
            <a:r>
              <a:rPr kumimoji="1" lang="zh-TW" altLang="en-US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如果太大的話，容易取到與上下文無關的字</a:t>
            </a:r>
            <a:r>
              <a:rPr kumimoji="1" lang="en-US" altLang="zh-TW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-&gt; </a:t>
            </a:r>
            <a:r>
              <a:rPr kumimoji="1" lang="en-US" altLang="zh-TW" dirty="0">
                <a:solidFill>
                  <a:srgbClr val="FF0000"/>
                </a:solidFill>
                <a:ea typeface="Microsoft JhengHei" panose="020B0604030504040204" pitchFamily="34" charset="-120"/>
              </a:rPr>
              <a:t>k</a:t>
            </a:r>
            <a:r>
              <a:rPr kumimoji="1" lang="zh-TW" altLang="en-US" dirty="0">
                <a:solidFill>
                  <a:srgbClr val="FF0000"/>
                </a:solidFill>
                <a:ea typeface="Microsoft JhengHei" panose="020B0604030504040204" pitchFamily="34" charset="-120"/>
              </a:rPr>
              <a:t> 要設小一點</a:t>
            </a:r>
            <a:endParaRPr kumimoji="1" lang="zh-TW" altLang="en-US" dirty="0">
              <a:solidFill>
                <a:srgbClr val="FF0000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55378FA-9355-E42E-27AA-4431188F492A}"/>
              </a:ext>
            </a:extLst>
          </p:cNvPr>
          <p:cNvSpPr/>
          <p:nvPr/>
        </p:nvSpPr>
        <p:spPr>
          <a:xfrm>
            <a:off x="4119184" y="3274335"/>
            <a:ext cx="925256" cy="1693905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4F13FC20-06A8-5512-C234-5B2EE4149C58}"/>
              </a:ext>
            </a:extLst>
          </p:cNvPr>
          <p:cNvSpPr/>
          <p:nvPr/>
        </p:nvSpPr>
        <p:spPr>
          <a:xfrm>
            <a:off x="9101664" y="3218825"/>
            <a:ext cx="1954955" cy="347335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27376440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  <p:bldP spid="10" grpId="0"/>
      <p:bldP spid="11" grpId="0"/>
      <p:bldP spid="12" grpId="0" animBg="1"/>
      <p:bldP spid="13" grpId="0" animBg="1"/>
    </p:bld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A08D5AE-C260-8409-5134-FEAA508261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 err="1"/>
              <a:t>Softmax</a:t>
            </a:r>
            <a:endParaRPr kumimoji="1"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87B2385D-990A-EC13-0B5F-F3D4112569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59</a:t>
            </a:fld>
            <a:endParaRPr lang="en-US"/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3555F246-EBF5-6D7F-6888-FE7FB326AF8B}"/>
              </a:ext>
            </a:extLst>
          </p:cNvPr>
          <p:cNvSpPr txBox="1"/>
          <p:nvPr/>
        </p:nvSpPr>
        <p:spPr>
          <a:xfrm>
            <a:off x="1005936" y="1638639"/>
            <a:ext cx="9772554" cy="16970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en-US" altLang="zh-TW" sz="2400" dirty="0"/>
              <a:t>When generating the next word, `</a:t>
            </a:r>
            <a:r>
              <a:rPr kumimoji="1" lang="en-US" altLang="zh-TW" sz="2400" dirty="0" err="1"/>
              <a:t>softmax</a:t>
            </a:r>
            <a:r>
              <a:rPr kumimoji="1" lang="en-US" altLang="zh-TW" sz="2400" dirty="0"/>
              <a:t>` is performed to get the probabilities among the words in the vocabulary.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en-US" altLang="zh-TW" sz="2400" dirty="0" err="1"/>
              <a:t>Softmax</a:t>
            </a:r>
            <a:r>
              <a:rPr kumimoji="1" lang="en-US" altLang="zh-TW" sz="2400" dirty="0"/>
              <a:t> formula: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文字方塊 5">
                <a:extLst>
                  <a:ext uri="{FF2B5EF4-FFF2-40B4-BE49-F238E27FC236}">
                    <a16:creationId xmlns:a16="http://schemas.microsoft.com/office/drawing/2014/main" id="{A772E578-7E60-78AE-AA5F-C26B47B20443}"/>
                  </a:ext>
                </a:extLst>
              </p:cNvPr>
              <p:cNvSpPr txBox="1"/>
              <p:nvPr/>
            </p:nvSpPr>
            <p:spPr>
              <a:xfrm>
                <a:off x="4937436" y="3335707"/>
                <a:ext cx="2378087" cy="102560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kumimoji="1" lang="en-US" altLang="zh-TW" sz="28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nor/>
                            </m:rPr>
                            <a:rPr kumimoji="1" lang="en-US" altLang="zh-TW" sz="2800" b="0" i="0" smtClean="0">
                              <a:latin typeface="Cambria Math" panose="02040503050406030204" pitchFamily="18" charset="0"/>
                            </a:rPr>
                            <m:t>exp</m:t>
                          </m:r>
                          <m:r>
                            <m:rPr>
                              <m:nor/>
                            </m:rPr>
                            <a:rPr kumimoji="1" lang="en-US" altLang="zh-TW" sz="2800" b="0" i="0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kumimoji="1" lang="en-US" altLang="zh-TW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kumimoji="1" lang="en-US" altLang="zh-TW" sz="2800" b="0" i="1" smtClean="0"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</m:e>
                            <m:sub>
                              <m:r>
                                <a:rPr kumimoji="1" lang="en-US" altLang="zh-TW" sz="2800" b="0" i="1" smtClean="0">
                                  <a:latin typeface="Cambria Math" panose="02040503050406030204" pitchFamily="18" charset="0"/>
                                </a:rPr>
                                <m:t>𝑙</m:t>
                              </m:r>
                            </m:sub>
                          </m:sSub>
                          <m:r>
                            <a:rPr kumimoji="1" lang="en-US" altLang="zh-TW" sz="2800" b="0" i="1" smtClean="0">
                              <a:latin typeface="Cambria Math" panose="02040503050406030204" pitchFamily="18" charset="0"/>
                            </a:rPr>
                            <m:t>/</m:t>
                          </m:r>
                          <m:r>
                            <m:rPr>
                              <m:nor/>
                            </m:rPr>
                            <a:rPr kumimoji="1" lang="en-US" altLang="zh-TW" sz="2800" b="0" i="0" smtClean="0">
                              <a:latin typeface="Cambria Math" panose="02040503050406030204" pitchFamily="18" charset="0"/>
                            </a:rPr>
                            <m:t>t</m:t>
                          </m:r>
                          <m:r>
                            <m:rPr>
                              <m:nor/>
                            </m:rPr>
                            <a:rPr kumimoji="1" lang="en-US" altLang="zh-TW" sz="2800" b="0" i="0" smtClean="0">
                              <a:latin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nary>
                            <m:naryPr>
                              <m:chr m:val="∑"/>
                              <m:limLoc m:val="subSup"/>
                              <m:ctrlPr>
                                <a:rPr kumimoji="1" lang="en-US" altLang="zh-TW" sz="2800" i="1" smtClean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5"/>
                                </m:rPr>
                                <a:rPr kumimoji="1" lang="en-US" altLang="zh-TW" sz="2800" b="0" i="1" smtClean="0">
                                  <a:latin typeface="Cambria Math" panose="02040503050406030204" pitchFamily="18" charset="0"/>
                                </a:rPr>
                                <m:t>𝑙</m:t>
                              </m:r>
                              <m:r>
                                <a:rPr kumimoji="1" lang="en-US" altLang="zh-TW" sz="2800" b="0" i="1" smtClean="0"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b>
                            <m:sup>
                              <m:d>
                                <m:dPr>
                                  <m:begChr m:val="|"/>
                                  <m:endChr m:val="|"/>
                                  <m:ctrlPr>
                                    <a:rPr kumimoji="1" lang="en-US" altLang="zh-TW" sz="2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kumimoji="1" lang="en-US" altLang="zh-TW" sz="2800" b="0" i="1" smtClean="0">
                                      <a:latin typeface="Cambria Math" panose="02040503050406030204" pitchFamily="18" charset="0"/>
                                    </a:rPr>
                                    <m:t>𝑉</m:t>
                                  </m:r>
                                </m:e>
                              </m:d>
                            </m:sup>
                            <m:e>
                              <m:r>
                                <m:rPr>
                                  <m:nor/>
                                </m:rPr>
                                <a:rPr kumimoji="1" lang="en-US" altLang="zh-TW" sz="2800" b="0" i="0" smtClean="0">
                                  <a:latin typeface="Cambria Math" panose="02040503050406030204" pitchFamily="18" charset="0"/>
                                </a:rPr>
                                <m:t>exp</m:t>
                              </m:r>
                            </m:e>
                          </m:nary>
                          <m:r>
                            <a:rPr kumimoji="1" lang="en-US" altLang="zh-TW" sz="2800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kumimoji="1" lang="en-US" altLang="zh-TW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kumimoji="1" lang="en-US" altLang="zh-TW" sz="2800" b="0" i="1" smtClean="0"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</m:e>
                            <m:sub>
                              <m:r>
                                <a:rPr kumimoji="1" lang="en-US" altLang="zh-TW" sz="2800" b="0" i="1" smtClean="0">
                                  <a:latin typeface="Cambria Math" panose="02040503050406030204" pitchFamily="18" charset="0"/>
                                </a:rPr>
                                <m:t>𝑙</m:t>
                              </m:r>
                              <m:r>
                                <a:rPr kumimoji="1" lang="en-US" altLang="zh-TW" sz="2800" b="0" i="1" smtClean="0"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b>
                          </m:sSub>
                          <m:r>
                            <a:rPr kumimoji="1" lang="en-US" altLang="zh-TW" sz="2800" b="0" i="1" smtClean="0">
                              <a:latin typeface="Cambria Math" panose="02040503050406030204" pitchFamily="18" charset="0"/>
                            </a:rPr>
                            <m:t>/</m:t>
                          </m:r>
                          <m:r>
                            <a:rPr kumimoji="1" lang="en-US" altLang="zh-TW" sz="28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kumimoji="1" lang="en-US" altLang="zh-TW" sz="2800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den>
                      </m:f>
                    </m:oMath>
                  </m:oMathPara>
                </a14:m>
                <a:endParaRPr kumimoji="1" lang="zh-TW" altLang="en-US" sz="2800" dirty="0"/>
              </a:p>
            </p:txBody>
          </p:sp>
        </mc:Choice>
        <mc:Fallback xmlns="">
          <p:sp>
            <p:nvSpPr>
              <p:cNvPr id="6" name="文字方塊 5">
                <a:extLst>
                  <a:ext uri="{FF2B5EF4-FFF2-40B4-BE49-F238E27FC236}">
                    <a16:creationId xmlns:a16="http://schemas.microsoft.com/office/drawing/2014/main" id="{A772E578-7E60-78AE-AA5F-C26B47B2044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37436" y="3335707"/>
                <a:ext cx="2378087" cy="1025602"/>
              </a:xfrm>
              <a:prstGeom prst="rect">
                <a:avLst/>
              </a:prstGeom>
              <a:blipFill>
                <a:blip r:embed="rId2"/>
                <a:stretch>
                  <a:fillRect l="-24468" t="-15854" r="-5319" b="-100000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文字方塊 6">
                <a:extLst>
                  <a:ext uri="{FF2B5EF4-FFF2-40B4-BE49-F238E27FC236}">
                    <a16:creationId xmlns:a16="http://schemas.microsoft.com/office/drawing/2014/main" id="{26982479-B010-9DAF-FD93-D42900EA063B}"/>
                  </a:ext>
                </a:extLst>
              </p:cNvPr>
              <p:cNvSpPr txBox="1"/>
              <p:nvPr/>
            </p:nvSpPr>
            <p:spPr>
              <a:xfrm>
                <a:off x="1428750" y="4777740"/>
                <a:ext cx="5652506" cy="12003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zh-TW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zh-TW" sz="2400" b="0" i="1" smtClean="0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r>
                          <a:rPr kumimoji="1" lang="en-US" altLang="zh-TW" sz="2400" b="0" i="1" smtClean="0">
                            <a:latin typeface="Cambria Math" panose="02040503050406030204" pitchFamily="18" charset="0"/>
                          </a:rPr>
                          <m:t>𝑙</m:t>
                        </m:r>
                      </m:sub>
                    </m:sSub>
                  </m:oMath>
                </a14:m>
                <a:r>
                  <a:rPr kumimoji="1" lang="en-US" altLang="zh-TW" sz="2400" dirty="0"/>
                  <a:t>: logits (model outputs before </a:t>
                </a:r>
                <a:r>
                  <a:rPr kumimoji="1" lang="en-US" altLang="zh-TW" sz="2400" dirty="0" err="1"/>
                  <a:t>softmax</a:t>
                </a:r>
                <a:r>
                  <a:rPr kumimoji="1" lang="en-US" altLang="zh-TW" sz="2400" dirty="0"/>
                  <a:t>)</a:t>
                </a:r>
              </a:p>
              <a:p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kumimoji="1" lang="en-US" altLang="zh-TW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kumimoji="1" lang="en-US" altLang="zh-TW" sz="2400" b="0" i="1" smtClean="0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</m:d>
                    <m:r>
                      <a:rPr kumimoji="1" lang="en-US" altLang="zh-TW" sz="2400" b="0" i="1" smtClean="0">
                        <a:latin typeface="Cambria Math" panose="02040503050406030204" pitchFamily="18" charset="0"/>
                      </a:rPr>
                      <m:t>:</m:t>
                    </m:r>
                  </m:oMath>
                </a14:m>
                <a:r>
                  <a:rPr kumimoji="1" lang="en-US" altLang="zh-TW" sz="2400" dirty="0"/>
                  <a:t> size of the vocabulary</a:t>
                </a:r>
              </a:p>
              <a:p>
                <a14:m>
                  <m:oMath xmlns:m="http://schemas.openxmlformats.org/officeDocument/2006/math">
                    <m:r>
                      <a:rPr kumimoji="1" lang="en-US" altLang="zh-TW" sz="2400" b="0" i="1" smtClean="0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kumimoji="1" lang="en-US" altLang="zh-TW" sz="2400" dirty="0"/>
                  <a:t>: </a:t>
                </a:r>
                <a:r>
                  <a:rPr kumimoji="1" lang="en-US" altLang="zh-TW" sz="2400" dirty="0" err="1"/>
                  <a:t>softmax</a:t>
                </a:r>
                <a:r>
                  <a:rPr kumimoji="1" lang="en-US" altLang="zh-TW" sz="2400" dirty="0"/>
                  <a:t> temperature</a:t>
                </a:r>
                <a:endParaRPr kumimoji="1" lang="zh-TW" altLang="en-US" sz="2400" dirty="0"/>
              </a:p>
            </p:txBody>
          </p:sp>
        </mc:Choice>
        <mc:Fallback xmlns="">
          <p:sp>
            <p:nvSpPr>
              <p:cNvPr id="7" name="文字方塊 6">
                <a:extLst>
                  <a:ext uri="{FF2B5EF4-FFF2-40B4-BE49-F238E27FC236}">
                    <a16:creationId xmlns:a16="http://schemas.microsoft.com/office/drawing/2014/main" id="{26982479-B010-9DAF-FD93-D42900EA063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28750" y="4777740"/>
                <a:ext cx="5652506" cy="1200329"/>
              </a:xfrm>
              <a:prstGeom prst="rect">
                <a:avLst/>
              </a:prstGeom>
              <a:blipFill>
                <a:blip r:embed="rId3"/>
                <a:stretch>
                  <a:fillRect t="-3158" b="-10526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166582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A08D5AE-C260-8409-5134-FEAA508261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 err="1"/>
              <a:t>Softmax</a:t>
            </a:r>
            <a:endParaRPr kumimoji="1"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87B2385D-990A-EC13-0B5F-F3D4112569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60</a:t>
            </a:fld>
            <a:endParaRPr lang="en-US"/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020DA9EB-B9AF-6D38-1025-9B8643725202}"/>
              </a:ext>
            </a:extLst>
          </p:cNvPr>
          <p:cNvSpPr txBox="1"/>
          <p:nvPr/>
        </p:nvSpPr>
        <p:spPr>
          <a:xfrm>
            <a:off x="3340090" y="2271928"/>
            <a:ext cx="1726651" cy="28050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kumimoji="1" lang="en-US" altLang="zh-TW" sz="2400" dirty="0">
                <a:ea typeface="Microsoft JhengHei" panose="020B0604030504040204" pitchFamily="34" charset="-120"/>
              </a:rPr>
              <a:t>the</a:t>
            </a:r>
          </a:p>
          <a:p>
            <a:pPr>
              <a:lnSpc>
                <a:spcPct val="150000"/>
              </a:lnSpc>
            </a:pPr>
            <a:r>
              <a:rPr kumimoji="1" lang="en-US" altLang="zh-TW" sz="2400" dirty="0"/>
              <a:t>am</a:t>
            </a:r>
          </a:p>
          <a:p>
            <a:pPr>
              <a:lnSpc>
                <a:spcPct val="150000"/>
              </a:lnSpc>
            </a:pPr>
            <a:r>
              <a:rPr kumimoji="1" lang="en-US" altLang="zh-TW" sz="2400" dirty="0">
                <a:ea typeface="Microsoft JhengHei" panose="020B0604030504040204" pitchFamily="34" charset="-120"/>
              </a:rPr>
              <a:t>no</a:t>
            </a:r>
          </a:p>
          <a:p>
            <a:pPr>
              <a:lnSpc>
                <a:spcPct val="150000"/>
              </a:lnSpc>
            </a:pPr>
            <a:r>
              <a:rPr kumimoji="1" lang="en" altLang="zh-TW" sz="2400" dirty="0">
                <a:ea typeface="Microsoft JhengHei" panose="020B0604030504040204" pitchFamily="34" charset="-120"/>
              </a:rPr>
              <a:t>a</a:t>
            </a:r>
          </a:p>
          <a:p>
            <a:pPr>
              <a:lnSpc>
                <a:spcPct val="150000"/>
              </a:lnSpc>
            </a:pPr>
            <a:r>
              <a:rPr kumimoji="1" lang="en-US" altLang="zh-TW" sz="2400" dirty="0">
                <a:ea typeface="Microsoft JhengHei" panose="020B0604030504040204" pitchFamily="34" charset="-120"/>
              </a:rPr>
              <a:t>/</a:t>
            </a:r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BC4CE100-F718-5085-12CA-3D1FF0899A5C}"/>
              </a:ext>
            </a:extLst>
          </p:cNvPr>
          <p:cNvSpPr txBox="1"/>
          <p:nvPr/>
        </p:nvSpPr>
        <p:spPr>
          <a:xfrm>
            <a:off x="4746674" y="2271928"/>
            <a:ext cx="1246720" cy="28050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kumimoji="1" lang="en-US" altLang="zh-TW" sz="2400" dirty="0"/>
              <a:t>0.0011</a:t>
            </a:r>
          </a:p>
          <a:p>
            <a:pPr>
              <a:lnSpc>
                <a:spcPct val="150000"/>
              </a:lnSpc>
            </a:pPr>
            <a:r>
              <a:rPr kumimoji="1" lang="en-US" altLang="zh-TW" sz="2400" dirty="0"/>
              <a:t>0.0012</a:t>
            </a:r>
          </a:p>
          <a:p>
            <a:pPr>
              <a:lnSpc>
                <a:spcPct val="150000"/>
              </a:lnSpc>
            </a:pPr>
            <a:r>
              <a:rPr kumimoji="1" lang="en-US" altLang="zh-TW" sz="2400" dirty="0"/>
              <a:t>0.0013</a:t>
            </a:r>
          </a:p>
          <a:p>
            <a:pPr>
              <a:lnSpc>
                <a:spcPct val="150000"/>
              </a:lnSpc>
            </a:pPr>
            <a:r>
              <a:rPr kumimoji="1" lang="en-US" altLang="zh-TW" sz="2400" dirty="0"/>
              <a:t>0.0014</a:t>
            </a:r>
          </a:p>
          <a:p>
            <a:pPr>
              <a:lnSpc>
                <a:spcPct val="150000"/>
              </a:lnSpc>
            </a:pPr>
            <a:r>
              <a:rPr kumimoji="1" lang="en-US" altLang="zh-TW" sz="2400" dirty="0"/>
              <a:t>0.0015</a:t>
            </a:r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CCCC65D0-3C99-1658-D315-C212C5B6258A}"/>
              </a:ext>
            </a:extLst>
          </p:cNvPr>
          <p:cNvSpPr txBox="1"/>
          <p:nvPr/>
        </p:nvSpPr>
        <p:spPr>
          <a:xfrm>
            <a:off x="3177539" y="1840971"/>
            <a:ext cx="101865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sz="2400" dirty="0">
                <a:solidFill>
                  <a:srgbClr val="0070C0"/>
                </a:solidFill>
              </a:rPr>
              <a:t>Token</a:t>
            </a:r>
          </a:p>
        </p:txBody>
      </p:sp>
      <p:sp>
        <p:nvSpPr>
          <p:cNvPr id="10" name="文字方塊 9">
            <a:extLst>
              <a:ext uri="{FF2B5EF4-FFF2-40B4-BE49-F238E27FC236}">
                <a16:creationId xmlns:a16="http://schemas.microsoft.com/office/drawing/2014/main" id="{56EACE46-0D57-EBAF-47CD-8AEDC250C9FD}"/>
              </a:ext>
            </a:extLst>
          </p:cNvPr>
          <p:cNvSpPr txBox="1"/>
          <p:nvPr/>
        </p:nvSpPr>
        <p:spPr>
          <a:xfrm>
            <a:off x="4731809" y="1840971"/>
            <a:ext cx="101865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sz="2400" dirty="0">
                <a:solidFill>
                  <a:srgbClr val="0070C0"/>
                </a:solidFill>
              </a:rPr>
              <a:t>Logits</a:t>
            </a:r>
          </a:p>
        </p:txBody>
      </p:sp>
      <p:sp>
        <p:nvSpPr>
          <p:cNvPr id="11" name="文字方塊 10">
            <a:extLst>
              <a:ext uri="{FF2B5EF4-FFF2-40B4-BE49-F238E27FC236}">
                <a16:creationId xmlns:a16="http://schemas.microsoft.com/office/drawing/2014/main" id="{44E28D99-73B0-63D8-0DFE-D65FC5C19BD2}"/>
              </a:ext>
            </a:extLst>
          </p:cNvPr>
          <p:cNvSpPr txBox="1"/>
          <p:nvPr/>
        </p:nvSpPr>
        <p:spPr>
          <a:xfrm>
            <a:off x="1525335" y="3010118"/>
            <a:ext cx="129632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sz="2400" dirty="0"/>
              <a:t>Example</a:t>
            </a:r>
          </a:p>
          <a:p>
            <a:pPr algn="ctr"/>
            <a:r>
              <a:rPr kumimoji="1" lang="en-US" altLang="zh-TW" sz="2400" dirty="0"/>
              <a:t>Vocab</a:t>
            </a:r>
          </a:p>
        </p:txBody>
      </p:sp>
      <p:cxnSp>
        <p:nvCxnSpPr>
          <p:cNvPr id="13" name="直線箭頭接點 12">
            <a:extLst>
              <a:ext uri="{FF2B5EF4-FFF2-40B4-BE49-F238E27FC236}">
                <a16:creationId xmlns:a16="http://schemas.microsoft.com/office/drawing/2014/main" id="{C2891F03-779D-AA20-806A-BCD2CE0DF3F0}"/>
              </a:ext>
            </a:extLst>
          </p:cNvPr>
          <p:cNvCxnSpPr>
            <a:cxnSpLocks/>
          </p:cNvCxnSpPr>
          <p:nvPr/>
        </p:nvCxnSpPr>
        <p:spPr>
          <a:xfrm>
            <a:off x="6382014" y="2659671"/>
            <a:ext cx="933186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線箭頭接點 13">
            <a:extLst>
              <a:ext uri="{FF2B5EF4-FFF2-40B4-BE49-F238E27FC236}">
                <a16:creationId xmlns:a16="http://schemas.microsoft.com/office/drawing/2014/main" id="{9CC1F449-1E69-B73B-1B49-1DBA9F941AAE}"/>
              </a:ext>
            </a:extLst>
          </p:cNvPr>
          <p:cNvCxnSpPr>
            <a:cxnSpLocks/>
          </p:cNvCxnSpPr>
          <p:nvPr/>
        </p:nvCxnSpPr>
        <p:spPr>
          <a:xfrm>
            <a:off x="6382014" y="3212121"/>
            <a:ext cx="933186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線箭頭接點 14">
            <a:extLst>
              <a:ext uri="{FF2B5EF4-FFF2-40B4-BE49-F238E27FC236}">
                <a16:creationId xmlns:a16="http://schemas.microsoft.com/office/drawing/2014/main" id="{F543821E-107F-12AA-5934-4B89F9E44B64}"/>
              </a:ext>
            </a:extLst>
          </p:cNvPr>
          <p:cNvCxnSpPr>
            <a:cxnSpLocks/>
          </p:cNvCxnSpPr>
          <p:nvPr/>
        </p:nvCxnSpPr>
        <p:spPr>
          <a:xfrm>
            <a:off x="6382014" y="3768725"/>
            <a:ext cx="933186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線箭頭接點 15">
            <a:extLst>
              <a:ext uri="{FF2B5EF4-FFF2-40B4-BE49-F238E27FC236}">
                <a16:creationId xmlns:a16="http://schemas.microsoft.com/office/drawing/2014/main" id="{79C56B4A-26E8-4783-5B11-D8C33409FC5A}"/>
              </a:ext>
            </a:extLst>
          </p:cNvPr>
          <p:cNvCxnSpPr>
            <a:cxnSpLocks/>
          </p:cNvCxnSpPr>
          <p:nvPr/>
        </p:nvCxnSpPr>
        <p:spPr>
          <a:xfrm>
            <a:off x="6382014" y="4332605"/>
            <a:ext cx="933186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線箭頭接點 16">
            <a:extLst>
              <a:ext uri="{FF2B5EF4-FFF2-40B4-BE49-F238E27FC236}">
                <a16:creationId xmlns:a16="http://schemas.microsoft.com/office/drawing/2014/main" id="{2C3AFF56-4169-EACA-3AF2-7479A65F42F7}"/>
              </a:ext>
            </a:extLst>
          </p:cNvPr>
          <p:cNvCxnSpPr>
            <a:cxnSpLocks/>
          </p:cNvCxnSpPr>
          <p:nvPr/>
        </p:nvCxnSpPr>
        <p:spPr>
          <a:xfrm>
            <a:off x="6382014" y="4846955"/>
            <a:ext cx="933186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文字方塊 17">
            <a:extLst>
              <a:ext uri="{FF2B5EF4-FFF2-40B4-BE49-F238E27FC236}">
                <a16:creationId xmlns:a16="http://schemas.microsoft.com/office/drawing/2014/main" id="{14FC5F6D-C418-2F49-B3B3-F2691D8C7E88}"/>
              </a:ext>
            </a:extLst>
          </p:cNvPr>
          <p:cNvSpPr txBox="1"/>
          <p:nvPr/>
        </p:nvSpPr>
        <p:spPr>
          <a:xfrm>
            <a:off x="7650269" y="1840971"/>
            <a:ext cx="172665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sz="2400" dirty="0">
                <a:solidFill>
                  <a:srgbClr val="0070C0"/>
                </a:solidFill>
              </a:rPr>
              <a:t>Probability</a:t>
            </a:r>
          </a:p>
        </p:txBody>
      </p:sp>
      <p:sp>
        <p:nvSpPr>
          <p:cNvPr id="19" name="文字方塊 18">
            <a:extLst>
              <a:ext uri="{FF2B5EF4-FFF2-40B4-BE49-F238E27FC236}">
                <a16:creationId xmlns:a16="http://schemas.microsoft.com/office/drawing/2014/main" id="{EAFD03A0-0B3D-A17F-EE17-AB935AFEC61F}"/>
              </a:ext>
            </a:extLst>
          </p:cNvPr>
          <p:cNvSpPr txBox="1"/>
          <p:nvPr/>
        </p:nvSpPr>
        <p:spPr>
          <a:xfrm>
            <a:off x="7861873" y="2271928"/>
            <a:ext cx="1246720" cy="28050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kumimoji="1" lang="en-US" altLang="zh-TW" sz="2400" dirty="0">
                <a:solidFill>
                  <a:srgbClr val="FF0000"/>
                </a:solidFill>
              </a:rPr>
              <a:t>0.78</a:t>
            </a:r>
          </a:p>
          <a:p>
            <a:pPr algn="ctr">
              <a:lnSpc>
                <a:spcPct val="150000"/>
              </a:lnSpc>
            </a:pPr>
            <a:r>
              <a:rPr kumimoji="1" lang="en-US" altLang="zh-TW" sz="2400" dirty="0">
                <a:solidFill>
                  <a:srgbClr val="FF0000"/>
                </a:solidFill>
              </a:rPr>
              <a:t>0.11</a:t>
            </a:r>
          </a:p>
          <a:p>
            <a:pPr algn="ctr">
              <a:lnSpc>
                <a:spcPct val="150000"/>
              </a:lnSpc>
            </a:pPr>
            <a:r>
              <a:rPr kumimoji="1" lang="en-US" altLang="zh-TW" sz="2400" dirty="0">
                <a:solidFill>
                  <a:srgbClr val="FF0000"/>
                </a:solidFill>
              </a:rPr>
              <a:t>0.03</a:t>
            </a:r>
          </a:p>
          <a:p>
            <a:pPr algn="ctr">
              <a:lnSpc>
                <a:spcPct val="150000"/>
              </a:lnSpc>
            </a:pPr>
            <a:r>
              <a:rPr kumimoji="1" lang="en-US" altLang="zh-TW" sz="2400" dirty="0">
                <a:solidFill>
                  <a:srgbClr val="FF0000"/>
                </a:solidFill>
              </a:rPr>
              <a:t>0.02</a:t>
            </a:r>
          </a:p>
          <a:p>
            <a:pPr algn="ctr">
              <a:lnSpc>
                <a:spcPct val="150000"/>
              </a:lnSpc>
            </a:pPr>
            <a:r>
              <a:rPr kumimoji="1" lang="en-US" altLang="zh-TW" sz="2400" dirty="0">
                <a:solidFill>
                  <a:srgbClr val="FF0000"/>
                </a:solidFill>
              </a:rPr>
              <a:t>0.06</a:t>
            </a:r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C4A0F621-2516-5B17-0D65-86B75600F986}"/>
              </a:ext>
            </a:extLst>
          </p:cNvPr>
          <p:cNvSpPr txBox="1"/>
          <p:nvPr/>
        </p:nvSpPr>
        <p:spPr>
          <a:xfrm>
            <a:off x="1649716" y="5549466"/>
            <a:ext cx="813290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kumimoji="1" lang="en-US" altLang="zh-TW" sz="2000" dirty="0"/>
              <a:t>Note that </a:t>
            </a:r>
            <a:r>
              <a:rPr kumimoji="1" lang="en-US" altLang="zh-TW" sz="2000" dirty="0" err="1"/>
              <a:t>softmax</a:t>
            </a:r>
            <a:r>
              <a:rPr kumimoji="1" lang="en-US" altLang="zh-TW" sz="2000" dirty="0"/>
              <a:t> is required for every decoding strategies since we need to find out the next word from a vocabulary.</a:t>
            </a:r>
            <a:endParaRPr kumimoji="1" lang="zh-TW" altLang="en-US" sz="2000" dirty="0"/>
          </a:p>
        </p:txBody>
      </p:sp>
    </p:spTree>
    <p:extLst>
      <p:ext uri="{BB962C8B-B14F-4D97-AF65-F5344CB8AC3E}">
        <p14:creationId xmlns:p14="http://schemas.microsoft.com/office/powerpoint/2010/main" val="4036592038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A08D5AE-C260-8409-5134-FEAA508261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Properties of </a:t>
            </a:r>
            <a:r>
              <a:rPr kumimoji="1" lang="en-US" altLang="zh-TW" dirty="0" err="1"/>
              <a:t>Softmax</a:t>
            </a:r>
            <a:r>
              <a:rPr kumimoji="1" lang="en-US" altLang="zh-TW" dirty="0"/>
              <a:t> Temperature</a:t>
            </a:r>
            <a:endParaRPr kumimoji="1"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87B2385D-990A-EC13-0B5F-F3D4112569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61</a:t>
            </a:fld>
            <a:endParaRPr lang="en-US"/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3555F246-EBF5-6D7F-6888-FE7FB326AF8B}"/>
              </a:ext>
            </a:extLst>
          </p:cNvPr>
          <p:cNvSpPr txBox="1"/>
          <p:nvPr/>
        </p:nvSpPr>
        <p:spPr>
          <a:xfrm>
            <a:off x="1005936" y="1638639"/>
            <a:ext cx="2788824" cy="5890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en-US" altLang="zh-TW" sz="2400" dirty="0" err="1"/>
              <a:t>Softmax</a:t>
            </a:r>
            <a:r>
              <a:rPr kumimoji="1" lang="en-US" altLang="zh-TW" sz="2400" dirty="0"/>
              <a:t> formula: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文字方塊 5">
                <a:extLst>
                  <a:ext uri="{FF2B5EF4-FFF2-40B4-BE49-F238E27FC236}">
                    <a16:creationId xmlns:a16="http://schemas.microsoft.com/office/drawing/2014/main" id="{A772E578-7E60-78AE-AA5F-C26B47B20443}"/>
                  </a:ext>
                </a:extLst>
              </p:cNvPr>
              <p:cNvSpPr txBox="1"/>
              <p:nvPr/>
            </p:nvSpPr>
            <p:spPr>
              <a:xfrm>
                <a:off x="4937436" y="2403398"/>
                <a:ext cx="2378087" cy="102560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kumimoji="1" lang="en-US" altLang="zh-TW" sz="28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nor/>
                            </m:rPr>
                            <a:rPr kumimoji="1" lang="en-US" altLang="zh-TW" sz="2800" b="0" i="0" smtClean="0">
                              <a:latin typeface="Cambria Math" panose="02040503050406030204" pitchFamily="18" charset="0"/>
                            </a:rPr>
                            <m:t>exp</m:t>
                          </m:r>
                          <m:r>
                            <m:rPr>
                              <m:nor/>
                            </m:rPr>
                            <a:rPr kumimoji="1" lang="en-US" altLang="zh-TW" sz="2800" b="0" i="0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kumimoji="1" lang="en-US" altLang="zh-TW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kumimoji="1" lang="en-US" altLang="zh-TW" sz="2800" b="0" i="1" smtClean="0"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</m:e>
                            <m:sub>
                              <m:r>
                                <a:rPr kumimoji="1" lang="en-US" altLang="zh-TW" sz="2800" b="0" i="1" smtClean="0">
                                  <a:latin typeface="Cambria Math" panose="02040503050406030204" pitchFamily="18" charset="0"/>
                                </a:rPr>
                                <m:t>𝑙</m:t>
                              </m:r>
                            </m:sub>
                          </m:sSub>
                          <m:r>
                            <a:rPr kumimoji="1" lang="en-US" altLang="zh-TW" sz="2800" b="0" i="1" smtClean="0">
                              <a:latin typeface="Cambria Math" panose="02040503050406030204" pitchFamily="18" charset="0"/>
                            </a:rPr>
                            <m:t>/</m:t>
                          </m:r>
                          <m:r>
                            <m:rPr>
                              <m:nor/>
                            </m:rPr>
                            <a:rPr kumimoji="1" lang="en-US" altLang="zh-TW" sz="2800" b="0" i="0" smtClean="0">
                              <a:latin typeface="Cambria Math" panose="02040503050406030204" pitchFamily="18" charset="0"/>
                            </a:rPr>
                            <m:t>t</m:t>
                          </m:r>
                          <m:r>
                            <m:rPr>
                              <m:nor/>
                            </m:rPr>
                            <a:rPr kumimoji="1" lang="en-US" altLang="zh-TW" sz="2800" b="0" i="0" smtClean="0">
                              <a:latin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nary>
                            <m:naryPr>
                              <m:chr m:val="∑"/>
                              <m:limLoc m:val="subSup"/>
                              <m:ctrlPr>
                                <a:rPr kumimoji="1" lang="en-US" altLang="zh-TW" sz="2800" i="1" smtClean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5"/>
                                </m:rPr>
                                <a:rPr kumimoji="1" lang="en-US" altLang="zh-TW" sz="2800" b="0" i="1" smtClean="0">
                                  <a:latin typeface="Cambria Math" panose="02040503050406030204" pitchFamily="18" charset="0"/>
                                </a:rPr>
                                <m:t>𝑙</m:t>
                              </m:r>
                              <m:r>
                                <a:rPr kumimoji="1" lang="en-US" altLang="zh-TW" sz="2800" b="0" i="1" smtClean="0"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b>
                            <m:sup>
                              <m:d>
                                <m:dPr>
                                  <m:begChr m:val="|"/>
                                  <m:endChr m:val="|"/>
                                  <m:ctrlPr>
                                    <a:rPr kumimoji="1" lang="en-US" altLang="zh-TW" sz="2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kumimoji="1" lang="en-US" altLang="zh-TW" sz="2800" b="0" i="1" smtClean="0">
                                      <a:latin typeface="Cambria Math" panose="02040503050406030204" pitchFamily="18" charset="0"/>
                                    </a:rPr>
                                    <m:t>𝑉</m:t>
                                  </m:r>
                                </m:e>
                              </m:d>
                            </m:sup>
                            <m:e>
                              <m:r>
                                <m:rPr>
                                  <m:nor/>
                                </m:rPr>
                                <a:rPr kumimoji="1" lang="en-US" altLang="zh-TW" sz="2800" b="0" i="0" smtClean="0">
                                  <a:latin typeface="Cambria Math" panose="02040503050406030204" pitchFamily="18" charset="0"/>
                                </a:rPr>
                                <m:t>exp</m:t>
                              </m:r>
                            </m:e>
                          </m:nary>
                          <m:r>
                            <a:rPr kumimoji="1" lang="en-US" altLang="zh-TW" sz="2800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kumimoji="1" lang="en-US" altLang="zh-TW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kumimoji="1" lang="en-US" altLang="zh-TW" sz="2800" b="0" i="1" smtClean="0"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</m:e>
                            <m:sub>
                              <m:r>
                                <a:rPr kumimoji="1" lang="en-US" altLang="zh-TW" sz="2800" b="0" i="1" smtClean="0">
                                  <a:latin typeface="Cambria Math" panose="02040503050406030204" pitchFamily="18" charset="0"/>
                                </a:rPr>
                                <m:t>𝑙</m:t>
                              </m:r>
                              <m:r>
                                <a:rPr kumimoji="1" lang="en-US" altLang="zh-TW" sz="2800" b="0" i="1" smtClean="0"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b>
                          </m:sSub>
                          <m:r>
                            <a:rPr kumimoji="1" lang="en-US" altLang="zh-TW" sz="2800" b="0" i="1" smtClean="0">
                              <a:latin typeface="Cambria Math" panose="02040503050406030204" pitchFamily="18" charset="0"/>
                            </a:rPr>
                            <m:t>/</m:t>
                          </m:r>
                          <m:r>
                            <a:rPr kumimoji="1" lang="en-US" altLang="zh-TW" sz="28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kumimoji="1" lang="en-US" altLang="zh-TW" sz="2800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den>
                      </m:f>
                    </m:oMath>
                  </m:oMathPara>
                </a14:m>
                <a:endParaRPr kumimoji="1" lang="zh-TW" altLang="en-US" sz="2800" dirty="0"/>
              </a:p>
            </p:txBody>
          </p:sp>
        </mc:Choice>
        <mc:Fallback xmlns="">
          <p:sp>
            <p:nvSpPr>
              <p:cNvPr id="6" name="文字方塊 5">
                <a:extLst>
                  <a:ext uri="{FF2B5EF4-FFF2-40B4-BE49-F238E27FC236}">
                    <a16:creationId xmlns:a16="http://schemas.microsoft.com/office/drawing/2014/main" id="{A772E578-7E60-78AE-AA5F-C26B47B2044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37436" y="2403398"/>
                <a:ext cx="2378087" cy="1025602"/>
              </a:xfrm>
              <a:prstGeom prst="rect">
                <a:avLst/>
              </a:prstGeom>
              <a:blipFill>
                <a:blip r:embed="rId2"/>
                <a:stretch>
                  <a:fillRect l="-24468" t="-15854" r="-5319" b="-98780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文字方塊 6">
                <a:extLst>
                  <a:ext uri="{FF2B5EF4-FFF2-40B4-BE49-F238E27FC236}">
                    <a16:creationId xmlns:a16="http://schemas.microsoft.com/office/drawing/2014/main" id="{26982479-B010-9DAF-FD93-D42900EA063B}"/>
                  </a:ext>
                </a:extLst>
              </p:cNvPr>
              <p:cNvSpPr txBox="1"/>
              <p:nvPr/>
            </p:nvSpPr>
            <p:spPr>
              <a:xfrm>
                <a:off x="7255937" y="1489122"/>
                <a:ext cx="4013030" cy="861774"/>
              </a:xfrm>
              <a:prstGeom prst="rect">
                <a:avLst/>
              </a:prstGeom>
              <a:noFill/>
              <a:ln>
                <a:solidFill>
                  <a:srgbClr val="0070C0"/>
                </a:solidFill>
              </a:ln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zh-TW" sz="16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zh-TW" sz="1600" b="0" i="1" smtClean="0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r>
                          <a:rPr kumimoji="1" lang="en-US" altLang="zh-TW" sz="1600" b="0" i="1" smtClean="0">
                            <a:latin typeface="Cambria Math" panose="02040503050406030204" pitchFamily="18" charset="0"/>
                          </a:rPr>
                          <m:t>𝑙</m:t>
                        </m:r>
                      </m:sub>
                    </m:sSub>
                  </m:oMath>
                </a14:m>
                <a:r>
                  <a:rPr kumimoji="1" lang="en-US" altLang="zh-TW" sz="1600" dirty="0"/>
                  <a:t>: logits (model outputs before </a:t>
                </a:r>
                <a:r>
                  <a:rPr kumimoji="1" lang="en-US" altLang="zh-TW" sz="1600" dirty="0" err="1"/>
                  <a:t>softmax</a:t>
                </a:r>
                <a:r>
                  <a:rPr kumimoji="1" lang="en-US" altLang="zh-TW" sz="1600" dirty="0"/>
                  <a:t>)</a:t>
                </a:r>
              </a:p>
              <a:p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kumimoji="1" lang="en-US" altLang="zh-TW" sz="16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kumimoji="1" lang="en-US" altLang="zh-TW" sz="1600" b="0" i="1" smtClean="0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</m:d>
                    <m:r>
                      <a:rPr kumimoji="1" lang="en-US" altLang="zh-TW" sz="1600" b="0" i="1" smtClean="0">
                        <a:latin typeface="Cambria Math" panose="02040503050406030204" pitchFamily="18" charset="0"/>
                      </a:rPr>
                      <m:t>:</m:t>
                    </m:r>
                  </m:oMath>
                </a14:m>
                <a:r>
                  <a:rPr kumimoji="1" lang="en-US" altLang="zh-TW" sz="1600" dirty="0"/>
                  <a:t> size of the vocabulary</a:t>
                </a:r>
              </a:p>
              <a:p>
                <a14:m>
                  <m:oMath xmlns:m="http://schemas.openxmlformats.org/officeDocument/2006/math">
                    <m:r>
                      <a:rPr kumimoji="1" lang="en-US" altLang="zh-TW" sz="1600" b="0" i="1" smtClean="0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kumimoji="1" lang="en-US" altLang="zh-TW" sz="1600" dirty="0"/>
                  <a:t>: </a:t>
                </a:r>
                <a:r>
                  <a:rPr kumimoji="1" lang="en-US" altLang="zh-TW" sz="1600" dirty="0" err="1"/>
                  <a:t>softmax</a:t>
                </a:r>
                <a:r>
                  <a:rPr kumimoji="1" lang="en-US" altLang="zh-TW" sz="1600" dirty="0"/>
                  <a:t> temperature</a:t>
                </a:r>
                <a:endParaRPr kumimoji="1" lang="zh-TW" altLang="en-US" sz="1600" dirty="0"/>
              </a:p>
            </p:txBody>
          </p:sp>
        </mc:Choice>
        <mc:Fallback xmlns="">
          <p:sp>
            <p:nvSpPr>
              <p:cNvPr id="7" name="文字方塊 6">
                <a:extLst>
                  <a:ext uri="{FF2B5EF4-FFF2-40B4-BE49-F238E27FC236}">
                    <a16:creationId xmlns:a16="http://schemas.microsoft.com/office/drawing/2014/main" id="{26982479-B010-9DAF-FD93-D42900EA063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55937" y="1489122"/>
                <a:ext cx="4013030" cy="861774"/>
              </a:xfrm>
              <a:prstGeom prst="rect">
                <a:avLst/>
              </a:prstGeom>
              <a:blipFill>
                <a:blip r:embed="rId3"/>
                <a:stretch>
                  <a:fillRect t="-1429" b="-4286"/>
                </a:stretch>
              </a:blipFill>
              <a:ln>
                <a:solidFill>
                  <a:srgbClr val="0070C0"/>
                </a:solidFill>
              </a:ln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文字方塊 2">
                <a:extLst>
                  <a:ext uri="{FF2B5EF4-FFF2-40B4-BE49-F238E27FC236}">
                    <a16:creationId xmlns:a16="http://schemas.microsoft.com/office/drawing/2014/main" id="{C4C0DA17-55BA-7744-64F7-581495C462F2}"/>
                  </a:ext>
                </a:extLst>
              </p:cNvPr>
              <p:cNvSpPr txBox="1"/>
              <p:nvPr/>
            </p:nvSpPr>
            <p:spPr>
              <a:xfrm>
                <a:off x="1097280" y="3825579"/>
                <a:ext cx="9566910" cy="22510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342900" indent="-342900" algn="just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kumimoji="1" lang="en-US" altLang="zh-TW" sz="2400" dirty="0"/>
                  <a:t>Larger </a:t>
                </a:r>
                <a14:m>
                  <m:oMath xmlns:m="http://schemas.openxmlformats.org/officeDocument/2006/math">
                    <m:r>
                      <a:rPr kumimoji="1" lang="en-US" altLang="zh-TW" sz="2400" b="0" i="1" smtClean="0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kumimoji="1" lang="en-US" altLang="zh-TW" sz="2400" dirty="0"/>
                  <a:t> -&gt; Lower probability value -&gt; Smaller ranges of probability distribution -&gt; </a:t>
                </a:r>
                <a:r>
                  <a:rPr kumimoji="1" lang="en-US" altLang="zh-TW" sz="2400" dirty="0">
                    <a:solidFill>
                      <a:srgbClr val="FF0000"/>
                    </a:solidFill>
                  </a:rPr>
                  <a:t>More diverse</a:t>
                </a:r>
                <a:r>
                  <a:rPr kumimoji="1" lang="en-US" altLang="zh-TW" sz="2400" dirty="0"/>
                  <a:t> Outputs</a:t>
                </a:r>
              </a:p>
              <a:p>
                <a:pPr marL="342900" indent="-342900" algn="just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kumimoji="1" lang="en-US" altLang="zh-TW" sz="2400" dirty="0"/>
                  <a:t>Smaller </a:t>
                </a:r>
                <a14:m>
                  <m:oMath xmlns:m="http://schemas.openxmlformats.org/officeDocument/2006/math">
                    <m:r>
                      <a:rPr kumimoji="1" lang="en-US" altLang="zh-TW" sz="2400" b="0" i="1" smtClean="0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kumimoji="1" lang="en-US" altLang="zh-TW" sz="2400" dirty="0"/>
                  <a:t> -&gt; Higher probability value -&gt; Greater ranges of probability distribution -&gt; </a:t>
                </a:r>
                <a:r>
                  <a:rPr kumimoji="1" lang="en-US" altLang="zh-TW" sz="2400" dirty="0">
                    <a:solidFill>
                      <a:srgbClr val="FF0000"/>
                    </a:solidFill>
                  </a:rPr>
                  <a:t>Less diverse </a:t>
                </a:r>
                <a:r>
                  <a:rPr kumimoji="1" lang="en-US" altLang="zh-TW" sz="2400" dirty="0"/>
                  <a:t>Outputs</a:t>
                </a:r>
              </a:p>
            </p:txBody>
          </p:sp>
        </mc:Choice>
        <mc:Fallback xmlns="">
          <p:sp>
            <p:nvSpPr>
              <p:cNvPr id="3" name="文字方塊 2">
                <a:extLst>
                  <a:ext uri="{FF2B5EF4-FFF2-40B4-BE49-F238E27FC236}">
                    <a16:creationId xmlns:a16="http://schemas.microsoft.com/office/drawing/2014/main" id="{C4C0DA17-55BA-7744-64F7-581495C462F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97280" y="3825579"/>
                <a:ext cx="9566910" cy="2251065"/>
              </a:xfrm>
              <a:prstGeom prst="rect">
                <a:avLst/>
              </a:prstGeom>
              <a:blipFill>
                <a:blip r:embed="rId4"/>
                <a:stretch>
                  <a:fillRect l="-928" r="-1061" b="-5056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47056133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9D9A8D1-FD81-1BFD-A2BD-579702FD00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 err="1"/>
              <a:t>Softmax</a:t>
            </a:r>
            <a:r>
              <a:rPr kumimoji="1" lang="en-US" altLang="zh-TW" dirty="0"/>
              <a:t> Temperature</a:t>
            </a:r>
            <a:endParaRPr kumimoji="1"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1B02B52D-C34C-D204-B0EF-9721F2FC54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62</a:t>
            </a:fld>
            <a:endParaRPr lang="en-US" dirty="0"/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09D457D0-3BDA-EAC3-12EA-93A8EEA17B9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7438" y="2425356"/>
            <a:ext cx="10257123" cy="3474469"/>
          </a:xfrm>
          <a:prstGeom prst="rect">
            <a:avLst/>
          </a:prstGeom>
        </p:spPr>
      </p:pic>
      <p:sp>
        <p:nvSpPr>
          <p:cNvPr id="6" name="文字方塊 5">
            <a:extLst>
              <a:ext uri="{FF2B5EF4-FFF2-40B4-BE49-F238E27FC236}">
                <a16:creationId xmlns:a16="http://schemas.microsoft.com/office/drawing/2014/main" id="{384E8902-4429-D00F-EE22-476E069E2C52}"/>
              </a:ext>
            </a:extLst>
          </p:cNvPr>
          <p:cNvSpPr txBox="1"/>
          <p:nvPr/>
        </p:nvSpPr>
        <p:spPr>
          <a:xfrm>
            <a:off x="6754019" y="1798157"/>
            <a:ext cx="38589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dirty="0"/>
              <a:t>Temperature </a:t>
            </a:r>
            <a:r>
              <a:rPr kumimoji="1" lang="zh-TW" altLang="en-US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低的時候 </a:t>
            </a:r>
            <a:r>
              <a:rPr kumimoji="1" lang="en-US" altLang="zh-TW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(less diverse)</a:t>
            </a:r>
            <a:endParaRPr kumimoji="1" lang="zh-TW" altLang="en-US" dirty="0"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5C2901B0-CCE7-365C-3C00-250BEB5777D4}"/>
              </a:ext>
            </a:extLst>
          </p:cNvPr>
          <p:cNvSpPr txBox="1"/>
          <p:nvPr/>
        </p:nvSpPr>
        <p:spPr>
          <a:xfrm>
            <a:off x="1122745" y="1798157"/>
            <a:ext cx="42131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dirty="0"/>
              <a:t>Temperature </a:t>
            </a:r>
            <a:r>
              <a:rPr kumimoji="1" lang="zh-TW" altLang="en-US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高的時候 </a:t>
            </a:r>
            <a:r>
              <a:rPr kumimoji="1" lang="en-US" altLang="zh-TW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(more diverse)</a:t>
            </a:r>
            <a:endParaRPr kumimoji="1" lang="zh-TW" altLang="en-US" dirty="0"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950CEAC3-8419-248C-ED04-45DF21886068}"/>
              </a:ext>
            </a:extLst>
          </p:cNvPr>
          <p:cNvSpPr txBox="1"/>
          <p:nvPr/>
        </p:nvSpPr>
        <p:spPr>
          <a:xfrm>
            <a:off x="2535554" y="6240302"/>
            <a:ext cx="712089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" altLang="zh-TW" sz="1400" dirty="0"/>
              <a:t>Holtzman, Ari, et al. "The Curious Case of Neural Text Degeneration." International Conference on Learning Representations (ICLR). 2020.</a:t>
            </a:r>
            <a:endParaRPr kumimoji="1" lang="zh-TW" altLang="en-US" sz="1400" dirty="0"/>
          </a:p>
        </p:txBody>
      </p:sp>
    </p:spTree>
    <p:extLst>
      <p:ext uri="{BB962C8B-B14F-4D97-AF65-F5344CB8AC3E}">
        <p14:creationId xmlns:p14="http://schemas.microsoft.com/office/powerpoint/2010/main" val="75327114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6CFFED4-F25D-E6A8-45F6-5336E2BC31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en-US" altLang="zh-TW" dirty="0"/>
              <a:t>The k value should be carefully picked</a:t>
            </a:r>
            <a:endParaRPr kumimoji="1"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3A9C281-62AE-A251-2830-A7DBC24CA5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63</a:t>
            </a:fld>
            <a:endParaRPr lang="en-US"/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E5F513C1-F5B0-9745-0542-9E761A03618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34490" y="1829435"/>
            <a:ext cx="8736330" cy="3878529"/>
          </a:xfrm>
          <a:prstGeom prst="rect">
            <a:avLst/>
          </a:prstGeom>
        </p:spPr>
      </p:pic>
      <p:sp>
        <p:nvSpPr>
          <p:cNvPr id="6" name="文字方塊 5">
            <a:extLst>
              <a:ext uri="{FF2B5EF4-FFF2-40B4-BE49-F238E27FC236}">
                <a16:creationId xmlns:a16="http://schemas.microsoft.com/office/drawing/2014/main" id="{FB330A16-D46A-501F-4559-3F21C59C20A2}"/>
              </a:ext>
            </a:extLst>
          </p:cNvPr>
          <p:cNvSpPr txBox="1"/>
          <p:nvPr/>
        </p:nvSpPr>
        <p:spPr>
          <a:xfrm>
            <a:off x="2520363" y="5760720"/>
            <a:ext cx="712089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" altLang="zh-TW" sz="1400" dirty="0"/>
              <a:t>Holtzman, Ari, et al. "The Curious Case of Neural Text Degeneration." International Conference on Learning Representations. 2019.</a:t>
            </a:r>
            <a:endParaRPr kumimoji="1" lang="zh-TW" altLang="en-US" sz="1400" dirty="0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983EDD8F-6B75-8448-06FC-3679C66A8A58}"/>
              </a:ext>
            </a:extLst>
          </p:cNvPr>
          <p:cNvSpPr/>
          <p:nvPr/>
        </p:nvSpPr>
        <p:spPr>
          <a:xfrm>
            <a:off x="8515350" y="3554730"/>
            <a:ext cx="537210" cy="457200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EED57B49-0795-C347-949E-E03FD16A8D6B}"/>
              </a:ext>
            </a:extLst>
          </p:cNvPr>
          <p:cNvSpPr/>
          <p:nvPr/>
        </p:nvSpPr>
        <p:spPr>
          <a:xfrm>
            <a:off x="2251758" y="3554730"/>
            <a:ext cx="1154382" cy="457199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3043218731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C71480D-4E02-6D2B-E6B6-AF7A00CD26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kumimoji="1" lang="en-US" altLang="zh-TW" dirty="0"/>
              <a:t>Comparison for Top-k and Top-p Sampling</a:t>
            </a:r>
            <a:endParaRPr kumimoji="1"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E1605F61-3B00-4E09-2461-83F8EF99E7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64</a:t>
            </a:fld>
            <a:endParaRPr lang="en-US"/>
          </a:p>
        </p:txBody>
      </p:sp>
      <p:graphicFrame>
        <p:nvGraphicFramePr>
          <p:cNvPr id="5" name="表格 5">
            <a:extLst>
              <a:ext uri="{FF2B5EF4-FFF2-40B4-BE49-F238E27FC236}">
                <a16:creationId xmlns:a16="http://schemas.microsoft.com/office/drawing/2014/main" id="{222B6712-10CB-69CA-0792-95801AFF7820}"/>
              </a:ext>
            </a:extLst>
          </p:cNvPr>
          <p:cNvGraphicFramePr>
            <a:graphicFrameLocks noGrp="1"/>
          </p:cNvGraphicFramePr>
          <p:nvPr/>
        </p:nvGraphicFramePr>
        <p:xfrm>
          <a:off x="1597719" y="2210392"/>
          <a:ext cx="8996562" cy="310675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08392">
                  <a:extLst>
                    <a:ext uri="{9D8B030D-6E8A-4147-A177-3AD203B41FA5}">
                      <a16:colId xmlns:a16="http://schemas.microsoft.com/office/drawing/2014/main" val="3992998841"/>
                    </a:ext>
                  </a:extLst>
                </a:gridCol>
                <a:gridCol w="3158553">
                  <a:extLst>
                    <a:ext uri="{9D8B030D-6E8A-4147-A177-3AD203B41FA5}">
                      <a16:colId xmlns:a16="http://schemas.microsoft.com/office/drawing/2014/main" val="2868127146"/>
                    </a:ext>
                  </a:extLst>
                </a:gridCol>
                <a:gridCol w="3329617">
                  <a:extLst>
                    <a:ext uri="{9D8B030D-6E8A-4147-A177-3AD203B41FA5}">
                      <a16:colId xmlns:a16="http://schemas.microsoft.com/office/drawing/2014/main" val="2963002179"/>
                    </a:ext>
                  </a:extLst>
                </a:gridCol>
              </a:tblGrid>
              <a:tr h="546439">
                <a:tc>
                  <a:txBody>
                    <a:bodyPr/>
                    <a:lstStyle/>
                    <a:p>
                      <a:endParaRPr lang="zh-TW" altLang="en-US" b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Top-k Sampling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Top-p Sampling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48449084"/>
                  </a:ext>
                </a:extLst>
              </a:tr>
              <a:tr h="546439">
                <a:tc>
                  <a:txBody>
                    <a:bodyPr/>
                    <a:lstStyle/>
                    <a:p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Hyperparameter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k: top-k words are preserved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p: sum of the minimum set of words exceeds the value of p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0489285"/>
                  </a:ext>
                </a:extLst>
              </a:tr>
              <a:tr h="546439">
                <a:tc>
                  <a:txBody>
                    <a:bodyPr/>
                    <a:lstStyle/>
                    <a:p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Performance</a:t>
                      </a:r>
                    </a:p>
                    <a:p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(Who is better?)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By cases (these two are both widely used)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86866400"/>
                  </a:ext>
                </a:extLst>
              </a:tr>
              <a:tr h="546439">
                <a:tc>
                  <a:txBody>
                    <a:bodyPr/>
                    <a:lstStyle/>
                    <a:p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Hyperparameter Tuning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Harder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Easier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98139269"/>
                  </a:ext>
                </a:extLst>
              </a:tr>
              <a:tr h="546439">
                <a:tc>
                  <a:txBody>
                    <a:bodyPr/>
                    <a:lstStyle/>
                    <a:p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Common Hyperparameter Value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k=40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p=0.95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2158356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1640632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標題 4">
            <a:extLst>
              <a:ext uri="{FF2B5EF4-FFF2-40B4-BE49-F238E27FC236}">
                <a16:creationId xmlns:a16="http://schemas.microsoft.com/office/drawing/2014/main" id="{6CD83C5C-EA61-C255-DF28-E9CFF9EEAA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5300" y="3065145"/>
            <a:ext cx="3200400" cy="727709"/>
          </a:xfrm>
        </p:spPr>
        <p:txBody>
          <a:bodyPr anchor="ctr">
            <a:normAutofit/>
          </a:bodyPr>
          <a:lstStyle/>
          <a:p>
            <a:r>
              <a:rPr lang="en-US" altLang="zh-TW" sz="4800" dirty="0"/>
              <a:t>Thank you!</a:t>
            </a:r>
            <a:endParaRPr lang="zh-TW" altLang="en-US" sz="4800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060AC63-905C-E7E8-4AEA-D711150C4E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65</a:t>
            </a:fld>
            <a:endParaRPr lang="en-US" dirty="0"/>
          </a:p>
        </p:txBody>
      </p:sp>
      <p:sp>
        <p:nvSpPr>
          <p:cNvPr id="13" name="內容版面配置區 2">
            <a:extLst>
              <a:ext uri="{FF2B5EF4-FFF2-40B4-BE49-F238E27FC236}">
                <a16:creationId xmlns:a16="http://schemas.microsoft.com/office/drawing/2014/main" id="{AB6151A5-2D6F-3748-8575-59D412696C53}"/>
              </a:ext>
            </a:extLst>
          </p:cNvPr>
          <p:cNvSpPr txBox="1">
            <a:spLocks/>
          </p:cNvSpPr>
          <p:nvPr/>
        </p:nvSpPr>
        <p:spPr>
          <a:xfrm>
            <a:off x="4725880" y="2315977"/>
            <a:ext cx="4737788" cy="2516218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kumimoji="1" lang="en-US" altLang="zh-TW" sz="3200" dirty="0">
                <a:latin typeface="Calibri" panose="020F0502020204030204" pitchFamily="34" charset="0"/>
                <a:ea typeface="Microsoft JhengHei" panose="020B0604030504040204" pitchFamily="34" charset="-120"/>
                <a:cs typeface="Calibri" panose="020F0502020204030204" pitchFamily="34" charset="0"/>
              </a:rPr>
              <a:t>Instructor: </a:t>
            </a:r>
            <a:r>
              <a:rPr kumimoji="1" lang="zh-TW" altLang="en-US" sz="3200" dirty="0">
                <a:latin typeface="Calibri" panose="020F0502020204030204" pitchFamily="34" charset="0"/>
                <a:ea typeface="Microsoft JhengHei" panose="020B0604030504040204" pitchFamily="34" charset="-120"/>
                <a:cs typeface="Calibri" panose="020F0502020204030204" pitchFamily="34" charset="0"/>
              </a:rPr>
              <a:t>林英嘉</a:t>
            </a:r>
            <a:endParaRPr kumimoji="1" lang="en-US" altLang="zh-TW" sz="3200" dirty="0">
              <a:latin typeface="Calibri" panose="020F0502020204030204" pitchFamily="34" charset="0"/>
              <a:ea typeface="Microsoft JhengHei" panose="020B0604030504040204" pitchFamily="34" charset="-120"/>
              <a:cs typeface="Calibri" panose="020F0502020204030204" pitchFamily="34" charset="0"/>
            </a:endParaRPr>
          </a:p>
          <a:p>
            <a:pPr marL="0" indent="0">
              <a:buFont typeface="Calibri" panose="020F0502020204030204" pitchFamily="34" charset="0"/>
              <a:buNone/>
            </a:pPr>
            <a:r>
              <a:rPr kumimoji="1" lang="en-US" altLang="zh-TW" sz="3200" dirty="0">
                <a:latin typeface="Calibri" panose="020F0502020204030204" pitchFamily="34" charset="0"/>
                <a:ea typeface="Microsoft JhengHei" panose="020B0604030504040204" pitchFamily="34" charset="-120"/>
                <a:cs typeface="Calibri" panose="020F0502020204030204" pitchFamily="34" charset="0"/>
              </a:rPr>
              <a:t> ✉️ </a:t>
            </a:r>
            <a:r>
              <a:rPr kumimoji="1" lang="en-US" altLang="zh-TW" sz="3200" dirty="0" err="1">
                <a:latin typeface="Calibri" panose="020F0502020204030204" pitchFamily="34" charset="0"/>
                <a:ea typeface="Microsoft JhengHei" panose="020B0604030504040204" pitchFamily="34" charset="-120"/>
                <a:cs typeface="Calibri" panose="020F0502020204030204" pitchFamily="34" charset="0"/>
              </a:rPr>
              <a:t>yjlin@cgu.edu.tw</a:t>
            </a:r>
            <a:endParaRPr kumimoji="1" lang="en-US" altLang="zh-TW" sz="3200" dirty="0">
              <a:latin typeface="Calibri" panose="020F0502020204030204" pitchFamily="34" charset="0"/>
              <a:ea typeface="Microsoft JhengHei" panose="020B0604030504040204" pitchFamily="34" charset="-120"/>
              <a:cs typeface="Calibri" panose="020F0502020204030204" pitchFamily="34" charset="0"/>
            </a:endParaRPr>
          </a:p>
          <a:p>
            <a:pPr marL="0" indent="0">
              <a:buFont typeface="Calibri" panose="020F0502020204030204" pitchFamily="34" charset="0"/>
              <a:buNone/>
            </a:pPr>
            <a:r>
              <a:rPr kumimoji="1" lang="en-US" altLang="zh-TW" sz="3200" dirty="0">
                <a:latin typeface="Calibri" panose="020F0502020204030204" pitchFamily="34" charset="0"/>
                <a:ea typeface="Microsoft JhengHei" panose="020B0604030504040204" pitchFamily="34" charset="-120"/>
                <a:cs typeface="Calibri" panose="020F0502020204030204" pitchFamily="34" charset="0"/>
              </a:rPr>
              <a:t> TA: </a:t>
            </a:r>
            <a:r>
              <a:rPr kumimoji="1" lang="zh-TW" altLang="en-US" sz="3200" dirty="0">
                <a:latin typeface="Calibri" panose="020F0502020204030204" pitchFamily="34" charset="0"/>
                <a:ea typeface="Microsoft JhengHei" panose="020B0604030504040204" pitchFamily="34" charset="-120"/>
                <a:cs typeface="Calibri" panose="020F0502020204030204" pitchFamily="34" charset="0"/>
              </a:rPr>
              <a:t>林宣辰</a:t>
            </a:r>
          </a:p>
          <a:p>
            <a:pPr marL="0" indent="0">
              <a:buFont typeface="Calibri" panose="020F0502020204030204" pitchFamily="34" charset="0"/>
              <a:buNone/>
            </a:pPr>
            <a:r>
              <a:rPr kumimoji="1" lang="en-US" altLang="zh-TW" sz="3200" dirty="0">
                <a:latin typeface="Calibri" panose="020F0502020204030204" pitchFamily="34" charset="0"/>
                <a:ea typeface="Microsoft JhengHei" panose="020B0604030504040204" pitchFamily="34" charset="-120"/>
                <a:cs typeface="Calibri" panose="020F0502020204030204" pitchFamily="34" charset="0"/>
              </a:rPr>
              <a:t> </a:t>
            </a:r>
            <a:r>
              <a:rPr kumimoji="1" lang="zh-TW" altLang="en-US" sz="3200" dirty="0">
                <a:latin typeface="Calibri" panose="020F0502020204030204" pitchFamily="34" charset="0"/>
                <a:ea typeface="Microsoft JhengHei" panose="020B0604030504040204" pitchFamily="34" charset="-120"/>
                <a:cs typeface="Calibri" panose="020F0502020204030204" pitchFamily="34" charset="0"/>
              </a:rPr>
              <a:t>✉️ </a:t>
            </a:r>
            <a:r>
              <a:rPr kumimoji="1" lang="en-US" altLang="zh-TW" sz="3200" dirty="0">
                <a:latin typeface="Calibri" panose="020F0502020204030204" pitchFamily="34" charset="0"/>
                <a:ea typeface="Microsoft JhengHei" panose="020B0604030504040204" pitchFamily="34" charset="-120"/>
                <a:cs typeface="Calibri" panose="020F0502020204030204" pitchFamily="34" charset="0"/>
              </a:rPr>
              <a:t>b1128015@cgu.edu.tw</a:t>
            </a:r>
          </a:p>
        </p:txBody>
      </p:sp>
    </p:spTree>
    <p:extLst>
      <p:ext uri="{BB962C8B-B14F-4D97-AF65-F5344CB8AC3E}">
        <p14:creationId xmlns:p14="http://schemas.microsoft.com/office/powerpoint/2010/main" val="2684697706"/>
      </p:ext>
    </p:extLst>
  </p:cSld>
  <p:clrMapOvr>
    <a:masterClrMapping/>
  </p:clrMapOvr>
</p:sld>
</file>

<file path=ppt/theme/theme1.xml><?xml version="1.0" encoding="utf-8"?>
<a:theme xmlns:a="http://schemas.openxmlformats.org/drawingml/2006/main" name="回顧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ourse_template_DL" id="{E71C07C9-5718-B34F-9EA9-A4FDE47A262C}" vid="{F05AA8C9-6C58-904C-AE8A-42257BEE94D0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回顧</Template>
  <TotalTime>4018</TotalTime>
  <Words>4006</Words>
  <Application>Microsoft Macintosh PowerPoint</Application>
  <PresentationFormat>寬螢幕</PresentationFormat>
  <Paragraphs>1282</Paragraphs>
  <Slides>65</Slides>
  <Notes>20</Notes>
  <HiddenSlides>0</HiddenSlides>
  <MMClips>0</MMClips>
  <ScaleCrop>false</ScaleCrop>
  <HeadingPairs>
    <vt:vector size="6" baseType="variant">
      <vt:variant>
        <vt:lpstr>使用字型</vt:lpstr>
      </vt:variant>
      <vt:variant>
        <vt:i4>8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65</vt:i4>
      </vt:variant>
    </vt:vector>
  </HeadingPairs>
  <TitlesOfParts>
    <vt:vector size="74" baseType="lpstr">
      <vt:lpstr>Microsoft JhengHei</vt:lpstr>
      <vt:lpstr>新細明體</vt:lpstr>
      <vt:lpstr>Nanum Brush Script</vt:lpstr>
      <vt:lpstr>Arial</vt:lpstr>
      <vt:lpstr>Calibri</vt:lpstr>
      <vt:lpstr>Cambria Math</vt:lpstr>
      <vt:lpstr>Roboto</vt:lpstr>
      <vt:lpstr>Times New Roman</vt:lpstr>
      <vt:lpstr>回顧</vt:lpstr>
      <vt:lpstr>自然語言處理與應用 Natural Language Processing and Applications</vt:lpstr>
      <vt:lpstr>Outline</vt:lpstr>
      <vt:lpstr>Transformer 架構的後續應用</vt:lpstr>
      <vt:lpstr>GPT 是一個語言模型</vt:lpstr>
      <vt:lpstr>[RNN Recap] 條件機率</vt:lpstr>
      <vt:lpstr>[Recap] 文字生成過程</vt:lpstr>
      <vt:lpstr>常見 Language Models</vt:lpstr>
      <vt:lpstr>訓練 GPT 最大化每個時間點的機率</vt:lpstr>
      <vt:lpstr>Language Modeling and Cross-entropy (1)</vt:lpstr>
      <vt:lpstr>Language Modeling and Cross-entropy (2)</vt:lpstr>
      <vt:lpstr>Language Models 終究是 left-to-right</vt:lpstr>
      <vt:lpstr>Encoder vs. Decoder in Pre-training</vt:lpstr>
      <vt:lpstr>GPT-1 與 BERT 的 Fine-tuning</vt:lpstr>
      <vt:lpstr>How to train a (Conditional) Language Model?</vt:lpstr>
      <vt:lpstr>How to train a (Conditional) Language Model?</vt:lpstr>
      <vt:lpstr>Teacher Forcing – Training Time</vt:lpstr>
      <vt:lpstr>Teacher Forcing – Testing Time</vt:lpstr>
      <vt:lpstr>Decoding Strategies</vt:lpstr>
      <vt:lpstr>Greedy Decoding</vt:lpstr>
      <vt:lpstr>文字生成過程 – Greedy Decoding</vt:lpstr>
      <vt:lpstr>Problem of Greedy Decoding</vt:lpstr>
      <vt:lpstr>Re-thinking Greedy Decoding</vt:lpstr>
      <vt:lpstr>Beam Search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Stop Criterion (停止生成的情況)</vt:lpstr>
      <vt:lpstr>Problem of Beam Search (1)</vt:lpstr>
      <vt:lpstr>PowerPoint 簡報</vt:lpstr>
      <vt:lpstr>Problem of Beam Search (1)</vt:lpstr>
      <vt:lpstr>PowerPoint 簡報</vt:lpstr>
      <vt:lpstr>Problem of Beam Search (2)</vt:lpstr>
      <vt:lpstr>Problem of Beam Search (3)</vt:lpstr>
      <vt:lpstr>思考 Greedy Decoding 的問題</vt:lpstr>
      <vt:lpstr>[Summary] Strategy for MLE decoding</vt:lpstr>
      <vt:lpstr>Strategy for MLE decoding: 改用 Sampling</vt:lpstr>
      <vt:lpstr>Summary and the Thinking Route</vt:lpstr>
      <vt:lpstr>Problem of Pure Sampling</vt:lpstr>
      <vt:lpstr>Why is Pure Sampling so weak?</vt:lpstr>
      <vt:lpstr>[Summary] Strategy for Sampling</vt:lpstr>
      <vt:lpstr>Summary and the Thinking Route</vt:lpstr>
      <vt:lpstr>Top-p Sampling</vt:lpstr>
      <vt:lpstr>Top-p Sampling</vt:lpstr>
      <vt:lpstr>機率重新調整 toy example</vt:lpstr>
      <vt:lpstr>Top-p Sampling example</vt:lpstr>
      <vt:lpstr>Top-k Sampling</vt:lpstr>
      <vt:lpstr>Problem of Top-k Sampling </vt:lpstr>
      <vt:lpstr>Problem of Top-k Sampling (看看 Top-p) </vt:lpstr>
      <vt:lpstr>Softmax</vt:lpstr>
      <vt:lpstr>Softmax</vt:lpstr>
      <vt:lpstr>Properties of Softmax Temperature</vt:lpstr>
      <vt:lpstr>Softmax Temperature</vt:lpstr>
      <vt:lpstr>The k value should be carefully picked</vt:lpstr>
      <vt:lpstr>Comparison for Top-k and Top-p Sampling</vt:lpstr>
      <vt:lpstr>Thank you!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深度學習 Deep Learning</dc:title>
  <dc:creator>林英嘉</dc:creator>
  <cp:lastModifiedBy>英嘉 林</cp:lastModifiedBy>
  <cp:revision>1181</cp:revision>
  <dcterms:created xsi:type="dcterms:W3CDTF">2025-02-07T09:05:59Z</dcterms:created>
  <dcterms:modified xsi:type="dcterms:W3CDTF">2026-04-09T08:01:57Z</dcterms:modified>
</cp:coreProperties>
</file>